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85" r:id="rId2"/>
    <p:sldId id="552" r:id="rId3"/>
    <p:sldId id="561" r:id="rId4"/>
    <p:sldId id="256" r:id="rId5"/>
    <p:sldId id="266" r:id="rId6"/>
    <p:sldId id="287" r:id="rId7"/>
    <p:sldId id="558" r:id="rId8"/>
    <p:sldId id="288" r:id="rId9"/>
    <p:sldId id="259" r:id="rId10"/>
    <p:sldId id="260" r:id="rId11"/>
    <p:sldId id="261" r:id="rId12"/>
    <p:sldId id="262" r:id="rId13"/>
    <p:sldId id="553" r:id="rId14"/>
    <p:sldId id="276" r:id="rId15"/>
    <p:sldId id="263" r:id="rId16"/>
    <p:sldId id="549" r:id="rId17"/>
    <p:sldId id="265" r:id="rId18"/>
    <p:sldId id="555" r:id="rId19"/>
    <p:sldId id="551" r:id="rId20"/>
    <p:sldId id="280" r:id="rId21"/>
    <p:sldId id="257" r:id="rId22"/>
    <p:sldId id="258" r:id="rId23"/>
    <p:sldId id="274" r:id="rId24"/>
    <p:sldId id="284" r:id="rId25"/>
    <p:sldId id="275" r:id="rId26"/>
    <p:sldId id="264" r:id="rId27"/>
    <p:sldId id="277" r:id="rId28"/>
    <p:sldId id="559" r:id="rId29"/>
    <p:sldId id="289" r:id="rId30"/>
    <p:sldId id="550" r:id="rId31"/>
    <p:sldId id="290" r:id="rId32"/>
    <p:sldId id="291" r:id="rId33"/>
    <p:sldId id="292" r:id="rId34"/>
    <p:sldId id="267" r:id="rId35"/>
    <p:sldId id="278" r:id="rId36"/>
    <p:sldId id="269" r:id="rId37"/>
    <p:sldId id="272" r:id="rId38"/>
    <p:sldId id="273" r:id="rId39"/>
    <p:sldId id="279" r:id="rId40"/>
    <p:sldId id="281" r:id="rId41"/>
    <p:sldId id="560" r:id="rId42"/>
    <p:sldId id="282" r:id="rId43"/>
    <p:sldId id="283" r:id="rId44"/>
    <p:sldId id="293" r:id="rId45"/>
    <p:sldId id="546" r:id="rId46"/>
    <p:sldId id="547" r:id="rId47"/>
    <p:sldId id="548" r:id="rId48"/>
    <p:sldId id="270" r:id="rId49"/>
    <p:sldId id="556" r:id="rId50"/>
    <p:sldId id="557" r:id="rId5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341B91C-C88A-2F42-BFA6-ADB033483798}">
          <p14:sldIdLst>
            <p14:sldId id="285"/>
            <p14:sldId id="552"/>
            <p14:sldId id="561"/>
            <p14:sldId id="256"/>
          </p14:sldIdLst>
        </p14:section>
        <p14:section name="Samples" id="{E23DD445-57D6-9E44-81A2-6042C5498028}">
          <p14:sldIdLst>
            <p14:sldId id="266"/>
            <p14:sldId id="287"/>
          </p14:sldIdLst>
        </p14:section>
        <p14:section name="Datasheets" id="{8A3184CB-355B-C946-8A81-953FB03E94CA}">
          <p14:sldIdLst>
            <p14:sldId id="558"/>
          </p14:sldIdLst>
        </p14:section>
        <p14:section name="Location" id="{E1DD6C1B-6A15-A045-9353-1AE685AF145B}">
          <p14:sldIdLst>
            <p14:sldId id="288"/>
            <p14:sldId id="259"/>
            <p14:sldId id="260"/>
            <p14:sldId id="261"/>
            <p14:sldId id="262"/>
            <p14:sldId id="553"/>
            <p14:sldId id="276"/>
          </p14:sldIdLst>
        </p14:section>
        <p14:section name="Dispersion" id="{ED3695C3-2DF3-A846-BD8F-E62AFDF627B4}">
          <p14:sldIdLst>
            <p14:sldId id="263"/>
            <p14:sldId id="549"/>
            <p14:sldId id="265"/>
            <p14:sldId id="555"/>
            <p14:sldId id="551"/>
            <p14:sldId id="280"/>
          </p14:sldIdLst>
        </p14:section>
        <p14:section name="Distributions" id="{B8331588-AD2D-204F-ACB9-D0693DB8E979}">
          <p14:sldIdLst>
            <p14:sldId id="257"/>
            <p14:sldId id="258"/>
            <p14:sldId id="274"/>
            <p14:sldId id="284"/>
            <p14:sldId id="275"/>
          </p14:sldIdLst>
        </p14:section>
        <p14:section name="Percentiles" id="{CBAF4E24-97C9-C443-B9F6-47C3E6FE7146}">
          <p14:sldIdLst>
            <p14:sldId id="264"/>
            <p14:sldId id="277"/>
            <p14:sldId id="559"/>
          </p14:sldIdLst>
        </p14:section>
        <p14:section name="Interlude" id="{92FD6BE7-F6DB-9945-8CDD-A9A7B907C4C0}">
          <p14:sldIdLst>
            <p14:sldId id="289"/>
            <p14:sldId id="550"/>
            <p14:sldId id="290"/>
            <p14:sldId id="291"/>
            <p14:sldId id="292"/>
          </p14:sldIdLst>
        </p14:section>
        <p14:section name="Skew and Kurtosis" id="{B467D408-7998-4F47-9EB7-B29D60349D0D}">
          <p14:sldIdLst>
            <p14:sldId id="267"/>
            <p14:sldId id="278"/>
          </p14:sldIdLst>
        </p14:section>
        <p14:section name="Outliers" id="{D8207A84-A422-364D-A3CC-855A64EFF1D1}">
          <p14:sldIdLst>
            <p14:sldId id="269"/>
            <p14:sldId id="272"/>
            <p14:sldId id="273"/>
            <p14:sldId id="279"/>
          </p14:sldIdLst>
        </p14:section>
        <p14:section name="Relationships in Data" id="{926D156D-CDB2-224F-B851-78910DE0F346}">
          <p14:sldIdLst>
            <p14:sldId id="281"/>
            <p14:sldId id="560"/>
            <p14:sldId id="282"/>
            <p14:sldId id="283"/>
          </p14:sldIdLst>
        </p14:section>
        <p14:section name="Number vs Visual" id="{DDDD057F-0706-7C44-A359-E99907A35430}">
          <p14:sldIdLst>
            <p14:sldId id="293"/>
            <p14:sldId id="546"/>
            <p14:sldId id="547"/>
            <p14:sldId id="548"/>
          </p14:sldIdLst>
        </p14:section>
        <p14:section name="Conclusion" id="{92E05195-E955-7842-941B-259B31EB34E5}">
          <p14:sldIdLst>
            <p14:sldId id="270"/>
            <p14:sldId id="556"/>
            <p14:sldId id="55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04"/>
    <p:restoredTop sz="96327"/>
  </p:normalViewPr>
  <p:slideViewPr>
    <p:cSldViewPr snapToGrid="0">
      <p:cViewPr varScale="1">
        <p:scale>
          <a:sx n="106" d="100"/>
          <a:sy n="106" d="100"/>
        </p:scale>
        <p:origin x="216" y="6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FFBEA87-A981-1343-B38D-AB9C959BA66C}" type="datetimeFigureOut">
              <a:rPr lang="en-US" smtClean="0"/>
              <a:t>9/14/26</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AF10C01B-C436-7D44-91D6-27CC1FBE036E}"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183933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FBEA87-A981-1343-B38D-AB9C959BA66C}"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10C01B-C436-7D44-91D6-27CC1FBE036E}"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543152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FFBEA87-A981-1343-B38D-AB9C959BA66C}"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10C01B-C436-7D44-91D6-27CC1FBE036E}"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336173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FFBEA87-A981-1343-B38D-AB9C959BA66C}" type="datetimeFigureOut">
              <a:rPr lang="en-US" smtClean="0"/>
              <a:t>9/14/26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10C01B-C436-7D44-91D6-27CC1FBE036E}"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51641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FFBEA87-A981-1343-B38D-AB9C959BA66C}" type="datetimeFigureOut">
              <a:rPr lang="en-US" smtClean="0"/>
              <a:t>9/14/26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F10C01B-C436-7D44-91D6-27CC1FBE036E}"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025063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FFBEA87-A981-1343-B38D-AB9C959BA66C}" type="datetimeFigureOut">
              <a:rPr lang="en-US" smtClean="0"/>
              <a:t>9/14/26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F10C01B-C436-7D44-91D6-27CC1FBE036E}"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002970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FFBEA87-A981-1343-B38D-AB9C959BA66C}" type="datetimeFigureOut">
              <a:rPr lang="en-US" smtClean="0"/>
              <a:t>9/14/26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F10C01B-C436-7D44-91D6-27CC1FBE036E}" type="slidenum">
              <a:rPr lang="en-US" smtClean="0"/>
              <a:t>‹#›</a:t>
            </a:fld>
            <a:endParaRPr lang="en-US"/>
          </a:p>
        </p:txBody>
      </p:sp>
    </p:spTree>
    <p:extLst>
      <p:ext uri="{BB962C8B-B14F-4D97-AF65-F5344CB8AC3E}">
        <p14:creationId xmlns:p14="http://schemas.microsoft.com/office/powerpoint/2010/main" val="6909774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FFBEA87-A981-1343-B38D-AB9C959BA66C}" type="datetimeFigureOut">
              <a:rPr lang="en-US" smtClean="0"/>
              <a:t>9/14/26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10C01B-C436-7D44-91D6-27CC1FBE036E}"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9268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EFFBEA87-A981-1343-B38D-AB9C959BA66C}" type="datetimeFigureOut">
              <a:rPr lang="en-US" smtClean="0"/>
              <a:t>9/14/26</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AF10C01B-C436-7D44-91D6-27CC1FBE036E}"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506798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FBEA87-A981-1343-B38D-AB9C959BA66C}"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10C01B-C436-7D44-91D6-27CC1FBE036E}"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318669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FBEA87-A981-1343-B38D-AB9C959BA66C}"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10C01B-C436-7D44-91D6-27CC1FBE036E}"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651904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EFFBEA87-A981-1343-B38D-AB9C959BA66C}" type="datetimeFigureOut">
              <a:rPr lang="en-US" smtClean="0"/>
              <a:t>9/14/26</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AF10C01B-C436-7D44-91D6-27CC1FBE036E}"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14311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2.gif"/><Relationship Id="rId2" Type="http://schemas.openxmlformats.org/officeDocument/2006/relationships/image" Target="../media/image31.gif"/><Relationship Id="rId1" Type="http://schemas.openxmlformats.org/officeDocument/2006/relationships/slideLayout" Target="../slideLayouts/slideLayout2.xml"/><Relationship Id="rId5" Type="http://schemas.openxmlformats.org/officeDocument/2006/relationships/image" Target="../media/image34.gif"/><Relationship Id="rId4" Type="http://schemas.openxmlformats.org/officeDocument/2006/relationships/image" Target="../media/image33.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4F5FF-1C41-8B22-D423-A234B31AD250}"/>
              </a:ext>
            </a:extLst>
          </p:cNvPr>
          <p:cNvSpPr>
            <a:spLocks noGrp="1"/>
          </p:cNvSpPr>
          <p:nvPr>
            <p:ph type="title"/>
          </p:nvPr>
        </p:nvSpPr>
        <p:spPr/>
        <p:txBody>
          <a:bodyPr/>
          <a:lstStyle/>
          <a:p>
            <a:r>
              <a:rPr lang="en-US" dirty="0"/>
              <a:t>Housekeeping</a:t>
            </a:r>
          </a:p>
        </p:txBody>
      </p:sp>
      <p:sp>
        <p:nvSpPr>
          <p:cNvPr id="3" name="Content Placeholder 2">
            <a:extLst>
              <a:ext uri="{FF2B5EF4-FFF2-40B4-BE49-F238E27FC236}">
                <a16:creationId xmlns:a16="http://schemas.microsoft.com/office/drawing/2014/main" id="{DD0DEF38-3EB7-D962-9EC7-9D92F329A842}"/>
              </a:ext>
            </a:extLst>
          </p:cNvPr>
          <p:cNvSpPr>
            <a:spLocks noGrp="1"/>
          </p:cNvSpPr>
          <p:nvPr>
            <p:ph idx="1"/>
          </p:nvPr>
        </p:nvSpPr>
        <p:spPr>
          <a:xfrm>
            <a:off x="1451579" y="1853754"/>
            <a:ext cx="9603275" cy="4199727"/>
          </a:xfrm>
        </p:spPr>
        <p:txBody>
          <a:bodyPr>
            <a:normAutofit/>
          </a:bodyPr>
          <a:lstStyle/>
          <a:p>
            <a:r>
              <a:rPr lang="en-US" dirty="0"/>
              <a:t>Describing data and basic stats. </a:t>
            </a:r>
          </a:p>
          <a:p>
            <a:pPr lvl="1"/>
            <a:r>
              <a:rPr lang="en-US" dirty="0"/>
              <a:t>Describing one variable. </a:t>
            </a:r>
          </a:p>
          <a:p>
            <a:pPr lvl="1"/>
            <a:r>
              <a:rPr lang="en-US" dirty="0"/>
              <a:t>Describing two variables. </a:t>
            </a:r>
          </a:p>
          <a:p>
            <a:pPr lvl="1"/>
            <a:r>
              <a:rPr lang="en-US" dirty="0"/>
              <a:t>Stats-y plots to explore each. </a:t>
            </a:r>
          </a:p>
          <a:p>
            <a:r>
              <a:rPr lang="en-US" dirty="0"/>
              <a:t>Splitting and comparing groups. </a:t>
            </a:r>
          </a:p>
          <a:p>
            <a:r>
              <a:rPr lang="en-US" dirty="0"/>
              <a:t>Basic relationships. </a:t>
            </a:r>
          </a:p>
          <a:p>
            <a:r>
              <a:rPr lang="en-US" dirty="0"/>
              <a:t>Probably a simple calculation. </a:t>
            </a:r>
          </a:p>
          <a:p>
            <a:r>
              <a:rPr lang="en-US" dirty="0"/>
              <a:t>Overview of assignment #1 - not urgent, but good to start considering. </a:t>
            </a:r>
          </a:p>
          <a:p>
            <a:r>
              <a:rPr lang="en-US" dirty="0"/>
              <a:t>Next time – ch3 and coordinate planes. </a:t>
            </a:r>
          </a:p>
          <a:p>
            <a:endParaRPr lang="en-US" dirty="0"/>
          </a:p>
        </p:txBody>
      </p:sp>
      <p:pic>
        <p:nvPicPr>
          <p:cNvPr id="4" name="Picture 3">
            <a:extLst>
              <a:ext uri="{FF2B5EF4-FFF2-40B4-BE49-F238E27FC236}">
                <a16:creationId xmlns:a16="http://schemas.microsoft.com/office/drawing/2014/main" id="{D72C11EF-F9C2-A8C3-13DC-93CBDB0A673F}"/>
              </a:ext>
            </a:extLst>
          </p:cNvPr>
          <p:cNvPicPr>
            <a:picLocks noChangeAspect="1"/>
          </p:cNvPicPr>
          <p:nvPr/>
        </p:nvPicPr>
        <p:blipFill>
          <a:blip r:embed="rId2"/>
          <a:srcRect l="24974"/>
          <a:stretch>
            <a:fillRect/>
          </a:stretch>
        </p:blipFill>
        <p:spPr>
          <a:xfrm>
            <a:off x="6253216" y="81876"/>
            <a:ext cx="5831305" cy="2494520"/>
          </a:xfrm>
          <a:prstGeom prst="rect">
            <a:avLst/>
          </a:prstGeom>
        </p:spPr>
      </p:pic>
      <p:sp>
        <p:nvSpPr>
          <p:cNvPr id="6" name="Content Placeholder 2">
            <a:extLst>
              <a:ext uri="{FF2B5EF4-FFF2-40B4-BE49-F238E27FC236}">
                <a16:creationId xmlns:a16="http://schemas.microsoft.com/office/drawing/2014/main" id="{5F37D9D9-A52B-1B77-0D70-8885F4DA28CE}"/>
              </a:ext>
            </a:extLst>
          </p:cNvPr>
          <p:cNvSpPr txBox="1">
            <a:spLocks/>
          </p:cNvSpPr>
          <p:nvPr/>
        </p:nvSpPr>
        <p:spPr>
          <a:xfrm>
            <a:off x="6302944" y="2509727"/>
            <a:ext cx="5731847" cy="2494520"/>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US" dirty="0"/>
              <a:t>Correction – I had quiz dates interfere with holidays, so I moved them. </a:t>
            </a:r>
          </a:p>
          <a:p>
            <a:pPr lvl="1"/>
            <a:r>
              <a:rPr lang="en-US" dirty="0"/>
              <a:t>If this is an issue for you, let me know. </a:t>
            </a:r>
          </a:p>
          <a:p>
            <a:pPr lvl="1"/>
            <a:r>
              <a:rPr lang="en-US" dirty="0"/>
              <a:t>Both quizzes are using Tableau to find answers in data, we’ll talk about the first more next week. </a:t>
            </a:r>
          </a:p>
          <a:p>
            <a:endParaRPr lang="en-US" dirty="0"/>
          </a:p>
        </p:txBody>
      </p:sp>
    </p:spTree>
    <p:extLst>
      <p:ext uri="{BB962C8B-B14F-4D97-AF65-F5344CB8AC3E}">
        <p14:creationId xmlns:p14="http://schemas.microsoft.com/office/powerpoint/2010/main" val="6150813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206D8-5FD4-A841-9A2E-CB3607497ED0}"/>
              </a:ext>
            </a:extLst>
          </p:cNvPr>
          <p:cNvSpPr>
            <a:spLocks noGrp="1"/>
          </p:cNvSpPr>
          <p:nvPr>
            <p:ph type="title"/>
          </p:nvPr>
        </p:nvSpPr>
        <p:spPr/>
        <p:txBody>
          <a:bodyPr/>
          <a:lstStyle/>
          <a:p>
            <a:r>
              <a:rPr lang="en-US" dirty="0"/>
              <a:t>Review</a:t>
            </a:r>
          </a:p>
        </p:txBody>
      </p:sp>
      <p:sp>
        <p:nvSpPr>
          <p:cNvPr id="3" name="Content Placeholder 2">
            <a:extLst>
              <a:ext uri="{FF2B5EF4-FFF2-40B4-BE49-F238E27FC236}">
                <a16:creationId xmlns:a16="http://schemas.microsoft.com/office/drawing/2014/main" id="{206E1CFD-8EFC-C895-65DF-E0CE7DDBC089}"/>
              </a:ext>
            </a:extLst>
          </p:cNvPr>
          <p:cNvSpPr>
            <a:spLocks noGrp="1"/>
          </p:cNvSpPr>
          <p:nvPr>
            <p:ph idx="1"/>
          </p:nvPr>
        </p:nvSpPr>
        <p:spPr>
          <a:xfrm>
            <a:off x="1451579" y="1949380"/>
            <a:ext cx="9603275" cy="4104101"/>
          </a:xfrm>
        </p:spPr>
        <p:txBody>
          <a:bodyPr/>
          <a:lstStyle/>
          <a:p>
            <a:r>
              <a:rPr lang="en-US" dirty="0"/>
              <a:t>Up to now, you should know/be able to:</a:t>
            </a:r>
          </a:p>
          <a:p>
            <a:pPr lvl="1"/>
            <a:r>
              <a:rPr lang="en-US" dirty="0"/>
              <a:t>Basics of data analysis – data/info/knowledge, types of analytics. </a:t>
            </a:r>
          </a:p>
          <a:p>
            <a:pPr lvl="1"/>
            <a:r>
              <a:rPr lang="en-US" dirty="0"/>
              <a:t>Basics of using data – datasheet format, columns (features/variables), type (cat/num). </a:t>
            </a:r>
          </a:p>
          <a:p>
            <a:pPr lvl="1"/>
            <a:r>
              <a:rPr lang="en-US" dirty="0"/>
              <a:t>Basics of visual analytics – using a data source to generate charts/graphs showing useful info.</a:t>
            </a:r>
          </a:p>
          <a:p>
            <a:r>
              <a:rPr lang="en-US" dirty="0"/>
              <a:t>In making those charts:</a:t>
            </a:r>
          </a:p>
          <a:p>
            <a:pPr lvl="1"/>
            <a:r>
              <a:rPr lang="en-US" dirty="0"/>
              <a:t>Basics of Tableau – load data, make sheets/dash, create charts, use marks cart to customize. </a:t>
            </a:r>
          </a:p>
          <a:p>
            <a:pPr lvl="1"/>
            <a:r>
              <a:rPr lang="en-US" dirty="0"/>
              <a:t>Some analysis of chart types and using </a:t>
            </a:r>
            <a:r>
              <a:rPr lang="en-US" dirty="0" err="1"/>
              <a:t>preattentive</a:t>
            </a:r>
            <a:r>
              <a:rPr lang="en-US" dirty="0"/>
              <a:t> attributes intelligently. </a:t>
            </a:r>
          </a:p>
          <a:p>
            <a:pPr lvl="1"/>
            <a:endParaRPr lang="en-US" dirty="0"/>
          </a:p>
        </p:txBody>
      </p:sp>
    </p:spTree>
    <p:extLst>
      <p:ext uri="{BB962C8B-B14F-4D97-AF65-F5344CB8AC3E}">
        <p14:creationId xmlns:p14="http://schemas.microsoft.com/office/powerpoint/2010/main" val="41813005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76D44-E8CB-564C-395C-114C5AE1E94E}"/>
              </a:ext>
            </a:extLst>
          </p:cNvPr>
          <p:cNvSpPr>
            <a:spLocks noGrp="1"/>
          </p:cNvSpPr>
          <p:nvPr>
            <p:ph type="title"/>
          </p:nvPr>
        </p:nvSpPr>
        <p:spPr/>
        <p:txBody>
          <a:bodyPr/>
          <a:lstStyle/>
          <a:p>
            <a:r>
              <a:rPr lang="en-US" dirty="0"/>
              <a:t>DO some Stuff!</a:t>
            </a:r>
          </a:p>
        </p:txBody>
      </p:sp>
      <p:sp>
        <p:nvSpPr>
          <p:cNvPr id="3" name="Content Placeholder 2">
            <a:extLst>
              <a:ext uri="{FF2B5EF4-FFF2-40B4-BE49-F238E27FC236}">
                <a16:creationId xmlns:a16="http://schemas.microsoft.com/office/drawing/2014/main" id="{DCF5F05B-75E8-0AFE-E6A3-CB16B8BE882B}"/>
              </a:ext>
            </a:extLst>
          </p:cNvPr>
          <p:cNvSpPr>
            <a:spLocks noGrp="1"/>
          </p:cNvSpPr>
          <p:nvPr>
            <p:ph idx="1"/>
          </p:nvPr>
        </p:nvSpPr>
        <p:spPr>
          <a:xfrm>
            <a:off x="1451579" y="1853754"/>
            <a:ext cx="9603275" cy="4199727"/>
          </a:xfrm>
        </p:spPr>
        <p:txBody>
          <a:bodyPr/>
          <a:lstStyle/>
          <a:p>
            <a:r>
              <a:rPr lang="en-US" dirty="0"/>
              <a:t>You should be able to do all (or virtually all) of the practice assignments, you should. </a:t>
            </a:r>
          </a:p>
          <a:p>
            <a:r>
              <a:rPr lang="en-US" dirty="0"/>
              <a:t>Assignment 1 – get started early!</a:t>
            </a:r>
          </a:p>
          <a:p>
            <a:pPr lvl="1"/>
            <a:r>
              <a:rPr lang="en-US" dirty="0"/>
              <a:t>Select some data on a topic that you know something about. </a:t>
            </a:r>
          </a:p>
          <a:p>
            <a:pPr lvl="1"/>
            <a:r>
              <a:rPr lang="en-US" dirty="0"/>
              <a:t>See if you can use that to generate some </a:t>
            </a:r>
            <a:r>
              <a:rPr lang="en-US" i="1" dirty="0"/>
              <a:t>useful </a:t>
            </a:r>
            <a:r>
              <a:rPr lang="en-US" dirty="0"/>
              <a:t>insights using Tableau charts. </a:t>
            </a:r>
          </a:p>
          <a:p>
            <a:pPr lvl="1"/>
            <a:r>
              <a:rPr lang="en-US" dirty="0"/>
              <a:t>Work on chart type, style, </a:t>
            </a:r>
            <a:r>
              <a:rPr lang="en-US" dirty="0" err="1"/>
              <a:t>preattentive</a:t>
            </a:r>
            <a:r>
              <a:rPr lang="en-US" dirty="0"/>
              <a:t> attributes to help make Tableau page nice. </a:t>
            </a:r>
          </a:p>
          <a:p>
            <a:pPr lvl="1"/>
            <a:r>
              <a:rPr lang="en-US" dirty="0"/>
              <a:t>The communication is the important part, your vis’ need to </a:t>
            </a:r>
            <a:r>
              <a:rPr lang="en-US" b="1" dirty="0"/>
              <a:t>say something useful</a:t>
            </a:r>
            <a:r>
              <a:rPr lang="en-US" dirty="0"/>
              <a:t>. </a:t>
            </a:r>
          </a:p>
          <a:p>
            <a:pPr lvl="1"/>
            <a:r>
              <a:rPr lang="en-US" dirty="0"/>
              <a:t>The goal isn’t to “make some charts” the goal is to </a:t>
            </a:r>
            <a:r>
              <a:rPr lang="en-US" i="1" dirty="0"/>
              <a:t>communicate useful info via some charts</a:t>
            </a:r>
            <a:r>
              <a:rPr lang="en-US" dirty="0"/>
              <a:t>. </a:t>
            </a:r>
          </a:p>
          <a:p>
            <a:r>
              <a:rPr lang="en-US" dirty="0"/>
              <a:t>Your first tries will probably suck, badly, that’s normal and expected. </a:t>
            </a:r>
          </a:p>
          <a:p>
            <a:pPr lvl="1"/>
            <a:r>
              <a:rPr lang="en-US" dirty="0"/>
              <a:t>Try to create, ask yourself/friends/me “does this make sense”, improve from that. </a:t>
            </a:r>
          </a:p>
          <a:p>
            <a:pPr lvl="1"/>
            <a:r>
              <a:rPr lang="en-US" dirty="0"/>
              <a:t>You want to iterate – try, evaluate, stick with it or try something else. </a:t>
            </a:r>
          </a:p>
        </p:txBody>
      </p:sp>
    </p:spTree>
    <p:extLst>
      <p:ext uri="{BB962C8B-B14F-4D97-AF65-F5344CB8AC3E}">
        <p14:creationId xmlns:p14="http://schemas.microsoft.com/office/powerpoint/2010/main" val="1200544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D7A39-FB78-8080-9A4E-BBAE894AD1FD}"/>
              </a:ext>
            </a:extLst>
          </p:cNvPr>
          <p:cNvSpPr>
            <a:spLocks noGrp="1"/>
          </p:cNvSpPr>
          <p:nvPr>
            <p:ph type="ctrTitle"/>
          </p:nvPr>
        </p:nvSpPr>
        <p:spPr/>
        <p:txBody>
          <a:bodyPr/>
          <a:lstStyle/>
          <a:p>
            <a:r>
              <a:rPr lang="en-US" dirty="0"/>
              <a:t>Summary Measures</a:t>
            </a:r>
          </a:p>
        </p:txBody>
      </p:sp>
      <p:sp>
        <p:nvSpPr>
          <p:cNvPr id="3" name="Subtitle 2">
            <a:extLst>
              <a:ext uri="{FF2B5EF4-FFF2-40B4-BE49-F238E27FC236}">
                <a16:creationId xmlns:a16="http://schemas.microsoft.com/office/drawing/2014/main" id="{3A712D9B-A2CE-2C7B-5905-622F645CAB4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2913845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AAF2C-6840-D0C0-4FFC-8B58DB547075}"/>
              </a:ext>
            </a:extLst>
          </p:cNvPr>
          <p:cNvSpPr>
            <a:spLocks noGrp="1"/>
          </p:cNvSpPr>
          <p:nvPr>
            <p:ph type="title"/>
          </p:nvPr>
        </p:nvSpPr>
        <p:spPr/>
        <p:txBody>
          <a:bodyPr/>
          <a:lstStyle/>
          <a:p>
            <a:r>
              <a:rPr lang="en-US" dirty="0"/>
              <a:t>Populations and Samples</a:t>
            </a:r>
          </a:p>
        </p:txBody>
      </p:sp>
      <p:sp>
        <p:nvSpPr>
          <p:cNvPr id="3" name="Content Placeholder 2">
            <a:extLst>
              <a:ext uri="{FF2B5EF4-FFF2-40B4-BE49-F238E27FC236}">
                <a16:creationId xmlns:a16="http://schemas.microsoft.com/office/drawing/2014/main" id="{6D5D086E-44B7-6A1C-23A5-3F8286A1EA59}"/>
              </a:ext>
            </a:extLst>
          </p:cNvPr>
          <p:cNvSpPr>
            <a:spLocks noGrp="1"/>
          </p:cNvSpPr>
          <p:nvPr>
            <p:ph idx="1"/>
          </p:nvPr>
        </p:nvSpPr>
        <p:spPr>
          <a:xfrm>
            <a:off x="1" y="2015732"/>
            <a:ext cx="6623296" cy="4112842"/>
          </a:xfrm>
        </p:spPr>
        <p:txBody>
          <a:bodyPr>
            <a:normAutofit lnSpcReduction="10000"/>
          </a:bodyPr>
          <a:lstStyle/>
          <a:p>
            <a:r>
              <a:rPr lang="en-US" dirty="0"/>
              <a:t>The first description of data is the idea of a POPULATION and a SAMPLE. </a:t>
            </a:r>
          </a:p>
          <a:p>
            <a:pPr lvl="1"/>
            <a:r>
              <a:rPr lang="en-US" dirty="0"/>
              <a:t>Population = all the data. </a:t>
            </a:r>
          </a:p>
          <a:p>
            <a:pPr lvl="1"/>
            <a:r>
              <a:rPr lang="en-US" dirty="0"/>
              <a:t>Sample = some subset of data that we use to analyze. </a:t>
            </a:r>
          </a:p>
          <a:p>
            <a:pPr lvl="1"/>
            <a:r>
              <a:rPr lang="en-US" dirty="0"/>
              <a:t>Population is all the data for our scope, not always every person alive. </a:t>
            </a:r>
          </a:p>
          <a:p>
            <a:r>
              <a:rPr lang="en-US" dirty="0"/>
              <a:t>In general, we take a sample of data, analyze it, and extrapolate to the population. </a:t>
            </a:r>
          </a:p>
          <a:p>
            <a:pPr lvl="1"/>
            <a:r>
              <a:rPr lang="en-US" dirty="0"/>
              <a:t>E.g. a political poll surveys ~1k people, and projects for the entire populace. </a:t>
            </a:r>
          </a:p>
          <a:p>
            <a:pPr lvl="1"/>
            <a:r>
              <a:rPr lang="en-US" dirty="0"/>
              <a:t>In reality, we often can’t get data for an entire population. </a:t>
            </a:r>
          </a:p>
          <a:p>
            <a:endParaRPr lang="en-US" dirty="0"/>
          </a:p>
        </p:txBody>
      </p:sp>
      <p:pic>
        <p:nvPicPr>
          <p:cNvPr id="4" name="Picture 3" descr="Sampling Methods In Research: Types, Techniques, &amp; Examples">
            <a:extLst>
              <a:ext uri="{FF2B5EF4-FFF2-40B4-BE49-F238E27FC236}">
                <a16:creationId xmlns:a16="http://schemas.microsoft.com/office/drawing/2014/main" id="{F9E5E937-C664-1D82-FF2E-EF0AF72857C8}"/>
              </a:ext>
            </a:extLst>
          </p:cNvPr>
          <p:cNvPicPr>
            <a:picLocks noChangeAspect="1"/>
          </p:cNvPicPr>
          <p:nvPr/>
        </p:nvPicPr>
        <p:blipFill>
          <a:blip r:embed="rId2"/>
          <a:stretch>
            <a:fillRect/>
          </a:stretch>
        </p:blipFill>
        <p:spPr>
          <a:xfrm>
            <a:off x="6623296" y="2314470"/>
            <a:ext cx="5568704" cy="2969975"/>
          </a:xfrm>
          <a:prstGeom prst="rect">
            <a:avLst/>
          </a:prstGeom>
        </p:spPr>
      </p:pic>
    </p:spTree>
    <p:extLst>
      <p:ext uri="{BB962C8B-B14F-4D97-AF65-F5344CB8AC3E}">
        <p14:creationId xmlns:p14="http://schemas.microsoft.com/office/powerpoint/2010/main" val="1960244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2761F-2090-AE80-F4CD-044DF3C69D5F}"/>
              </a:ext>
            </a:extLst>
          </p:cNvPr>
          <p:cNvSpPr>
            <a:spLocks noGrp="1"/>
          </p:cNvSpPr>
          <p:nvPr>
            <p:ph type="title"/>
          </p:nvPr>
        </p:nvSpPr>
        <p:spPr/>
        <p:txBody>
          <a:bodyPr/>
          <a:lstStyle/>
          <a:p>
            <a:r>
              <a:rPr lang="en-US" dirty="0"/>
              <a:t>Samples</a:t>
            </a:r>
          </a:p>
        </p:txBody>
      </p:sp>
      <p:sp>
        <p:nvSpPr>
          <p:cNvPr id="3" name="Content Placeholder 2">
            <a:extLst>
              <a:ext uri="{FF2B5EF4-FFF2-40B4-BE49-F238E27FC236}">
                <a16:creationId xmlns:a16="http://schemas.microsoft.com/office/drawing/2014/main" id="{948527DE-74C3-467E-741F-2EB75488FCD9}"/>
              </a:ext>
            </a:extLst>
          </p:cNvPr>
          <p:cNvSpPr>
            <a:spLocks noGrp="1"/>
          </p:cNvSpPr>
          <p:nvPr>
            <p:ph idx="1"/>
          </p:nvPr>
        </p:nvSpPr>
        <p:spPr>
          <a:xfrm>
            <a:off x="1451579" y="1853755"/>
            <a:ext cx="9603275" cy="4199726"/>
          </a:xfrm>
        </p:spPr>
        <p:txBody>
          <a:bodyPr>
            <a:normAutofit/>
          </a:bodyPr>
          <a:lstStyle/>
          <a:p>
            <a:r>
              <a:rPr lang="en-US" dirty="0"/>
              <a:t>We want samples that are large and match the population as a whole. </a:t>
            </a:r>
          </a:p>
          <a:p>
            <a:pPr lvl="1"/>
            <a:r>
              <a:rPr lang="en-US" dirty="0"/>
              <a:t>Both of these things mean that our analysis will project for the entire population. </a:t>
            </a:r>
          </a:p>
          <a:p>
            <a:pPr lvl="1"/>
            <a:r>
              <a:rPr lang="en-US" dirty="0"/>
              <a:t>Conclusions we can draw from our analysis are better if a sample is:</a:t>
            </a:r>
          </a:p>
          <a:p>
            <a:pPr lvl="2"/>
            <a:r>
              <a:rPr lang="en-US" dirty="0"/>
              <a:t>More representative of the population. </a:t>
            </a:r>
          </a:p>
          <a:p>
            <a:pPr lvl="2"/>
            <a:r>
              <a:rPr lang="en-US" dirty="0"/>
              <a:t>Larger. </a:t>
            </a:r>
          </a:p>
          <a:p>
            <a:r>
              <a:rPr lang="en-US" dirty="0"/>
              <a:t>Samples will allow us to predict for a population better when the value is less variable. </a:t>
            </a:r>
          </a:p>
          <a:p>
            <a:pPr lvl="1"/>
            <a:r>
              <a:rPr lang="en-US" dirty="0"/>
              <a:t>If the value we are looking at is more constant, we need less data to project it. </a:t>
            </a:r>
          </a:p>
          <a:p>
            <a:pPr lvl="1"/>
            <a:r>
              <a:rPr lang="en-US" dirty="0"/>
              <a:t>Predicting tomorrow’s gas price is easier if there isn’t a war or economic crisis. </a:t>
            </a:r>
          </a:p>
        </p:txBody>
      </p:sp>
    </p:spTree>
    <p:extLst>
      <p:ext uri="{BB962C8B-B14F-4D97-AF65-F5344CB8AC3E}">
        <p14:creationId xmlns:p14="http://schemas.microsoft.com/office/powerpoint/2010/main" val="20484987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6B5D3-2620-C5CB-4305-E30AC3CB00BD}"/>
              </a:ext>
            </a:extLst>
          </p:cNvPr>
          <p:cNvSpPr>
            <a:spLocks noGrp="1"/>
          </p:cNvSpPr>
          <p:nvPr>
            <p:ph type="title"/>
          </p:nvPr>
        </p:nvSpPr>
        <p:spPr/>
        <p:txBody>
          <a:bodyPr/>
          <a:lstStyle/>
          <a:p>
            <a:r>
              <a:rPr lang="en-US" dirty="0"/>
              <a:t>Datasheet Format</a:t>
            </a:r>
          </a:p>
        </p:txBody>
      </p:sp>
      <p:sp>
        <p:nvSpPr>
          <p:cNvPr id="3" name="Content Placeholder 2">
            <a:extLst>
              <a:ext uri="{FF2B5EF4-FFF2-40B4-BE49-F238E27FC236}">
                <a16:creationId xmlns:a16="http://schemas.microsoft.com/office/drawing/2014/main" id="{90C53545-4DEB-ACE8-E26D-ED057B80BE18}"/>
              </a:ext>
            </a:extLst>
          </p:cNvPr>
          <p:cNvSpPr>
            <a:spLocks noGrp="1"/>
          </p:cNvSpPr>
          <p:nvPr>
            <p:ph idx="1"/>
          </p:nvPr>
        </p:nvSpPr>
        <p:spPr>
          <a:xfrm>
            <a:off x="1" y="1853754"/>
            <a:ext cx="6188242" cy="4199727"/>
          </a:xfrm>
        </p:spPr>
        <p:txBody>
          <a:bodyPr/>
          <a:lstStyle/>
          <a:p>
            <a:r>
              <a:rPr lang="en-US" dirty="0"/>
              <a:t>We’ve also seen that data is organized in a specific way:</a:t>
            </a:r>
          </a:p>
          <a:p>
            <a:pPr lvl="1"/>
            <a:r>
              <a:rPr lang="en-US" dirty="0"/>
              <a:t>Each datasheet/table is a listing of a bunch of examples of something – players, students, purchases, cars, etc... </a:t>
            </a:r>
          </a:p>
          <a:p>
            <a:pPr lvl="1"/>
            <a:r>
              <a:rPr lang="en-US" dirty="0"/>
              <a:t>Every row is one instance (one example of the thing). </a:t>
            </a:r>
          </a:p>
          <a:p>
            <a:pPr lvl="1"/>
            <a:r>
              <a:rPr lang="en-US" dirty="0"/>
              <a:t>Every column measures exactly one value we track on the thing (categorical or numeric). </a:t>
            </a:r>
          </a:p>
          <a:p>
            <a:r>
              <a:rPr lang="en-US" dirty="0"/>
              <a:t>This is standardized across most database-y systems.</a:t>
            </a:r>
          </a:p>
          <a:p>
            <a:pPr lvl="1"/>
            <a:r>
              <a:rPr lang="en-US" dirty="0"/>
              <a:t>A ‘real’ database stores many of these tables to make up everything an organization tracks. </a:t>
            </a:r>
          </a:p>
          <a:p>
            <a:pPr lvl="1"/>
            <a:r>
              <a:rPr lang="en-US" dirty="0"/>
              <a:t>We can replace data source easily, and things still work. </a:t>
            </a:r>
          </a:p>
        </p:txBody>
      </p:sp>
      <p:pic>
        <p:nvPicPr>
          <p:cNvPr id="6" name="Picture 5" descr="Datasheets | Computer Applications for Managers">
            <a:extLst>
              <a:ext uri="{FF2B5EF4-FFF2-40B4-BE49-F238E27FC236}">
                <a16:creationId xmlns:a16="http://schemas.microsoft.com/office/drawing/2014/main" id="{CA386A0D-DCF6-550A-F91A-08D3AF58410E}"/>
              </a:ext>
            </a:extLst>
          </p:cNvPr>
          <p:cNvPicPr>
            <a:picLocks noChangeAspect="1"/>
          </p:cNvPicPr>
          <p:nvPr/>
        </p:nvPicPr>
        <p:blipFill>
          <a:blip r:embed="rId2"/>
          <a:srcRect l="15635" t="34438" r="7121"/>
          <a:stretch>
            <a:fillRect/>
          </a:stretch>
        </p:blipFill>
        <p:spPr>
          <a:xfrm>
            <a:off x="6188242" y="2237873"/>
            <a:ext cx="6003758" cy="2599369"/>
          </a:xfrm>
          <a:prstGeom prst="rect">
            <a:avLst/>
          </a:prstGeom>
        </p:spPr>
      </p:pic>
    </p:spTree>
    <p:extLst>
      <p:ext uri="{BB962C8B-B14F-4D97-AF65-F5344CB8AC3E}">
        <p14:creationId xmlns:p14="http://schemas.microsoft.com/office/powerpoint/2010/main" val="34605517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202E8-6808-214C-636F-F6A9EC70F7C1}"/>
              </a:ext>
            </a:extLst>
          </p:cNvPr>
          <p:cNvSpPr>
            <a:spLocks noGrp="1"/>
          </p:cNvSpPr>
          <p:nvPr>
            <p:ph type="title"/>
          </p:nvPr>
        </p:nvSpPr>
        <p:spPr/>
        <p:txBody>
          <a:bodyPr/>
          <a:lstStyle/>
          <a:p>
            <a:r>
              <a:rPr lang="en-US" dirty="0"/>
              <a:t>Describing one Variable</a:t>
            </a:r>
          </a:p>
        </p:txBody>
      </p:sp>
      <p:sp>
        <p:nvSpPr>
          <p:cNvPr id="3" name="Content Placeholder 2">
            <a:extLst>
              <a:ext uri="{FF2B5EF4-FFF2-40B4-BE49-F238E27FC236}">
                <a16:creationId xmlns:a16="http://schemas.microsoft.com/office/drawing/2014/main" id="{DC4890B8-F3FB-6FFE-498D-0E10ACA6825F}"/>
              </a:ext>
            </a:extLst>
          </p:cNvPr>
          <p:cNvSpPr>
            <a:spLocks noGrp="1"/>
          </p:cNvSpPr>
          <p:nvPr>
            <p:ph idx="1"/>
          </p:nvPr>
        </p:nvSpPr>
        <p:spPr/>
        <p:txBody>
          <a:bodyPr/>
          <a:lstStyle/>
          <a:p>
            <a:r>
              <a:rPr lang="en-US" dirty="0"/>
              <a:t>First, we can look at describing one value at a time. </a:t>
            </a:r>
          </a:p>
          <a:p>
            <a:r>
              <a:rPr lang="en-US" dirty="0"/>
              <a:t>Remember, in Tableau:</a:t>
            </a:r>
          </a:p>
          <a:p>
            <a:pPr lvl="1"/>
            <a:r>
              <a:rPr lang="en-US" dirty="0"/>
              <a:t>Blue variables, listed first, dimensions – categorical (groups, labels, non-numeric). </a:t>
            </a:r>
          </a:p>
          <a:p>
            <a:pPr lvl="1"/>
            <a:r>
              <a:rPr lang="en-US" dirty="0"/>
              <a:t>Green variables, listed last, measures – numeric (measurements, values, works on num line). </a:t>
            </a:r>
          </a:p>
        </p:txBody>
      </p:sp>
    </p:spTree>
    <p:extLst>
      <p:ext uri="{BB962C8B-B14F-4D97-AF65-F5344CB8AC3E}">
        <p14:creationId xmlns:p14="http://schemas.microsoft.com/office/powerpoint/2010/main" val="22568021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91EDE-C1CD-72E8-64A0-8D6741F1A61B}"/>
              </a:ext>
            </a:extLst>
          </p:cNvPr>
          <p:cNvSpPr>
            <a:spLocks noGrp="1"/>
          </p:cNvSpPr>
          <p:nvPr>
            <p:ph type="title"/>
          </p:nvPr>
        </p:nvSpPr>
        <p:spPr/>
        <p:txBody>
          <a:bodyPr/>
          <a:lstStyle/>
          <a:p>
            <a:r>
              <a:rPr lang="en-US" dirty="0"/>
              <a:t>Measures of Location</a:t>
            </a:r>
          </a:p>
        </p:txBody>
      </p:sp>
      <p:sp>
        <p:nvSpPr>
          <p:cNvPr id="3" name="Content Placeholder 2">
            <a:extLst>
              <a:ext uri="{FF2B5EF4-FFF2-40B4-BE49-F238E27FC236}">
                <a16:creationId xmlns:a16="http://schemas.microsoft.com/office/drawing/2014/main" id="{7D4A2192-8B14-813E-AF54-F4758A2AEAEB}"/>
              </a:ext>
            </a:extLst>
          </p:cNvPr>
          <p:cNvSpPr>
            <a:spLocks noGrp="1"/>
          </p:cNvSpPr>
          <p:nvPr>
            <p:ph idx="1"/>
          </p:nvPr>
        </p:nvSpPr>
        <p:spPr>
          <a:xfrm>
            <a:off x="1451579" y="2015732"/>
            <a:ext cx="9603275" cy="4037749"/>
          </a:xfrm>
        </p:spPr>
        <p:txBody>
          <a:bodyPr/>
          <a:lstStyle/>
          <a:p>
            <a:r>
              <a:rPr lang="en-US" dirty="0"/>
              <a:t>One key thing to understand about data is where it is located, or centered. </a:t>
            </a:r>
          </a:p>
          <a:p>
            <a:pPr lvl="1"/>
            <a:r>
              <a:rPr lang="en-US" dirty="0"/>
              <a:t>One of two things needed to define a normal distribution. </a:t>
            </a:r>
          </a:p>
          <a:p>
            <a:r>
              <a:rPr lang="en-US" dirty="0"/>
              <a:t>We have 3 main measures for location, the averages:</a:t>
            </a:r>
          </a:p>
          <a:p>
            <a:pPr lvl="1"/>
            <a:r>
              <a:rPr lang="en-US" dirty="0"/>
              <a:t>MEAN – The “average”, values added and divided by count. </a:t>
            </a:r>
          </a:p>
          <a:p>
            <a:pPr lvl="1"/>
            <a:r>
              <a:rPr lang="en-US" dirty="0"/>
              <a:t>MEDIAN – Value in the middle. (50% above, 50% below)</a:t>
            </a:r>
          </a:p>
          <a:p>
            <a:pPr lvl="1"/>
            <a:r>
              <a:rPr lang="en-US" dirty="0"/>
              <a:t>MODE – Most frequent value. </a:t>
            </a:r>
          </a:p>
          <a:p>
            <a:r>
              <a:rPr lang="en-US" dirty="0"/>
              <a:t>Depending on scenario, any of which may be useful. </a:t>
            </a:r>
          </a:p>
          <a:p>
            <a:pPr lvl="1"/>
            <a:r>
              <a:rPr lang="en-US" dirty="0"/>
              <a:t>E.g. When looking at income, the median is less impacted by really rich people. </a:t>
            </a:r>
          </a:p>
          <a:p>
            <a:r>
              <a:rPr lang="en-US" dirty="0"/>
              <a:t>In a true normal distribution, all these measures are equal. </a:t>
            </a:r>
          </a:p>
        </p:txBody>
      </p:sp>
    </p:spTree>
    <p:extLst>
      <p:ext uri="{BB962C8B-B14F-4D97-AF65-F5344CB8AC3E}">
        <p14:creationId xmlns:p14="http://schemas.microsoft.com/office/powerpoint/2010/main" val="3570988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54BA0-4965-C67C-E905-30B1868EDAA0}"/>
              </a:ext>
            </a:extLst>
          </p:cNvPr>
          <p:cNvSpPr>
            <a:spLocks noGrp="1"/>
          </p:cNvSpPr>
          <p:nvPr>
            <p:ph type="title"/>
          </p:nvPr>
        </p:nvSpPr>
        <p:spPr/>
        <p:txBody>
          <a:bodyPr/>
          <a:lstStyle/>
          <a:p>
            <a:r>
              <a:rPr lang="en-US" dirty="0"/>
              <a:t>Mean</a:t>
            </a:r>
          </a:p>
        </p:txBody>
      </p:sp>
      <p:sp>
        <p:nvSpPr>
          <p:cNvPr id="3" name="Content Placeholder 2">
            <a:extLst>
              <a:ext uri="{FF2B5EF4-FFF2-40B4-BE49-F238E27FC236}">
                <a16:creationId xmlns:a16="http://schemas.microsoft.com/office/drawing/2014/main" id="{177F100C-FC76-F09C-790D-9D3DF9B25881}"/>
              </a:ext>
            </a:extLst>
          </p:cNvPr>
          <p:cNvSpPr>
            <a:spLocks noGrp="1"/>
          </p:cNvSpPr>
          <p:nvPr>
            <p:ph idx="1"/>
          </p:nvPr>
        </p:nvSpPr>
        <p:spPr/>
        <p:txBody>
          <a:bodyPr/>
          <a:lstStyle/>
          <a:p>
            <a:r>
              <a:rPr lang="en-US" dirty="0"/>
              <a:t>MEAN is what we normally think of as the average. </a:t>
            </a:r>
          </a:p>
          <a:p>
            <a:pPr lvl="1"/>
            <a:r>
              <a:rPr lang="en-US" dirty="0"/>
              <a:t>Sum of values, divided by count of values. </a:t>
            </a:r>
          </a:p>
          <a:p>
            <a:r>
              <a:rPr lang="en-US" dirty="0"/>
              <a:t>Can be very impacted by outliers (very high/low values). </a:t>
            </a:r>
          </a:p>
        </p:txBody>
      </p:sp>
      <p:pic>
        <p:nvPicPr>
          <p:cNvPr id="2050" name="Picture 2" descr="Mean Median Mode: Measures for Data Sets - Curvebreakers">
            <a:extLst>
              <a:ext uri="{FF2B5EF4-FFF2-40B4-BE49-F238E27FC236}">
                <a16:creationId xmlns:a16="http://schemas.microsoft.com/office/drawing/2014/main" id="{2C18E986-DB6C-6AFC-ED2B-5A4F6E6AC00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72" t="21918" r="1537" b="41735"/>
          <a:stretch/>
        </p:blipFill>
        <p:spPr bwMode="auto">
          <a:xfrm>
            <a:off x="2965133" y="3741038"/>
            <a:ext cx="6576165" cy="2492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8805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9A0FA-97B0-0063-6242-00D7DBDFBD97}"/>
              </a:ext>
            </a:extLst>
          </p:cNvPr>
          <p:cNvSpPr>
            <a:spLocks noGrp="1"/>
          </p:cNvSpPr>
          <p:nvPr>
            <p:ph type="title"/>
          </p:nvPr>
        </p:nvSpPr>
        <p:spPr/>
        <p:txBody>
          <a:bodyPr/>
          <a:lstStyle/>
          <a:p>
            <a:r>
              <a:rPr lang="en-US" dirty="0"/>
              <a:t>Median</a:t>
            </a:r>
          </a:p>
        </p:txBody>
      </p:sp>
      <p:sp>
        <p:nvSpPr>
          <p:cNvPr id="3" name="Content Placeholder 2">
            <a:extLst>
              <a:ext uri="{FF2B5EF4-FFF2-40B4-BE49-F238E27FC236}">
                <a16:creationId xmlns:a16="http://schemas.microsoft.com/office/drawing/2014/main" id="{12BED4B9-E0FF-EA1F-86F1-6DCFA9A0C662}"/>
              </a:ext>
            </a:extLst>
          </p:cNvPr>
          <p:cNvSpPr>
            <a:spLocks noGrp="1"/>
          </p:cNvSpPr>
          <p:nvPr>
            <p:ph idx="1"/>
          </p:nvPr>
        </p:nvSpPr>
        <p:spPr/>
        <p:txBody>
          <a:bodyPr/>
          <a:lstStyle/>
          <a:p>
            <a:r>
              <a:rPr lang="en-US" dirty="0"/>
              <a:t>The median is the value “in the middle” – half of values are above, half below. </a:t>
            </a:r>
          </a:p>
          <a:p>
            <a:r>
              <a:rPr lang="en-US" dirty="0"/>
              <a:t>The median is more resistant to outliers (more on this later). </a:t>
            </a:r>
          </a:p>
          <a:p>
            <a:r>
              <a:rPr lang="en-US" dirty="0"/>
              <a:t>Commonly used when we have data like income – with large values that would impact the mean drastically. </a:t>
            </a:r>
          </a:p>
        </p:txBody>
      </p:sp>
      <p:pic>
        <p:nvPicPr>
          <p:cNvPr id="1026" name="Picture 2" descr="Median Calculator - Inch Calculator">
            <a:extLst>
              <a:ext uri="{FF2B5EF4-FFF2-40B4-BE49-F238E27FC236}">
                <a16:creationId xmlns:a16="http://schemas.microsoft.com/office/drawing/2014/main" id="{92B1627F-BF20-B995-2AF9-EFA40B47F08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0293" r="14856" b="17077"/>
          <a:stretch/>
        </p:blipFill>
        <p:spPr bwMode="auto">
          <a:xfrm>
            <a:off x="5173248" y="3971522"/>
            <a:ext cx="5881605" cy="2886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2441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A1D3A-5EDC-EBA4-C940-035E86F8D59B}"/>
              </a:ext>
            </a:extLst>
          </p:cNvPr>
          <p:cNvSpPr>
            <a:spLocks noGrp="1"/>
          </p:cNvSpPr>
          <p:nvPr>
            <p:ph type="title"/>
          </p:nvPr>
        </p:nvSpPr>
        <p:spPr/>
        <p:txBody>
          <a:bodyPr/>
          <a:lstStyle/>
          <a:p>
            <a:r>
              <a:rPr lang="en-US" dirty="0"/>
              <a:t>Mode</a:t>
            </a:r>
          </a:p>
        </p:txBody>
      </p:sp>
      <p:sp>
        <p:nvSpPr>
          <p:cNvPr id="3" name="Content Placeholder 2">
            <a:extLst>
              <a:ext uri="{FF2B5EF4-FFF2-40B4-BE49-F238E27FC236}">
                <a16:creationId xmlns:a16="http://schemas.microsoft.com/office/drawing/2014/main" id="{FEF22785-FAE9-3754-04A8-BDF619695606}"/>
              </a:ext>
            </a:extLst>
          </p:cNvPr>
          <p:cNvSpPr>
            <a:spLocks noGrp="1"/>
          </p:cNvSpPr>
          <p:nvPr>
            <p:ph idx="1"/>
          </p:nvPr>
        </p:nvSpPr>
        <p:spPr/>
        <p:txBody>
          <a:bodyPr/>
          <a:lstStyle/>
          <a:p>
            <a:r>
              <a:rPr lang="en-US" dirty="0"/>
              <a:t>MODE is the most frequently occurring value. </a:t>
            </a:r>
          </a:p>
          <a:p>
            <a:r>
              <a:rPr lang="en-US" dirty="0"/>
              <a:t>Most useful if data is discreet – can only take on certain values. </a:t>
            </a:r>
          </a:p>
          <a:p>
            <a:r>
              <a:rPr lang="en-US" dirty="0"/>
              <a:t>Pops up with distributions in terms such as BIMODAL, distributions that have 2 peeks. </a:t>
            </a:r>
          </a:p>
          <a:p>
            <a:r>
              <a:rPr lang="en-US" dirty="0"/>
              <a:t>Note – with continuous data, the mode might not have much meaning. E.g. with grades that are to 2 decimal places (59.23%, 81.04%, </a:t>
            </a:r>
            <a:r>
              <a:rPr lang="en-US" dirty="0" err="1"/>
              <a:t>etc</a:t>
            </a:r>
            <a:r>
              <a:rPr lang="en-US" dirty="0"/>
              <a:t>…) even if the values are tightly clustered, we won’t see the </a:t>
            </a:r>
            <a:r>
              <a:rPr lang="en-US" i="1" dirty="0"/>
              <a:t>exact</a:t>
            </a:r>
            <a:r>
              <a:rPr lang="en-US" dirty="0"/>
              <a:t> same value repeated often. </a:t>
            </a:r>
          </a:p>
        </p:txBody>
      </p:sp>
      <p:pic>
        <p:nvPicPr>
          <p:cNvPr id="8194" name="Picture 2" descr="Bimodal Distribution: Definition, Examples &amp; Analysis - Statistics By Jim">
            <a:extLst>
              <a:ext uri="{FF2B5EF4-FFF2-40B4-BE49-F238E27FC236}">
                <a16:creationId xmlns:a16="http://schemas.microsoft.com/office/drawing/2014/main" id="{8C5D4124-51C6-A3B5-7117-52EB47D023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6094" y="0"/>
            <a:ext cx="3915905" cy="2382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16775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A4270-B7A2-00B8-7943-83F13B9822B6}"/>
              </a:ext>
            </a:extLst>
          </p:cNvPr>
          <p:cNvSpPr>
            <a:spLocks noGrp="1"/>
          </p:cNvSpPr>
          <p:nvPr>
            <p:ph type="title"/>
          </p:nvPr>
        </p:nvSpPr>
        <p:spPr/>
        <p:txBody>
          <a:bodyPr/>
          <a:lstStyle/>
          <a:p>
            <a:r>
              <a:rPr lang="en-US" dirty="0"/>
              <a:t>Range</a:t>
            </a:r>
          </a:p>
        </p:txBody>
      </p:sp>
      <p:sp>
        <p:nvSpPr>
          <p:cNvPr id="3" name="Content Placeholder 2">
            <a:extLst>
              <a:ext uri="{FF2B5EF4-FFF2-40B4-BE49-F238E27FC236}">
                <a16:creationId xmlns:a16="http://schemas.microsoft.com/office/drawing/2014/main" id="{EBAB4638-3D4D-2984-7E98-3270250B7BC8}"/>
              </a:ext>
            </a:extLst>
          </p:cNvPr>
          <p:cNvSpPr>
            <a:spLocks noGrp="1"/>
          </p:cNvSpPr>
          <p:nvPr>
            <p:ph idx="1"/>
          </p:nvPr>
        </p:nvSpPr>
        <p:spPr/>
        <p:txBody>
          <a:bodyPr/>
          <a:lstStyle/>
          <a:p>
            <a:r>
              <a:rPr lang="en-US" dirty="0"/>
              <a:t>Rage is the distance from minimum to maximum values in a dataset. </a:t>
            </a:r>
          </a:p>
        </p:txBody>
      </p:sp>
    </p:spTree>
    <p:extLst>
      <p:ext uri="{BB962C8B-B14F-4D97-AF65-F5344CB8AC3E}">
        <p14:creationId xmlns:p14="http://schemas.microsoft.com/office/powerpoint/2010/main" val="39917569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D2960-63F9-0EAB-9C08-ED483496A478}"/>
              </a:ext>
            </a:extLst>
          </p:cNvPr>
          <p:cNvSpPr>
            <a:spLocks noGrp="1"/>
          </p:cNvSpPr>
          <p:nvPr>
            <p:ph type="title"/>
          </p:nvPr>
        </p:nvSpPr>
        <p:spPr/>
        <p:txBody>
          <a:bodyPr/>
          <a:lstStyle/>
          <a:p>
            <a:r>
              <a:rPr lang="en-US" dirty="0"/>
              <a:t>Locations in tableau</a:t>
            </a:r>
          </a:p>
        </p:txBody>
      </p:sp>
      <p:sp>
        <p:nvSpPr>
          <p:cNvPr id="3" name="Content Placeholder 2">
            <a:extLst>
              <a:ext uri="{FF2B5EF4-FFF2-40B4-BE49-F238E27FC236}">
                <a16:creationId xmlns:a16="http://schemas.microsoft.com/office/drawing/2014/main" id="{2D7E63B9-C223-223E-665E-12375D96BBBD}"/>
              </a:ext>
            </a:extLst>
          </p:cNvPr>
          <p:cNvSpPr>
            <a:spLocks noGrp="1"/>
          </p:cNvSpPr>
          <p:nvPr>
            <p:ph idx="1"/>
          </p:nvPr>
        </p:nvSpPr>
        <p:spPr>
          <a:xfrm>
            <a:off x="685800" y="2015732"/>
            <a:ext cx="6370428" cy="3450613"/>
          </a:xfrm>
        </p:spPr>
        <p:txBody>
          <a:bodyPr>
            <a:normAutofit fontScale="92500" lnSpcReduction="10000"/>
          </a:bodyPr>
          <a:lstStyle/>
          <a:p>
            <a:r>
              <a:rPr lang="en-US" dirty="0"/>
              <a:t>Mean, median, and mode functions. </a:t>
            </a:r>
          </a:p>
          <a:p>
            <a:r>
              <a:rPr lang="en-US" dirty="0"/>
              <a:t>Summary choices when adding measures to charts. </a:t>
            </a:r>
          </a:p>
          <a:p>
            <a:r>
              <a:rPr lang="en-US" dirty="0"/>
              <a:t>Reference lines. </a:t>
            </a:r>
          </a:p>
          <a:p>
            <a:endParaRPr lang="en-US" dirty="0"/>
          </a:p>
          <a:p>
            <a:r>
              <a:rPr lang="en-US" dirty="0"/>
              <a:t>Note: for many/most “real life” population wide values, we often want to use the median as the “average”. Think of something like income, the oligarchs of the world drag up the mean substantially. The median is a more meaningful measure for most cases. </a:t>
            </a:r>
          </a:p>
        </p:txBody>
      </p:sp>
      <p:pic>
        <p:nvPicPr>
          <p:cNvPr id="4" name="Picture 3" descr="Mean vs. Median: Visualizing Net Worth in the U.S. by Age Group">
            <a:extLst>
              <a:ext uri="{FF2B5EF4-FFF2-40B4-BE49-F238E27FC236}">
                <a16:creationId xmlns:a16="http://schemas.microsoft.com/office/drawing/2014/main" id="{E73A678D-35DC-EB49-902E-7C1305E10510}"/>
              </a:ext>
            </a:extLst>
          </p:cNvPr>
          <p:cNvPicPr>
            <a:picLocks noChangeAspect="1"/>
          </p:cNvPicPr>
          <p:nvPr/>
        </p:nvPicPr>
        <p:blipFill>
          <a:blip r:embed="rId2"/>
          <a:srcRect b="9563"/>
          <a:stretch>
            <a:fillRect/>
          </a:stretch>
        </p:blipFill>
        <p:spPr>
          <a:xfrm>
            <a:off x="7056227" y="402259"/>
            <a:ext cx="5135773" cy="6053481"/>
          </a:xfrm>
          <a:prstGeom prst="rect">
            <a:avLst/>
          </a:prstGeom>
        </p:spPr>
      </p:pic>
    </p:spTree>
    <p:extLst>
      <p:ext uri="{BB962C8B-B14F-4D97-AF65-F5344CB8AC3E}">
        <p14:creationId xmlns:p14="http://schemas.microsoft.com/office/powerpoint/2010/main" val="4566645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8AD7E-39D0-95AA-6D8A-D2D7D251AE61}"/>
              </a:ext>
            </a:extLst>
          </p:cNvPr>
          <p:cNvSpPr>
            <a:spLocks noGrp="1"/>
          </p:cNvSpPr>
          <p:nvPr>
            <p:ph type="title"/>
          </p:nvPr>
        </p:nvSpPr>
        <p:spPr/>
        <p:txBody>
          <a:bodyPr/>
          <a:lstStyle/>
          <a:p>
            <a:r>
              <a:rPr lang="en-US" dirty="0"/>
              <a:t>Measures of Dispersion</a:t>
            </a:r>
          </a:p>
        </p:txBody>
      </p:sp>
      <p:sp>
        <p:nvSpPr>
          <p:cNvPr id="3" name="Content Placeholder 2">
            <a:extLst>
              <a:ext uri="{FF2B5EF4-FFF2-40B4-BE49-F238E27FC236}">
                <a16:creationId xmlns:a16="http://schemas.microsoft.com/office/drawing/2014/main" id="{DABC2036-388B-032E-2173-CF8081E7E4A8}"/>
              </a:ext>
            </a:extLst>
          </p:cNvPr>
          <p:cNvSpPr>
            <a:spLocks noGrp="1"/>
          </p:cNvSpPr>
          <p:nvPr>
            <p:ph idx="1"/>
          </p:nvPr>
        </p:nvSpPr>
        <p:spPr>
          <a:xfrm>
            <a:off x="726510" y="2015732"/>
            <a:ext cx="11123112" cy="4037749"/>
          </a:xfrm>
        </p:spPr>
        <p:txBody>
          <a:bodyPr/>
          <a:lstStyle/>
          <a:p>
            <a:r>
              <a:rPr lang="en-US" dirty="0"/>
              <a:t>Measures of dispersion give us an idea of how spread out our data is over its range. </a:t>
            </a:r>
          </a:p>
          <a:p>
            <a:pPr lvl="1"/>
            <a:r>
              <a:rPr lang="en-US" dirty="0"/>
              <a:t>Highly dispersed data has values more evenly distributed. </a:t>
            </a:r>
          </a:p>
          <a:p>
            <a:pPr lvl="1"/>
            <a:r>
              <a:rPr lang="en-US" dirty="0"/>
              <a:t>Non-dispersed data is more clustered (usually near the mean). </a:t>
            </a:r>
          </a:p>
          <a:p>
            <a:r>
              <a:rPr lang="en-US" dirty="0"/>
              <a:t>The main measure of dispersion is the STANDARD DEVIATION, which is made from the VARIANCE. </a:t>
            </a:r>
          </a:p>
          <a:p>
            <a:r>
              <a:rPr lang="en-US" dirty="0"/>
              <a:t>One of the other measures needed to define a normal distribution. </a:t>
            </a:r>
          </a:p>
          <a:p>
            <a:pPr lvl="1"/>
            <a:r>
              <a:rPr lang="en-US" dirty="0"/>
              <a:t>If we know the mean and standard deviation, we know what a normal distribution looks like. </a:t>
            </a:r>
          </a:p>
          <a:p>
            <a:pPr lvl="1"/>
            <a:r>
              <a:rPr lang="en-US" dirty="0"/>
              <a:t>In real life (beyond scope) – collect a sample, measure mean/std for the sample, create a normal distribution with that mean/std, use the new normal distribution to represent the population, that estimation process also gives us expected error in our generalization. </a:t>
            </a:r>
          </a:p>
        </p:txBody>
      </p:sp>
    </p:spTree>
    <p:extLst>
      <p:ext uri="{BB962C8B-B14F-4D97-AF65-F5344CB8AC3E}">
        <p14:creationId xmlns:p14="http://schemas.microsoft.com/office/powerpoint/2010/main" val="1457301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BB8B5-4F61-30F7-2336-4534113ADDF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FAF3013-CE6C-D727-A0BB-7539FE3176C5}"/>
              </a:ext>
            </a:extLst>
          </p:cNvPr>
          <p:cNvSpPr>
            <a:spLocks noGrp="1"/>
          </p:cNvSpPr>
          <p:nvPr>
            <p:ph idx="1"/>
          </p:nvPr>
        </p:nvSpPr>
        <p:spPr/>
        <p:txBody>
          <a:bodyPr/>
          <a:lstStyle/>
          <a:p>
            <a:endParaRPr lang="en-US"/>
          </a:p>
        </p:txBody>
      </p:sp>
      <p:pic>
        <p:nvPicPr>
          <p:cNvPr id="1026" name="Picture 2" descr="Variance and Standard Deviation – Data and Machine by viswateja">
            <a:extLst>
              <a:ext uri="{FF2B5EF4-FFF2-40B4-BE49-F238E27FC236}">
                <a16:creationId xmlns:a16="http://schemas.microsoft.com/office/drawing/2014/main" id="{4E57CBEA-8ECE-2584-D600-2652DBF6FA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1416050"/>
            <a:ext cx="7315200" cy="4025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57158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ED737-A27C-E5FB-C428-6E5FAB2BF4BA}"/>
              </a:ext>
            </a:extLst>
          </p:cNvPr>
          <p:cNvSpPr>
            <a:spLocks noGrp="1"/>
          </p:cNvSpPr>
          <p:nvPr>
            <p:ph type="title"/>
          </p:nvPr>
        </p:nvSpPr>
        <p:spPr>
          <a:xfrm>
            <a:off x="1451579" y="804519"/>
            <a:ext cx="5596921" cy="1049235"/>
          </a:xfrm>
        </p:spPr>
        <p:txBody>
          <a:bodyPr/>
          <a:lstStyle/>
          <a:p>
            <a:r>
              <a:rPr lang="en-US" dirty="0"/>
              <a:t>Standard Deviation and </a:t>
            </a:r>
            <a:br>
              <a:rPr lang="en-US" dirty="0"/>
            </a:br>
            <a:r>
              <a:rPr lang="en-US" dirty="0"/>
              <a:t>Variance</a:t>
            </a:r>
          </a:p>
        </p:txBody>
      </p:sp>
      <p:sp>
        <p:nvSpPr>
          <p:cNvPr id="3" name="Content Placeholder 2">
            <a:extLst>
              <a:ext uri="{FF2B5EF4-FFF2-40B4-BE49-F238E27FC236}">
                <a16:creationId xmlns:a16="http://schemas.microsoft.com/office/drawing/2014/main" id="{C824EDDC-60E0-AA18-8307-F3305C8D5760}"/>
              </a:ext>
            </a:extLst>
          </p:cNvPr>
          <p:cNvSpPr>
            <a:spLocks noGrp="1"/>
          </p:cNvSpPr>
          <p:nvPr>
            <p:ph idx="1"/>
          </p:nvPr>
        </p:nvSpPr>
        <p:spPr>
          <a:xfrm>
            <a:off x="77492" y="1947791"/>
            <a:ext cx="7485681" cy="4166290"/>
          </a:xfrm>
        </p:spPr>
        <p:txBody>
          <a:bodyPr>
            <a:normAutofit/>
          </a:bodyPr>
          <a:lstStyle/>
          <a:p>
            <a:r>
              <a:rPr lang="en-US" dirty="0"/>
              <a:t>Variance is the avg of the squared distances of values from the mean. </a:t>
            </a:r>
          </a:p>
          <a:p>
            <a:pPr lvl="1"/>
            <a:r>
              <a:rPr lang="en-US" dirty="0"/>
              <a:t>The squaring negates less/greater and penalizes small “misses” less. </a:t>
            </a:r>
          </a:p>
          <a:p>
            <a:pPr lvl="1"/>
            <a:r>
              <a:rPr lang="en-US" dirty="0"/>
              <a:t>High variance data has values far from the mean, low variance indicates they are closer. </a:t>
            </a:r>
          </a:p>
          <a:p>
            <a:r>
              <a:rPr lang="en-US" dirty="0"/>
              <a:t>Standard deviation is the square root of the variance. </a:t>
            </a:r>
          </a:p>
          <a:p>
            <a:pPr lvl="1"/>
            <a:r>
              <a:rPr lang="en-US" dirty="0"/>
              <a:t>We normally use the standard deviation. </a:t>
            </a:r>
          </a:p>
          <a:p>
            <a:pPr lvl="1"/>
            <a:r>
              <a:rPr lang="en-US" dirty="0"/>
              <a:t>On the same scale as the original data, while variance is a large number. </a:t>
            </a:r>
          </a:p>
          <a:p>
            <a:pPr lvl="1"/>
            <a:r>
              <a:rPr lang="en-US" dirty="0"/>
              <a:t>~ How far we expect the average value to be from the mean. </a:t>
            </a:r>
          </a:p>
          <a:p>
            <a:pPr lvl="1"/>
            <a:endParaRPr lang="en-US" dirty="0"/>
          </a:p>
        </p:txBody>
      </p:sp>
      <p:pic>
        <p:nvPicPr>
          <p:cNvPr id="3074" name="Picture 2" descr="Variance and Standard Deviation of a Sample">
            <a:extLst>
              <a:ext uri="{FF2B5EF4-FFF2-40B4-BE49-F238E27FC236}">
                <a16:creationId xmlns:a16="http://schemas.microsoft.com/office/drawing/2014/main" id="{11FA05F9-D32D-AEA4-B84E-171F549B75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48500" y="0"/>
            <a:ext cx="5143500" cy="15748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ow to Calculate Standard Deviation in Excel (Step-by-Step)">
            <a:extLst>
              <a:ext uri="{FF2B5EF4-FFF2-40B4-BE49-F238E27FC236}">
                <a16:creationId xmlns:a16="http://schemas.microsoft.com/office/drawing/2014/main" id="{5023939E-95F3-10CD-E9FC-02BA690450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0999" y="3673098"/>
            <a:ext cx="4711001" cy="31849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75146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27EF4-F118-7D37-B264-61211DE2D6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1B6699-F35F-5EEC-30E3-87E428800377}"/>
              </a:ext>
            </a:extLst>
          </p:cNvPr>
          <p:cNvSpPr>
            <a:spLocks noGrp="1"/>
          </p:cNvSpPr>
          <p:nvPr>
            <p:ph type="title"/>
          </p:nvPr>
        </p:nvSpPr>
        <p:spPr/>
        <p:txBody>
          <a:bodyPr/>
          <a:lstStyle/>
          <a:p>
            <a:r>
              <a:rPr lang="en-US" dirty="0"/>
              <a:t>Dispersion</a:t>
            </a:r>
          </a:p>
        </p:txBody>
      </p:sp>
      <p:sp>
        <p:nvSpPr>
          <p:cNvPr id="3" name="Content Placeholder 2">
            <a:extLst>
              <a:ext uri="{FF2B5EF4-FFF2-40B4-BE49-F238E27FC236}">
                <a16:creationId xmlns:a16="http://schemas.microsoft.com/office/drawing/2014/main" id="{98F11145-F800-3B5D-2BCE-7C08B366F723}"/>
              </a:ext>
            </a:extLst>
          </p:cNvPr>
          <p:cNvSpPr>
            <a:spLocks noGrp="1"/>
          </p:cNvSpPr>
          <p:nvPr>
            <p:ph idx="1"/>
          </p:nvPr>
        </p:nvSpPr>
        <p:spPr/>
        <p:txBody>
          <a:bodyPr/>
          <a:lstStyle/>
          <a:p>
            <a:endParaRPr lang="en-US"/>
          </a:p>
        </p:txBody>
      </p:sp>
      <p:pic>
        <p:nvPicPr>
          <p:cNvPr id="2052" name="Picture 4" descr="Dispersion in Statistics - Meaning, Measures, Examples">
            <a:extLst>
              <a:ext uri="{FF2B5EF4-FFF2-40B4-BE49-F238E27FC236}">
                <a16:creationId xmlns:a16="http://schemas.microsoft.com/office/drawing/2014/main" id="{CEA638B3-C542-6973-CF80-BCD47CBDCC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0816" y="1853754"/>
            <a:ext cx="7924800" cy="4559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31039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5D7F7-DD63-93EE-68A6-7325316DA3CE}"/>
              </a:ext>
            </a:extLst>
          </p:cNvPr>
          <p:cNvSpPr>
            <a:spLocks noGrp="1"/>
          </p:cNvSpPr>
          <p:nvPr>
            <p:ph type="title"/>
          </p:nvPr>
        </p:nvSpPr>
        <p:spPr/>
        <p:txBody>
          <a:bodyPr/>
          <a:lstStyle/>
          <a:p>
            <a:r>
              <a:rPr lang="en-US" dirty="0"/>
              <a:t>If the data is normal, we know things…</a:t>
            </a:r>
          </a:p>
        </p:txBody>
      </p:sp>
      <p:sp>
        <p:nvSpPr>
          <p:cNvPr id="3" name="Content Placeholder 2">
            <a:extLst>
              <a:ext uri="{FF2B5EF4-FFF2-40B4-BE49-F238E27FC236}">
                <a16:creationId xmlns:a16="http://schemas.microsoft.com/office/drawing/2014/main" id="{D76EAB8D-810E-7BF5-DC6A-F7A2757D1BE3}"/>
              </a:ext>
            </a:extLst>
          </p:cNvPr>
          <p:cNvSpPr>
            <a:spLocks noGrp="1"/>
          </p:cNvSpPr>
          <p:nvPr>
            <p:ph idx="1"/>
          </p:nvPr>
        </p:nvSpPr>
        <p:spPr>
          <a:xfrm>
            <a:off x="7869548" y="2015732"/>
            <a:ext cx="4322452" cy="4037749"/>
          </a:xfrm>
        </p:spPr>
        <p:txBody>
          <a:bodyPr/>
          <a:lstStyle/>
          <a:p>
            <a:r>
              <a:rPr lang="en-US" dirty="0"/>
              <a:t>Distributions often have ‘tools’ premade. </a:t>
            </a:r>
          </a:p>
          <a:p>
            <a:pPr lvl="1"/>
            <a:r>
              <a:rPr lang="en-US" dirty="0"/>
              <a:t>I.e. create calculations/rules based on properties of the distribution. </a:t>
            </a:r>
          </a:p>
          <a:p>
            <a:r>
              <a:rPr lang="en-US" dirty="0"/>
              <a:t>For normal data, we have many. </a:t>
            </a:r>
          </a:p>
          <a:p>
            <a:r>
              <a:rPr lang="en-US" dirty="0"/>
              <a:t>If we know mean and std we can calculate many things for normal dist.</a:t>
            </a:r>
          </a:p>
          <a:p>
            <a:r>
              <a:rPr lang="en-US" dirty="0"/>
              <a:t>Other distributions have some. </a:t>
            </a:r>
          </a:p>
        </p:txBody>
      </p:sp>
      <p:pic>
        <p:nvPicPr>
          <p:cNvPr id="2050" name="Picture 2" descr="What Is Standard Deviation? - Business Insider">
            <a:extLst>
              <a:ext uri="{FF2B5EF4-FFF2-40B4-BE49-F238E27FC236}">
                <a16:creationId xmlns:a16="http://schemas.microsoft.com/office/drawing/2014/main" id="{1B582E1B-09A2-8DC7-8DB0-9E3FA7A59D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6189" y="1508166"/>
            <a:ext cx="7373359" cy="5349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6753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FE005-ED26-04B6-C360-C1B83F5DBDF6}"/>
              </a:ext>
            </a:extLst>
          </p:cNvPr>
          <p:cNvSpPr>
            <a:spLocks noGrp="1"/>
          </p:cNvSpPr>
          <p:nvPr>
            <p:ph type="title"/>
          </p:nvPr>
        </p:nvSpPr>
        <p:spPr/>
        <p:txBody>
          <a:bodyPr/>
          <a:lstStyle/>
          <a:p>
            <a:r>
              <a:rPr lang="en-US" dirty="0"/>
              <a:t>Dispersion in Tableau</a:t>
            </a:r>
          </a:p>
        </p:txBody>
      </p:sp>
      <p:sp>
        <p:nvSpPr>
          <p:cNvPr id="3" name="Content Placeholder 2">
            <a:extLst>
              <a:ext uri="{FF2B5EF4-FFF2-40B4-BE49-F238E27FC236}">
                <a16:creationId xmlns:a16="http://schemas.microsoft.com/office/drawing/2014/main" id="{C35C486D-4A56-8EF4-423F-6CF20F95DD5F}"/>
              </a:ext>
            </a:extLst>
          </p:cNvPr>
          <p:cNvSpPr>
            <a:spLocks noGrp="1"/>
          </p:cNvSpPr>
          <p:nvPr>
            <p:ph idx="1"/>
          </p:nvPr>
        </p:nvSpPr>
        <p:spPr/>
        <p:txBody>
          <a:bodyPr/>
          <a:lstStyle/>
          <a:p>
            <a:r>
              <a:rPr lang="en-US" dirty="0"/>
              <a:t>Dispersion can be seen in a histogram, box-and-whisker plot, or others. </a:t>
            </a:r>
          </a:p>
          <a:p>
            <a:r>
              <a:rPr lang="en-US" dirty="0"/>
              <a:t>Dispersion can be measured with the standard deviation or variance functions. </a:t>
            </a:r>
          </a:p>
          <a:p>
            <a:pPr lvl="1"/>
            <a:r>
              <a:rPr lang="en-US" dirty="0"/>
              <a:t>We normally use the standard deviation. </a:t>
            </a:r>
          </a:p>
          <a:p>
            <a:r>
              <a:rPr lang="en-US" dirty="0"/>
              <a:t>Be aware of outliers. </a:t>
            </a:r>
          </a:p>
        </p:txBody>
      </p:sp>
    </p:spTree>
    <p:extLst>
      <p:ext uri="{BB962C8B-B14F-4D97-AF65-F5344CB8AC3E}">
        <p14:creationId xmlns:p14="http://schemas.microsoft.com/office/powerpoint/2010/main" val="24230128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D61F3-0E1D-116D-104E-8E15ABF02AF3}"/>
              </a:ext>
            </a:extLst>
          </p:cNvPr>
          <p:cNvSpPr>
            <a:spLocks noGrp="1"/>
          </p:cNvSpPr>
          <p:nvPr>
            <p:ph type="title"/>
          </p:nvPr>
        </p:nvSpPr>
        <p:spPr>
          <a:xfrm>
            <a:off x="1451579" y="804519"/>
            <a:ext cx="9603275" cy="1049235"/>
          </a:xfrm>
        </p:spPr>
        <p:txBody>
          <a:bodyPr>
            <a:normAutofit/>
          </a:bodyPr>
          <a:lstStyle/>
          <a:p>
            <a:r>
              <a:rPr lang="en-US" dirty="0"/>
              <a:t>Distributions</a:t>
            </a:r>
          </a:p>
        </p:txBody>
      </p:sp>
      <p:pic>
        <p:nvPicPr>
          <p:cNvPr id="11268" name="Picture 4" descr="Plot probability distribution object - MATLAB plot">
            <a:extLst>
              <a:ext uri="{FF2B5EF4-FFF2-40B4-BE49-F238E27FC236}">
                <a16:creationId xmlns:a16="http://schemas.microsoft.com/office/drawing/2014/main" id="{6984CBEF-F81B-919A-7579-53E9570BC8A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74551" y="1914995"/>
            <a:ext cx="5517981" cy="4138486"/>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F635E69D-689B-7CA2-B0B9-7B646D6BFF5C}"/>
              </a:ext>
            </a:extLst>
          </p:cNvPr>
          <p:cNvSpPr>
            <a:spLocks noGrp="1"/>
          </p:cNvSpPr>
          <p:nvPr>
            <p:ph idx="1"/>
          </p:nvPr>
        </p:nvSpPr>
        <p:spPr>
          <a:xfrm>
            <a:off x="6315559" y="2015734"/>
            <a:ext cx="5701890" cy="4037747"/>
          </a:xfrm>
        </p:spPr>
        <p:txBody>
          <a:bodyPr>
            <a:normAutofit/>
          </a:bodyPr>
          <a:lstStyle/>
          <a:p>
            <a:pPr>
              <a:lnSpc>
                <a:spcPct val="110000"/>
              </a:lnSpc>
            </a:pPr>
            <a:r>
              <a:rPr lang="en-US" dirty="0"/>
              <a:t>The distribution of data describes its “shape”. </a:t>
            </a:r>
          </a:p>
          <a:p>
            <a:pPr lvl="1">
              <a:lnSpc>
                <a:spcPct val="110000"/>
              </a:lnSpc>
            </a:pPr>
            <a:r>
              <a:rPr lang="en-US" sz="2000" dirty="0"/>
              <a:t>Data is distributed over the RANGE – the minimum to the maximum value. </a:t>
            </a:r>
          </a:p>
          <a:p>
            <a:pPr lvl="1">
              <a:lnSpc>
                <a:spcPct val="110000"/>
              </a:lnSpc>
            </a:pPr>
            <a:r>
              <a:rPr lang="en-US" sz="2000" dirty="0"/>
              <a:t>Range tells us the limits, distribution describes the pattern</a:t>
            </a:r>
          </a:p>
          <a:p>
            <a:pPr>
              <a:lnSpc>
                <a:spcPct val="110000"/>
              </a:lnSpc>
            </a:pPr>
            <a:r>
              <a:rPr lang="en-US" dirty="0"/>
              <a:t>Knowing the distribution can help us know how to treat our data. </a:t>
            </a:r>
          </a:p>
          <a:p>
            <a:pPr>
              <a:lnSpc>
                <a:spcPct val="110000"/>
              </a:lnSpc>
            </a:pPr>
            <a:r>
              <a:rPr lang="en-US" dirty="0"/>
              <a:t>When generalizing from samples, we “lean on” what we know about a distribution to help the extrapolation. </a:t>
            </a:r>
          </a:p>
        </p:txBody>
      </p:sp>
    </p:spTree>
    <p:extLst>
      <p:ext uri="{BB962C8B-B14F-4D97-AF65-F5344CB8AC3E}">
        <p14:creationId xmlns:p14="http://schemas.microsoft.com/office/powerpoint/2010/main" val="8523495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A0DE6-EC62-8D27-B0F5-6F5A98BB19FD}"/>
              </a:ext>
            </a:extLst>
          </p:cNvPr>
          <p:cNvSpPr>
            <a:spLocks noGrp="1"/>
          </p:cNvSpPr>
          <p:nvPr>
            <p:ph type="title"/>
          </p:nvPr>
        </p:nvSpPr>
        <p:spPr/>
        <p:txBody>
          <a:bodyPr/>
          <a:lstStyle/>
          <a:p>
            <a:r>
              <a:rPr lang="en-US" dirty="0"/>
              <a:t>Normal Distribution</a:t>
            </a:r>
          </a:p>
        </p:txBody>
      </p:sp>
      <p:sp>
        <p:nvSpPr>
          <p:cNvPr id="3" name="Content Placeholder 2">
            <a:extLst>
              <a:ext uri="{FF2B5EF4-FFF2-40B4-BE49-F238E27FC236}">
                <a16:creationId xmlns:a16="http://schemas.microsoft.com/office/drawing/2014/main" id="{E044766A-B8E2-9C18-09F4-112DC48C22ED}"/>
              </a:ext>
            </a:extLst>
          </p:cNvPr>
          <p:cNvSpPr>
            <a:spLocks noGrp="1"/>
          </p:cNvSpPr>
          <p:nvPr>
            <p:ph idx="1"/>
          </p:nvPr>
        </p:nvSpPr>
        <p:spPr>
          <a:xfrm>
            <a:off x="1451579" y="2015732"/>
            <a:ext cx="9603275" cy="4091902"/>
          </a:xfrm>
        </p:spPr>
        <p:txBody>
          <a:bodyPr/>
          <a:lstStyle/>
          <a:p>
            <a:r>
              <a:rPr lang="en-US" dirty="0"/>
              <a:t>The NORMAL DISTRIBUTION is perhaps the most common distribution. </a:t>
            </a:r>
          </a:p>
          <a:p>
            <a:pPr lvl="1"/>
            <a:r>
              <a:rPr lang="en-US" dirty="0"/>
              <a:t>Also known as a bell curve. </a:t>
            </a:r>
          </a:p>
          <a:p>
            <a:r>
              <a:rPr lang="en-US" dirty="0"/>
              <a:t>A large percentage of data will follow a normal, or normal-</a:t>
            </a:r>
            <a:r>
              <a:rPr lang="en-US" dirty="0" err="1"/>
              <a:t>ish</a:t>
            </a:r>
            <a:r>
              <a:rPr lang="en-US" dirty="0"/>
              <a:t>, distribution. </a:t>
            </a:r>
          </a:p>
          <a:p>
            <a:pPr lvl="1"/>
            <a:r>
              <a:rPr lang="en-US" dirty="0"/>
              <a:t>E.g. sizes of animals, people’s height, </a:t>
            </a:r>
            <a:r>
              <a:rPr lang="en-US" dirty="0" err="1"/>
              <a:t>etc</a:t>
            </a:r>
            <a:r>
              <a:rPr lang="en-US" dirty="0"/>
              <a:t>…</a:t>
            </a:r>
          </a:p>
          <a:p>
            <a:r>
              <a:rPr lang="en-US" dirty="0"/>
              <a:t>The normal distribution has a bunch of properties and tools that are premade/pre-calculated for any data that is normal. </a:t>
            </a:r>
          </a:p>
          <a:p>
            <a:pPr lvl="1"/>
            <a:r>
              <a:rPr lang="en-US" dirty="0"/>
              <a:t>Analyzing normal data is often easier. </a:t>
            </a:r>
          </a:p>
          <a:p>
            <a:pPr lvl="1"/>
            <a:r>
              <a:rPr lang="en-US" dirty="0"/>
              <a:t>We can TRANSFORM data to make it normal, for easier analysis. </a:t>
            </a:r>
          </a:p>
          <a:p>
            <a:r>
              <a:rPr lang="en-US" dirty="0"/>
              <a:t>Lots of data follows a normal distribution, but we can’t just assume it all does. </a:t>
            </a:r>
          </a:p>
        </p:txBody>
      </p:sp>
    </p:spTree>
    <p:extLst>
      <p:ext uri="{BB962C8B-B14F-4D97-AF65-F5344CB8AC3E}">
        <p14:creationId xmlns:p14="http://schemas.microsoft.com/office/powerpoint/2010/main" val="39403243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3BB14-296F-3B29-D4FE-AAFE2E16784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DAFE4A9-2715-648E-0E0E-CD6AFF2010B0}"/>
              </a:ext>
            </a:extLst>
          </p:cNvPr>
          <p:cNvSpPr>
            <a:spLocks noGrp="1"/>
          </p:cNvSpPr>
          <p:nvPr>
            <p:ph idx="1"/>
          </p:nvPr>
        </p:nvSpPr>
        <p:spPr/>
        <p:txBody>
          <a:bodyPr/>
          <a:lstStyle/>
          <a:p>
            <a:endParaRPr lang="en-US"/>
          </a:p>
        </p:txBody>
      </p:sp>
      <p:pic>
        <p:nvPicPr>
          <p:cNvPr id="2050" name="Picture 2" descr="How to identify the outliers in your Data?? | by Gautam Kumar | Medium">
            <a:extLst>
              <a:ext uri="{FF2B5EF4-FFF2-40B4-BE49-F238E27FC236}">
                <a16:creationId xmlns:a16="http://schemas.microsoft.com/office/drawing/2014/main" id="{37CF36C6-8993-F3B7-80FB-13E08D3890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5325" y="0"/>
            <a:ext cx="1079976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15969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30E29-1777-A502-1DFD-549B9052AF55}"/>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C5DB3D54-6DC3-3124-606C-0DA538ADA01E}"/>
              </a:ext>
            </a:extLst>
          </p:cNvPr>
          <p:cNvSpPr>
            <a:spLocks noGrp="1"/>
          </p:cNvSpPr>
          <p:nvPr>
            <p:ph idx="1"/>
          </p:nvPr>
        </p:nvSpPr>
        <p:spPr/>
        <p:txBody>
          <a:bodyPr/>
          <a:lstStyle/>
          <a:p>
            <a:endParaRPr lang="en-US"/>
          </a:p>
        </p:txBody>
      </p:sp>
      <p:pic>
        <p:nvPicPr>
          <p:cNvPr id="7170" name="Picture 2" descr="14. Common Shapes of Data - LabXchange">
            <a:extLst>
              <a:ext uri="{FF2B5EF4-FFF2-40B4-BE49-F238E27FC236}">
                <a16:creationId xmlns:a16="http://schemas.microsoft.com/office/drawing/2014/main" id="{76FEC4E7-3D5B-376F-7609-FE529C7EA5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1088" y="0"/>
            <a:ext cx="1002823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94718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C0415-BC6B-7F8F-233F-75C214A751BC}"/>
              </a:ext>
            </a:extLst>
          </p:cNvPr>
          <p:cNvSpPr>
            <a:spLocks noGrp="1"/>
          </p:cNvSpPr>
          <p:nvPr>
            <p:ph type="title"/>
          </p:nvPr>
        </p:nvSpPr>
        <p:spPr>
          <a:xfrm>
            <a:off x="100740" y="804519"/>
            <a:ext cx="5640414" cy="1049235"/>
          </a:xfrm>
        </p:spPr>
        <p:txBody>
          <a:bodyPr/>
          <a:lstStyle/>
          <a:p>
            <a:r>
              <a:rPr lang="en-US" dirty="0"/>
              <a:t>Distributions in Tableau</a:t>
            </a:r>
          </a:p>
        </p:txBody>
      </p:sp>
      <p:sp>
        <p:nvSpPr>
          <p:cNvPr id="3" name="Content Placeholder 2">
            <a:extLst>
              <a:ext uri="{FF2B5EF4-FFF2-40B4-BE49-F238E27FC236}">
                <a16:creationId xmlns:a16="http://schemas.microsoft.com/office/drawing/2014/main" id="{B8E7669D-AAA4-BBB1-7D7A-64869F189AF4}"/>
              </a:ext>
            </a:extLst>
          </p:cNvPr>
          <p:cNvSpPr>
            <a:spLocks noGrp="1"/>
          </p:cNvSpPr>
          <p:nvPr>
            <p:ph idx="1"/>
          </p:nvPr>
        </p:nvSpPr>
        <p:spPr>
          <a:xfrm>
            <a:off x="317715" y="2015732"/>
            <a:ext cx="5315919" cy="4144844"/>
          </a:xfrm>
        </p:spPr>
        <p:txBody>
          <a:bodyPr/>
          <a:lstStyle/>
          <a:p>
            <a:r>
              <a:rPr lang="en-US" dirty="0"/>
              <a:t>Histograms and box-and-whisker plot are good at showing distributions. </a:t>
            </a:r>
          </a:p>
          <a:p>
            <a:pPr lvl="1"/>
            <a:r>
              <a:rPr lang="en-US" dirty="0"/>
              <a:t>Histograms are great for 1 variable per chart. </a:t>
            </a:r>
          </a:p>
          <a:p>
            <a:pPr lvl="1"/>
            <a:r>
              <a:rPr lang="en-US" dirty="0"/>
              <a:t>Box-and-whisker can show several at once. </a:t>
            </a:r>
          </a:p>
          <a:p>
            <a:r>
              <a:rPr lang="en-US" dirty="0"/>
              <a:t>Each shows the same data, in slightly different ways. </a:t>
            </a:r>
          </a:p>
          <a:p>
            <a:r>
              <a:rPr lang="en-US" dirty="0"/>
              <a:t>The main reason we need to understand different distributions is to know if something is normal or not. </a:t>
            </a:r>
          </a:p>
        </p:txBody>
      </p:sp>
      <p:pic>
        <p:nvPicPr>
          <p:cNvPr id="5122" name="Picture 2" descr="Vizible Difference: Overlaying Histogram with Box and Whisker Plot">
            <a:extLst>
              <a:ext uri="{FF2B5EF4-FFF2-40B4-BE49-F238E27FC236}">
                <a16:creationId xmlns:a16="http://schemas.microsoft.com/office/drawing/2014/main" id="{72BDF09D-6370-DAB0-1269-D63ECFA413D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5764"/>
          <a:stretch/>
        </p:blipFill>
        <p:spPr bwMode="auto">
          <a:xfrm>
            <a:off x="5741153" y="0"/>
            <a:ext cx="645084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51811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966A8-0404-6EF5-9FE7-FB58BCFCA6EA}"/>
              </a:ext>
            </a:extLst>
          </p:cNvPr>
          <p:cNvSpPr>
            <a:spLocks noGrp="1"/>
          </p:cNvSpPr>
          <p:nvPr>
            <p:ph type="title"/>
          </p:nvPr>
        </p:nvSpPr>
        <p:spPr/>
        <p:txBody>
          <a:bodyPr/>
          <a:lstStyle/>
          <a:p>
            <a:r>
              <a:rPr lang="en-US" dirty="0"/>
              <a:t>Percentiles</a:t>
            </a:r>
          </a:p>
        </p:txBody>
      </p:sp>
      <p:sp>
        <p:nvSpPr>
          <p:cNvPr id="3" name="Content Placeholder 2">
            <a:extLst>
              <a:ext uri="{FF2B5EF4-FFF2-40B4-BE49-F238E27FC236}">
                <a16:creationId xmlns:a16="http://schemas.microsoft.com/office/drawing/2014/main" id="{E074EA29-927B-8488-C106-338FCF98D74B}"/>
              </a:ext>
            </a:extLst>
          </p:cNvPr>
          <p:cNvSpPr>
            <a:spLocks noGrp="1"/>
          </p:cNvSpPr>
          <p:nvPr>
            <p:ph idx="1"/>
          </p:nvPr>
        </p:nvSpPr>
        <p:spPr>
          <a:xfrm>
            <a:off x="1451579" y="2015732"/>
            <a:ext cx="9603275" cy="4037749"/>
          </a:xfrm>
        </p:spPr>
        <p:txBody>
          <a:bodyPr/>
          <a:lstStyle/>
          <a:p>
            <a:r>
              <a:rPr lang="en-US" dirty="0"/>
              <a:t>PERCENTILES indicate how far “up the scale” a value is. </a:t>
            </a:r>
          </a:p>
          <a:p>
            <a:pPr lvl="1"/>
            <a:r>
              <a:rPr lang="en-US" dirty="0"/>
              <a:t>What percentage of records is this value greater than? </a:t>
            </a:r>
          </a:p>
          <a:p>
            <a:r>
              <a:rPr lang="en-US" dirty="0"/>
              <a:t>Works the same as the median, the median is the 50% percentile. </a:t>
            </a:r>
          </a:p>
          <a:p>
            <a:pPr lvl="1"/>
            <a:r>
              <a:rPr lang="en-US" dirty="0"/>
              <a:t>Also less impacted by outliers, like the median.  </a:t>
            </a:r>
          </a:p>
          <a:p>
            <a:pPr lvl="1"/>
            <a:r>
              <a:rPr lang="en-US" dirty="0"/>
              <a:t>The median is the value a record needs to be greater than 50% of records. </a:t>
            </a:r>
          </a:p>
          <a:p>
            <a:r>
              <a:rPr lang="en-US" dirty="0"/>
              <a:t>Commonly used in rankings:</a:t>
            </a:r>
          </a:p>
          <a:p>
            <a:pPr lvl="1"/>
            <a:r>
              <a:rPr lang="en-US" dirty="0"/>
              <a:t>E.g. the top 5%-10% of GPA in some states is guaranteed entrance in state colleges. </a:t>
            </a:r>
          </a:p>
          <a:p>
            <a:pPr lvl="1"/>
            <a:r>
              <a:rPr lang="en-US" dirty="0"/>
              <a:t>There might be variation on curriculum/test difficulty from year to year, but the top 5% can be assumed to be similarly capable every year. </a:t>
            </a:r>
          </a:p>
        </p:txBody>
      </p:sp>
      <p:pic>
        <p:nvPicPr>
          <p:cNvPr id="12290" name="Picture 2" descr="Analysis of the USMLE Percentile Rankings – USMLE Gunner">
            <a:extLst>
              <a:ext uri="{FF2B5EF4-FFF2-40B4-BE49-F238E27FC236}">
                <a16:creationId xmlns:a16="http://schemas.microsoft.com/office/drawing/2014/main" id="{625492BC-2D03-684B-251E-E4F38BD2EA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62206" y="0"/>
            <a:ext cx="4329794" cy="25417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07834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548E3-3430-AEC1-357C-65D492B6FB1D}"/>
              </a:ext>
            </a:extLst>
          </p:cNvPr>
          <p:cNvSpPr>
            <a:spLocks noGrp="1"/>
          </p:cNvSpPr>
          <p:nvPr>
            <p:ph type="title"/>
          </p:nvPr>
        </p:nvSpPr>
        <p:spPr/>
        <p:txBody>
          <a:bodyPr/>
          <a:lstStyle/>
          <a:p>
            <a:r>
              <a:rPr lang="en-US" dirty="0"/>
              <a:t>Percentiles in Tableau</a:t>
            </a:r>
          </a:p>
        </p:txBody>
      </p:sp>
      <p:sp>
        <p:nvSpPr>
          <p:cNvPr id="3" name="Content Placeholder 2">
            <a:extLst>
              <a:ext uri="{FF2B5EF4-FFF2-40B4-BE49-F238E27FC236}">
                <a16:creationId xmlns:a16="http://schemas.microsoft.com/office/drawing/2014/main" id="{86BD0F0E-99A4-01B3-BAC6-C97BB288F636}"/>
              </a:ext>
            </a:extLst>
          </p:cNvPr>
          <p:cNvSpPr>
            <a:spLocks noGrp="1"/>
          </p:cNvSpPr>
          <p:nvPr>
            <p:ph idx="1"/>
          </p:nvPr>
        </p:nvSpPr>
        <p:spPr/>
        <p:txBody>
          <a:bodyPr/>
          <a:lstStyle/>
          <a:p>
            <a:r>
              <a:rPr lang="en-US" dirty="0"/>
              <a:t>Tableau can calculate our percentiles easily:</a:t>
            </a:r>
          </a:p>
          <a:p>
            <a:pPr lvl="1"/>
            <a:r>
              <a:rPr lang="en-US" dirty="0"/>
              <a:t>“What percentile is this value in?” – Table calculation -&gt; percentile. </a:t>
            </a:r>
          </a:p>
          <a:p>
            <a:pPr lvl="1"/>
            <a:r>
              <a:rPr lang="en-US" dirty="0"/>
              <a:t>“What value do I need to be in this percentile” – Measure -&gt; percentile -&gt; choose cutoff. </a:t>
            </a:r>
          </a:p>
        </p:txBody>
      </p:sp>
    </p:spTree>
    <p:extLst>
      <p:ext uri="{BB962C8B-B14F-4D97-AF65-F5344CB8AC3E}">
        <p14:creationId xmlns:p14="http://schemas.microsoft.com/office/powerpoint/2010/main" val="9243340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19311-060C-76B3-8ADA-C807273C991E}"/>
              </a:ext>
            </a:extLst>
          </p:cNvPr>
          <p:cNvSpPr>
            <a:spLocks noGrp="1"/>
          </p:cNvSpPr>
          <p:nvPr>
            <p:ph type="title"/>
          </p:nvPr>
        </p:nvSpPr>
        <p:spPr/>
        <p:txBody>
          <a:bodyPr/>
          <a:lstStyle/>
          <a:p>
            <a:r>
              <a:rPr lang="en-US" dirty="0"/>
              <a:t>Interquartile Range</a:t>
            </a:r>
          </a:p>
        </p:txBody>
      </p:sp>
      <p:sp>
        <p:nvSpPr>
          <p:cNvPr id="3" name="Content Placeholder 2">
            <a:extLst>
              <a:ext uri="{FF2B5EF4-FFF2-40B4-BE49-F238E27FC236}">
                <a16:creationId xmlns:a16="http://schemas.microsoft.com/office/drawing/2014/main" id="{352F09AD-FBA8-A042-8D95-71FE685C7346}"/>
              </a:ext>
            </a:extLst>
          </p:cNvPr>
          <p:cNvSpPr>
            <a:spLocks noGrp="1"/>
          </p:cNvSpPr>
          <p:nvPr>
            <p:ph idx="1"/>
          </p:nvPr>
        </p:nvSpPr>
        <p:spPr>
          <a:xfrm>
            <a:off x="5137483" y="2015732"/>
            <a:ext cx="6725653" cy="4037749"/>
          </a:xfrm>
        </p:spPr>
        <p:txBody>
          <a:bodyPr/>
          <a:lstStyle/>
          <a:p>
            <a:r>
              <a:rPr lang="en-US" dirty="0"/>
              <a:t>One way the percentiles are commonly applied is the IQR. </a:t>
            </a:r>
          </a:p>
          <a:p>
            <a:r>
              <a:rPr lang="en-US" dirty="0"/>
              <a:t>IQR gives us the range of the middle 50% of the data. </a:t>
            </a:r>
          </a:p>
          <a:p>
            <a:pPr lvl="1"/>
            <a:r>
              <a:rPr lang="en-US" dirty="0"/>
              <a:t>A “typical” representative of the dataset. </a:t>
            </a:r>
          </a:p>
          <a:p>
            <a:r>
              <a:rPr lang="en-US" dirty="0"/>
              <a:t>Frequently used in real world/social science applications. </a:t>
            </a:r>
          </a:p>
          <a:p>
            <a:pPr lvl="1"/>
            <a:r>
              <a:rPr lang="en-US" dirty="0"/>
              <a:t>Measures dispersion of the middle. </a:t>
            </a:r>
          </a:p>
          <a:p>
            <a:r>
              <a:rPr lang="en-US" dirty="0"/>
              <a:t>Can be an outlier filter (e.g. q1 – 1.5*</a:t>
            </a:r>
            <a:r>
              <a:rPr lang="en-US" dirty="0" err="1"/>
              <a:t>iqr</a:t>
            </a:r>
            <a:r>
              <a:rPr lang="en-US" dirty="0"/>
              <a:t> to q3+1.5*</a:t>
            </a:r>
            <a:r>
              <a:rPr lang="en-US" dirty="0" err="1"/>
              <a:t>iqr</a:t>
            </a:r>
            <a:r>
              <a:rPr lang="en-US" dirty="0"/>
              <a:t>). </a:t>
            </a:r>
          </a:p>
        </p:txBody>
      </p:sp>
      <p:pic>
        <p:nvPicPr>
          <p:cNvPr id="4" name="Picture 3" descr="Interquartile Range and Quartile Deviation using NumPy and SciPy -  GeeksforGeeks">
            <a:extLst>
              <a:ext uri="{FF2B5EF4-FFF2-40B4-BE49-F238E27FC236}">
                <a16:creationId xmlns:a16="http://schemas.microsoft.com/office/drawing/2014/main" id="{C7A5B6CA-BF53-CB83-F633-6C8DD365F61D}"/>
              </a:ext>
            </a:extLst>
          </p:cNvPr>
          <p:cNvPicPr>
            <a:picLocks noChangeAspect="1"/>
          </p:cNvPicPr>
          <p:nvPr/>
        </p:nvPicPr>
        <p:blipFill>
          <a:blip r:embed="rId2"/>
          <a:stretch>
            <a:fillRect/>
          </a:stretch>
        </p:blipFill>
        <p:spPr>
          <a:xfrm>
            <a:off x="0" y="2871170"/>
            <a:ext cx="5137484" cy="1817982"/>
          </a:xfrm>
          <a:prstGeom prst="rect">
            <a:avLst/>
          </a:prstGeom>
        </p:spPr>
      </p:pic>
    </p:spTree>
    <p:extLst>
      <p:ext uri="{BB962C8B-B14F-4D97-AF65-F5344CB8AC3E}">
        <p14:creationId xmlns:p14="http://schemas.microsoft.com/office/powerpoint/2010/main" val="4594391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B664E-89F7-F743-5802-0D124E26E138}"/>
              </a:ext>
            </a:extLst>
          </p:cNvPr>
          <p:cNvSpPr>
            <a:spLocks noGrp="1"/>
          </p:cNvSpPr>
          <p:nvPr>
            <p:ph type="title"/>
          </p:nvPr>
        </p:nvSpPr>
        <p:spPr/>
        <p:txBody>
          <a:bodyPr/>
          <a:lstStyle/>
          <a:p>
            <a:r>
              <a:rPr lang="en-US" dirty="0"/>
              <a:t>Housekeeping</a:t>
            </a:r>
          </a:p>
        </p:txBody>
      </p:sp>
      <p:sp>
        <p:nvSpPr>
          <p:cNvPr id="3" name="Content Placeholder 2">
            <a:extLst>
              <a:ext uri="{FF2B5EF4-FFF2-40B4-BE49-F238E27FC236}">
                <a16:creationId xmlns:a16="http://schemas.microsoft.com/office/drawing/2014/main" id="{DD99C9C7-372B-AD83-4DF3-38F3F89EAB6D}"/>
              </a:ext>
            </a:extLst>
          </p:cNvPr>
          <p:cNvSpPr>
            <a:spLocks noGrp="1"/>
          </p:cNvSpPr>
          <p:nvPr>
            <p:ph idx="1"/>
          </p:nvPr>
        </p:nvSpPr>
        <p:spPr>
          <a:xfrm>
            <a:off x="1451579" y="1853754"/>
            <a:ext cx="10134170" cy="4199727"/>
          </a:xfrm>
        </p:spPr>
        <p:txBody>
          <a:bodyPr/>
          <a:lstStyle/>
          <a:p>
            <a:r>
              <a:rPr lang="en-US" dirty="0"/>
              <a:t>Stats – finish chapter 3. </a:t>
            </a:r>
          </a:p>
          <a:p>
            <a:pPr lvl="1"/>
            <a:r>
              <a:rPr lang="en-US" dirty="0"/>
              <a:t>Review basic stats – location, dispersion, distribution, range. </a:t>
            </a:r>
          </a:p>
          <a:p>
            <a:pPr lvl="1"/>
            <a:r>
              <a:rPr lang="en-US" dirty="0"/>
              <a:t>This will be the cutoff for the first test, which is a week from Wed. </a:t>
            </a:r>
          </a:p>
          <a:p>
            <a:r>
              <a:rPr lang="en-US" dirty="0"/>
              <a:t>Tableau: Parameters</a:t>
            </a:r>
          </a:p>
          <a:p>
            <a:pPr lvl="1"/>
            <a:r>
              <a:rPr lang="en-US" dirty="0"/>
              <a:t>“madden_23…” dataset. </a:t>
            </a:r>
          </a:p>
          <a:p>
            <a:pPr lvl="1"/>
            <a:r>
              <a:rPr lang="en-US" dirty="0"/>
              <a:t>Taking input from users. </a:t>
            </a:r>
          </a:p>
          <a:p>
            <a:pPr lvl="1"/>
            <a:r>
              <a:rPr lang="en-US" dirty="0"/>
              <a:t>Dynamic charts. </a:t>
            </a:r>
          </a:p>
          <a:p>
            <a:pPr lvl="1"/>
            <a:r>
              <a:rPr lang="en-US" dirty="0"/>
              <a:t>Comparing distributions (group and compare)</a:t>
            </a:r>
          </a:p>
          <a:p>
            <a:r>
              <a:rPr lang="en-US" dirty="0"/>
              <a:t>Tableau Quiz practice rounds – we’ll look at some solutions for the 1st next time, bring Q’s. </a:t>
            </a:r>
          </a:p>
        </p:txBody>
      </p:sp>
    </p:spTree>
    <p:extLst>
      <p:ext uri="{BB962C8B-B14F-4D97-AF65-F5344CB8AC3E}">
        <p14:creationId xmlns:p14="http://schemas.microsoft.com/office/powerpoint/2010/main" val="8823425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C8B60-8B45-C529-045B-EB259AC8E487}"/>
              </a:ext>
            </a:extLst>
          </p:cNvPr>
          <p:cNvSpPr>
            <a:spLocks noGrp="1"/>
          </p:cNvSpPr>
          <p:nvPr>
            <p:ph type="title"/>
          </p:nvPr>
        </p:nvSpPr>
        <p:spPr/>
        <p:txBody>
          <a:bodyPr/>
          <a:lstStyle/>
          <a:p>
            <a:r>
              <a:rPr lang="en-US" dirty="0"/>
              <a:t>Basic Description of data….</a:t>
            </a:r>
          </a:p>
        </p:txBody>
      </p:sp>
      <p:sp>
        <p:nvSpPr>
          <p:cNvPr id="3" name="Content Placeholder 2">
            <a:extLst>
              <a:ext uri="{FF2B5EF4-FFF2-40B4-BE49-F238E27FC236}">
                <a16:creationId xmlns:a16="http://schemas.microsoft.com/office/drawing/2014/main" id="{7CD9D5F3-59EC-01B3-57A3-DDCBC1F81D82}"/>
              </a:ext>
            </a:extLst>
          </p:cNvPr>
          <p:cNvSpPr>
            <a:spLocks noGrp="1"/>
          </p:cNvSpPr>
          <p:nvPr>
            <p:ph idx="1"/>
          </p:nvPr>
        </p:nvSpPr>
        <p:spPr/>
        <p:txBody>
          <a:bodyPr/>
          <a:lstStyle/>
          <a:p>
            <a:r>
              <a:rPr lang="en-US" dirty="0"/>
              <a:t>Where is it located. </a:t>
            </a:r>
          </a:p>
          <a:p>
            <a:r>
              <a:rPr lang="en-US" dirty="0"/>
              <a:t>How spread out is it. </a:t>
            </a:r>
          </a:p>
          <a:p>
            <a:r>
              <a:rPr lang="en-US" dirty="0"/>
              <a:t>What’s the shape. </a:t>
            </a:r>
          </a:p>
        </p:txBody>
      </p:sp>
    </p:spTree>
    <p:extLst>
      <p:ext uri="{BB962C8B-B14F-4D97-AF65-F5344CB8AC3E}">
        <p14:creationId xmlns:p14="http://schemas.microsoft.com/office/powerpoint/2010/main" val="14589924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F8A97-BA09-91B4-4478-2319079C8D6F}"/>
              </a:ext>
            </a:extLst>
          </p:cNvPr>
          <p:cNvSpPr>
            <a:spLocks noGrp="1"/>
          </p:cNvSpPr>
          <p:nvPr>
            <p:ph type="title"/>
          </p:nvPr>
        </p:nvSpPr>
        <p:spPr/>
        <p:txBody>
          <a:bodyPr/>
          <a:lstStyle/>
          <a:p>
            <a:r>
              <a:rPr lang="en-US" dirty="0"/>
              <a:t>Location and Range</a:t>
            </a:r>
          </a:p>
        </p:txBody>
      </p:sp>
      <p:sp>
        <p:nvSpPr>
          <p:cNvPr id="3" name="Content Placeholder 2">
            <a:extLst>
              <a:ext uri="{FF2B5EF4-FFF2-40B4-BE49-F238E27FC236}">
                <a16:creationId xmlns:a16="http://schemas.microsoft.com/office/drawing/2014/main" id="{FD0F6473-0BCC-54B1-18B1-5D036EC1464F}"/>
              </a:ext>
            </a:extLst>
          </p:cNvPr>
          <p:cNvSpPr>
            <a:spLocks noGrp="1"/>
          </p:cNvSpPr>
          <p:nvPr>
            <p:ph idx="1"/>
          </p:nvPr>
        </p:nvSpPr>
        <p:spPr/>
        <p:txBody>
          <a:bodyPr/>
          <a:lstStyle/>
          <a:p>
            <a:endParaRPr lang="en-US"/>
          </a:p>
        </p:txBody>
      </p:sp>
      <p:pic>
        <p:nvPicPr>
          <p:cNvPr id="1026" name="Picture 2" descr="Ledidi | Measures of central tendency: Mean, median and mode">
            <a:extLst>
              <a:ext uri="{FF2B5EF4-FFF2-40B4-BE49-F238E27FC236}">
                <a16:creationId xmlns:a16="http://schemas.microsoft.com/office/drawing/2014/main" id="{2EBEAE47-E952-42B0-D351-30B77F289E4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826" t="14910" r="9327" b="19792"/>
          <a:stretch/>
        </p:blipFill>
        <p:spPr bwMode="auto">
          <a:xfrm>
            <a:off x="1137146" y="2015732"/>
            <a:ext cx="10100698" cy="39889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89702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4D590-E521-78D9-3B36-659DBC1CF12E}"/>
              </a:ext>
            </a:extLst>
          </p:cNvPr>
          <p:cNvSpPr>
            <a:spLocks noGrp="1"/>
          </p:cNvSpPr>
          <p:nvPr>
            <p:ph type="title"/>
          </p:nvPr>
        </p:nvSpPr>
        <p:spPr/>
        <p:txBody>
          <a:bodyPr/>
          <a:lstStyle/>
          <a:p>
            <a:r>
              <a:rPr lang="en-US" dirty="0"/>
              <a:t>Dispersion</a:t>
            </a:r>
          </a:p>
        </p:txBody>
      </p:sp>
      <p:sp>
        <p:nvSpPr>
          <p:cNvPr id="3" name="Content Placeholder 2">
            <a:extLst>
              <a:ext uri="{FF2B5EF4-FFF2-40B4-BE49-F238E27FC236}">
                <a16:creationId xmlns:a16="http://schemas.microsoft.com/office/drawing/2014/main" id="{B90F3CF9-8946-DFB9-90CD-2C641CED9C02}"/>
              </a:ext>
            </a:extLst>
          </p:cNvPr>
          <p:cNvSpPr>
            <a:spLocks noGrp="1"/>
          </p:cNvSpPr>
          <p:nvPr>
            <p:ph idx="1"/>
          </p:nvPr>
        </p:nvSpPr>
        <p:spPr/>
        <p:txBody>
          <a:bodyPr/>
          <a:lstStyle/>
          <a:p>
            <a:endParaRPr lang="en-US"/>
          </a:p>
        </p:txBody>
      </p:sp>
      <p:pic>
        <p:nvPicPr>
          <p:cNvPr id="2052" name="Picture 4" descr="Dispersion in Statistics - Meaning, Measures, Examples">
            <a:extLst>
              <a:ext uri="{FF2B5EF4-FFF2-40B4-BE49-F238E27FC236}">
                <a16:creationId xmlns:a16="http://schemas.microsoft.com/office/drawing/2014/main" id="{A1733D61-B5FD-2412-BE37-422C575157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0816" y="1853754"/>
            <a:ext cx="7924800" cy="4559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926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AFA3C-F16B-0C6E-F09B-1DA8B6564D7E}"/>
              </a:ext>
            </a:extLst>
          </p:cNvPr>
          <p:cNvSpPr>
            <a:spLocks noGrp="1"/>
          </p:cNvSpPr>
          <p:nvPr>
            <p:ph type="title"/>
          </p:nvPr>
        </p:nvSpPr>
        <p:spPr/>
        <p:txBody>
          <a:bodyPr/>
          <a:lstStyle/>
          <a:p>
            <a:r>
              <a:rPr lang="en-US" dirty="0"/>
              <a:t>Distributions</a:t>
            </a:r>
          </a:p>
        </p:txBody>
      </p:sp>
      <p:sp>
        <p:nvSpPr>
          <p:cNvPr id="3" name="Content Placeholder 2">
            <a:extLst>
              <a:ext uri="{FF2B5EF4-FFF2-40B4-BE49-F238E27FC236}">
                <a16:creationId xmlns:a16="http://schemas.microsoft.com/office/drawing/2014/main" id="{4A4A795F-7ED2-7B52-6919-BF706C1BBD55}"/>
              </a:ext>
            </a:extLst>
          </p:cNvPr>
          <p:cNvSpPr>
            <a:spLocks noGrp="1"/>
          </p:cNvSpPr>
          <p:nvPr>
            <p:ph idx="1"/>
          </p:nvPr>
        </p:nvSpPr>
        <p:spPr/>
        <p:txBody>
          <a:bodyPr/>
          <a:lstStyle/>
          <a:p>
            <a:endParaRPr lang="en-US"/>
          </a:p>
        </p:txBody>
      </p:sp>
      <p:pic>
        <p:nvPicPr>
          <p:cNvPr id="3074" name="Picture 2" descr="Statistical Distributions!. The normal distribution is the most… | by Vivek  Parashar | Becoming Human: Artificial Intelligence Magazine">
            <a:extLst>
              <a:ext uri="{FF2B5EF4-FFF2-40B4-BE49-F238E27FC236}">
                <a16:creationId xmlns:a16="http://schemas.microsoft.com/office/drawing/2014/main" id="{0DEB3AE2-E33F-F17B-E3A1-BB3DDEAF4B5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4351"/>
          <a:stretch/>
        </p:blipFill>
        <p:spPr bwMode="auto">
          <a:xfrm>
            <a:off x="1137145" y="1499152"/>
            <a:ext cx="9603275" cy="5287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20276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23B45-0FC8-D6D2-1BB2-E2B59542D43B}"/>
              </a:ext>
            </a:extLst>
          </p:cNvPr>
          <p:cNvSpPr>
            <a:spLocks noGrp="1"/>
          </p:cNvSpPr>
          <p:nvPr>
            <p:ph type="title"/>
          </p:nvPr>
        </p:nvSpPr>
        <p:spPr>
          <a:xfrm>
            <a:off x="1451579" y="804519"/>
            <a:ext cx="9603275" cy="1049235"/>
          </a:xfrm>
        </p:spPr>
        <p:txBody>
          <a:bodyPr>
            <a:normAutofit/>
          </a:bodyPr>
          <a:lstStyle/>
          <a:p>
            <a:r>
              <a:rPr lang="en-US" dirty="0"/>
              <a:t>Skewness and Kurtosis</a:t>
            </a:r>
          </a:p>
        </p:txBody>
      </p:sp>
      <p:pic>
        <p:nvPicPr>
          <p:cNvPr id="4098" name="Picture 2" descr="Illustration of the skewness and kurtosis values and how they correlate...  | Download Scientific Diagram">
            <a:extLst>
              <a:ext uri="{FF2B5EF4-FFF2-40B4-BE49-F238E27FC236}">
                <a16:creationId xmlns:a16="http://schemas.microsoft.com/office/drawing/2014/main" id="{76B10831-CCFA-9459-2064-D24031F10C8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9979" y="2384194"/>
            <a:ext cx="6379192" cy="3237439"/>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035B88B6-2DDF-1F2B-A0C4-4305A5608BCA}"/>
              </a:ext>
            </a:extLst>
          </p:cNvPr>
          <p:cNvSpPr>
            <a:spLocks noGrp="1"/>
          </p:cNvSpPr>
          <p:nvPr>
            <p:ph idx="1"/>
          </p:nvPr>
        </p:nvSpPr>
        <p:spPr>
          <a:xfrm>
            <a:off x="6459171" y="2015734"/>
            <a:ext cx="5435778" cy="3974361"/>
          </a:xfrm>
        </p:spPr>
        <p:txBody>
          <a:bodyPr>
            <a:normAutofit/>
          </a:bodyPr>
          <a:lstStyle/>
          <a:p>
            <a:r>
              <a:rPr lang="en-US" dirty="0"/>
              <a:t>SKEWNESS indicates if a distribution is skewed, or shifted, in one direction or another. </a:t>
            </a:r>
          </a:p>
          <a:p>
            <a:pPr lvl="1"/>
            <a:r>
              <a:rPr lang="en-US" dirty="0"/>
              <a:t>Skew tells us if the distribution is “stretched” in one direction or the other. </a:t>
            </a:r>
          </a:p>
          <a:p>
            <a:pPr lvl="1"/>
            <a:r>
              <a:rPr lang="en-US" dirty="0"/>
              <a:t>+/- refers to the part “stretched” on a graph. </a:t>
            </a:r>
          </a:p>
          <a:p>
            <a:r>
              <a:rPr lang="en-US" dirty="0"/>
              <a:t>KURTOSIS is an indication of the “concentration” of the data around the mean. </a:t>
            </a:r>
          </a:p>
          <a:p>
            <a:pPr lvl="1"/>
            <a:r>
              <a:rPr lang="en-US" dirty="0"/>
              <a:t>Can also be thought of as “steepness”. </a:t>
            </a:r>
          </a:p>
          <a:p>
            <a:pPr lvl="1"/>
            <a:r>
              <a:rPr lang="en-US" dirty="0"/>
              <a:t>High kurtosis means most values are tightly clustered around the mean. </a:t>
            </a:r>
          </a:p>
          <a:p>
            <a:endParaRPr lang="en-US" dirty="0"/>
          </a:p>
        </p:txBody>
      </p:sp>
    </p:spTree>
    <p:extLst>
      <p:ext uri="{BB962C8B-B14F-4D97-AF65-F5344CB8AC3E}">
        <p14:creationId xmlns:p14="http://schemas.microsoft.com/office/powerpoint/2010/main" val="24816925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639B5-BAF1-26AB-1CD6-2FDF1F8788C6}"/>
              </a:ext>
            </a:extLst>
          </p:cNvPr>
          <p:cNvSpPr>
            <a:spLocks noGrp="1"/>
          </p:cNvSpPr>
          <p:nvPr>
            <p:ph type="title"/>
          </p:nvPr>
        </p:nvSpPr>
        <p:spPr/>
        <p:txBody>
          <a:bodyPr/>
          <a:lstStyle/>
          <a:p>
            <a:r>
              <a:rPr lang="en-US" dirty="0"/>
              <a:t>Skew and Kurtosis in Tableau</a:t>
            </a:r>
          </a:p>
        </p:txBody>
      </p:sp>
      <p:sp>
        <p:nvSpPr>
          <p:cNvPr id="3" name="Content Placeholder 2">
            <a:extLst>
              <a:ext uri="{FF2B5EF4-FFF2-40B4-BE49-F238E27FC236}">
                <a16:creationId xmlns:a16="http://schemas.microsoft.com/office/drawing/2014/main" id="{CC4FB29B-EA91-4D7D-73BC-7D12FD01CAE9}"/>
              </a:ext>
            </a:extLst>
          </p:cNvPr>
          <p:cNvSpPr>
            <a:spLocks noGrp="1"/>
          </p:cNvSpPr>
          <p:nvPr>
            <p:ph idx="1"/>
          </p:nvPr>
        </p:nvSpPr>
        <p:spPr>
          <a:xfrm>
            <a:off x="1451579" y="1853755"/>
            <a:ext cx="9603275" cy="2565846"/>
          </a:xfrm>
        </p:spPr>
        <p:txBody>
          <a:bodyPr>
            <a:normAutofit/>
          </a:bodyPr>
          <a:lstStyle/>
          <a:p>
            <a:r>
              <a:rPr lang="en-US" dirty="0"/>
              <a:t>Skew and kurtosis are things that we largely detect by eye. </a:t>
            </a:r>
          </a:p>
          <a:p>
            <a:pPr lvl="1"/>
            <a:r>
              <a:rPr lang="en-US" dirty="0"/>
              <a:t>There are calculations, but they are well beyond our scope. </a:t>
            </a:r>
          </a:p>
          <a:p>
            <a:r>
              <a:rPr lang="en-US" dirty="0"/>
              <a:t>A histogram is the easiest way to see the skew and kurtosis. </a:t>
            </a:r>
          </a:p>
          <a:p>
            <a:pPr lvl="1"/>
            <a:r>
              <a:rPr lang="en-US" dirty="0"/>
              <a:t>We need to be attentive to the bin size. </a:t>
            </a:r>
          </a:p>
          <a:p>
            <a:r>
              <a:rPr lang="en-US" dirty="0"/>
              <a:t>These two are descriptors that we can use to talk about data, we won’t use them in any calculations. </a:t>
            </a:r>
          </a:p>
        </p:txBody>
      </p:sp>
      <p:pic>
        <p:nvPicPr>
          <p:cNvPr id="6146" name="Picture 2" descr="Data Distributions">
            <a:extLst>
              <a:ext uri="{FF2B5EF4-FFF2-40B4-BE49-F238E27FC236}">
                <a16:creationId xmlns:a16="http://schemas.microsoft.com/office/drawing/2014/main" id="{BAA09650-3F70-A738-802F-833B82D115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5550" y="4419601"/>
            <a:ext cx="974090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98311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8B1E5-D727-C70F-E387-2EB29A2BD5E0}"/>
              </a:ext>
            </a:extLst>
          </p:cNvPr>
          <p:cNvSpPr>
            <a:spLocks noGrp="1"/>
          </p:cNvSpPr>
          <p:nvPr>
            <p:ph type="title"/>
          </p:nvPr>
        </p:nvSpPr>
        <p:spPr/>
        <p:txBody>
          <a:bodyPr/>
          <a:lstStyle/>
          <a:p>
            <a:r>
              <a:rPr lang="en-US" dirty="0"/>
              <a:t>Outliers</a:t>
            </a:r>
          </a:p>
        </p:txBody>
      </p:sp>
      <p:sp>
        <p:nvSpPr>
          <p:cNvPr id="3" name="Content Placeholder 2">
            <a:extLst>
              <a:ext uri="{FF2B5EF4-FFF2-40B4-BE49-F238E27FC236}">
                <a16:creationId xmlns:a16="http://schemas.microsoft.com/office/drawing/2014/main" id="{8D3C06E8-D448-16E9-CA86-8D5A9B68A1ED}"/>
              </a:ext>
            </a:extLst>
          </p:cNvPr>
          <p:cNvSpPr>
            <a:spLocks noGrp="1"/>
          </p:cNvSpPr>
          <p:nvPr>
            <p:ph idx="1"/>
          </p:nvPr>
        </p:nvSpPr>
        <p:spPr>
          <a:xfrm>
            <a:off x="1451579" y="1905582"/>
            <a:ext cx="9603275" cy="4147899"/>
          </a:xfrm>
        </p:spPr>
        <p:txBody>
          <a:bodyPr/>
          <a:lstStyle/>
          <a:p>
            <a:r>
              <a:rPr lang="en-US" dirty="0"/>
              <a:t>OUTLIERS are values that are too high or too low, that we may want to remove. </a:t>
            </a:r>
          </a:p>
          <a:p>
            <a:r>
              <a:rPr lang="en-US" dirty="0"/>
              <a:t>Outliers are things that can throw off our analysis. </a:t>
            </a:r>
          </a:p>
          <a:p>
            <a:pPr lvl="1"/>
            <a:r>
              <a:rPr lang="en-US" dirty="0"/>
              <a:t>E.g. if we are predicting if someone will repay a loan, and one value is “net worth”, having Bill Gates be part of the dataset probably doesn’t help us – he’s so rich he has nothing to do with “regular” folks. </a:t>
            </a:r>
          </a:p>
          <a:p>
            <a:r>
              <a:rPr lang="en-US" dirty="0"/>
              <a:t>Removing outliers always depends on DOMAIN KNOWLEDGE – knowing about the actual topic of the data. </a:t>
            </a:r>
          </a:p>
          <a:p>
            <a:pPr lvl="1"/>
            <a:r>
              <a:rPr lang="en-US" dirty="0"/>
              <a:t>Keeping or removing outliers depends on what we are doing. </a:t>
            </a:r>
          </a:p>
          <a:p>
            <a:r>
              <a:rPr lang="en-US" dirty="0"/>
              <a:t>For us, we probably want to remove things that are clearly outside of the pattern. </a:t>
            </a:r>
          </a:p>
        </p:txBody>
      </p:sp>
    </p:spTree>
    <p:extLst>
      <p:ext uri="{BB962C8B-B14F-4D97-AF65-F5344CB8AC3E}">
        <p14:creationId xmlns:p14="http://schemas.microsoft.com/office/powerpoint/2010/main" val="22122609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87964-3A3F-2BE8-E4AF-DCFEC1174BB1}"/>
              </a:ext>
            </a:extLst>
          </p:cNvPr>
          <p:cNvSpPr>
            <a:spLocks noGrp="1"/>
          </p:cNvSpPr>
          <p:nvPr>
            <p:ph type="title"/>
          </p:nvPr>
        </p:nvSpPr>
        <p:spPr/>
        <p:txBody>
          <a:bodyPr/>
          <a:lstStyle/>
          <a:p>
            <a:r>
              <a:rPr lang="en-US" dirty="0"/>
              <a:t>Variable Scaling</a:t>
            </a:r>
          </a:p>
        </p:txBody>
      </p:sp>
      <p:sp>
        <p:nvSpPr>
          <p:cNvPr id="3" name="Content Placeholder 2">
            <a:extLst>
              <a:ext uri="{FF2B5EF4-FFF2-40B4-BE49-F238E27FC236}">
                <a16:creationId xmlns:a16="http://schemas.microsoft.com/office/drawing/2014/main" id="{BAC472C4-6CF0-6403-D0D6-F34DDAFDFCB5}"/>
              </a:ext>
            </a:extLst>
          </p:cNvPr>
          <p:cNvSpPr>
            <a:spLocks noGrp="1"/>
          </p:cNvSpPr>
          <p:nvPr>
            <p:ph idx="1"/>
          </p:nvPr>
        </p:nvSpPr>
        <p:spPr>
          <a:xfrm>
            <a:off x="1451579" y="2015732"/>
            <a:ext cx="9603275" cy="4119822"/>
          </a:xfrm>
        </p:spPr>
        <p:txBody>
          <a:bodyPr/>
          <a:lstStyle/>
          <a:p>
            <a:r>
              <a:rPr lang="en-US" dirty="0"/>
              <a:t>This is a bit of a side note, relating more to other analysis, but we should be aware. </a:t>
            </a:r>
          </a:p>
          <a:p>
            <a:r>
              <a:rPr lang="en-US" dirty="0"/>
              <a:t>One common technique in data analysis is to RESCALE data. </a:t>
            </a:r>
          </a:p>
          <a:p>
            <a:pPr lvl="1"/>
            <a:r>
              <a:rPr lang="en-US" dirty="0"/>
              <a:t>Take data from its original range, and remap it to a new range. </a:t>
            </a:r>
          </a:p>
          <a:p>
            <a:r>
              <a:rPr lang="en-US" dirty="0"/>
              <a:t>Normalization – map data to a range between 0 and 1. </a:t>
            </a:r>
          </a:p>
          <a:p>
            <a:r>
              <a:rPr lang="en-US" dirty="0"/>
              <a:t>Standardization – map data so the mean is 0, and the std is 1. </a:t>
            </a:r>
          </a:p>
          <a:p>
            <a:r>
              <a:rPr lang="en-US" dirty="0"/>
              <a:t>This can often make data easier (or better suited) to analyze. </a:t>
            </a:r>
          </a:p>
          <a:p>
            <a:pPr lvl="1"/>
            <a:r>
              <a:rPr lang="en-US" dirty="0"/>
              <a:t>E.g. when making predictions, values that are large (e.g. net worth) may “overpower” values that are small (e.g. age). Rescaling all variables eliminates that. </a:t>
            </a:r>
          </a:p>
        </p:txBody>
      </p:sp>
    </p:spTree>
    <p:extLst>
      <p:ext uri="{BB962C8B-B14F-4D97-AF65-F5344CB8AC3E}">
        <p14:creationId xmlns:p14="http://schemas.microsoft.com/office/powerpoint/2010/main" val="23437524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DFBAC-115F-EF3D-336B-BCE60A1A6D29}"/>
              </a:ext>
            </a:extLst>
          </p:cNvPr>
          <p:cNvSpPr>
            <a:spLocks noGrp="1"/>
          </p:cNvSpPr>
          <p:nvPr>
            <p:ph type="title"/>
          </p:nvPr>
        </p:nvSpPr>
        <p:spPr>
          <a:xfrm>
            <a:off x="1451579" y="804519"/>
            <a:ext cx="9603275" cy="1049235"/>
          </a:xfrm>
        </p:spPr>
        <p:txBody>
          <a:bodyPr>
            <a:normAutofit/>
          </a:bodyPr>
          <a:lstStyle/>
          <a:p>
            <a:r>
              <a:rPr lang="en-US" dirty="0"/>
              <a:t>Normal Data Outlier Filters</a:t>
            </a:r>
          </a:p>
        </p:txBody>
      </p:sp>
      <p:pic>
        <p:nvPicPr>
          <p:cNvPr id="1026" name="Picture 2" descr="How does removing outliers affect standard deviation? - Quora">
            <a:extLst>
              <a:ext uri="{FF2B5EF4-FFF2-40B4-BE49-F238E27FC236}">
                <a16:creationId xmlns:a16="http://schemas.microsoft.com/office/drawing/2014/main" id="{A1F1ADBB-21D0-EF27-16E3-459A6B1D9E8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0" y="2015734"/>
            <a:ext cx="6015263" cy="3323432"/>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4F879F3F-F6C8-98E2-A132-4BE2E6ABE177}"/>
              </a:ext>
            </a:extLst>
          </p:cNvPr>
          <p:cNvSpPr>
            <a:spLocks noGrp="1"/>
          </p:cNvSpPr>
          <p:nvPr>
            <p:ph idx="1"/>
          </p:nvPr>
        </p:nvSpPr>
        <p:spPr>
          <a:xfrm>
            <a:off x="6096001" y="2015734"/>
            <a:ext cx="6015262" cy="4037747"/>
          </a:xfrm>
        </p:spPr>
        <p:txBody>
          <a:bodyPr>
            <a:normAutofit/>
          </a:bodyPr>
          <a:lstStyle/>
          <a:p>
            <a:r>
              <a:rPr lang="en-US" dirty="0"/>
              <a:t>One common way to find outliers is to filter by z-score, or standard deviations from the mean. </a:t>
            </a:r>
          </a:p>
          <a:p>
            <a:r>
              <a:rPr lang="en-US" dirty="0"/>
              <a:t>We can set a limit of X standard deviations for acceptable values. </a:t>
            </a:r>
          </a:p>
          <a:p>
            <a:pPr lvl="1"/>
            <a:r>
              <a:rPr lang="en-US" dirty="0"/>
              <a:t>3 is a common limit, ~.02% of data. </a:t>
            </a:r>
          </a:p>
          <a:p>
            <a:pPr lvl="1"/>
            <a:r>
              <a:rPr lang="en-US" dirty="0"/>
              <a:t>Limit is highly scenario dependent. </a:t>
            </a:r>
          </a:p>
          <a:p>
            <a:r>
              <a:rPr lang="en-US" dirty="0"/>
              <a:t>This can be automated, if processing large amounts of data. </a:t>
            </a:r>
          </a:p>
        </p:txBody>
      </p:sp>
    </p:spTree>
    <p:extLst>
      <p:ext uri="{BB962C8B-B14F-4D97-AF65-F5344CB8AC3E}">
        <p14:creationId xmlns:p14="http://schemas.microsoft.com/office/powerpoint/2010/main" val="13224390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7B0F8-45E1-2D25-91FF-0A0EE6E2091C}"/>
              </a:ext>
            </a:extLst>
          </p:cNvPr>
          <p:cNvSpPr>
            <a:spLocks noGrp="1"/>
          </p:cNvSpPr>
          <p:nvPr>
            <p:ph type="title"/>
          </p:nvPr>
        </p:nvSpPr>
        <p:spPr/>
        <p:txBody>
          <a:bodyPr/>
          <a:lstStyle/>
          <a:p>
            <a:r>
              <a:rPr lang="en-US" dirty="0"/>
              <a:t>Outliers in Tableau</a:t>
            </a:r>
          </a:p>
        </p:txBody>
      </p:sp>
      <p:sp>
        <p:nvSpPr>
          <p:cNvPr id="3" name="Content Placeholder 2">
            <a:extLst>
              <a:ext uri="{FF2B5EF4-FFF2-40B4-BE49-F238E27FC236}">
                <a16:creationId xmlns:a16="http://schemas.microsoft.com/office/drawing/2014/main" id="{8072D5ED-BD68-52D3-2E15-6AAB9A2E8F36}"/>
              </a:ext>
            </a:extLst>
          </p:cNvPr>
          <p:cNvSpPr>
            <a:spLocks noGrp="1"/>
          </p:cNvSpPr>
          <p:nvPr>
            <p:ph idx="1"/>
          </p:nvPr>
        </p:nvSpPr>
        <p:spPr/>
        <p:txBody>
          <a:bodyPr/>
          <a:lstStyle/>
          <a:p>
            <a:r>
              <a:rPr lang="en-US" dirty="0"/>
              <a:t>Outliers in Tableau can be detected in many ways, histograms and box-and-whisker plots among them. </a:t>
            </a:r>
          </a:p>
          <a:p>
            <a:r>
              <a:rPr lang="en-US" dirty="0"/>
              <a:t>Outliers can be removed with a filter. </a:t>
            </a:r>
          </a:p>
          <a:p>
            <a:pPr lvl="1"/>
            <a:r>
              <a:rPr lang="en-US" dirty="0"/>
              <a:t>Can use “apply to” to share an outlier filter over many sheets. </a:t>
            </a:r>
          </a:p>
          <a:p>
            <a:r>
              <a:rPr lang="en-US" dirty="0"/>
              <a:t>What to do with outliers, and what qualifies as an outlier, is always a judgment call. </a:t>
            </a:r>
          </a:p>
        </p:txBody>
      </p:sp>
    </p:spTree>
    <p:extLst>
      <p:ext uri="{BB962C8B-B14F-4D97-AF65-F5344CB8AC3E}">
        <p14:creationId xmlns:p14="http://schemas.microsoft.com/office/powerpoint/2010/main" val="33195236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FC1E0-D59C-0B9C-3E55-A20F75778866}"/>
              </a:ext>
            </a:extLst>
          </p:cNvPr>
          <p:cNvSpPr>
            <a:spLocks noGrp="1"/>
          </p:cNvSpPr>
          <p:nvPr>
            <p:ph type="title"/>
          </p:nvPr>
        </p:nvSpPr>
        <p:spPr/>
        <p:txBody>
          <a:bodyPr/>
          <a:lstStyle/>
          <a:p>
            <a:r>
              <a:rPr lang="en-US" dirty="0"/>
              <a:t>Relationships in Data</a:t>
            </a:r>
          </a:p>
        </p:txBody>
      </p:sp>
      <p:sp>
        <p:nvSpPr>
          <p:cNvPr id="3" name="Content Placeholder 2">
            <a:extLst>
              <a:ext uri="{FF2B5EF4-FFF2-40B4-BE49-F238E27FC236}">
                <a16:creationId xmlns:a16="http://schemas.microsoft.com/office/drawing/2014/main" id="{5F885481-6123-C37C-CAE8-D9CBDA0F3EA4}"/>
              </a:ext>
            </a:extLst>
          </p:cNvPr>
          <p:cNvSpPr>
            <a:spLocks noGrp="1"/>
          </p:cNvSpPr>
          <p:nvPr>
            <p:ph idx="1"/>
          </p:nvPr>
        </p:nvSpPr>
        <p:spPr>
          <a:xfrm>
            <a:off x="1451579" y="2015732"/>
            <a:ext cx="9603275" cy="3882497"/>
          </a:xfrm>
        </p:spPr>
        <p:txBody>
          <a:bodyPr/>
          <a:lstStyle/>
          <a:p>
            <a:r>
              <a:rPr lang="en-US" dirty="0"/>
              <a:t>All the previous looks at data are describing one variable at a time. </a:t>
            </a:r>
          </a:p>
          <a:p>
            <a:r>
              <a:rPr lang="en-US" dirty="0"/>
              <a:t>We can also look at the relationships between variables. </a:t>
            </a:r>
          </a:p>
          <a:p>
            <a:pPr lvl="1"/>
            <a:r>
              <a:rPr lang="en-US" dirty="0"/>
              <a:t>Think about height vs. weight, those two things have some relationship to each other. </a:t>
            </a:r>
          </a:p>
          <a:p>
            <a:r>
              <a:rPr lang="en-US" dirty="0"/>
              <a:t>One variable can also inform our expectations on another variable. </a:t>
            </a:r>
          </a:p>
          <a:p>
            <a:pPr lvl="1"/>
            <a:r>
              <a:rPr lang="en-US" dirty="0"/>
              <a:t>Basis of some predictive analytics. </a:t>
            </a:r>
          </a:p>
        </p:txBody>
      </p:sp>
    </p:spTree>
    <p:extLst>
      <p:ext uri="{BB962C8B-B14F-4D97-AF65-F5344CB8AC3E}">
        <p14:creationId xmlns:p14="http://schemas.microsoft.com/office/powerpoint/2010/main" val="33641750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B897D-C40A-1FC0-D8E1-8D9BCE433A2D}"/>
              </a:ext>
            </a:extLst>
          </p:cNvPr>
          <p:cNvSpPr>
            <a:spLocks noGrp="1"/>
          </p:cNvSpPr>
          <p:nvPr>
            <p:ph type="title"/>
          </p:nvPr>
        </p:nvSpPr>
        <p:spPr>
          <a:xfrm>
            <a:off x="481263" y="804519"/>
            <a:ext cx="5362075" cy="1049235"/>
          </a:xfrm>
        </p:spPr>
        <p:txBody>
          <a:bodyPr>
            <a:normAutofit/>
          </a:bodyPr>
          <a:lstStyle/>
          <a:p>
            <a:r>
              <a:rPr lang="en-US" dirty="0"/>
              <a:t>63% of Americans Can Read this, can you?</a:t>
            </a:r>
          </a:p>
        </p:txBody>
      </p:sp>
      <p:sp>
        <p:nvSpPr>
          <p:cNvPr id="3" name="Content Placeholder 2">
            <a:extLst>
              <a:ext uri="{FF2B5EF4-FFF2-40B4-BE49-F238E27FC236}">
                <a16:creationId xmlns:a16="http://schemas.microsoft.com/office/drawing/2014/main" id="{6CF6FB79-8C0E-1020-748D-5F98145A3694}"/>
              </a:ext>
            </a:extLst>
          </p:cNvPr>
          <p:cNvSpPr>
            <a:spLocks noGrp="1"/>
          </p:cNvSpPr>
          <p:nvPr>
            <p:ph idx="1"/>
          </p:nvPr>
        </p:nvSpPr>
        <p:spPr/>
        <p:txBody>
          <a:bodyPr/>
          <a:lstStyle/>
          <a:p>
            <a:endParaRPr lang="en-US"/>
          </a:p>
        </p:txBody>
      </p:sp>
      <p:pic>
        <p:nvPicPr>
          <p:cNvPr id="4" name="Picture 3" descr="Most Adults Can Understand This Chart">
            <a:extLst>
              <a:ext uri="{FF2B5EF4-FFF2-40B4-BE49-F238E27FC236}">
                <a16:creationId xmlns:a16="http://schemas.microsoft.com/office/drawing/2014/main" id="{61343113-65BA-26E4-F110-A35447629D6F}"/>
              </a:ext>
            </a:extLst>
          </p:cNvPr>
          <p:cNvPicPr>
            <a:picLocks noChangeAspect="1"/>
          </p:cNvPicPr>
          <p:nvPr/>
        </p:nvPicPr>
        <p:blipFill>
          <a:blip r:embed="rId2"/>
          <a:srcRect t="22458"/>
          <a:stretch>
            <a:fillRect/>
          </a:stretch>
        </p:blipFill>
        <p:spPr>
          <a:xfrm>
            <a:off x="5843337" y="804519"/>
            <a:ext cx="6096000" cy="5524994"/>
          </a:xfrm>
          <a:prstGeom prst="rect">
            <a:avLst/>
          </a:prstGeom>
        </p:spPr>
      </p:pic>
    </p:spTree>
    <p:extLst>
      <p:ext uri="{BB962C8B-B14F-4D97-AF65-F5344CB8AC3E}">
        <p14:creationId xmlns:p14="http://schemas.microsoft.com/office/powerpoint/2010/main" val="3887936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1FA0F-1073-F849-DB03-A4339A54A8D0}"/>
              </a:ext>
            </a:extLst>
          </p:cNvPr>
          <p:cNvSpPr>
            <a:spLocks noGrp="1"/>
          </p:cNvSpPr>
          <p:nvPr>
            <p:ph type="title"/>
          </p:nvPr>
        </p:nvSpPr>
        <p:spPr/>
        <p:txBody>
          <a:bodyPr/>
          <a:lstStyle/>
          <a:p>
            <a:r>
              <a:rPr lang="en-US" dirty="0"/>
              <a:t>Correlation</a:t>
            </a:r>
          </a:p>
        </p:txBody>
      </p:sp>
      <p:sp>
        <p:nvSpPr>
          <p:cNvPr id="3" name="Content Placeholder 2">
            <a:extLst>
              <a:ext uri="{FF2B5EF4-FFF2-40B4-BE49-F238E27FC236}">
                <a16:creationId xmlns:a16="http://schemas.microsoft.com/office/drawing/2014/main" id="{3773A37F-7CC2-50F8-C2E1-4A146C2439A7}"/>
              </a:ext>
            </a:extLst>
          </p:cNvPr>
          <p:cNvSpPr>
            <a:spLocks noGrp="1"/>
          </p:cNvSpPr>
          <p:nvPr>
            <p:ph idx="1"/>
          </p:nvPr>
        </p:nvSpPr>
        <p:spPr>
          <a:xfrm>
            <a:off x="1" y="1853754"/>
            <a:ext cx="5676900" cy="4260327"/>
          </a:xfrm>
        </p:spPr>
        <p:txBody>
          <a:bodyPr>
            <a:normAutofit lnSpcReduction="10000"/>
          </a:bodyPr>
          <a:lstStyle/>
          <a:p>
            <a:r>
              <a:rPr lang="en-US" dirty="0"/>
              <a:t>The main way we can examine the relationship between variables is by looking at their CORRELATION. </a:t>
            </a:r>
          </a:p>
          <a:p>
            <a:pPr lvl="1"/>
            <a:r>
              <a:rPr lang="en-US" dirty="0"/>
              <a:t>Correlation tells us ”how much X tells us about Y”. </a:t>
            </a:r>
          </a:p>
          <a:p>
            <a:r>
              <a:rPr lang="en-US" dirty="0"/>
              <a:t>Correlation is between -1 and 1, the farther from 1, the stronger the correlation. </a:t>
            </a:r>
          </a:p>
          <a:p>
            <a:pPr lvl="1"/>
            <a:r>
              <a:rPr lang="en-US" dirty="0"/>
              <a:t>Unit/scale independent. </a:t>
            </a:r>
          </a:p>
          <a:p>
            <a:r>
              <a:rPr lang="en-US" dirty="0"/>
              <a:t>R2, a measure commonly used in predictive analytics, is the correlation squared. </a:t>
            </a:r>
          </a:p>
          <a:p>
            <a:pPr lvl="1"/>
            <a:r>
              <a:rPr lang="en-US" dirty="0"/>
              <a:t>Range of 0 to 1, higher is more correlated. </a:t>
            </a:r>
          </a:p>
          <a:p>
            <a:pPr lvl="1"/>
            <a:r>
              <a:rPr lang="en-US" dirty="0"/>
              <a:t>“How much of Y is explained by X?”</a:t>
            </a:r>
          </a:p>
        </p:txBody>
      </p:sp>
      <p:pic>
        <p:nvPicPr>
          <p:cNvPr id="10242" name="Picture 2" descr="Linear correlation | Definition, examples, explanations">
            <a:extLst>
              <a:ext uri="{FF2B5EF4-FFF2-40B4-BE49-F238E27FC236}">
                <a16:creationId xmlns:a16="http://schemas.microsoft.com/office/drawing/2014/main" id="{FA24AB33-11B8-DA06-134D-BDCB88D319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76900" y="0"/>
            <a:ext cx="65151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18669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30B84-B079-FC39-2435-F4097724477E}"/>
              </a:ext>
            </a:extLst>
          </p:cNvPr>
          <p:cNvSpPr>
            <a:spLocks noGrp="1"/>
          </p:cNvSpPr>
          <p:nvPr>
            <p:ph type="title"/>
          </p:nvPr>
        </p:nvSpPr>
        <p:spPr>
          <a:xfrm>
            <a:off x="1451579" y="804519"/>
            <a:ext cx="9603275" cy="1049235"/>
          </a:xfrm>
        </p:spPr>
        <p:txBody>
          <a:bodyPr>
            <a:normAutofit/>
          </a:bodyPr>
          <a:lstStyle/>
          <a:p>
            <a:r>
              <a:rPr lang="en-US" dirty="0"/>
              <a:t>Correlation in Tableau</a:t>
            </a:r>
          </a:p>
        </p:txBody>
      </p:sp>
      <p:pic>
        <p:nvPicPr>
          <p:cNvPr id="9218" name="Picture 2" descr="Tableau Essentials: Chart Types - Scatter Plot - InterWorks">
            <a:extLst>
              <a:ext uri="{FF2B5EF4-FFF2-40B4-BE49-F238E27FC236}">
                <a16:creationId xmlns:a16="http://schemas.microsoft.com/office/drawing/2014/main" id="{8E37F6C3-7BB6-B93D-0DBF-E03F7A9F584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5841" y="2370713"/>
            <a:ext cx="5881607" cy="3073139"/>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DC711760-87FE-F1FB-9FD0-43FB32EFBED7}"/>
              </a:ext>
            </a:extLst>
          </p:cNvPr>
          <p:cNvSpPr>
            <a:spLocks noGrp="1"/>
          </p:cNvSpPr>
          <p:nvPr>
            <p:ph idx="1"/>
          </p:nvPr>
        </p:nvSpPr>
        <p:spPr>
          <a:xfrm>
            <a:off x="5990095" y="2015734"/>
            <a:ext cx="6201905" cy="3982110"/>
          </a:xfrm>
        </p:spPr>
        <p:txBody>
          <a:bodyPr>
            <a:normAutofit/>
          </a:bodyPr>
          <a:lstStyle/>
          <a:p>
            <a:r>
              <a:rPr lang="en-US" dirty="0"/>
              <a:t>The easiest way to look at correlation is a scatter plot. </a:t>
            </a:r>
          </a:p>
          <a:p>
            <a:pPr lvl="1"/>
            <a:r>
              <a:rPr lang="en-US" dirty="0"/>
              <a:t>One variable on each axis, one point per record. </a:t>
            </a:r>
          </a:p>
          <a:p>
            <a:pPr lvl="1"/>
            <a:r>
              <a:rPr lang="en-US" dirty="0"/>
              <a:t>Trend lines will give us R2. </a:t>
            </a:r>
          </a:p>
          <a:p>
            <a:r>
              <a:rPr lang="en-US" dirty="0"/>
              <a:t>The “tightness” of the points inform us about the correlation. </a:t>
            </a:r>
          </a:p>
          <a:p>
            <a:r>
              <a:rPr lang="en-US" dirty="0"/>
              <a:t>Extends to linear regression (best fit) and predictive analytics – using X to predict Y. </a:t>
            </a:r>
          </a:p>
          <a:p>
            <a:r>
              <a:rPr lang="en-US" dirty="0"/>
              <a:t>Be clear on what each point represents in Tableau. </a:t>
            </a:r>
          </a:p>
          <a:p>
            <a:pPr lvl="1"/>
            <a:endParaRPr lang="en-US" dirty="0"/>
          </a:p>
        </p:txBody>
      </p:sp>
    </p:spTree>
    <p:extLst>
      <p:ext uri="{BB962C8B-B14F-4D97-AF65-F5344CB8AC3E}">
        <p14:creationId xmlns:p14="http://schemas.microsoft.com/office/powerpoint/2010/main" val="3881960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0A05D-1C2B-07BD-04B3-A99EF47A77BB}"/>
              </a:ext>
            </a:extLst>
          </p:cNvPr>
          <p:cNvSpPr>
            <a:spLocks noGrp="1"/>
          </p:cNvSpPr>
          <p:nvPr>
            <p:ph type="title"/>
          </p:nvPr>
        </p:nvSpPr>
        <p:spPr/>
        <p:txBody>
          <a:bodyPr/>
          <a:lstStyle/>
          <a:p>
            <a:r>
              <a:rPr lang="en-US" dirty="0" err="1"/>
              <a:t>WhY</a:t>
            </a:r>
            <a:r>
              <a:rPr lang="en-US" dirty="0"/>
              <a:t> Visualize? </a:t>
            </a:r>
          </a:p>
        </p:txBody>
      </p:sp>
      <p:sp>
        <p:nvSpPr>
          <p:cNvPr id="3" name="Content Placeholder 2">
            <a:extLst>
              <a:ext uri="{FF2B5EF4-FFF2-40B4-BE49-F238E27FC236}">
                <a16:creationId xmlns:a16="http://schemas.microsoft.com/office/drawing/2014/main" id="{D4E099BF-EF75-71A0-7DFC-F47F7BAA1C57}"/>
              </a:ext>
            </a:extLst>
          </p:cNvPr>
          <p:cNvSpPr>
            <a:spLocks noGrp="1"/>
          </p:cNvSpPr>
          <p:nvPr>
            <p:ph idx="1"/>
          </p:nvPr>
        </p:nvSpPr>
        <p:spPr/>
        <p:txBody>
          <a:bodyPr/>
          <a:lstStyle/>
          <a:p>
            <a:r>
              <a:rPr lang="en-US" dirty="0"/>
              <a:t>We can calculate many metrics to examine data. </a:t>
            </a:r>
          </a:p>
          <a:p>
            <a:r>
              <a:rPr lang="en-US" dirty="0"/>
              <a:t>Why bother with charts and graphs? </a:t>
            </a:r>
          </a:p>
        </p:txBody>
      </p:sp>
    </p:spTree>
    <p:extLst>
      <p:ext uri="{BB962C8B-B14F-4D97-AF65-F5344CB8AC3E}">
        <p14:creationId xmlns:p14="http://schemas.microsoft.com/office/powerpoint/2010/main" val="38218609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D0F98-F60C-32DD-19D6-24FC050D0A39}"/>
              </a:ext>
            </a:extLst>
          </p:cNvPr>
          <p:cNvSpPr>
            <a:spLocks noGrp="1"/>
          </p:cNvSpPr>
          <p:nvPr>
            <p:ph type="title"/>
          </p:nvPr>
        </p:nvSpPr>
        <p:spPr/>
        <p:txBody>
          <a:bodyPr/>
          <a:lstStyle/>
          <a:p>
            <a:r>
              <a:rPr lang="en-US" dirty="0"/>
              <a:t>Anscombe Quartet</a:t>
            </a:r>
          </a:p>
        </p:txBody>
      </p:sp>
      <p:sp>
        <p:nvSpPr>
          <p:cNvPr id="3" name="Content Placeholder 2">
            <a:extLst>
              <a:ext uri="{FF2B5EF4-FFF2-40B4-BE49-F238E27FC236}">
                <a16:creationId xmlns:a16="http://schemas.microsoft.com/office/drawing/2014/main" id="{FE95283D-25A9-F055-F99A-9B823A5CD62A}"/>
              </a:ext>
            </a:extLst>
          </p:cNvPr>
          <p:cNvSpPr>
            <a:spLocks noGrp="1"/>
          </p:cNvSpPr>
          <p:nvPr>
            <p:ph idx="1"/>
          </p:nvPr>
        </p:nvSpPr>
        <p:spPr>
          <a:xfrm>
            <a:off x="104503" y="2015732"/>
            <a:ext cx="3856583" cy="4037749"/>
          </a:xfrm>
        </p:spPr>
        <p:txBody>
          <a:bodyPr>
            <a:normAutofit lnSpcReduction="10000"/>
          </a:bodyPr>
          <a:lstStyle/>
          <a:p>
            <a:r>
              <a:rPr lang="en-US" dirty="0"/>
              <a:t>Anscombe’s Quartet is a nerd famous set of data sets. </a:t>
            </a:r>
          </a:p>
          <a:p>
            <a:r>
              <a:rPr lang="en-US" dirty="0"/>
              <a:t>Each data set (x/y) has the same:</a:t>
            </a:r>
          </a:p>
          <a:p>
            <a:pPr lvl="1"/>
            <a:r>
              <a:rPr lang="en-US" dirty="0"/>
              <a:t>Sum. </a:t>
            </a:r>
          </a:p>
          <a:p>
            <a:pPr lvl="1"/>
            <a:r>
              <a:rPr lang="en-US" dirty="0"/>
              <a:t>Mean</a:t>
            </a:r>
          </a:p>
          <a:p>
            <a:pPr lvl="1"/>
            <a:r>
              <a:rPr lang="en-US" dirty="0"/>
              <a:t>Standard deviation. </a:t>
            </a:r>
          </a:p>
          <a:p>
            <a:pPr lvl="1"/>
            <a:r>
              <a:rPr lang="en-US"/>
              <a:t>Correlation. </a:t>
            </a:r>
            <a:endParaRPr lang="en-US" dirty="0"/>
          </a:p>
          <a:p>
            <a:r>
              <a:rPr lang="en-US" dirty="0"/>
              <a:t>One would assume the data sets are very similar. </a:t>
            </a:r>
          </a:p>
          <a:p>
            <a:r>
              <a:rPr lang="en-US" dirty="0"/>
              <a:t>But…</a:t>
            </a:r>
          </a:p>
        </p:txBody>
      </p:sp>
      <p:pic>
        <p:nvPicPr>
          <p:cNvPr id="1026" name="Picture 2" descr="Articles - London SODA">
            <a:extLst>
              <a:ext uri="{FF2B5EF4-FFF2-40B4-BE49-F238E27FC236}">
                <a16:creationId xmlns:a16="http://schemas.microsoft.com/office/drawing/2014/main" id="{198E7EDD-E11B-9578-6B45-BEEA9727D8F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246"/>
          <a:stretch>
            <a:fillRect/>
          </a:stretch>
        </p:blipFill>
        <p:spPr bwMode="auto">
          <a:xfrm>
            <a:off x="3961086" y="1853754"/>
            <a:ext cx="8230914" cy="4356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929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8DBB4-B120-D042-A2C7-A8512708EABA}"/>
              </a:ext>
            </a:extLst>
          </p:cNvPr>
          <p:cNvSpPr>
            <a:spLocks noGrp="1"/>
          </p:cNvSpPr>
          <p:nvPr>
            <p:ph type="title"/>
          </p:nvPr>
        </p:nvSpPr>
        <p:spPr/>
        <p:txBody>
          <a:bodyPr/>
          <a:lstStyle/>
          <a:p>
            <a:r>
              <a:rPr lang="en-US" dirty="0"/>
              <a:t>But if We Visualize them</a:t>
            </a:r>
          </a:p>
        </p:txBody>
      </p:sp>
      <p:sp>
        <p:nvSpPr>
          <p:cNvPr id="3" name="Content Placeholder 2">
            <a:extLst>
              <a:ext uri="{FF2B5EF4-FFF2-40B4-BE49-F238E27FC236}">
                <a16:creationId xmlns:a16="http://schemas.microsoft.com/office/drawing/2014/main" id="{DD78EF90-6539-ABFC-9AEF-A98CE9B3E5F0}"/>
              </a:ext>
            </a:extLst>
          </p:cNvPr>
          <p:cNvSpPr>
            <a:spLocks noGrp="1"/>
          </p:cNvSpPr>
          <p:nvPr>
            <p:ph idx="1"/>
          </p:nvPr>
        </p:nvSpPr>
        <p:spPr/>
        <p:txBody>
          <a:bodyPr/>
          <a:lstStyle/>
          <a:p>
            <a:endParaRPr lang="en-US"/>
          </a:p>
        </p:txBody>
      </p:sp>
      <p:pic>
        <p:nvPicPr>
          <p:cNvPr id="2050" name="Picture 2" descr="Anscombe's quartet - Wikipedia">
            <a:extLst>
              <a:ext uri="{FF2B5EF4-FFF2-40B4-BE49-F238E27FC236}">
                <a16:creationId xmlns:a16="http://schemas.microsoft.com/office/drawing/2014/main" id="{34090B7A-D9B5-AD88-1597-A0C7D0DB4E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2996" y="1455448"/>
            <a:ext cx="7426008" cy="54025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36954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25E7F-DC8C-9098-F1AB-A347AB0B1F26}"/>
              </a:ext>
            </a:extLst>
          </p:cNvPr>
          <p:cNvSpPr>
            <a:spLocks noGrp="1"/>
          </p:cNvSpPr>
          <p:nvPr>
            <p:ph type="title"/>
          </p:nvPr>
        </p:nvSpPr>
        <p:spPr/>
        <p:txBody>
          <a:bodyPr/>
          <a:lstStyle/>
          <a:p>
            <a:r>
              <a:rPr lang="en-US" dirty="0"/>
              <a:t>Visualization to the Rescue</a:t>
            </a:r>
          </a:p>
        </p:txBody>
      </p:sp>
      <p:sp>
        <p:nvSpPr>
          <p:cNvPr id="3" name="Content Placeholder 2">
            <a:extLst>
              <a:ext uri="{FF2B5EF4-FFF2-40B4-BE49-F238E27FC236}">
                <a16:creationId xmlns:a16="http://schemas.microsoft.com/office/drawing/2014/main" id="{D51BBDA3-9286-AC5C-256A-3DA9F47FF458}"/>
              </a:ext>
            </a:extLst>
          </p:cNvPr>
          <p:cNvSpPr>
            <a:spLocks noGrp="1"/>
          </p:cNvSpPr>
          <p:nvPr>
            <p:ph idx="1"/>
          </p:nvPr>
        </p:nvSpPr>
        <p:spPr>
          <a:xfrm>
            <a:off x="1451579" y="1853754"/>
            <a:ext cx="9603275" cy="4199727"/>
          </a:xfrm>
        </p:spPr>
        <p:txBody>
          <a:bodyPr/>
          <a:lstStyle/>
          <a:p>
            <a:r>
              <a:rPr lang="en-US" dirty="0"/>
              <a:t>Examining data in different ways leads to different insights. </a:t>
            </a:r>
          </a:p>
          <a:p>
            <a:r>
              <a:rPr lang="en-US" dirty="0"/>
              <a:t>For some things, looking at them visually may help reveal more…</a:t>
            </a:r>
          </a:p>
          <a:p>
            <a:r>
              <a:rPr lang="en-US" dirty="0"/>
              <a:t>In the Anscombe’s Quartet:</a:t>
            </a:r>
          </a:p>
          <a:p>
            <a:pPr lvl="1"/>
            <a:r>
              <a:rPr lang="en-US" dirty="0"/>
              <a:t>Arithmetically these data sets all look identical. </a:t>
            </a:r>
          </a:p>
          <a:p>
            <a:pPr lvl="1"/>
            <a:r>
              <a:rPr lang="en-US" dirty="0"/>
              <a:t>Graphically they are totally different. </a:t>
            </a:r>
          </a:p>
          <a:p>
            <a:pPr lvl="1"/>
            <a:r>
              <a:rPr lang="en-US" dirty="0"/>
              <a:t>Depending on what we need, which method is most useful can vary.</a:t>
            </a:r>
          </a:p>
          <a:p>
            <a:pPr lvl="1"/>
            <a:r>
              <a:rPr lang="en-US" dirty="0"/>
              <a:t>Think of calculating water usage vs shoe size…</a:t>
            </a:r>
          </a:p>
          <a:p>
            <a:r>
              <a:rPr lang="en-US" dirty="0"/>
              <a:t>Depending on what we want to show/see/examine, chart design differs. </a:t>
            </a:r>
          </a:p>
        </p:txBody>
      </p:sp>
    </p:spTree>
    <p:extLst>
      <p:ext uri="{BB962C8B-B14F-4D97-AF65-F5344CB8AC3E}">
        <p14:creationId xmlns:p14="http://schemas.microsoft.com/office/powerpoint/2010/main" val="7143228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73024-BAC3-93F0-3260-41B49410B1D2}"/>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D96D99C4-FF90-A4CA-0350-A00EB9A8762D}"/>
              </a:ext>
            </a:extLst>
          </p:cNvPr>
          <p:cNvSpPr>
            <a:spLocks noGrp="1"/>
          </p:cNvSpPr>
          <p:nvPr>
            <p:ph idx="1"/>
          </p:nvPr>
        </p:nvSpPr>
        <p:spPr>
          <a:xfrm>
            <a:off x="830639" y="1926522"/>
            <a:ext cx="10224216" cy="4126959"/>
          </a:xfrm>
        </p:spPr>
        <p:txBody>
          <a:bodyPr>
            <a:normAutofit/>
          </a:bodyPr>
          <a:lstStyle/>
          <a:p>
            <a:r>
              <a:rPr lang="en-US" dirty="0"/>
              <a:t>Understanding what our data looks like, and how to describe it, helps substantially in using data, especially when sharing with others. </a:t>
            </a:r>
          </a:p>
          <a:p>
            <a:r>
              <a:rPr lang="en-US" dirty="0"/>
              <a:t>Knowing things like distributions can also give us a tool set of things we can use on our data. </a:t>
            </a:r>
          </a:p>
          <a:p>
            <a:pPr lvl="1"/>
            <a:r>
              <a:rPr lang="en-US" dirty="0"/>
              <a:t>Statistical patterns in the data are the building blocks of making predictions from the data. </a:t>
            </a:r>
          </a:p>
          <a:p>
            <a:r>
              <a:rPr lang="en-US" dirty="0"/>
              <a:t>Statistical descriptions aren’t things that we constantly need to “use”, but they are important. </a:t>
            </a:r>
          </a:p>
          <a:p>
            <a:pPr lvl="1"/>
            <a:r>
              <a:rPr lang="en-US" dirty="0"/>
              <a:t>When making projections, knowing distributions is key. </a:t>
            </a:r>
          </a:p>
          <a:p>
            <a:pPr lvl="1"/>
            <a:r>
              <a:rPr lang="en-US" dirty="0"/>
              <a:t>When preparing data for other analysis, the other measures can help us. </a:t>
            </a:r>
          </a:p>
          <a:p>
            <a:pPr lvl="1"/>
            <a:r>
              <a:rPr lang="en-US" dirty="0"/>
              <a:t>Communicating with others about data is easier with shared language. </a:t>
            </a:r>
          </a:p>
          <a:p>
            <a:pPr lvl="1"/>
            <a:r>
              <a:rPr lang="en-US" dirty="0" err="1"/>
              <a:t>Tl;dr</a:t>
            </a:r>
            <a:r>
              <a:rPr lang="en-US" dirty="0"/>
              <a:t> this stuff matters and is useful, but it isn’t always obvious why/where – it expands the toolkit. </a:t>
            </a:r>
          </a:p>
        </p:txBody>
      </p:sp>
    </p:spTree>
    <p:extLst>
      <p:ext uri="{BB962C8B-B14F-4D97-AF65-F5344CB8AC3E}">
        <p14:creationId xmlns:p14="http://schemas.microsoft.com/office/powerpoint/2010/main" val="233603628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98288-C633-073D-319F-79DA013F854E}"/>
              </a:ext>
            </a:extLst>
          </p:cNvPr>
          <p:cNvSpPr>
            <a:spLocks noGrp="1"/>
          </p:cNvSpPr>
          <p:nvPr>
            <p:ph type="title"/>
          </p:nvPr>
        </p:nvSpPr>
        <p:spPr/>
        <p:txBody>
          <a:bodyPr/>
          <a:lstStyle/>
          <a:p>
            <a:r>
              <a:rPr lang="en-US" dirty="0"/>
              <a:t>Let’s do Some Stuff!</a:t>
            </a:r>
          </a:p>
        </p:txBody>
      </p:sp>
      <p:sp>
        <p:nvSpPr>
          <p:cNvPr id="3" name="Content Placeholder 2">
            <a:extLst>
              <a:ext uri="{FF2B5EF4-FFF2-40B4-BE49-F238E27FC236}">
                <a16:creationId xmlns:a16="http://schemas.microsoft.com/office/drawing/2014/main" id="{60913C86-4D07-9411-E52F-B9F906B0D89B}"/>
              </a:ext>
            </a:extLst>
          </p:cNvPr>
          <p:cNvSpPr>
            <a:spLocks noGrp="1"/>
          </p:cNvSpPr>
          <p:nvPr>
            <p:ph idx="1"/>
          </p:nvPr>
        </p:nvSpPr>
        <p:spPr>
          <a:xfrm>
            <a:off x="4638487" y="2015732"/>
            <a:ext cx="7553513" cy="3951931"/>
          </a:xfrm>
        </p:spPr>
        <p:txBody>
          <a:bodyPr>
            <a:normAutofit/>
          </a:bodyPr>
          <a:lstStyle/>
          <a:p>
            <a:r>
              <a:rPr lang="en-US" dirty="0"/>
              <a:t>Focus on examining the data in Tableau. </a:t>
            </a:r>
          </a:p>
          <a:p>
            <a:pPr lvl="1"/>
            <a:r>
              <a:rPr lang="en-US" dirty="0"/>
              <a:t>Distributions – what does the data look like, what’s its shape?</a:t>
            </a:r>
          </a:p>
          <a:p>
            <a:pPr lvl="1"/>
            <a:r>
              <a:rPr lang="en-US" dirty="0"/>
              <a:t>Relationships – does one variable have a relationship with another? </a:t>
            </a:r>
          </a:p>
          <a:p>
            <a:pPr lvl="1"/>
            <a:r>
              <a:rPr lang="en-US" dirty="0"/>
              <a:t>In Tableau – histograms, box and whisker, scatter plots, and maybe much more!</a:t>
            </a:r>
          </a:p>
          <a:p>
            <a:r>
              <a:rPr lang="en-US" dirty="0" err="1"/>
              <a:t>Athletes.csv.zip</a:t>
            </a:r>
            <a:endParaRPr lang="en-US" dirty="0"/>
          </a:p>
          <a:p>
            <a:pPr lvl="1"/>
            <a:r>
              <a:rPr lang="en-US" dirty="0"/>
              <a:t>In the repository link. </a:t>
            </a:r>
          </a:p>
          <a:p>
            <a:pPr lvl="1"/>
            <a:r>
              <a:rPr lang="en-US" dirty="0"/>
              <a:t>We need to unzip before using it (for most, probably just double click).</a:t>
            </a:r>
          </a:p>
          <a:p>
            <a:pPr lvl="1"/>
            <a:r>
              <a:rPr lang="en-US" dirty="0"/>
              <a:t>We also need to clean it up a bit to be useful. </a:t>
            </a:r>
          </a:p>
        </p:txBody>
      </p:sp>
      <p:pic>
        <p:nvPicPr>
          <p:cNvPr id="4" name="Picture 3">
            <a:extLst>
              <a:ext uri="{FF2B5EF4-FFF2-40B4-BE49-F238E27FC236}">
                <a16:creationId xmlns:a16="http://schemas.microsoft.com/office/drawing/2014/main" id="{020659AF-6BD3-C5AB-F7D1-049CA71959A8}"/>
              </a:ext>
            </a:extLst>
          </p:cNvPr>
          <p:cNvPicPr>
            <a:picLocks noChangeAspect="1"/>
          </p:cNvPicPr>
          <p:nvPr/>
        </p:nvPicPr>
        <p:blipFill>
          <a:blip r:embed="rId2"/>
          <a:srcRect t="12407" r="14042" b="7894"/>
          <a:stretch>
            <a:fillRect/>
          </a:stretch>
        </p:blipFill>
        <p:spPr>
          <a:xfrm>
            <a:off x="1" y="2899611"/>
            <a:ext cx="4638486" cy="2116774"/>
          </a:xfrm>
          <a:prstGeom prst="rect">
            <a:avLst/>
          </a:prstGeom>
        </p:spPr>
      </p:pic>
    </p:spTree>
    <p:extLst>
      <p:ext uri="{BB962C8B-B14F-4D97-AF65-F5344CB8AC3E}">
        <p14:creationId xmlns:p14="http://schemas.microsoft.com/office/powerpoint/2010/main" val="16074432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A1A1F-3BA2-45B7-7BBF-4C1423CE560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70E4528-E006-607C-8BF8-9AE9B0372A72}"/>
              </a:ext>
            </a:extLst>
          </p:cNvPr>
          <p:cNvSpPr>
            <a:spLocks noGrp="1"/>
          </p:cNvSpPr>
          <p:nvPr>
            <p:ph idx="1"/>
          </p:nvPr>
        </p:nvSpPr>
        <p:spPr/>
        <p:txBody>
          <a:bodyPr/>
          <a:lstStyle/>
          <a:p>
            <a:endParaRPr lang="en-US"/>
          </a:p>
        </p:txBody>
      </p:sp>
      <p:pic>
        <p:nvPicPr>
          <p:cNvPr id="4" name="Picture 3" descr="Clean. And. Jerk. - CrossFit SomervilleCrossFit Somerville">
            <a:extLst>
              <a:ext uri="{FF2B5EF4-FFF2-40B4-BE49-F238E27FC236}">
                <a16:creationId xmlns:a16="http://schemas.microsoft.com/office/drawing/2014/main" id="{2BC0665C-8174-3292-AEFC-D1A9CE92C06A}"/>
              </a:ext>
            </a:extLst>
          </p:cNvPr>
          <p:cNvPicPr>
            <a:picLocks noChangeAspect="1"/>
          </p:cNvPicPr>
          <p:nvPr/>
        </p:nvPicPr>
        <p:blipFill>
          <a:blip r:embed="rId2"/>
          <a:stretch>
            <a:fillRect/>
          </a:stretch>
        </p:blipFill>
        <p:spPr>
          <a:xfrm>
            <a:off x="0" y="636254"/>
            <a:ext cx="4379495" cy="2434999"/>
          </a:xfrm>
          <a:prstGeom prst="rect">
            <a:avLst/>
          </a:prstGeom>
        </p:spPr>
      </p:pic>
      <p:pic>
        <p:nvPicPr>
          <p:cNvPr id="5" name="Picture 4" descr="Close Activity Side Pane Weightlifting GIF - Close Activity Side Pane  Weightlifting Tian Tao - Discover &amp; Share GIFs">
            <a:extLst>
              <a:ext uri="{FF2B5EF4-FFF2-40B4-BE49-F238E27FC236}">
                <a16:creationId xmlns:a16="http://schemas.microsoft.com/office/drawing/2014/main" id="{EB4626A6-902F-E2C1-AC30-BC2F1A327D97}"/>
              </a:ext>
            </a:extLst>
          </p:cNvPr>
          <p:cNvPicPr>
            <a:picLocks noChangeAspect="1"/>
          </p:cNvPicPr>
          <p:nvPr/>
        </p:nvPicPr>
        <p:blipFill>
          <a:blip r:embed="rId3"/>
          <a:stretch>
            <a:fillRect/>
          </a:stretch>
        </p:blipFill>
        <p:spPr>
          <a:xfrm>
            <a:off x="4379495" y="636254"/>
            <a:ext cx="3571940" cy="3571940"/>
          </a:xfrm>
          <a:prstGeom prst="rect">
            <a:avLst/>
          </a:prstGeom>
        </p:spPr>
      </p:pic>
      <p:pic>
        <p:nvPicPr>
          <p:cNvPr id="6" name="Picture 5" descr="Deadlifting GIFs - Find &amp; Share on GIPHY">
            <a:extLst>
              <a:ext uri="{FF2B5EF4-FFF2-40B4-BE49-F238E27FC236}">
                <a16:creationId xmlns:a16="http://schemas.microsoft.com/office/drawing/2014/main" id="{BBF4651F-FC9B-1764-6132-7C5716FB7373}"/>
              </a:ext>
            </a:extLst>
          </p:cNvPr>
          <p:cNvPicPr>
            <a:picLocks noChangeAspect="1"/>
          </p:cNvPicPr>
          <p:nvPr/>
        </p:nvPicPr>
        <p:blipFill>
          <a:blip r:embed="rId4"/>
          <a:stretch>
            <a:fillRect/>
          </a:stretch>
        </p:blipFill>
        <p:spPr>
          <a:xfrm>
            <a:off x="7951434" y="636253"/>
            <a:ext cx="3571939" cy="3571939"/>
          </a:xfrm>
          <a:prstGeom prst="rect">
            <a:avLst/>
          </a:prstGeom>
        </p:spPr>
      </p:pic>
      <p:pic>
        <p:nvPicPr>
          <p:cNvPr id="7" name="Picture 6" descr="275 ATG Squat on Make a GIF">
            <a:extLst>
              <a:ext uri="{FF2B5EF4-FFF2-40B4-BE49-F238E27FC236}">
                <a16:creationId xmlns:a16="http://schemas.microsoft.com/office/drawing/2014/main" id="{DFC24BBB-1980-9EAD-0B40-212F9D54B155}"/>
              </a:ext>
            </a:extLst>
          </p:cNvPr>
          <p:cNvPicPr>
            <a:picLocks noChangeAspect="1"/>
          </p:cNvPicPr>
          <p:nvPr/>
        </p:nvPicPr>
        <p:blipFill>
          <a:blip r:embed="rId5"/>
          <a:stretch>
            <a:fillRect/>
          </a:stretch>
        </p:blipFill>
        <p:spPr>
          <a:xfrm>
            <a:off x="121145" y="3071253"/>
            <a:ext cx="2092665" cy="3727560"/>
          </a:xfrm>
          <a:prstGeom prst="rect">
            <a:avLst/>
          </a:prstGeom>
        </p:spPr>
      </p:pic>
    </p:spTree>
    <p:extLst>
      <p:ext uri="{BB962C8B-B14F-4D97-AF65-F5344CB8AC3E}">
        <p14:creationId xmlns:p14="http://schemas.microsoft.com/office/powerpoint/2010/main" val="2471347375"/>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{2C098A6B-0D6A-6740-AB07-6AAE29A34FE3}tf10001119</Template>
  <TotalTime>22523</TotalTime>
  <Words>3200</Words>
  <Application>Microsoft Macintosh PowerPoint</Application>
  <PresentationFormat>Widescreen</PresentationFormat>
  <Paragraphs>281</Paragraphs>
  <Slides>50</Slides>
  <Notes>0</Notes>
  <HiddenSlides>5</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Gill Sans MT</vt:lpstr>
      <vt:lpstr>Gallery</vt:lpstr>
      <vt:lpstr>Housekeeping</vt:lpstr>
      <vt:lpstr>Review</vt:lpstr>
      <vt:lpstr>DO some Stuff!</vt:lpstr>
      <vt:lpstr>Summary Measures</vt:lpstr>
      <vt:lpstr>Populations and Samples</vt:lpstr>
      <vt:lpstr>Samples</vt:lpstr>
      <vt:lpstr>Datasheet Format</vt:lpstr>
      <vt:lpstr>Describing one Variable</vt:lpstr>
      <vt:lpstr>Measures of Location</vt:lpstr>
      <vt:lpstr>Mean</vt:lpstr>
      <vt:lpstr>Median</vt:lpstr>
      <vt:lpstr>Mode</vt:lpstr>
      <vt:lpstr>Range</vt:lpstr>
      <vt:lpstr>Locations in tableau</vt:lpstr>
      <vt:lpstr>Measures of Dispersion</vt:lpstr>
      <vt:lpstr>PowerPoint Presentation</vt:lpstr>
      <vt:lpstr>Standard Deviation and  Variance</vt:lpstr>
      <vt:lpstr>Dispersion</vt:lpstr>
      <vt:lpstr>If the data is normal, we know things…</vt:lpstr>
      <vt:lpstr>Dispersion in Tableau</vt:lpstr>
      <vt:lpstr>Distributions</vt:lpstr>
      <vt:lpstr>Normal Distribution</vt:lpstr>
      <vt:lpstr>PowerPoint Presentation</vt:lpstr>
      <vt:lpstr>PowerPoint Presentation</vt:lpstr>
      <vt:lpstr>Distributions in Tableau</vt:lpstr>
      <vt:lpstr>Percentiles</vt:lpstr>
      <vt:lpstr>Percentiles in Tableau</vt:lpstr>
      <vt:lpstr>Interquartile Range</vt:lpstr>
      <vt:lpstr>Housekeeping</vt:lpstr>
      <vt:lpstr>Basic Description of data….</vt:lpstr>
      <vt:lpstr>Location and Range</vt:lpstr>
      <vt:lpstr>Dispersion</vt:lpstr>
      <vt:lpstr>Distributions</vt:lpstr>
      <vt:lpstr>Skewness and Kurtosis</vt:lpstr>
      <vt:lpstr>Skew and Kurtosis in Tableau</vt:lpstr>
      <vt:lpstr>Outliers</vt:lpstr>
      <vt:lpstr>Variable Scaling</vt:lpstr>
      <vt:lpstr>Normal Data Outlier Filters</vt:lpstr>
      <vt:lpstr>Outliers in Tableau</vt:lpstr>
      <vt:lpstr>Relationships in Data</vt:lpstr>
      <vt:lpstr>63% of Americans Can Read this, can you?</vt:lpstr>
      <vt:lpstr>Correlation</vt:lpstr>
      <vt:lpstr>Correlation in Tableau</vt:lpstr>
      <vt:lpstr>WhY Visualize? </vt:lpstr>
      <vt:lpstr>Anscombe Quartet</vt:lpstr>
      <vt:lpstr>But if We Visualize them</vt:lpstr>
      <vt:lpstr>Visualization to the Rescue</vt:lpstr>
      <vt:lpstr>Conclusion</vt:lpstr>
      <vt:lpstr>Let’s do Some Stuff!</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Describing Data</dc:title>
  <dc:creator>Akeem Semper</dc:creator>
  <cp:lastModifiedBy>Akeem Semper</cp:lastModifiedBy>
  <cp:revision>64</cp:revision>
  <dcterms:created xsi:type="dcterms:W3CDTF">2023-03-05T19:58:56Z</dcterms:created>
  <dcterms:modified xsi:type="dcterms:W3CDTF">2026-09-14T19:15:25Z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0877899-02b0-462c-b2a9-b7d15c4f96fe_Enabled">
    <vt:lpwstr>true</vt:lpwstr>
  </property>
  <property fmtid="{D5CDD505-2E9C-101B-9397-08002B2CF9AE}" pid="3" name="MSIP_Label_10877899-02b0-462c-b2a9-b7d15c4f96fe_SetDate">
    <vt:lpwstr>2025-09-09T14:38:21Z</vt:lpwstr>
  </property>
  <property fmtid="{D5CDD505-2E9C-101B-9397-08002B2CF9AE}" pid="4" name="MSIP_Label_10877899-02b0-462c-b2a9-b7d15c4f96fe_Method">
    <vt:lpwstr>Standard</vt:lpwstr>
  </property>
  <property fmtid="{D5CDD505-2E9C-101B-9397-08002B2CF9AE}" pid="5" name="MSIP_Label_10877899-02b0-462c-b2a9-b7d15c4f96fe_Name">
    <vt:lpwstr>Protected [Protected A]</vt:lpwstr>
  </property>
  <property fmtid="{D5CDD505-2E9C-101B-9397-08002B2CF9AE}" pid="6" name="MSIP_Label_10877899-02b0-462c-b2a9-b7d15c4f96fe_SiteId">
    <vt:lpwstr>5c98fb47-d3b9-4649-9d94-f88cbdd9729c</vt:lpwstr>
  </property>
  <property fmtid="{D5CDD505-2E9C-101B-9397-08002B2CF9AE}" pid="7" name="MSIP_Label_10877899-02b0-462c-b2a9-b7d15c4f96fe_ActionId">
    <vt:lpwstr>ab9d6fdf-08e6-4ba2-8e13-c3963d286bfe</vt:lpwstr>
  </property>
  <property fmtid="{D5CDD505-2E9C-101B-9397-08002B2CF9AE}" pid="8" name="MSIP_Label_10877899-02b0-462c-b2a9-b7d15c4f96fe_ContentBits">
    <vt:lpwstr>0</vt:lpwstr>
  </property>
  <property fmtid="{D5CDD505-2E9C-101B-9397-08002B2CF9AE}" pid="9" name="MSIP_Label_10877899-02b0-462c-b2a9-b7d15c4f96fe_Tag">
    <vt:lpwstr>50, 3, 0, 1</vt:lpwstr>
  </property>
</Properties>
</file>