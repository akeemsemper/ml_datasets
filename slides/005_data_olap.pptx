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6"/>
  </p:notesMasterIdLst>
  <p:sldIdLst>
    <p:sldId id="394" r:id="rId2"/>
    <p:sldId id="256" r:id="rId3"/>
    <p:sldId id="297" r:id="rId4"/>
    <p:sldId id="391" r:id="rId5"/>
    <p:sldId id="298" r:id="rId6"/>
    <p:sldId id="331" r:id="rId7"/>
    <p:sldId id="395" r:id="rId8"/>
    <p:sldId id="397" r:id="rId9"/>
    <p:sldId id="343" r:id="rId10"/>
    <p:sldId id="344" r:id="rId11"/>
    <p:sldId id="299" r:id="rId12"/>
    <p:sldId id="332" r:id="rId13"/>
    <p:sldId id="300" r:id="rId14"/>
    <p:sldId id="345" r:id="rId15"/>
    <p:sldId id="346" r:id="rId16"/>
    <p:sldId id="398" r:id="rId17"/>
    <p:sldId id="399" r:id="rId18"/>
    <p:sldId id="400" r:id="rId19"/>
    <p:sldId id="386" r:id="rId20"/>
    <p:sldId id="392" r:id="rId21"/>
    <p:sldId id="377" r:id="rId22"/>
    <p:sldId id="266" r:id="rId23"/>
    <p:sldId id="260" r:id="rId24"/>
    <p:sldId id="261" r:id="rId25"/>
    <p:sldId id="393" r:id="rId26"/>
    <p:sldId id="387" r:id="rId27"/>
    <p:sldId id="378" r:id="rId28"/>
    <p:sldId id="379" r:id="rId29"/>
    <p:sldId id="383" r:id="rId30"/>
    <p:sldId id="384" r:id="rId31"/>
    <p:sldId id="385" r:id="rId32"/>
    <p:sldId id="389" r:id="rId33"/>
    <p:sldId id="380" r:id="rId34"/>
    <p:sldId id="381" r:id="rId35"/>
    <p:sldId id="382" r:id="rId36"/>
    <p:sldId id="388" r:id="rId37"/>
    <p:sldId id="396" r:id="rId38"/>
    <p:sldId id="401" r:id="rId39"/>
    <p:sldId id="402" r:id="rId40"/>
    <p:sldId id="403" r:id="rId41"/>
    <p:sldId id="406" r:id="rId42"/>
    <p:sldId id="404" r:id="rId43"/>
    <p:sldId id="405" r:id="rId44"/>
    <p:sldId id="390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18"/>
    <p:restoredTop sz="94707"/>
  </p:normalViewPr>
  <p:slideViewPr>
    <p:cSldViewPr snapToGrid="0">
      <p:cViewPr varScale="1">
        <p:scale>
          <a:sx n="108" d="100"/>
          <a:sy n="108" d="100"/>
        </p:scale>
        <p:origin x="24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BE2A5C-88CE-3942-BD2F-513108CDBDBA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308E98-35BB-CB46-9D33-9AED9C783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17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227277-B0D8-4809-8878-D1ED6D19D37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2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227277-B0D8-4809-8878-D1ED6D19D374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998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227277-B0D8-4809-8878-D1ED6D19D374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337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227277-B0D8-4809-8878-D1ED6D19D374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47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227277-B0D8-4809-8878-D1ED6D19D374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337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227277-B0D8-4809-8878-D1ED6D19D374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401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youtu.be</a:t>
            </a:r>
            <a:r>
              <a:rPr lang="en-US" dirty="0"/>
              <a:t>/5GOjioIcs8g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308E98-35BB-CB46-9D33-9AED9C783CA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503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82EC-FC55-704C-A3AF-F73DC8518675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440E4F8-B2C4-824F-AC5C-EC9970A51C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69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82EC-FC55-704C-A3AF-F73DC8518675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0E4F8-B2C4-824F-AC5C-EC9970A51C34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9354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82EC-FC55-704C-A3AF-F73DC8518675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0E4F8-B2C4-824F-AC5C-EC9970A51C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89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82EC-FC55-704C-A3AF-F73DC8518675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0E4F8-B2C4-824F-AC5C-EC9970A51C34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5363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82EC-FC55-704C-A3AF-F73DC8518675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0E4F8-B2C4-824F-AC5C-EC9970A51C34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6933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82EC-FC55-704C-A3AF-F73DC8518675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0E4F8-B2C4-824F-AC5C-EC9970A51C34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938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82EC-FC55-704C-A3AF-F73DC8518675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0E4F8-B2C4-824F-AC5C-EC9970A51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438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82EC-FC55-704C-A3AF-F73DC8518675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0E4F8-B2C4-824F-AC5C-EC9970A51C34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6372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70382EC-FC55-704C-A3AF-F73DC8518675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0E4F8-B2C4-824F-AC5C-EC9970A51C34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1600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82EC-FC55-704C-A3AF-F73DC8518675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0E4F8-B2C4-824F-AC5C-EC9970A51C34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981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82EC-FC55-704C-A3AF-F73DC8518675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0E4F8-B2C4-824F-AC5C-EC9970A51C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705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382EC-FC55-704C-A3AF-F73DC8518675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440E4F8-B2C4-824F-AC5C-EC9970A51C3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84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5GOjioIcs8g?feature=oembed" TargetMode="External"/><Relationship Id="rId4" Type="http://schemas.openxmlformats.org/officeDocument/2006/relationships/image" Target="../media/image24.jpe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6C33D-7D54-12EB-12A7-8CF2D06D9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21F42-513A-0C0E-9642-5CDC553F3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301719"/>
          </a:xfrm>
        </p:spPr>
        <p:txBody>
          <a:bodyPr>
            <a:normAutofit/>
          </a:bodyPr>
          <a:lstStyle/>
          <a:p>
            <a:r>
              <a:rPr lang="en-US" dirty="0"/>
              <a:t>Today:</a:t>
            </a:r>
          </a:p>
          <a:p>
            <a:pPr lvl="1"/>
            <a:r>
              <a:rPr lang="en-US" dirty="0"/>
              <a:t>Data manipulation and </a:t>
            </a:r>
            <a:r>
              <a:rPr lang="en-US" dirty="0" err="1"/>
              <a:t>olap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Grouping aggregation quick practice. </a:t>
            </a:r>
          </a:p>
          <a:p>
            <a:r>
              <a:rPr lang="en-US" dirty="0"/>
              <a:t>Some quiz-like exercises that you may want to try as practice. People find this hard, so you may want to get some work in early-</a:t>
            </a:r>
            <a:r>
              <a:rPr lang="en-US" dirty="0" err="1"/>
              <a:t>ish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Link in quizzes section on Brightspace, sample solutions in sheets. </a:t>
            </a:r>
          </a:p>
          <a:p>
            <a:r>
              <a:rPr lang="en-US" dirty="0"/>
              <a:t>These ideas are pretty important, but it is normal for people to find it to have widely differing levels of difficulty and practice needed. </a:t>
            </a:r>
          </a:p>
          <a:p>
            <a:r>
              <a:rPr lang="en-US" dirty="0"/>
              <a:t>If you want help or feedback on assignment stuff, use the end of class to ask. </a:t>
            </a:r>
          </a:p>
          <a:p>
            <a:pPr lvl="1"/>
            <a:r>
              <a:rPr lang="en-US" dirty="0"/>
              <a:t>It is very normal to hit places where you’re unsure, if not you probably need to try harder. </a:t>
            </a:r>
          </a:p>
        </p:txBody>
      </p:sp>
    </p:spTree>
    <p:extLst>
      <p:ext uri="{BB962C8B-B14F-4D97-AF65-F5344CB8AC3E}">
        <p14:creationId xmlns:p14="http://schemas.microsoft.com/office/powerpoint/2010/main" val="641796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569A2-6106-10DB-28A9-50F62683DA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Manipulation and OLAP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A8F885-FF3B-D6F7-353A-70C86D97B4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06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Introductory Case: Retail Customer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4"/>
            <a:ext cx="5622284" cy="403774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800" dirty="0"/>
              <a:t>Catherine is a marketing manager at Organic Food Superstore. 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She would like to use the company’s marketing dollars to market a new line of Asian-inspired meals to college-educated millennials. 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She has acquired a representative sample.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Catherine will use the data for the following tasks.</a:t>
            </a:r>
          </a:p>
          <a:p>
            <a:pPr marL="914400" lvl="1" indent="-514350">
              <a:lnSpc>
                <a:spcPct val="110000"/>
              </a:lnSpc>
              <a:buFont typeface="+mj-lt"/>
              <a:buAutoNum type="arabicPeriod"/>
            </a:pPr>
            <a:r>
              <a:rPr lang="en-US" dirty="0"/>
              <a:t>Identify Organic Food Superstore’s college-educated millennial customers.</a:t>
            </a:r>
          </a:p>
          <a:p>
            <a:pPr marL="914400" lvl="1" indent="-514350">
              <a:lnSpc>
                <a:spcPct val="110000"/>
              </a:lnSpc>
              <a:buFont typeface="+mj-lt"/>
              <a:buAutoNum type="arabicPeriod"/>
            </a:pPr>
            <a:r>
              <a:rPr lang="en-US" dirty="0"/>
              <a:t>Compare profiles of female and male college-educated millennial customers.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A950B7-11AC-BF4B-A379-8F6D02434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4139" y="3005959"/>
            <a:ext cx="4285122" cy="12426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73304-3A1A-453C-0924-52C0D1C16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Data, you love it!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63CB5-9A49-E809-0EB7-07F36C155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Power of Data: Get Ready for the Data Science Revolution">
            <a:extLst>
              <a:ext uri="{FF2B5EF4-FFF2-40B4-BE49-F238E27FC236}">
                <a16:creationId xmlns:a16="http://schemas.microsoft.com/office/drawing/2014/main" id="{CCFB1464-FE8A-9004-270F-1BF86A2F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5202" y="1935805"/>
            <a:ext cx="7276028" cy="4533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8566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Data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The increasing volume and variety of data compel organizations to spend large amounts of time and resources gathering, cleaning, and organizing data before performing any analysis.</a:t>
            </a:r>
          </a:p>
          <a:p>
            <a:r>
              <a:rPr lang="en-US" sz="1800" dirty="0"/>
              <a:t>As the amount of data grows, the need and difficulties involving data wrangling increases.</a:t>
            </a:r>
          </a:p>
          <a:p>
            <a:r>
              <a:rPr lang="en-US" sz="1800" dirty="0"/>
              <a:t>The inability to clean and organize big data is among the primary barriers preventing organizations from taking full advantage of business analytics.</a:t>
            </a:r>
          </a:p>
        </p:txBody>
      </p:sp>
    </p:spTree>
    <p:extLst>
      <p:ext uri="{BB962C8B-B14F-4D97-AF65-F5344CB8AC3E}">
        <p14:creationId xmlns:p14="http://schemas.microsoft.com/office/powerpoint/2010/main" val="2341620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Data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fontScale="62500" lnSpcReduction="20000"/>
          </a:bodyPr>
          <a:lstStyle/>
          <a:p>
            <a:r>
              <a:rPr lang="en-US" sz="3600" dirty="0"/>
              <a:t>Analytics professionals no longer rely solely on the corporate IT department for data retrieval and preparation. </a:t>
            </a:r>
          </a:p>
          <a:p>
            <a:pPr lvl="1"/>
            <a:r>
              <a:rPr lang="en-US" sz="3400" dirty="0"/>
              <a:t>I.e. you can’t expect data in the nice csv style we normally use, you would need to make that dataset yourself. </a:t>
            </a:r>
          </a:p>
          <a:p>
            <a:r>
              <a:rPr lang="en-US" sz="3600" dirty="0"/>
              <a:t>50% to 80% of their time is spent collecting and preparing unruly data before analytics can be applied.</a:t>
            </a:r>
          </a:p>
          <a:p>
            <a:r>
              <a:rPr lang="en-US" sz="3600" dirty="0"/>
              <a:t>They have to become more self-reliant and possess the necessary skills for data wrangling and analysis, broader skill sets than just statistics.</a:t>
            </a:r>
          </a:p>
          <a:p>
            <a:r>
              <a:rPr lang="en-US" sz="3600" dirty="0"/>
              <a:t>This allows organizations to address business problems much more quickly.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292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28E5F-7E96-1FFD-012A-1AF38237B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6ADD5-04AD-80D5-7B3C-F61958735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The first, and most important, thing you do as an analyst* is manage data. </a:t>
            </a:r>
          </a:p>
          <a:p>
            <a:pPr lvl="1"/>
            <a:r>
              <a:rPr lang="en-US" dirty="0"/>
              <a:t>No matter how good at tableau/ML/AI you are, you need data. </a:t>
            </a:r>
          </a:p>
          <a:p>
            <a:pPr lvl="1"/>
            <a:r>
              <a:rPr lang="en-US" dirty="0"/>
              <a:t>50%-80% of time is spent collecting and preparing unruly data before analytics can be applied.</a:t>
            </a:r>
          </a:p>
          <a:p>
            <a:pPr lvl="1"/>
            <a:r>
              <a:rPr lang="en-US" dirty="0"/>
              <a:t>We have lots of data, usually from several sources. </a:t>
            </a:r>
          </a:p>
          <a:p>
            <a:pPr lvl="1"/>
            <a:r>
              <a:rPr lang="en-US" dirty="0"/>
              <a:t>IT is often becoming less involved, you need to get and organize data yourself. </a:t>
            </a:r>
          </a:p>
          <a:p>
            <a:pPr lvl="2"/>
            <a:r>
              <a:rPr lang="en-US" dirty="0"/>
              <a:t>Even people using accounting/</a:t>
            </a:r>
            <a:r>
              <a:rPr lang="en-US" dirty="0" err="1"/>
              <a:t>hr</a:t>
            </a:r>
            <a:r>
              <a:rPr lang="en-US" dirty="0"/>
              <a:t>/marketing tools directly who aren’t data analysts. </a:t>
            </a:r>
          </a:p>
          <a:p>
            <a:r>
              <a:rPr lang="en-US" dirty="0"/>
              <a:t>Data typically covers many, sometimes millions, of dimensions (different variables). </a:t>
            </a:r>
          </a:p>
          <a:p>
            <a:pPr lvl="1"/>
            <a:r>
              <a:rPr lang="en-US" dirty="0"/>
              <a:t>In each thing, we only care about a handful. </a:t>
            </a:r>
          </a:p>
          <a:p>
            <a:pPr lvl="1"/>
            <a:r>
              <a:rPr lang="en-US" dirty="0"/>
              <a:t>We need to set the data up to give us the pieces we need before we can visualize. 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798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39718-4CE2-00D7-C32D-653F569BC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Wait, I’m an analyst? Probably.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D83AF-09E3-1CD7-E2D6-AC6E592E1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5"/>
            <a:ext cx="9603275" cy="4199726"/>
          </a:xfrm>
        </p:spPr>
        <p:txBody>
          <a:bodyPr/>
          <a:lstStyle/>
          <a:p>
            <a:r>
              <a:rPr lang="en-US" dirty="0"/>
              <a:t>In many, many, many cases, interacting with data directly is likely in your office job. </a:t>
            </a:r>
          </a:p>
          <a:p>
            <a:pPr lvl="1"/>
            <a:r>
              <a:rPr lang="en-US" dirty="0"/>
              <a:t>Most reporting from most enterprise systems (</a:t>
            </a:r>
            <a:r>
              <a:rPr lang="en-US" dirty="0" err="1"/>
              <a:t>erp</a:t>
            </a:r>
            <a:r>
              <a:rPr lang="en-US" dirty="0"/>
              <a:t>, </a:t>
            </a:r>
            <a:r>
              <a:rPr lang="en-US" dirty="0" err="1"/>
              <a:t>hris</a:t>
            </a:r>
            <a:r>
              <a:rPr lang="en-US" dirty="0"/>
              <a:t>, </a:t>
            </a:r>
            <a:r>
              <a:rPr lang="en-US" dirty="0" err="1"/>
              <a:t>crm</a:t>
            </a:r>
            <a:r>
              <a:rPr lang="en-US" dirty="0"/>
              <a:t>, finance, </a:t>
            </a:r>
            <a:r>
              <a:rPr lang="en-US" dirty="0" err="1"/>
              <a:t>etc</a:t>
            </a:r>
            <a:r>
              <a:rPr lang="en-US" dirty="0"/>
              <a:t>…)</a:t>
            </a:r>
          </a:p>
          <a:p>
            <a:pPr lvl="2"/>
            <a:r>
              <a:rPr lang="en-US" dirty="0"/>
              <a:t>Usually some tableau-</a:t>
            </a:r>
            <a:r>
              <a:rPr lang="en-US" dirty="0" err="1"/>
              <a:t>ish</a:t>
            </a:r>
            <a:r>
              <a:rPr lang="en-US" dirty="0"/>
              <a:t> web tool, but worse, to extract data. </a:t>
            </a:r>
          </a:p>
          <a:p>
            <a:pPr lvl="2"/>
            <a:r>
              <a:rPr lang="en-US" dirty="0"/>
              <a:t>I used to do corporate reporting, most of what most people did was wrong. </a:t>
            </a:r>
          </a:p>
          <a:p>
            <a:pPr lvl="1"/>
            <a:r>
              <a:rPr lang="en-US" dirty="0"/>
              <a:t>Manipulating data in excel will be easier with data skills. </a:t>
            </a:r>
          </a:p>
          <a:p>
            <a:r>
              <a:rPr lang="en-US" dirty="0"/>
              <a:t>The underlying data is almost certainly in this format, it helps to understand it. </a:t>
            </a:r>
          </a:p>
          <a:p>
            <a:pPr lvl="1"/>
            <a:r>
              <a:rPr lang="en-US" dirty="0"/>
              <a:t>E.g. I did LMS (like Brightspace) administration, I also created reports, understanding the data made the administration part make more sense. </a:t>
            </a:r>
          </a:p>
          <a:p>
            <a:pPr lvl="1"/>
            <a:r>
              <a:rPr lang="en-US" dirty="0"/>
              <a:t>The broad ideas are near universal (in relational databases). </a:t>
            </a:r>
          </a:p>
        </p:txBody>
      </p:sp>
    </p:spTree>
    <p:extLst>
      <p:ext uri="{BB962C8B-B14F-4D97-AF65-F5344CB8AC3E}">
        <p14:creationId xmlns:p14="http://schemas.microsoft.com/office/powerpoint/2010/main" val="53212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64B12D-EAF8-B749-7421-BC914FE77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DS do?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FAF5C0-08C6-71B5-B248-1CCAFCA71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leaning Big Data: Most Time-Consuming, Least Enjoyable Data Science Task,  Survey Says">
            <a:extLst>
              <a:ext uri="{FF2B5EF4-FFF2-40B4-BE49-F238E27FC236}">
                <a16:creationId xmlns:a16="http://schemas.microsoft.com/office/drawing/2014/main" id="{49F7C3FB-FA8B-69A2-61D5-99973EF23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81139"/>
            <a:ext cx="9144000" cy="3894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3078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AAB92E-4CCB-B201-645A-974F0E170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DS Like?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AB210E-9813-062A-624D-A1BF59996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Cleaning Big Data: Most Time-Consuming, Least Enjoyable Data Science Task,  Survey Says">
            <a:extLst>
              <a:ext uri="{FF2B5EF4-FFF2-40B4-BE49-F238E27FC236}">
                <a16:creationId xmlns:a16="http://schemas.microsoft.com/office/drawing/2014/main" id="{D3ED386A-BCB9-6569-A781-ED461E5A1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850" y="1511300"/>
            <a:ext cx="9004300" cy="383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6145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sz="3600" dirty="0"/>
              <a:t>Data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/>
              <a:t>Data wrangling is the process of retrieving, cleansing, integrating, transforming, and enriching data to support subsequent analysis.</a:t>
            </a:r>
          </a:p>
          <a:p>
            <a:r>
              <a:rPr lang="en-US" sz="2800" dirty="0"/>
              <a:t>Transform raw data into a format that is more appropriate and easier to analyze.</a:t>
            </a:r>
          </a:p>
          <a:p>
            <a:r>
              <a:rPr lang="en-US" sz="2800" dirty="0"/>
              <a:t>There are several objectives.</a:t>
            </a:r>
          </a:p>
          <a:p>
            <a:pPr lvl="1"/>
            <a:r>
              <a:rPr lang="en-US" sz="2400" dirty="0"/>
              <a:t>Improve data quality.</a:t>
            </a:r>
          </a:p>
          <a:p>
            <a:pPr lvl="1"/>
            <a:r>
              <a:rPr lang="en-US" sz="2400" dirty="0"/>
              <a:t>Remove errors or improper data. </a:t>
            </a:r>
          </a:p>
          <a:p>
            <a:pPr lvl="1"/>
            <a:r>
              <a:rPr lang="en-US" sz="2400" dirty="0"/>
              <a:t>Reduce time/effort required to perform analytics.</a:t>
            </a:r>
          </a:p>
          <a:p>
            <a:pPr lvl="1"/>
            <a:r>
              <a:rPr lang="en-US" sz="2400" dirty="0"/>
              <a:t>Reveal the true intelligence in the data.</a:t>
            </a:r>
          </a:p>
          <a:p>
            <a:r>
              <a:rPr lang="en-US" sz="2600" dirty="0"/>
              <a:t>For us, we often need to clean data, and sometimes need to join it.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934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sz="3600" dirty="0"/>
              <a:t>Data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Data management is a process that an organization uses to acquire, organize, store, manipulate, and distribute data.</a:t>
            </a:r>
          </a:p>
          <a:p>
            <a:r>
              <a:rPr lang="en-US" sz="2800" dirty="0"/>
              <a:t>A database is a collection of data logically organized to enable easy retrieval, management, and distribution of data.</a:t>
            </a:r>
          </a:p>
          <a:p>
            <a:r>
              <a:rPr lang="en-US" sz="2800" dirty="0"/>
              <a:t>Most organizations have adopted a database approach for storing and managing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441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sz="3600" dirty="0"/>
              <a:t>Remember the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fontScale="85000" lnSpcReduction="10000"/>
          </a:bodyPr>
          <a:lstStyle/>
          <a:p>
            <a:r>
              <a:rPr lang="en-US" sz="2800" dirty="0"/>
              <a:t>The most common </a:t>
            </a:r>
            <a:r>
              <a:rPr lang="en-US" sz="2800" dirty="0" err="1"/>
              <a:t>db</a:t>
            </a:r>
            <a:r>
              <a:rPr lang="en-US" sz="2800" dirty="0"/>
              <a:t> used in organizations is the relational database.</a:t>
            </a:r>
          </a:p>
          <a:p>
            <a:pPr lvl="1"/>
            <a:r>
              <a:rPr lang="en-US" sz="2400" dirty="0"/>
              <a:t>Consists of one or more logically related data files called tables or relations</a:t>
            </a:r>
          </a:p>
          <a:p>
            <a:pPr lvl="1"/>
            <a:r>
              <a:rPr lang="en-US" sz="2400" dirty="0"/>
              <a:t>Each table is a two-dimensional grid</a:t>
            </a:r>
          </a:p>
          <a:p>
            <a:pPr lvl="2"/>
            <a:r>
              <a:rPr lang="en-US" sz="1800" dirty="0"/>
              <a:t>Rows: records or tuples</a:t>
            </a:r>
          </a:p>
          <a:p>
            <a:pPr lvl="2"/>
            <a:r>
              <a:rPr lang="en-US" sz="1800" dirty="0"/>
              <a:t>Columns: fields or attributes, characteristics of a physical object, an event, a person</a:t>
            </a:r>
          </a:p>
          <a:p>
            <a:pPr lvl="1"/>
            <a:r>
              <a:rPr lang="en-US" sz="2400" dirty="0"/>
              <a:t>A collection of related fields makes a record, which represents an object, event, or person</a:t>
            </a:r>
          </a:p>
          <a:p>
            <a:r>
              <a:rPr lang="en-US" sz="2800" dirty="0"/>
              <a:t>A database management system (DBMS) is a software application.</a:t>
            </a:r>
          </a:p>
          <a:p>
            <a:pPr lvl="1"/>
            <a:r>
              <a:rPr lang="en-US" sz="2400" dirty="0"/>
              <a:t>Defining, manipulating, and managing data</a:t>
            </a:r>
          </a:p>
          <a:p>
            <a:pPr lvl="1"/>
            <a:r>
              <a:rPr lang="en-US" sz="2400" dirty="0"/>
              <a:t>Examples: Oracle, IBM DB2, SQL Server, MySQL, Microsoft Access</a:t>
            </a:r>
          </a:p>
          <a:p>
            <a:pPr lvl="1"/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705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9BE235-B9E5-8E5A-8342-D0A76BF7E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100"/>
              <a:t>Database, Datasheet, and Tableau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92BBC5-3B74-1B24-66C0-8D7F10D1E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F7411F-17DD-EE8B-96A5-F907F9DDE3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133"/>
          <a:stretch/>
        </p:blipFill>
        <p:spPr>
          <a:xfrm>
            <a:off x="2072414" y="1600201"/>
            <a:ext cx="8047172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07328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EBCF41-AE72-2909-00E1-08014341B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Database Tables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928C89-484B-5E4D-106E-E0336B07D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Each table is on one “thing”.</a:t>
            </a:r>
          </a:p>
          <a:p>
            <a:pPr>
              <a:lnSpc>
                <a:spcPct val="90000"/>
              </a:lnSpc>
            </a:pPr>
            <a:r>
              <a:rPr lang="en-US" dirty="0"/>
              <a:t>Each row is one of those things. (An instance)</a:t>
            </a:r>
          </a:p>
          <a:p>
            <a:pPr>
              <a:lnSpc>
                <a:spcPct val="90000"/>
              </a:lnSpc>
            </a:pPr>
            <a:r>
              <a:rPr lang="en-US" dirty="0"/>
              <a:t>Each column is something we know. (A feature / variable)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367686-034A-111A-DC7A-693B81608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52400"/>
            <a:ext cx="8763000" cy="466629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85568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AF7D2-A7FD-EEB0-D5F4-712DFF202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1391" y="804519"/>
            <a:ext cx="4353463" cy="1049235"/>
          </a:xfrm>
        </p:spPr>
        <p:txBody>
          <a:bodyPr/>
          <a:lstStyle/>
          <a:p>
            <a:r>
              <a:rPr lang="en-US" dirty="0"/>
              <a:t>Real DBs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7FB80-F9E5-7DD5-4066-CD92702CA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1391" y="2015732"/>
            <a:ext cx="5490609" cy="3989200"/>
          </a:xfrm>
        </p:spPr>
        <p:txBody>
          <a:bodyPr>
            <a:normAutofit/>
          </a:bodyPr>
          <a:lstStyle/>
          <a:p>
            <a:r>
              <a:rPr lang="en-US" dirty="0"/>
              <a:t>Real databases can have thousands of tables. </a:t>
            </a:r>
          </a:p>
          <a:p>
            <a:pPr lvl="1"/>
            <a:r>
              <a:rPr lang="en-US" dirty="0"/>
              <a:t>Each table is on datasheet on one thing. </a:t>
            </a:r>
          </a:p>
          <a:p>
            <a:r>
              <a:rPr lang="en-US" dirty="0"/>
              <a:t>In databases, every table (entity) has a key. </a:t>
            </a:r>
          </a:p>
          <a:p>
            <a:pPr lvl="1"/>
            <a:r>
              <a:rPr lang="en-US" dirty="0"/>
              <a:t>Primary key is unique ID, like an ID number. </a:t>
            </a:r>
          </a:p>
          <a:p>
            <a:pPr lvl="1"/>
            <a:r>
              <a:rPr lang="en-US" dirty="0"/>
              <a:t>Key in joining (connecting) tables. </a:t>
            </a:r>
          </a:p>
          <a:p>
            <a:pPr lvl="1"/>
            <a:r>
              <a:rPr lang="en-US" dirty="0"/>
              <a:t>E.g. get a list of students for course 2210a06 reads a list of student ids from the ”registrations” table, and grabs the names from the student table, when the student ID (the key for students) matches. </a:t>
            </a:r>
          </a:p>
        </p:txBody>
      </p:sp>
      <p:pic>
        <p:nvPicPr>
          <p:cNvPr id="4" name="Picture 3" descr="Database schema design 101 for relational databases — PlanetScale">
            <a:extLst>
              <a:ext uri="{FF2B5EF4-FFF2-40B4-BE49-F238E27FC236}">
                <a16:creationId xmlns:a16="http://schemas.microsoft.com/office/drawing/2014/main" id="{A9D0196F-8484-74E6-0AFB-A1C152E35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01" y="853067"/>
            <a:ext cx="6380990" cy="515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276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3EEE8-784B-7B5E-A909-259779E2D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do this?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8EAE0-39C0-B80F-6CCA-3DA19F8EC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279417"/>
          </a:xfrm>
        </p:spPr>
        <p:txBody>
          <a:bodyPr/>
          <a:lstStyle/>
          <a:p>
            <a:r>
              <a:rPr lang="en-US" dirty="0"/>
              <a:t>The reason that most data is stored in this way is efficiency. </a:t>
            </a:r>
          </a:p>
          <a:p>
            <a:r>
              <a:rPr lang="en-US" dirty="0"/>
              <a:t>Data only exists in one place, no contradictions or ambiguity. </a:t>
            </a:r>
          </a:p>
          <a:p>
            <a:pPr lvl="1"/>
            <a:r>
              <a:rPr lang="en-US" dirty="0"/>
              <a:t>E.g. an address field per customer, vs addresses in each order as free text. </a:t>
            </a:r>
          </a:p>
          <a:p>
            <a:pPr lvl="1"/>
            <a:r>
              <a:rPr lang="en-US" dirty="0"/>
              <a:t>This saves storage space at a very large scale, and updates are only one field change. </a:t>
            </a:r>
          </a:p>
          <a:p>
            <a:r>
              <a:rPr lang="en-US" dirty="0"/>
              <a:t>Access can be managed, logged, and even reversed. </a:t>
            </a:r>
          </a:p>
          <a:p>
            <a:pPr lvl="1"/>
            <a:r>
              <a:rPr lang="en-US" dirty="0"/>
              <a:t>Permissions can be assigned, each change can be logged in order, can rollback. </a:t>
            </a:r>
          </a:p>
          <a:p>
            <a:r>
              <a:rPr lang="en-US" dirty="0"/>
              <a:t>Easier to use, at scale, even if not obvious. </a:t>
            </a:r>
          </a:p>
          <a:p>
            <a:pPr lvl="1"/>
            <a:r>
              <a:rPr lang="en-US" dirty="0"/>
              <a:t>A </a:t>
            </a:r>
            <a:r>
              <a:rPr lang="en-US" dirty="0" err="1"/>
              <a:t>db</a:t>
            </a:r>
            <a:r>
              <a:rPr lang="en-US" dirty="0"/>
              <a:t> I regularly used for an LMS had a documentation PDF over 900 pages. </a:t>
            </a:r>
          </a:p>
          <a:p>
            <a:pPr lvl="1"/>
            <a:r>
              <a:rPr lang="en-US" dirty="0"/>
              <a:t>Each individual report only needs a handful of tables, so we can select and ignore the rest. </a:t>
            </a:r>
          </a:p>
          <a:p>
            <a:pPr lvl="1"/>
            <a:r>
              <a:rPr lang="en-US" dirty="0"/>
              <a:t>The way we connect the entities together lets us answer different problems. </a:t>
            </a:r>
          </a:p>
        </p:txBody>
      </p:sp>
    </p:spTree>
    <p:extLst>
      <p:ext uri="{BB962C8B-B14F-4D97-AF65-F5344CB8AC3E}">
        <p14:creationId xmlns:p14="http://schemas.microsoft.com/office/powerpoint/2010/main" val="595888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44915-6E36-622D-1297-34F6A8BEF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CCFF8-2FA3-AD98-3447-F417D2910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Get to Know Closer to Relational Database Management System (RDBMS) and its  Relation to Structured Query Language (SQL) | by Triyoza Aprianda | Dev  Genius">
            <a:extLst>
              <a:ext uri="{FF2B5EF4-FFF2-40B4-BE49-F238E27FC236}">
                <a16:creationId xmlns:a16="http://schemas.microsoft.com/office/drawing/2014/main" id="{17385898-75D8-7F25-756B-3948AE416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6"/>
            <a:ext cx="12100955" cy="6811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1395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2FD963C-62D8-193C-5F3A-94B790AC8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Dimensionality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941C7A-F1C9-9C73-9834-DEE4E7E26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451" y="1853754"/>
            <a:ext cx="10810874" cy="4273777"/>
          </a:xfrm>
        </p:spPr>
        <p:txBody>
          <a:bodyPr/>
          <a:lstStyle/>
          <a:p>
            <a:r>
              <a:rPr lang="en-US" dirty="0"/>
              <a:t>The data we analyze is usually high-dimensional. </a:t>
            </a:r>
          </a:p>
          <a:p>
            <a:pPr lvl="1"/>
            <a:r>
              <a:rPr lang="en-US" dirty="0"/>
              <a:t>There are many dimensions, or attributes. </a:t>
            </a:r>
          </a:p>
          <a:p>
            <a:pPr lvl="1"/>
            <a:r>
              <a:rPr lang="en-US" dirty="0"/>
              <a:t>Can have thousands (or more) columns. </a:t>
            </a:r>
          </a:p>
          <a:p>
            <a:r>
              <a:rPr lang="en-US" dirty="0"/>
              <a:t>Data warehouses at an org amalgamate data.</a:t>
            </a:r>
          </a:p>
          <a:p>
            <a:pPr lvl="1"/>
            <a:r>
              <a:rPr lang="en-US" dirty="0"/>
              <a:t>E.g. Google has many dimensions of data on its users – apps uses, map locations, search history, </a:t>
            </a:r>
            <a:r>
              <a:rPr lang="en-US" dirty="0" err="1"/>
              <a:t>gmail</a:t>
            </a:r>
            <a:r>
              <a:rPr lang="en-US" dirty="0"/>
              <a:t>, docs, flight searches,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All data being integrated enables analysis – e.g. store compares product sales to demographics of the area. </a:t>
            </a:r>
          </a:p>
          <a:p>
            <a:r>
              <a:rPr lang="en-US" dirty="0"/>
              <a:t>More dimensions -&gt; more potential. </a:t>
            </a:r>
          </a:p>
          <a:p>
            <a:pPr lvl="1"/>
            <a:r>
              <a:rPr lang="en-US" dirty="0"/>
              <a:t>High dimensional data allows all modern AI related stuff to work. </a:t>
            </a:r>
          </a:p>
        </p:txBody>
      </p:sp>
    </p:spTree>
    <p:extLst>
      <p:ext uri="{BB962C8B-B14F-4D97-AF65-F5344CB8AC3E}">
        <p14:creationId xmlns:p14="http://schemas.microsoft.com/office/powerpoint/2010/main" val="19117097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431E3-CDC7-5DBE-1AE8-4960065C1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220FA-F881-1C02-DBBD-7F191712E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How to Protect Yourself from Data Brokers | by AdBlock | AdBlock's Blog">
            <a:extLst>
              <a:ext uri="{FF2B5EF4-FFF2-40B4-BE49-F238E27FC236}">
                <a16:creationId xmlns:a16="http://schemas.microsoft.com/office/drawing/2014/main" id="{193CC724-11C4-A35C-DA96-27C32D1BB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288" y="0"/>
            <a:ext cx="73374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3234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F5EDA62-9F6A-CFEA-1370-81289BCF2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Manipulating Dimensions - OLAP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7CE5AB-1406-9A06-8E23-7332508C9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/>
          </a:bodyPr>
          <a:lstStyle/>
          <a:p>
            <a:r>
              <a:rPr lang="en-US" dirty="0"/>
              <a:t>OLAP – </a:t>
            </a:r>
            <a:r>
              <a:rPr lang="en-US" dirty="0" err="1"/>
              <a:t>OnLine</a:t>
            </a:r>
            <a:r>
              <a:rPr lang="en-US" dirty="0"/>
              <a:t> Analytical Processing. </a:t>
            </a:r>
          </a:p>
          <a:p>
            <a:r>
              <a:rPr lang="en-US" dirty="0"/>
              <a:t>How data is manipulated for analysis. </a:t>
            </a:r>
          </a:p>
          <a:p>
            <a:pPr lvl="1"/>
            <a:r>
              <a:rPr lang="en-US" dirty="0"/>
              <a:t>“Slicing and dicing” data to get what we want. </a:t>
            </a:r>
          </a:p>
          <a:p>
            <a:pPr lvl="1"/>
            <a:r>
              <a:rPr lang="en-US" dirty="0"/>
              <a:t>Drilling down to get details, rolling up to get totals. </a:t>
            </a:r>
          </a:p>
          <a:p>
            <a:pPr lvl="1"/>
            <a:r>
              <a:rPr lang="en-US" dirty="0"/>
              <a:t>Pivoting to group data into subsets. </a:t>
            </a:r>
          </a:p>
          <a:p>
            <a:r>
              <a:rPr lang="en-US" dirty="0"/>
              <a:t>Tools to cut down high-dimensional data and make it usable.</a:t>
            </a:r>
          </a:p>
          <a:p>
            <a:r>
              <a:rPr lang="en-US" dirty="0"/>
              <a:t>OLAP is something you need to know the theory of. </a:t>
            </a:r>
          </a:p>
          <a:p>
            <a:r>
              <a:rPr lang="en-US" dirty="0"/>
              <a:t>Understanding what’s happening in OLAP operations makes doing tableau easier. </a:t>
            </a:r>
          </a:p>
        </p:txBody>
      </p:sp>
    </p:spTree>
    <p:extLst>
      <p:ext uri="{BB962C8B-B14F-4D97-AF65-F5344CB8AC3E}">
        <p14:creationId xmlns:p14="http://schemas.microsoft.com/office/powerpoint/2010/main" val="1520550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83369-F68C-ECB8-198E-6C4F6F64D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6EABB-10EB-AD49-B63A-DCEFB02D0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Introduction to Statistics for Data Science — I: | by Karthik | Medium">
            <a:extLst>
              <a:ext uri="{FF2B5EF4-FFF2-40B4-BE49-F238E27FC236}">
                <a16:creationId xmlns:a16="http://schemas.microsoft.com/office/drawing/2014/main" id="{2FAAE0B6-A1DB-343E-A8CC-74EB65EE3D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15"/>
          <a:stretch/>
        </p:blipFill>
        <p:spPr bwMode="auto">
          <a:xfrm>
            <a:off x="1005016" y="632533"/>
            <a:ext cx="10181968" cy="6217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66473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FF1D9-EE96-2188-3782-3C0F5225C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Discreet vs Continuous in Tableau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4B082-013F-3E1D-341A-3D0EEC85B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54924"/>
            <a:ext cx="9603275" cy="3962400"/>
          </a:xfrm>
        </p:spPr>
        <p:txBody>
          <a:bodyPr/>
          <a:lstStyle/>
          <a:p>
            <a:r>
              <a:rPr lang="en-US" dirty="0"/>
              <a:t>In Tableau we have two types of variables:</a:t>
            </a:r>
          </a:p>
          <a:p>
            <a:pPr lvl="1"/>
            <a:r>
              <a:rPr lang="en-US" dirty="0"/>
              <a:t>Dimensions – discreet values. </a:t>
            </a:r>
          </a:p>
          <a:p>
            <a:pPr lvl="1"/>
            <a:r>
              <a:rPr lang="en-US" dirty="0"/>
              <a:t>Measures – continuous values. </a:t>
            </a:r>
          </a:p>
          <a:p>
            <a:r>
              <a:rPr lang="en-US" dirty="0"/>
              <a:t>Tableau usually identifies these correctly, but not always. </a:t>
            </a:r>
          </a:p>
          <a:p>
            <a:r>
              <a:rPr lang="en-US" dirty="0"/>
              <a:t>We can manipulate the way Tableau interprets the type as needed. </a:t>
            </a:r>
          </a:p>
          <a:p>
            <a:pPr lvl="1"/>
            <a:r>
              <a:rPr lang="en-US" dirty="0"/>
              <a:t>Right click -&gt; options for discreet/continuous and measure/dimension. </a:t>
            </a:r>
          </a:p>
        </p:txBody>
      </p:sp>
    </p:spTree>
    <p:extLst>
      <p:ext uri="{BB962C8B-B14F-4D97-AF65-F5344CB8AC3E}">
        <p14:creationId xmlns:p14="http://schemas.microsoft.com/office/powerpoint/2010/main" val="27958557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06928-4FD2-72B2-4626-6C54B4525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Translation between Discreet/continuous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8EF21-CE0E-D255-6104-CCE59802B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6365" y="1853754"/>
            <a:ext cx="7180389" cy="4199727"/>
          </a:xfrm>
        </p:spPr>
        <p:txBody>
          <a:bodyPr/>
          <a:lstStyle/>
          <a:p>
            <a:r>
              <a:rPr lang="en-US" dirty="0"/>
              <a:t>Binning: numerical to categorical. </a:t>
            </a:r>
          </a:p>
          <a:p>
            <a:r>
              <a:rPr lang="en-US" dirty="0"/>
              <a:t>Encoding: categorical to numerical. </a:t>
            </a:r>
          </a:p>
          <a:p>
            <a:r>
              <a:rPr lang="en-US" dirty="0"/>
              <a:t>E.g. your GPA goes from continuous (percents) to discreet (letters) back to continuous GPA number, before being averaged.</a:t>
            </a:r>
          </a:p>
          <a:p>
            <a:r>
              <a:rPr lang="en-US" dirty="0"/>
              <a:t>Used regularly-</a:t>
            </a:r>
            <a:r>
              <a:rPr lang="en-US" dirty="0" err="1"/>
              <a:t>ish</a:t>
            </a:r>
            <a:r>
              <a:rPr lang="en-US" dirty="0"/>
              <a:t> in data science. </a:t>
            </a:r>
          </a:p>
          <a:p>
            <a:r>
              <a:rPr lang="en-US" dirty="0"/>
              <a:t>For us – does either help us represent what we want better? </a:t>
            </a:r>
          </a:p>
          <a:p>
            <a:pPr lvl="1"/>
            <a:r>
              <a:rPr lang="en-US" dirty="0"/>
              <a:t>E.g. if we are looking at career success of middle class residents, it may make more sense to bin income and use that. </a:t>
            </a:r>
          </a:p>
          <a:p>
            <a:pPr lvl="1"/>
            <a:r>
              <a:rPr lang="en-US" dirty="0"/>
              <a:t>E.g. banks loan based on credit score category, not number.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F0B60CC-D522-2F05-C079-593D7C093D34}"/>
              </a:ext>
            </a:extLst>
          </p:cNvPr>
          <p:cNvGrpSpPr/>
          <p:nvPr/>
        </p:nvGrpSpPr>
        <p:grpSpPr>
          <a:xfrm>
            <a:off x="8476754" y="1391655"/>
            <a:ext cx="3715246" cy="5237942"/>
            <a:chOff x="8476754" y="1879797"/>
            <a:chExt cx="2578100" cy="4749800"/>
          </a:xfrm>
        </p:grpSpPr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4E91A236-90F3-FE8D-7C0A-491297D2AA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76754" y="4254697"/>
              <a:ext cx="2578100" cy="2374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4" name="Picture 4">
              <a:extLst>
                <a:ext uri="{FF2B5EF4-FFF2-40B4-BE49-F238E27FC236}">
                  <a16:creationId xmlns:a16="http://schemas.microsoft.com/office/drawing/2014/main" id="{0FCC8E8F-A5DB-3388-BE7C-E60AE61CA5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76754" y="1879797"/>
              <a:ext cx="2578100" cy="2374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66965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38186-2CBD-98A2-3B7D-93228D36D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First, OLTP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65C50-5617-54C3-6027-74873A31F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1660" y="1853754"/>
            <a:ext cx="4750340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OLAP is contrasted to online transaction processing. </a:t>
            </a:r>
          </a:p>
          <a:p>
            <a:r>
              <a:rPr lang="en-US" dirty="0"/>
              <a:t>OLTP is what is happing to live data. </a:t>
            </a:r>
          </a:p>
          <a:p>
            <a:pPr lvl="1"/>
            <a:r>
              <a:rPr lang="en-US" dirty="0"/>
              <a:t>We sell something, that creates info in db. </a:t>
            </a:r>
          </a:p>
          <a:p>
            <a:r>
              <a:rPr lang="en-US" dirty="0"/>
              <a:t>OLTP generates data into </a:t>
            </a:r>
            <a:r>
              <a:rPr lang="en-US" dirty="0" err="1"/>
              <a:t>db</a:t>
            </a:r>
            <a:r>
              <a:rPr lang="en-US" dirty="0"/>
              <a:t>, OLAP gets it out to analyze. </a:t>
            </a:r>
          </a:p>
          <a:p>
            <a:r>
              <a:rPr lang="en-US" dirty="0"/>
              <a:t>Normalized – separate tables for speed.</a:t>
            </a:r>
          </a:p>
          <a:p>
            <a:r>
              <a:rPr lang="en-US" dirty="0"/>
              <a:t>Denormalized – combined for analysis.</a:t>
            </a:r>
          </a:p>
          <a:p>
            <a:pPr lvl="1"/>
            <a:r>
              <a:rPr lang="en-US" dirty="0"/>
              <a:t>What we normally get in tableau. </a:t>
            </a:r>
          </a:p>
          <a:p>
            <a:pPr lvl="1"/>
            <a:r>
              <a:rPr lang="en-US" dirty="0"/>
              <a:t>Info from many sources. </a:t>
            </a:r>
          </a:p>
        </p:txBody>
      </p:sp>
      <p:pic>
        <p:nvPicPr>
          <p:cNvPr id="3074" name="Picture 2" descr="Transactional vs. Analytical: A Deep Dive into OLTP and OLAP for Data  Professionals | by Henry | Data Engineer Things">
            <a:extLst>
              <a:ext uri="{FF2B5EF4-FFF2-40B4-BE49-F238E27FC236}">
                <a16:creationId xmlns:a16="http://schemas.microsoft.com/office/drawing/2014/main" id="{B72EB68A-DBAA-62A4-5208-F0CCDB778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853754"/>
            <a:ext cx="7466181" cy="4199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36688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7D3503-E97F-3A92-F151-C11F20F87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C6D3E1-0C03-6C48-8A11-52A5A4223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 descr="Enterprise data warehouse: From raw data to unified analytics - N-iX">
            <a:extLst>
              <a:ext uri="{FF2B5EF4-FFF2-40B4-BE49-F238E27FC236}">
                <a16:creationId xmlns:a16="http://schemas.microsoft.com/office/drawing/2014/main" id="{B5BF6C22-70E9-E1D6-45AA-4DB3F90BE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174" y="68264"/>
            <a:ext cx="10244084" cy="6228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47584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CCCA2-46A8-1E45-7F56-BE97770B9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D3114-F500-95F9-58EE-1DD7387AD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What is OLAP? An overview of Online Analytical Processing">
            <a:extLst>
              <a:ext uri="{FF2B5EF4-FFF2-40B4-BE49-F238E27FC236}">
                <a16:creationId xmlns:a16="http://schemas.microsoft.com/office/drawing/2014/main" id="{1CEA0AEA-05DE-3D3F-E113-6AC4E480D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1925"/>
            <a:ext cx="1143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76182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EE217C-6473-0207-7288-B44952E9F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OLAP and Tableau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2BD411-643E-3836-BFD9-93EFD0FEC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Tableau is doing these operations behind the scenes to our data:</a:t>
            </a:r>
          </a:p>
          <a:p>
            <a:pPr lvl="1"/>
            <a:r>
              <a:rPr lang="en-US" dirty="0"/>
              <a:t>Slicing/dicing – filtering data to use.</a:t>
            </a:r>
          </a:p>
          <a:p>
            <a:pPr lvl="1"/>
            <a:r>
              <a:rPr lang="en-US" dirty="0"/>
              <a:t>Aggregating/disaggregating – drilling down to details and rolling up for summaries. </a:t>
            </a:r>
          </a:p>
          <a:p>
            <a:pPr lvl="1"/>
            <a:r>
              <a:rPr lang="en-US" dirty="0"/>
              <a:t>Pivot – grouping the data (usually by categorical var)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0006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C9AD1-BDCC-CCE2-94C4-A1119C6AC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Slice/Dice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ACC5DF-58D0-C936-9D74-9AA81D11A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Online Analytical Processing (OLAP) Explanied">
            <a:extLst>
              <a:ext uri="{FF2B5EF4-FFF2-40B4-BE49-F238E27FC236}">
                <a16:creationId xmlns:a16="http://schemas.microsoft.com/office/drawing/2014/main" id="{98CA48FE-1F13-77F9-749A-BC21F2557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406" y="1417638"/>
            <a:ext cx="3913188" cy="544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05216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F3EA3-88C6-F085-D1BD-FC97E46CA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Roll-Up/Drill-Down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4C5169-4F81-6EDA-6283-E8DD4EB26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Online Analytical Processing (OLAP) Explanied">
            <a:extLst>
              <a:ext uri="{FF2B5EF4-FFF2-40B4-BE49-F238E27FC236}">
                <a16:creationId xmlns:a16="http://schemas.microsoft.com/office/drawing/2014/main" id="{5F2075C5-8610-8C70-2B08-94E4172BE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2075" y="1476178"/>
            <a:ext cx="6927850" cy="5381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87003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6359B-02F9-99BD-39B1-CDB75333D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Pivot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C7FA4-E171-6809-4AFA-FC330BBF7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Pivot operation turning the dimensions of a single table">
            <a:extLst>
              <a:ext uri="{FF2B5EF4-FFF2-40B4-BE49-F238E27FC236}">
                <a16:creationId xmlns:a16="http://schemas.microsoft.com/office/drawing/2014/main" id="{44A54AAD-64C9-EC07-FC19-AB9DC05BF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2146" y="1143000"/>
            <a:ext cx="4947708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08692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4E97-9389-A42C-73DE-19E7F8FC2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Pivot (Most often – horizontal years)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6C31A-8B1B-287A-0A0E-F0B69DE2C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Pivot Data from Columns to Rows - Tableau">
            <a:extLst>
              <a:ext uri="{FF2B5EF4-FFF2-40B4-BE49-F238E27FC236}">
                <a16:creationId xmlns:a16="http://schemas.microsoft.com/office/drawing/2014/main" id="{0A3C8FCB-9F84-FEAC-216E-4B7CB732A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070" y="1758950"/>
            <a:ext cx="10613860" cy="4294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96423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591FDE-73D4-6039-8B49-576F2DC09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Data Manipulation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CB0B78-C232-54BC-5340-67C2E47AA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1853754"/>
            <a:ext cx="5238550" cy="4199727"/>
          </a:xfrm>
        </p:spPr>
        <p:txBody>
          <a:bodyPr>
            <a:normAutofit/>
          </a:bodyPr>
          <a:lstStyle/>
          <a:p>
            <a:r>
              <a:rPr lang="en-US" sz="2400" dirty="0"/>
              <a:t>Each time we move things around in Tableau, this is what happens to data. </a:t>
            </a:r>
          </a:p>
          <a:p>
            <a:r>
              <a:rPr lang="en-US" sz="2400" dirty="0"/>
              <a:t>Process:</a:t>
            </a:r>
          </a:p>
          <a:p>
            <a:pPr lvl="1"/>
            <a:r>
              <a:rPr lang="en-US" sz="2000" dirty="0"/>
              <a:t>What fields do we need (slice). </a:t>
            </a:r>
          </a:p>
          <a:p>
            <a:pPr lvl="1"/>
            <a:r>
              <a:rPr lang="en-US" sz="2000" dirty="0"/>
              <a:t>How should it be organized (pivot). </a:t>
            </a:r>
          </a:p>
          <a:p>
            <a:pPr lvl="1"/>
            <a:r>
              <a:rPr lang="en-US" sz="2000" dirty="0"/>
              <a:t>At what level of detail should we see it (drill/roll). </a:t>
            </a:r>
          </a:p>
          <a:p>
            <a:pPr lvl="1"/>
            <a:r>
              <a:rPr lang="en-US" sz="2000" dirty="0"/>
              <a:t>What visualization style shows this result. </a:t>
            </a:r>
          </a:p>
        </p:txBody>
      </p:sp>
      <p:pic>
        <p:nvPicPr>
          <p:cNvPr id="2050" name="Picture 2" descr="Visual Online Analytical Processing (OLAP) | SpringerLink">
            <a:extLst>
              <a:ext uri="{FF2B5EF4-FFF2-40B4-BE49-F238E27FC236}">
                <a16:creationId xmlns:a16="http://schemas.microsoft.com/office/drawing/2014/main" id="{75227417-0269-396F-F125-BDC5448C5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69553" y="8423"/>
            <a:ext cx="4709084" cy="6849577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2748971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OLAP Cubes and Multidimensional Modeling with SQL Server Analysis Services  - DEV Community">
            <a:extLst>
              <a:ext uri="{FF2B5EF4-FFF2-40B4-BE49-F238E27FC236}">
                <a16:creationId xmlns:a16="http://schemas.microsoft.com/office/drawing/2014/main" id="{5B6B77D5-2229-07FA-2481-CC7884E4A0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00"/>
          <a:stretch>
            <a:fillRect/>
          </a:stretch>
        </p:blipFill>
        <p:spPr bwMode="auto">
          <a:xfrm>
            <a:off x="458821" y="2071991"/>
            <a:ext cx="11274357" cy="3028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85258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8FC8A3-A688-7BA4-7996-BDD0D6955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AF929ED-99BF-6E40-6FF1-91B535395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What is a Data Cube in Data Mining? - Scaler Topics">
            <a:extLst>
              <a:ext uri="{FF2B5EF4-FFF2-40B4-BE49-F238E27FC236}">
                <a16:creationId xmlns:a16="http://schemas.microsoft.com/office/drawing/2014/main" id="{750630A7-884F-2A2E-9C2E-B56D2D9D3B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3" t="9322" r="5000" b="28960"/>
          <a:stretch/>
        </p:blipFill>
        <p:spPr bwMode="auto">
          <a:xfrm>
            <a:off x="2057400" y="1219201"/>
            <a:ext cx="81534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04699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descr="The beginner's guide to OLAP modeling and modeling concepts">
            <a:hlinkClick r:id="" action="ppaction://media"/>
            <a:extLst>
              <a:ext uri="{FF2B5EF4-FFF2-40B4-BE49-F238E27FC236}">
                <a16:creationId xmlns:a16="http://schemas.microsoft.com/office/drawing/2014/main" id="{585B86DD-3481-5805-1C5E-6DF838B12877}"/>
              </a:ext>
            </a:extLst>
          </p:cNvPr>
          <p:cNvPicPr>
            <a:picLocks noGrp="1" noRot="1" noChangeAspect="1"/>
          </p:cNvPicPr>
          <p:nvPr>
            <p:ph idx="4294967295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8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997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9C904-222F-9A88-B0CB-F4D46990B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these Amounts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34D2D-D54E-71F7-09A5-24F1DFC9C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Chapter 6 shows some detail on visualizing amounts. </a:t>
            </a:r>
          </a:p>
          <a:p>
            <a:pPr lvl="1"/>
            <a:r>
              <a:rPr lang="en-US" dirty="0"/>
              <a:t>Overall it is pretty simple, bar-</a:t>
            </a:r>
            <a:r>
              <a:rPr lang="en-US" dirty="0" err="1"/>
              <a:t>ish</a:t>
            </a:r>
            <a:r>
              <a:rPr lang="en-US" dirty="0"/>
              <a:t> types of charts. </a:t>
            </a:r>
          </a:p>
          <a:p>
            <a:r>
              <a:rPr lang="en-US" dirty="0"/>
              <a:t>Some things to consider:</a:t>
            </a:r>
          </a:p>
          <a:p>
            <a:pPr lvl="1"/>
            <a:r>
              <a:rPr lang="en-US" dirty="0"/>
              <a:t>Level of detail needed – do we need a number, readable point, or is a color good enough?</a:t>
            </a:r>
          </a:p>
          <a:p>
            <a:pPr lvl="1"/>
            <a:r>
              <a:rPr lang="en-US" dirty="0"/>
              <a:t>Type of mark – think about options, especially with long bars. Where is the eye directed?</a:t>
            </a:r>
          </a:p>
          <a:p>
            <a:pPr lvl="1"/>
            <a:r>
              <a:rPr lang="en-US" dirty="0"/>
              <a:t>Grouped bars – what order of grouping makes sense, how does it read?</a:t>
            </a:r>
          </a:p>
          <a:p>
            <a:pPr lvl="1"/>
            <a:r>
              <a:rPr lang="en-US" dirty="0"/>
              <a:t>Density of data – color can represent another dimension, or it can reinforce. </a:t>
            </a:r>
          </a:p>
          <a:p>
            <a:r>
              <a:rPr lang="en-US" dirty="0"/>
              <a:t>If we are showing an amount, what allows that to be read. </a:t>
            </a:r>
          </a:p>
          <a:p>
            <a:r>
              <a:rPr lang="en-US" dirty="0"/>
              <a:t>If we are showing a comparison, what type of comparison, and how can we see it.  </a:t>
            </a:r>
          </a:p>
        </p:txBody>
      </p:sp>
    </p:spTree>
    <p:extLst>
      <p:ext uri="{BB962C8B-B14F-4D97-AF65-F5344CB8AC3E}">
        <p14:creationId xmlns:p14="http://schemas.microsoft.com/office/powerpoint/2010/main" val="29446516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9E22B-1628-85D8-7E7B-6768A8607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Tableau Aggregation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17B8E-DA47-66DD-82AC-7C2142632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same concepts work in Tableau. </a:t>
            </a:r>
          </a:p>
          <a:p>
            <a:pPr lvl="1"/>
            <a:r>
              <a:rPr lang="en-US" dirty="0"/>
              <a:t>When we add data we can connect tables together. </a:t>
            </a:r>
          </a:p>
          <a:p>
            <a:pPr lvl="1"/>
            <a:r>
              <a:rPr lang="en-US" dirty="0"/>
              <a:t>We select variables and create ourselves an </a:t>
            </a:r>
            <a:r>
              <a:rPr lang="en-US" dirty="0" err="1"/>
              <a:t>olap</a:t>
            </a:r>
            <a:r>
              <a:rPr lang="en-US" dirty="0"/>
              <a:t> cube of data. </a:t>
            </a:r>
          </a:p>
          <a:p>
            <a:pPr lvl="1"/>
            <a:r>
              <a:rPr lang="en-US" dirty="0"/>
              <a:t>When using data we slice/group all data by dimensions*, then aggregate or calculate some value for each different value in that dimension. </a:t>
            </a:r>
          </a:p>
          <a:p>
            <a:pPr lvl="1"/>
            <a:r>
              <a:rPr lang="en-US" dirty="0"/>
              <a:t>We use measures and dimensions to ‘control’ mark attributes (color, size, </a:t>
            </a:r>
            <a:r>
              <a:rPr lang="en-US" dirty="0" err="1"/>
              <a:t>etc</a:t>
            </a:r>
            <a:r>
              <a:rPr lang="en-US" dirty="0"/>
              <a:t>…). </a:t>
            </a:r>
          </a:p>
          <a:p>
            <a:r>
              <a:rPr lang="en-US" dirty="0"/>
              <a:t>This makes managing data and getting correct answers much easier in practice.</a:t>
            </a:r>
          </a:p>
        </p:txBody>
      </p:sp>
    </p:spTree>
    <p:extLst>
      <p:ext uri="{BB962C8B-B14F-4D97-AF65-F5344CB8AC3E}">
        <p14:creationId xmlns:p14="http://schemas.microsoft.com/office/powerpoint/2010/main" val="39099320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4F43-58AC-03B9-7F16-03472010C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 Tableau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4A9DE-31AD-8793-0111-BFD3C0A88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4558" y="1853754"/>
            <a:ext cx="5797442" cy="4199727"/>
          </a:xfrm>
        </p:spPr>
        <p:txBody>
          <a:bodyPr/>
          <a:lstStyle/>
          <a:p>
            <a:r>
              <a:rPr lang="en-US" dirty="0"/>
              <a:t>By default, all data is included in the results. </a:t>
            </a:r>
          </a:p>
          <a:p>
            <a:pPr lvl="1"/>
            <a:r>
              <a:rPr lang="en-US" dirty="0"/>
              <a:t>If we add value, the mark will reflect all data in sheet.</a:t>
            </a:r>
          </a:p>
          <a:p>
            <a:pPr lvl="1"/>
            <a:r>
              <a:rPr lang="en-US" dirty="0"/>
              <a:t>We get an aggregation for all measures by default. </a:t>
            </a:r>
          </a:p>
          <a:p>
            <a:pPr lvl="1"/>
            <a:r>
              <a:rPr lang="en-US" dirty="0"/>
              <a:t>We get an empty group for dimensions (</a:t>
            </a:r>
            <a:r>
              <a:rPr lang="en-US" dirty="0" err="1"/>
              <a:t>abc’s</a:t>
            </a:r>
            <a:r>
              <a:rPr lang="en-US" dirty="0"/>
              <a:t>). </a:t>
            </a:r>
          </a:p>
          <a:p>
            <a:r>
              <a:rPr lang="en-US" dirty="0"/>
              <a:t>Each dimension in the shelf slices and/or dices data. </a:t>
            </a:r>
          </a:p>
          <a:p>
            <a:pPr lvl="1"/>
            <a:r>
              <a:rPr lang="en-US" dirty="0"/>
              <a:t>Instead of all data being in one (or some) mark, we split that data into smaller groups, then calculate. </a:t>
            </a:r>
          </a:p>
          <a:p>
            <a:pPr lvl="1"/>
            <a:r>
              <a:rPr lang="en-US" dirty="0"/>
              <a:t>These can be layered, or perpendicular (dice). </a:t>
            </a:r>
          </a:p>
          <a:p>
            <a:pPr lvl="1"/>
            <a:r>
              <a:rPr lang="en-US" dirty="0"/>
              <a:t>Each value in the dimension gets it own </a:t>
            </a:r>
            <a:r>
              <a:rPr lang="en-US" dirty="0" err="1"/>
              <a:t>agg</a:t>
            </a:r>
            <a:r>
              <a:rPr lang="en-US" dirty="0"/>
              <a:t>.</a:t>
            </a:r>
          </a:p>
          <a:p>
            <a:r>
              <a:rPr lang="en-US" dirty="0"/>
              <a:t>Filter is same idea, but removing data. </a:t>
            </a:r>
          </a:p>
        </p:txBody>
      </p:sp>
      <p:pic>
        <p:nvPicPr>
          <p:cNvPr id="4" name="Picture 2" descr="OLAP Cubes and Multidimensional Modeling with SQL Server Analysis Services  - DEV Community">
            <a:extLst>
              <a:ext uri="{FF2B5EF4-FFF2-40B4-BE49-F238E27FC236}">
                <a16:creationId xmlns:a16="http://schemas.microsoft.com/office/drawing/2014/main" id="{D550FA92-B9ED-4A14-C964-E4B052A928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00" r="40977"/>
          <a:stretch>
            <a:fillRect/>
          </a:stretch>
        </p:blipFill>
        <p:spPr bwMode="auto">
          <a:xfrm>
            <a:off x="0" y="2094294"/>
            <a:ext cx="6394558" cy="2909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7951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496F2-EA31-48CC-C09B-F85388F64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Tableau – Aggregate and slice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1BE88-7DFB-04A1-5FB0-18A8B3FA1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228D45-C7A6-D07F-BF53-0B34DB92C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1878"/>
            <a:ext cx="5498275" cy="39579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8DAE03-1CB3-A468-8B88-4CF3EFE520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684"/>
          <a:stretch>
            <a:fillRect/>
          </a:stretch>
        </p:blipFill>
        <p:spPr>
          <a:xfrm>
            <a:off x="5633711" y="1987691"/>
            <a:ext cx="6554339" cy="371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6834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C6B67-323E-E1D1-241D-1F25DC089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 and Mark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8C9E7-603F-444D-69B1-415ADEDDD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EA3D5F-991B-A28B-6FCB-F4B0A4A28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8384" y="2139707"/>
            <a:ext cx="6451600" cy="3022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EDADD1-F220-4A6F-E08D-D84098A2F0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956"/>
          <a:stretch>
            <a:fillRect/>
          </a:stretch>
        </p:blipFill>
        <p:spPr>
          <a:xfrm>
            <a:off x="6896842" y="2155938"/>
            <a:ext cx="5295158" cy="28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3128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0118C-3E40-F489-0003-AE2BCC3A4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you need to make something…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D8A20-6608-2ED6-04DD-25C77CC40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967270" cy="4290567"/>
          </a:xfrm>
        </p:spPr>
        <p:txBody>
          <a:bodyPr/>
          <a:lstStyle/>
          <a:p>
            <a:r>
              <a:rPr lang="en-US" dirty="0"/>
              <a:t>Which values do I need to do this? How to slice/dice, what to filter, what to </a:t>
            </a:r>
            <a:r>
              <a:rPr lang="en-US" dirty="0" err="1"/>
              <a:t>agg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Check for dimension/measure at this point, you may have to adj, especially dates. </a:t>
            </a:r>
          </a:p>
          <a:p>
            <a:r>
              <a:rPr lang="en-US" dirty="0"/>
              <a:t>How should my answer be calculated, or ”what do I want </a:t>
            </a:r>
            <a:r>
              <a:rPr lang="en-US" i="1" dirty="0"/>
              <a:t>per</a:t>
            </a:r>
            <a:r>
              <a:rPr lang="en-US" dirty="0"/>
              <a:t>?”</a:t>
            </a:r>
          </a:p>
          <a:p>
            <a:pPr lvl="1"/>
            <a:r>
              <a:rPr lang="en-US" dirty="0"/>
              <a:t>What are we calculating, usually an aggregation (count, average, </a:t>
            </a:r>
            <a:r>
              <a:rPr lang="en-US" dirty="0" err="1"/>
              <a:t>etc</a:t>
            </a:r>
            <a:r>
              <a:rPr lang="en-US" dirty="0"/>
              <a:t>…)</a:t>
            </a:r>
          </a:p>
          <a:p>
            <a:pPr lvl="1"/>
            <a:r>
              <a:rPr lang="en-US" dirty="0"/>
              <a:t>What are we calculating that </a:t>
            </a:r>
            <a:r>
              <a:rPr lang="en-US" i="1" dirty="0"/>
              <a:t>per</a:t>
            </a:r>
            <a:r>
              <a:rPr lang="en-US" dirty="0"/>
              <a:t>? Per country, per year, per country-year, per reg.-country-year…</a:t>
            </a:r>
          </a:p>
          <a:p>
            <a:pPr lvl="1"/>
            <a:r>
              <a:rPr lang="en-US" dirty="0"/>
              <a:t>You need to be really specific, especially if more than one dim, or date. </a:t>
            </a:r>
          </a:p>
          <a:p>
            <a:pPr lvl="1"/>
            <a:r>
              <a:rPr lang="en-US" dirty="0"/>
              <a:t>Listing it off will* list every dimension used in the chart. </a:t>
            </a:r>
          </a:p>
          <a:p>
            <a:pPr lvl="1"/>
            <a:r>
              <a:rPr lang="en-US" dirty="0"/>
              <a:t>Not being specific here is one of the largest single mistakes that people make. </a:t>
            </a:r>
          </a:p>
          <a:p>
            <a:r>
              <a:rPr lang="en-US" dirty="0"/>
              <a:t>How do I present the data – chart type, location of dims, mark style,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We can try different things to communicate the info we just decided on (vis. Voc.). </a:t>
            </a:r>
          </a:p>
        </p:txBody>
      </p:sp>
    </p:spTree>
    <p:extLst>
      <p:ext uri="{BB962C8B-B14F-4D97-AF65-F5344CB8AC3E}">
        <p14:creationId xmlns:p14="http://schemas.microsoft.com/office/powerpoint/2010/main" val="29664492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17135-D2C6-F2EF-EB3D-344695323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boring, but it always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A909E-668E-57E9-69A7-24E8BBEDA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Every single question or visualization you ever need to make can be “answered” with this.</a:t>
            </a:r>
          </a:p>
          <a:p>
            <a:r>
              <a:rPr lang="en-US" dirty="0"/>
              <a:t>It does require that you be very specific. </a:t>
            </a:r>
          </a:p>
          <a:p>
            <a:pPr lvl="1"/>
            <a:r>
              <a:rPr lang="en-US" dirty="0"/>
              <a:t>More than most people are used to. </a:t>
            </a:r>
          </a:p>
          <a:p>
            <a:pPr lvl="1"/>
            <a:r>
              <a:rPr lang="en-US" dirty="0"/>
              <a:t>You can’t leave any context unsaid, or anything unspecified, you need to be exact. </a:t>
            </a:r>
          </a:p>
          <a:p>
            <a:r>
              <a:rPr lang="en-US" dirty="0"/>
              <a:t>Don’t worry about visualizations until the “what exactly am I showing” is sorted. </a:t>
            </a:r>
          </a:p>
          <a:p>
            <a:pPr lvl="1"/>
            <a:r>
              <a:rPr lang="en-US" dirty="0"/>
              <a:t>The two are independent. </a:t>
            </a:r>
          </a:p>
        </p:txBody>
      </p:sp>
    </p:spTree>
    <p:extLst>
      <p:ext uri="{BB962C8B-B14F-4D97-AF65-F5344CB8AC3E}">
        <p14:creationId xmlns:p14="http://schemas.microsoft.com/office/powerpoint/2010/main" val="38798315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B7BE1-4CFA-B834-48F0-0791BF6B3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9B720-17ED-FE7B-D8F8-39F25BB96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Being able to think about manipulating and segmenting data makes things way easier. </a:t>
            </a:r>
          </a:p>
          <a:p>
            <a:pPr lvl="1"/>
            <a:r>
              <a:rPr lang="en-US" dirty="0"/>
              <a:t>It takes practice since it isn’t really intuitive to most. </a:t>
            </a:r>
          </a:p>
          <a:p>
            <a:r>
              <a:rPr lang="en-US" dirty="0"/>
              <a:t>Focus on identifying exactly what you need, in detail:</a:t>
            </a:r>
          </a:p>
          <a:p>
            <a:pPr lvl="1"/>
            <a:r>
              <a:rPr lang="en-US" dirty="0"/>
              <a:t>What specifically am I calculating? </a:t>
            </a:r>
          </a:p>
          <a:p>
            <a:pPr lvl="1"/>
            <a:r>
              <a:rPr lang="en-US" dirty="0"/>
              <a:t>What is that calculated ‘per’? This will tell you how the data needs to be organized. </a:t>
            </a:r>
          </a:p>
          <a:p>
            <a:pPr lvl="1"/>
            <a:r>
              <a:rPr lang="en-US" dirty="0"/>
              <a:t>What is included/excluded?</a:t>
            </a:r>
          </a:p>
          <a:p>
            <a:pPr lvl="1"/>
            <a:r>
              <a:rPr lang="en-US" dirty="0"/>
              <a:t>The above three things will list out the variables you need to use. </a:t>
            </a:r>
          </a:p>
          <a:p>
            <a:r>
              <a:rPr lang="en-US" dirty="0"/>
              <a:t>After the small example, there’s practice questions for y’all. </a:t>
            </a:r>
          </a:p>
          <a:p>
            <a:pPr lvl="1"/>
            <a:r>
              <a:rPr lang="en-US" dirty="0"/>
              <a:t>These are similar (though easier) to the upcoming quiz, it is good to practice. </a:t>
            </a:r>
          </a:p>
        </p:txBody>
      </p:sp>
    </p:spTree>
    <p:extLst>
      <p:ext uri="{BB962C8B-B14F-4D97-AF65-F5344CB8AC3E}">
        <p14:creationId xmlns:p14="http://schemas.microsoft.com/office/powerpoint/2010/main" val="336973301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5899</TotalTime>
  <Words>2477</Words>
  <Application>Microsoft Macintosh PowerPoint</Application>
  <PresentationFormat>Widescreen</PresentationFormat>
  <Paragraphs>218</Paragraphs>
  <Slides>44</Slides>
  <Notes>7</Notes>
  <HiddenSlides>5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Aptos</vt:lpstr>
      <vt:lpstr>Arial</vt:lpstr>
      <vt:lpstr>Gill Sans MT</vt:lpstr>
      <vt:lpstr>Gallery</vt:lpstr>
      <vt:lpstr>Housekeeping</vt:lpstr>
      <vt:lpstr>Data Manipulation and OLAP</vt:lpstr>
      <vt:lpstr>Introductory Case: Retail Customer Data</vt:lpstr>
      <vt:lpstr>Data, you love it!</vt:lpstr>
      <vt:lpstr>Data Management</vt:lpstr>
      <vt:lpstr>Data Management</vt:lpstr>
      <vt:lpstr>Data management</vt:lpstr>
      <vt:lpstr>Wait, I’m an analyst? Probably. </vt:lpstr>
      <vt:lpstr>What do DS do? </vt:lpstr>
      <vt:lpstr>What do DS Like? </vt:lpstr>
      <vt:lpstr>Data Management</vt:lpstr>
      <vt:lpstr>Data Management</vt:lpstr>
      <vt:lpstr>Remember the Database</vt:lpstr>
      <vt:lpstr>Database, Datasheet, and Tableau</vt:lpstr>
      <vt:lpstr>Database Tables</vt:lpstr>
      <vt:lpstr>Real DBs</vt:lpstr>
      <vt:lpstr>Why do we do this?</vt:lpstr>
      <vt:lpstr>PowerPoint Presentation</vt:lpstr>
      <vt:lpstr>Dimensionality</vt:lpstr>
      <vt:lpstr>PowerPoint Presentation</vt:lpstr>
      <vt:lpstr>Manipulating Dimensions - OLAP</vt:lpstr>
      <vt:lpstr>PowerPoint Presentation</vt:lpstr>
      <vt:lpstr>Discreet vs Continuous in Tableau</vt:lpstr>
      <vt:lpstr>Translation between Discreet/continuous</vt:lpstr>
      <vt:lpstr>But First, OLTP</vt:lpstr>
      <vt:lpstr>PowerPoint Presentation</vt:lpstr>
      <vt:lpstr>PowerPoint Presentation</vt:lpstr>
      <vt:lpstr>OLAP and Tableau</vt:lpstr>
      <vt:lpstr>Slice/Dice</vt:lpstr>
      <vt:lpstr>Roll-Up/Drill-Down</vt:lpstr>
      <vt:lpstr>Pivot</vt:lpstr>
      <vt:lpstr>Pivot (Most often – horizontal years)</vt:lpstr>
      <vt:lpstr>Data Manipulation</vt:lpstr>
      <vt:lpstr>PowerPoint Presentation</vt:lpstr>
      <vt:lpstr>PowerPoint Presentation</vt:lpstr>
      <vt:lpstr>PowerPoint Presentation</vt:lpstr>
      <vt:lpstr>Visualizing these Amounts</vt:lpstr>
      <vt:lpstr>Tableau Aggregation</vt:lpstr>
      <vt:lpstr>Data in Tableau</vt:lpstr>
      <vt:lpstr>In Tableau – Aggregate and slice</vt:lpstr>
      <vt:lpstr>Filter and Mark attributes</vt:lpstr>
      <vt:lpstr>If you need to make something…</vt:lpstr>
      <vt:lpstr>This is boring, but it always works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Akeem Semper</dc:creator>
  <cp:lastModifiedBy>Akeem Semper</cp:lastModifiedBy>
  <cp:revision>25</cp:revision>
  <dcterms:created xsi:type="dcterms:W3CDTF">2025-09-17T16:27:24Z</dcterms:created>
  <dcterms:modified xsi:type="dcterms:W3CDTF">2026-09-21T16:59:42Z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2025-09-17T16:40:35Z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199ef342-7958-4fd7-aea5-da554fc6b18b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