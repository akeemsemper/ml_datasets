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8" r:id="rId2"/>
    <p:sldId id="288" r:id="rId3"/>
    <p:sldId id="289" r:id="rId4"/>
    <p:sldId id="259" r:id="rId5"/>
    <p:sldId id="266" r:id="rId6"/>
    <p:sldId id="260" r:id="rId7"/>
    <p:sldId id="267" r:id="rId8"/>
    <p:sldId id="261" r:id="rId9"/>
    <p:sldId id="268" r:id="rId10"/>
    <p:sldId id="269" r:id="rId11"/>
    <p:sldId id="290" r:id="rId12"/>
    <p:sldId id="283" r:id="rId13"/>
    <p:sldId id="256" r:id="rId14"/>
    <p:sldId id="257" r:id="rId15"/>
    <p:sldId id="273" r:id="rId16"/>
    <p:sldId id="262" r:id="rId17"/>
    <p:sldId id="272" r:id="rId18"/>
    <p:sldId id="274" r:id="rId19"/>
    <p:sldId id="275" r:id="rId20"/>
    <p:sldId id="279" r:id="rId21"/>
    <p:sldId id="284" r:id="rId22"/>
    <p:sldId id="277" r:id="rId23"/>
    <p:sldId id="285" r:id="rId24"/>
    <p:sldId id="263" r:id="rId25"/>
    <p:sldId id="264" r:id="rId26"/>
    <p:sldId id="286" r:id="rId27"/>
    <p:sldId id="287" r:id="rId28"/>
    <p:sldId id="280" r:id="rId29"/>
    <p:sldId id="281" r:id="rId30"/>
    <p:sldId id="282" r:id="rId31"/>
    <p:sldId id="276" r:id="rId32"/>
    <p:sldId id="265" r:id="rId33"/>
    <p:sldId id="270" r:id="rId34"/>
    <p:sldId id="27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7E4E843-52D9-6C48-912F-91CBA09DF476}">
          <p14:sldIdLst>
            <p14:sldId id="278"/>
            <p14:sldId id="288"/>
          </p14:sldIdLst>
        </p14:section>
        <p14:section name="Dsicreet vs Cont" id="{62C3E9BB-2137-A341-946F-90C685FE6CB9}">
          <p14:sldIdLst>
            <p14:sldId id="289"/>
            <p14:sldId id="259"/>
            <p14:sldId id="266"/>
            <p14:sldId id="260"/>
            <p14:sldId id="267"/>
            <p14:sldId id="261"/>
          </p14:sldIdLst>
        </p14:section>
        <p14:section name="Aggregation and Grouping" id="{A01DAF61-14FD-4E44-A6FC-D2344093429F}">
          <p14:sldIdLst>
            <p14:sldId id="268"/>
            <p14:sldId id="269"/>
            <p14:sldId id="290"/>
            <p14:sldId id="283"/>
          </p14:sldIdLst>
        </p14:section>
        <p14:section name="Color" id="{33EE15B0-197A-A547-9446-BEE00BE7CF31}">
          <p14:sldIdLst>
            <p14:sldId id="256"/>
            <p14:sldId id="257"/>
            <p14:sldId id="273"/>
            <p14:sldId id="262"/>
            <p14:sldId id="272"/>
            <p14:sldId id="274"/>
            <p14:sldId id="275"/>
            <p14:sldId id="279"/>
            <p14:sldId id="284"/>
          </p14:sldIdLst>
        </p14:section>
        <p14:section name="Map Types" id="{D630A8AD-C3BA-F848-B371-06EE1B11B436}">
          <p14:sldIdLst>
            <p14:sldId id="277"/>
            <p14:sldId id="285"/>
            <p14:sldId id="263"/>
            <p14:sldId id="264"/>
            <p14:sldId id="286"/>
            <p14:sldId id="287"/>
            <p14:sldId id="280"/>
            <p14:sldId id="281"/>
            <p14:sldId id="282"/>
            <p14:sldId id="276"/>
          </p14:sldIdLst>
        </p14:section>
        <p14:section name="Concerns and Conclusion" id="{283CF228-B687-8143-B113-7134AD74792E}">
          <p14:sldIdLst>
            <p14:sldId id="265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/>
    <p:restoredTop sz="94726"/>
  </p:normalViewPr>
  <p:slideViewPr>
    <p:cSldViewPr snapToGrid="0">
      <p:cViewPr varScale="1">
        <p:scale>
          <a:sx n="120" d="100"/>
          <a:sy n="120" d="100"/>
        </p:scale>
        <p:origin x="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92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666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015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683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493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88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2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992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238F5BA-0AAF-5142-B69C-F1241056CF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89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38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8F5BA-0AAF-5142-B69C-F1241056CF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17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8F5BA-0AAF-5142-B69C-F1241056CF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FD5B50A-DFAC-0F44-8D16-9C7E5584050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02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136BA-DBEF-124B-5023-EDA6E5A6B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2A34F-A64E-4542-B798-A80EBEE50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Color (chapter 4 in text). </a:t>
            </a:r>
          </a:p>
          <a:p>
            <a:pPr lvl="2"/>
            <a:r>
              <a:rPr lang="en-US" dirty="0"/>
              <a:t>Map types</a:t>
            </a:r>
          </a:p>
          <a:p>
            <a:pPr lvl="2"/>
            <a:r>
              <a:rPr lang="en-US" dirty="0"/>
              <a:t>Data type review and grouping/aggregation review. </a:t>
            </a:r>
          </a:p>
          <a:p>
            <a:pPr lvl="1"/>
            <a:r>
              <a:rPr lang="en-US" dirty="0"/>
              <a:t>Intro to Maps exercise (Intro to maps zip file in repository). </a:t>
            </a:r>
          </a:p>
          <a:p>
            <a:pPr lvl="2"/>
            <a:r>
              <a:rPr lang="en-US" dirty="0"/>
              <a:t>If anyone wants to try to make an account at </a:t>
            </a:r>
            <a:r>
              <a:rPr lang="en-US" dirty="0" err="1"/>
              <a:t>mapbox.com</a:t>
            </a:r>
            <a:r>
              <a:rPr lang="en-US" dirty="0"/>
              <a:t> and see if it is still possible to make a free account, that’d be amazing and your classmates will love you forever. </a:t>
            </a:r>
          </a:p>
          <a:p>
            <a:r>
              <a:rPr lang="en-US" dirty="0"/>
              <a:t>If lots of time, we’ll look at Gestalt’s Principles. </a:t>
            </a:r>
          </a:p>
          <a:p>
            <a:r>
              <a:rPr lang="en-US" dirty="0"/>
              <a:t>Ask questions if you have anything that is not </a:t>
            </a:r>
            <a:r>
              <a:rPr lang="en-US"/>
              <a:t>clear for assignment.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638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49567-D4DD-7D91-9AC3-34473FCEA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7B0BB-A059-2C79-2A25-3651715EF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Remember – you need to clearly communicate something useful/interesting. </a:t>
            </a:r>
          </a:p>
          <a:p>
            <a:pPr lvl="1"/>
            <a:r>
              <a:rPr lang="en-US" dirty="0"/>
              <a:t>The main goal is communication, the charts are just the tools. </a:t>
            </a:r>
          </a:p>
          <a:p>
            <a:pPr lvl="1"/>
            <a:r>
              <a:rPr lang="en-US" dirty="0"/>
              <a:t>The number and style of charts you should make depends – what is needed to communicate? </a:t>
            </a:r>
          </a:p>
          <a:p>
            <a:r>
              <a:rPr lang="en-US" dirty="0"/>
              <a:t>You’ll do some peer review in the class after (Monday):</a:t>
            </a:r>
          </a:p>
          <a:p>
            <a:pPr lvl="1"/>
            <a:r>
              <a:rPr lang="en-US" dirty="0"/>
              <a:t>I’ll send a breakdown of the details tomorrow. </a:t>
            </a:r>
          </a:p>
          <a:p>
            <a:pPr lvl="1"/>
            <a:r>
              <a:rPr lang="en-US" dirty="0"/>
              <a:t>Basically, break into group, evaluate the other people’s vis’ via the rubric, provide comments/feedback. </a:t>
            </a:r>
          </a:p>
          <a:p>
            <a:pPr lvl="1"/>
            <a:r>
              <a:rPr lang="en-US" dirty="0"/>
              <a:t>I’ll tally and aggregate the marks for your grade. </a:t>
            </a:r>
          </a:p>
          <a:p>
            <a:pPr lvl="1"/>
            <a:r>
              <a:rPr lang="en-US" dirty="0"/>
              <a:t>If you feel the grade is off, you can appeal and I’ll grade and override (can go up or down). </a:t>
            </a:r>
          </a:p>
          <a:p>
            <a:pPr lvl="1"/>
            <a:r>
              <a:rPr lang="en-US" dirty="0"/>
              <a:t>Participating in doing the reviews is worth 5% (basically a gimmie mark). </a:t>
            </a:r>
          </a:p>
        </p:txBody>
      </p:sp>
    </p:spTree>
    <p:extLst>
      <p:ext uri="{BB962C8B-B14F-4D97-AF65-F5344CB8AC3E}">
        <p14:creationId xmlns:p14="http://schemas.microsoft.com/office/powerpoint/2010/main" val="1187065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C09D-2505-CBAA-02D7-F50E6951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122C3-B581-6F92-1F06-972698AF7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26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F619-84BC-6CE7-FC0D-8356020C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Discreet vs Continuous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8D6FB-D826-0CD3-9D01-FE2C6BFEC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4414"/>
            <a:ext cx="9603275" cy="3993931"/>
          </a:xfrm>
        </p:spPr>
        <p:txBody>
          <a:bodyPr/>
          <a:lstStyle/>
          <a:p>
            <a:r>
              <a:rPr lang="en-US" dirty="0"/>
              <a:t>One key consideration in color is discreet vs continuous data. </a:t>
            </a:r>
          </a:p>
          <a:p>
            <a:pPr lvl="1"/>
            <a:r>
              <a:rPr lang="en-US" dirty="0"/>
              <a:t>Discreet – takes on only certain specific values. </a:t>
            </a:r>
          </a:p>
          <a:p>
            <a:pPr lvl="1"/>
            <a:r>
              <a:rPr lang="en-US" dirty="0"/>
              <a:t>Continuous – takes on any value in a range. </a:t>
            </a:r>
          </a:p>
          <a:p>
            <a:r>
              <a:rPr lang="en-US" dirty="0"/>
              <a:t>This relates to another, slightly broader, division in data:</a:t>
            </a:r>
          </a:p>
          <a:p>
            <a:pPr lvl="1"/>
            <a:r>
              <a:rPr lang="en-US" dirty="0"/>
              <a:t>Categorical – groups, labels, or descriptors. </a:t>
            </a:r>
          </a:p>
          <a:p>
            <a:pPr lvl="1"/>
            <a:r>
              <a:rPr lang="en-US" dirty="0"/>
              <a:t>Numerical – measurements. </a:t>
            </a:r>
          </a:p>
          <a:p>
            <a:r>
              <a:rPr lang="en-US" dirty="0"/>
              <a:t>These aren’t a perfect match (we can have a discreet numerical value) but they are close. </a:t>
            </a:r>
          </a:p>
          <a:p>
            <a:pPr lvl="1"/>
            <a:r>
              <a:rPr lang="en-US" dirty="0"/>
              <a:t>Most commonly – discreet value of a number, like shoe size. </a:t>
            </a:r>
          </a:p>
        </p:txBody>
      </p:sp>
    </p:spTree>
    <p:extLst>
      <p:ext uri="{BB962C8B-B14F-4D97-AF65-F5344CB8AC3E}">
        <p14:creationId xmlns:p14="http://schemas.microsoft.com/office/powerpoint/2010/main" val="71063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3369-F68C-ECB8-198E-6C4F6F64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6EABB-10EB-AD49-B63A-DCEFB02D0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Introduction to Statistics for Data Science — I: | by Karthik | Medium">
            <a:extLst>
              <a:ext uri="{FF2B5EF4-FFF2-40B4-BE49-F238E27FC236}">
                <a16:creationId xmlns:a16="http://schemas.microsoft.com/office/drawing/2014/main" id="{2FAAE0B6-A1DB-343E-A8CC-74EB65EE3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15"/>
          <a:stretch/>
        </p:blipFill>
        <p:spPr bwMode="auto">
          <a:xfrm>
            <a:off x="1005016" y="632533"/>
            <a:ext cx="10181968" cy="6217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75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FF1D9-EE96-2188-3782-3C0F5225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Discreet vs Continuous in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4B082-013F-3E1D-341A-3D0EEC85B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54924"/>
            <a:ext cx="9603275" cy="3962400"/>
          </a:xfrm>
        </p:spPr>
        <p:txBody>
          <a:bodyPr/>
          <a:lstStyle/>
          <a:p>
            <a:r>
              <a:rPr lang="en-US" dirty="0"/>
              <a:t>In Tableau we have two types of variables:</a:t>
            </a:r>
          </a:p>
          <a:p>
            <a:pPr lvl="1"/>
            <a:r>
              <a:rPr lang="en-US" dirty="0"/>
              <a:t>Dimensions – discreet values. </a:t>
            </a:r>
          </a:p>
          <a:p>
            <a:pPr lvl="1"/>
            <a:r>
              <a:rPr lang="en-US" dirty="0"/>
              <a:t>Measures – continuous values. </a:t>
            </a:r>
          </a:p>
          <a:p>
            <a:r>
              <a:rPr lang="en-US" dirty="0"/>
              <a:t>Tableau usually identifies these correctly, but not always. </a:t>
            </a:r>
          </a:p>
          <a:p>
            <a:r>
              <a:rPr lang="en-US" dirty="0"/>
              <a:t>We can manipulate the way Tableau interprets the type as needed. </a:t>
            </a:r>
          </a:p>
          <a:p>
            <a:pPr lvl="1"/>
            <a:r>
              <a:rPr lang="en-US" dirty="0"/>
              <a:t>Right click -&gt; options for discreet/continuous and measure/dimension. </a:t>
            </a:r>
          </a:p>
        </p:txBody>
      </p:sp>
    </p:spTree>
    <p:extLst>
      <p:ext uri="{BB962C8B-B14F-4D97-AF65-F5344CB8AC3E}">
        <p14:creationId xmlns:p14="http://schemas.microsoft.com/office/powerpoint/2010/main" val="175338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70E53-0E69-A1E9-5C2E-97B16163C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 Formally…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43EE8-3584-E4D4-1109-4CD0AE0A2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73777"/>
          </a:xfrm>
        </p:spPr>
        <p:txBody>
          <a:bodyPr/>
          <a:lstStyle/>
          <a:p>
            <a:r>
              <a:rPr lang="en-US" dirty="0"/>
              <a:t>There is some possibility for confusion, especially with discreet number values. </a:t>
            </a:r>
          </a:p>
          <a:p>
            <a:r>
              <a:rPr lang="en-US" dirty="0"/>
              <a:t>In general…</a:t>
            </a:r>
          </a:p>
          <a:p>
            <a:pPr lvl="1"/>
            <a:r>
              <a:rPr lang="en-US" dirty="0"/>
              <a:t>If it makes sense on a number line, it is a continuous value. </a:t>
            </a:r>
          </a:p>
          <a:p>
            <a:pPr lvl="1"/>
            <a:r>
              <a:rPr lang="en-US" dirty="0"/>
              <a:t>If we want to ”group by” something, it is a discreet value. </a:t>
            </a:r>
          </a:p>
          <a:p>
            <a:r>
              <a:rPr lang="en-US" dirty="0"/>
              <a:t>We are often (usually??):</a:t>
            </a:r>
          </a:p>
          <a:p>
            <a:pPr lvl="1"/>
            <a:r>
              <a:rPr lang="en-US" dirty="0"/>
              <a:t>Dividing (segmenting, grouping) data into groups by some categorical value. </a:t>
            </a:r>
          </a:p>
          <a:p>
            <a:pPr lvl="1"/>
            <a:r>
              <a:rPr lang="en-US" dirty="0"/>
              <a:t>For each of those groups, calculating some aggregate value – sum, count, mean,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E.g. divide census data by province, calculate avg wage. Divide student data by major, calculate number of students. Group covid tests by occupation, calculate infection rate. </a:t>
            </a:r>
          </a:p>
        </p:txBody>
      </p:sp>
    </p:spTree>
    <p:extLst>
      <p:ext uri="{BB962C8B-B14F-4D97-AF65-F5344CB8AC3E}">
        <p14:creationId xmlns:p14="http://schemas.microsoft.com/office/powerpoint/2010/main" val="2658391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6928-4FD2-72B2-4626-6C54B452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 between Discreet/continuous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8EF21-CE0E-D255-6104-CCE59802B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365" y="1853754"/>
            <a:ext cx="7180389" cy="4199727"/>
          </a:xfrm>
        </p:spPr>
        <p:txBody>
          <a:bodyPr/>
          <a:lstStyle/>
          <a:p>
            <a:r>
              <a:rPr lang="en-US" dirty="0"/>
              <a:t>Binning: numerical to categorical. </a:t>
            </a:r>
          </a:p>
          <a:p>
            <a:r>
              <a:rPr lang="en-US" dirty="0"/>
              <a:t>Encoding: categorical to numerical. </a:t>
            </a:r>
          </a:p>
          <a:p>
            <a:r>
              <a:rPr lang="en-US" dirty="0"/>
              <a:t>E.g. your GPA goes from continuous (percents) to discreet (letters) back to continuous GPA number, before being averaged.</a:t>
            </a:r>
          </a:p>
          <a:p>
            <a:r>
              <a:rPr lang="en-US" dirty="0"/>
              <a:t>Used regularly-</a:t>
            </a:r>
            <a:r>
              <a:rPr lang="en-US" dirty="0" err="1"/>
              <a:t>ish</a:t>
            </a:r>
            <a:r>
              <a:rPr lang="en-US" dirty="0"/>
              <a:t> in data science. </a:t>
            </a:r>
          </a:p>
          <a:p>
            <a:r>
              <a:rPr lang="en-US" dirty="0"/>
              <a:t>For us – does either help us represent what we want better? </a:t>
            </a:r>
          </a:p>
          <a:p>
            <a:pPr lvl="1"/>
            <a:r>
              <a:rPr lang="en-US" dirty="0"/>
              <a:t>E.g. if we are looking at career success of middle class residents, it may make more sense to bin income and use that. </a:t>
            </a:r>
          </a:p>
          <a:p>
            <a:pPr lvl="1"/>
            <a:r>
              <a:rPr lang="en-US" dirty="0"/>
              <a:t>E.g. banks loan based on credit score category, not number.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F0B60CC-D522-2F05-C079-593D7C093D34}"/>
              </a:ext>
            </a:extLst>
          </p:cNvPr>
          <p:cNvGrpSpPr/>
          <p:nvPr/>
        </p:nvGrpSpPr>
        <p:grpSpPr>
          <a:xfrm>
            <a:off x="8476754" y="1391655"/>
            <a:ext cx="3715246" cy="5237942"/>
            <a:chOff x="8476754" y="1879797"/>
            <a:chExt cx="2578100" cy="4749800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4E91A236-90F3-FE8D-7C0A-491297D2AA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76754" y="4254697"/>
              <a:ext cx="2578100" cy="2374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>
              <a:extLst>
                <a:ext uri="{FF2B5EF4-FFF2-40B4-BE49-F238E27FC236}">
                  <a16:creationId xmlns:a16="http://schemas.microsoft.com/office/drawing/2014/main" id="{0FCC8E8F-A5DB-3388-BE7C-E60AE61CA5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76754" y="1879797"/>
              <a:ext cx="2578100" cy="2374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56467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DA92-FC0B-1702-E307-4FCEDAFC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36593-A0AE-EFEF-8021-EBE0C2897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Aggregation is a general term for combining things – in this case many rows of data. </a:t>
            </a:r>
          </a:p>
          <a:p>
            <a:r>
              <a:rPr lang="en-US" dirty="0"/>
              <a:t>An aggregation just summarizes many values in on value. </a:t>
            </a:r>
          </a:p>
          <a:p>
            <a:r>
              <a:rPr lang="en-US" dirty="0"/>
              <a:t>We can use this one value to ‘represent’ that group in analysis. </a:t>
            </a:r>
          </a:p>
          <a:p>
            <a:r>
              <a:rPr lang="en-US" dirty="0"/>
              <a:t>Aggregate values include mean, median, count, min, max, std dev, sum. </a:t>
            </a:r>
          </a:p>
          <a:p>
            <a:pPr lvl="1"/>
            <a:r>
              <a:rPr lang="en-US" dirty="0"/>
              <a:t>When aggregating categorical, just count based things for aggregation. </a:t>
            </a:r>
          </a:p>
          <a:p>
            <a:r>
              <a:rPr lang="en-US" dirty="0"/>
              <a:t>Often (usually??):</a:t>
            </a:r>
          </a:p>
          <a:p>
            <a:pPr lvl="1"/>
            <a:r>
              <a:rPr lang="en-US" dirty="0"/>
              <a:t>Divide data up into subgroups using some dimension(s). </a:t>
            </a:r>
          </a:p>
          <a:p>
            <a:pPr lvl="1"/>
            <a:r>
              <a:rPr lang="en-US" dirty="0"/>
              <a:t>Calculate an aggregate value for each group. </a:t>
            </a:r>
          </a:p>
          <a:p>
            <a:pPr lvl="1"/>
            <a:r>
              <a:rPr lang="en-US" dirty="0"/>
              <a:t>Compare those values to learn something actually useful. </a:t>
            </a:r>
          </a:p>
        </p:txBody>
      </p:sp>
    </p:spTree>
    <p:extLst>
      <p:ext uri="{BB962C8B-B14F-4D97-AF65-F5344CB8AC3E}">
        <p14:creationId xmlns:p14="http://schemas.microsoft.com/office/powerpoint/2010/main" val="1666693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377E-08CC-55FE-D0EC-D0B65D264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10246435" cy="1049235"/>
          </a:xfrm>
        </p:spPr>
        <p:txBody>
          <a:bodyPr>
            <a:normAutofit/>
          </a:bodyPr>
          <a:lstStyle/>
          <a:p>
            <a:r>
              <a:rPr lang="en-US" dirty="0"/>
              <a:t>Focus (excessively) on the “per” part of Groups</a:t>
            </a:r>
            <a:br>
              <a:rPr lang="en-US" dirty="0"/>
            </a:br>
            <a:r>
              <a:rPr lang="en-US" dirty="0"/>
              <a:t>(Granularity)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6DF87-8728-B072-2200-149DF6D65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When grouping data, focus on what each group is. </a:t>
            </a:r>
          </a:p>
          <a:p>
            <a:pPr lvl="1"/>
            <a:r>
              <a:rPr lang="en-US" dirty="0"/>
              <a:t>E.g. if you want to know the profit, what do you want to know the profit for? </a:t>
            </a:r>
          </a:p>
          <a:p>
            <a:pPr lvl="1"/>
            <a:r>
              <a:rPr lang="en-US" dirty="0"/>
              <a:t>This is usually implicit and easy to ignore in normal conversation. </a:t>
            </a:r>
          </a:p>
          <a:p>
            <a:r>
              <a:rPr lang="en-US" dirty="0"/>
              <a:t>E.g. ”profit” for a store you work at could mean many things. </a:t>
            </a:r>
          </a:p>
          <a:p>
            <a:pPr lvl="1"/>
            <a:r>
              <a:rPr lang="en-US" dirty="0"/>
              <a:t>Most likely, per location, per year -&gt; implicit understanding. </a:t>
            </a:r>
          </a:p>
          <a:p>
            <a:pPr lvl="1"/>
            <a:r>
              <a:rPr lang="en-US" dirty="0"/>
              <a:t>Per store, per quarter?</a:t>
            </a:r>
          </a:p>
          <a:p>
            <a:pPr lvl="1"/>
            <a:r>
              <a:rPr lang="en-US" dirty="0"/>
              <a:t>Per store, per department, per year? (Different from per department, per year). </a:t>
            </a:r>
          </a:p>
          <a:p>
            <a:pPr lvl="1"/>
            <a:r>
              <a:rPr lang="en-US" dirty="0"/>
              <a:t>Per week, per store?</a:t>
            </a:r>
          </a:p>
          <a:p>
            <a:r>
              <a:rPr lang="en-US" dirty="0"/>
              <a:t>This is one of the most overlooked things – be explicit and excessively detailed. </a:t>
            </a:r>
          </a:p>
        </p:txBody>
      </p:sp>
    </p:spTree>
    <p:extLst>
      <p:ext uri="{BB962C8B-B14F-4D97-AF65-F5344CB8AC3E}">
        <p14:creationId xmlns:p14="http://schemas.microsoft.com/office/powerpoint/2010/main" val="307422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1F2B5-812F-D539-4755-984ACAA03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03CCF-B247-A578-15C8-D214776D6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6652" y="1853754"/>
            <a:ext cx="7283490" cy="4199727"/>
          </a:xfrm>
        </p:spPr>
        <p:txBody>
          <a:bodyPr/>
          <a:lstStyle/>
          <a:p>
            <a:r>
              <a:rPr lang="en-US" dirty="0"/>
              <a:t>Many rows of data, each row represents some instance (a thing). </a:t>
            </a:r>
          </a:p>
          <a:p>
            <a:r>
              <a:rPr lang="en-US" dirty="0"/>
              <a:t>When we add a variable to the vis shelf:</a:t>
            </a:r>
          </a:p>
          <a:p>
            <a:pPr lvl="1"/>
            <a:r>
              <a:rPr lang="en-US" dirty="0"/>
              <a:t>If dimension (categorical): divide up all the rows into groups, one per value in that dimension. </a:t>
            </a:r>
          </a:p>
          <a:p>
            <a:pPr lvl="1"/>
            <a:r>
              <a:rPr lang="en-US" dirty="0"/>
              <a:t>If measure (numerical): calculate some aggregation (one number) from that measure, and provide one value per ‘split’ (if any). </a:t>
            </a:r>
          </a:p>
          <a:p>
            <a:r>
              <a:rPr lang="en-US" dirty="0"/>
              <a:t>If we add a value to filters, it’ll exclude whatever matches. </a:t>
            </a:r>
          </a:p>
          <a:p>
            <a:r>
              <a:rPr lang="en-US" dirty="0"/>
              <a:t>If we add a value to marks card, it’ll vary that thing with the values. </a:t>
            </a:r>
          </a:p>
          <a:p>
            <a:r>
              <a:rPr lang="en-US" dirty="0"/>
              <a:t>Some values have different granularity – per city, prov, country…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DF8E95-D107-1B3A-2127-481A138C5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0062"/>
            <a:ext cx="4816652" cy="316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2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783F-CF4B-CB5F-E241-4012D477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mapping…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E8C4A-232D-A92E-D4D2-97877C1C9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mapping, we are always showing some spatial data (e.g. </a:t>
            </a:r>
            <a:r>
              <a:rPr lang="en-US" dirty="0" err="1"/>
              <a:t>lat</a:t>
            </a:r>
            <a:r>
              <a:rPr lang="en-US" dirty="0"/>
              <a:t>/long). </a:t>
            </a:r>
          </a:p>
          <a:p>
            <a:r>
              <a:rPr lang="en-US" dirty="0"/>
              <a:t>What else do we want to show? </a:t>
            </a:r>
          </a:p>
          <a:p>
            <a:pPr lvl="1"/>
            <a:r>
              <a:rPr lang="en-US" dirty="0"/>
              <a:t>Depending on the map, we can show 1+ other value via a marks attribute. </a:t>
            </a:r>
          </a:p>
          <a:p>
            <a:pPr lvl="1"/>
            <a:r>
              <a:rPr lang="en-US" dirty="0"/>
              <a:t>We must calculate data to be “one vale per MAPPED THING”. </a:t>
            </a:r>
          </a:p>
          <a:p>
            <a:pPr lvl="2"/>
            <a:r>
              <a:rPr lang="en-US" dirty="0"/>
              <a:t>(Constrained and obvious, so this is good practice). </a:t>
            </a:r>
          </a:p>
        </p:txBody>
      </p:sp>
    </p:spTree>
    <p:extLst>
      <p:ext uri="{BB962C8B-B14F-4D97-AF65-F5344CB8AC3E}">
        <p14:creationId xmlns:p14="http://schemas.microsoft.com/office/powerpoint/2010/main" val="565077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7311-FECD-5783-A184-A887E747C2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2E2BD-11AD-EAB0-9C95-2E389C4BAB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19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95E8-8FAB-830A-C43A-5427ECB26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in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F1426-AD89-21E6-B6BC-2AB3E5CF6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4413"/>
            <a:ext cx="9603275" cy="4109067"/>
          </a:xfrm>
        </p:spPr>
        <p:txBody>
          <a:bodyPr/>
          <a:lstStyle/>
          <a:p>
            <a:r>
              <a:rPr lang="en-US" dirty="0"/>
              <a:t>Color is a primary feature in visualizations. </a:t>
            </a:r>
          </a:p>
          <a:p>
            <a:pPr lvl="1"/>
            <a:r>
              <a:rPr lang="en-US" dirty="0"/>
              <a:t>Most visualizations can have color added pretty easily. </a:t>
            </a:r>
          </a:p>
          <a:p>
            <a:r>
              <a:rPr lang="en-US" dirty="0"/>
              <a:t>We can encode, or represent data from variables via color:</a:t>
            </a:r>
          </a:p>
          <a:p>
            <a:pPr lvl="1"/>
            <a:r>
              <a:rPr lang="en-US" dirty="0"/>
              <a:t>Numeric variables can be represented with a gradient. </a:t>
            </a:r>
          </a:p>
          <a:p>
            <a:pPr lvl="1"/>
            <a:r>
              <a:rPr lang="en-US" dirty="0"/>
              <a:t>Categorical variables can be represented with different colors. </a:t>
            </a:r>
          </a:p>
          <a:p>
            <a:r>
              <a:rPr lang="en-US" dirty="0"/>
              <a:t>Color is one of the most prevalent </a:t>
            </a:r>
            <a:r>
              <a:rPr lang="en-US" dirty="0" err="1"/>
              <a:t>preattentive</a:t>
            </a:r>
            <a:r>
              <a:rPr lang="en-US" dirty="0"/>
              <a:t> attributes.</a:t>
            </a:r>
          </a:p>
          <a:p>
            <a:pPr lvl="1"/>
            <a:r>
              <a:rPr lang="en-US" dirty="0"/>
              <a:t>We have preexisting understanding of many color things – red/green, dark/light,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We notice color quickly and our brain categorizes/orders based on it.  </a:t>
            </a:r>
          </a:p>
        </p:txBody>
      </p:sp>
    </p:spTree>
    <p:extLst>
      <p:ext uri="{BB962C8B-B14F-4D97-AF65-F5344CB8AC3E}">
        <p14:creationId xmlns:p14="http://schemas.microsoft.com/office/powerpoint/2010/main" val="2817652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2FC15-93FE-CD95-AF9B-B5CD9914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9319F-C3E6-61E2-B472-59354CEED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Launched: More accessible and modern color palettes - Product Releases -  Holistics Community">
            <a:extLst>
              <a:ext uri="{FF2B5EF4-FFF2-40B4-BE49-F238E27FC236}">
                <a16:creationId xmlns:a16="http://schemas.microsoft.com/office/drawing/2014/main" id="{EDFD0B7A-E123-9DF2-1449-9E921F350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2263"/>
            <a:ext cx="12192000" cy="621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412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DF24-E219-D222-DD32-DE860AD7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Scales and Color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C55D8-524C-8D2D-EA18-80D67373D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/>
          <a:lstStyle/>
          <a:p>
            <a:r>
              <a:rPr lang="en-US" dirty="0"/>
              <a:t>Color choice and visual design is a massive area of study. </a:t>
            </a:r>
          </a:p>
          <a:p>
            <a:r>
              <a:rPr lang="en-US" dirty="0"/>
              <a:t>We don’t need to be experts, but we need to be competent. </a:t>
            </a:r>
          </a:p>
          <a:p>
            <a:r>
              <a:rPr lang="en-US" dirty="0"/>
              <a:t>Think – we want to convey some info, does adding color make that clearer. </a:t>
            </a:r>
          </a:p>
          <a:p>
            <a:pPr lvl="1"/>
            <a:r>
              <a:rPr lang="en-US" dirty="0"/>
              <a:t>Always ask this. </a:t>
            </a:r>
          </a:p>
          <a:p>
            <a:r>
              <a:rPr lang="en-US" dirty="0"/>
              <a:t>Two main things that we use color for:</a:t>
            </a:r>
          </a:p>
          <a:p>
            <a:pPr lvl="1"/>
            <a:r>
              <a:rPr lang="en-US" dirty="0"/>
              <a:t>Differentiation – showing different categories with different colors. E.g. province map. </a:t>
            </a:r>
          </a:p>
          <a:p>
            <a:pPr lvl="1"/>
            <a:r>
              <a:rPr lang="en-US" dirty="0"/>
              <a:t>Gradient – showing progress of a numerical value over a range. E.g. crime map. </a:t>
            </a:r>
          </a:p>
          <a:p>
            <a:pPr lvl="1"/>
            <a:r>
              <a:rPr lang="en-US" dirty="0"/>
              <a:t>Gradients can be both diverging and sequential, roughly – is there a middle? </a:t>
            </a:r>
          </a:p>
        </p:txBody>
      </p:sp>
    </p:spTree>
    <p:extLst>
      <p:ext uri="{BB962C8B-B14F-4D97-AF65-F5344CB8AC3E}">
        <p14:creationId xmlns:p14="http://schemas.microsoft.com/office/powerpoint/2010/main" val="73797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8C39-EAB4-1AD4-CF0C-5FEE9BA1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B7D1A-BBA3-48BB-EB7B-E3F7B1C5E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Painting With All the Colors of the Wind: The Importance of Color in Data  Visualization - Fusionex Blogs | Fusionex Group">
            <a:extLst>
              <a:ext uri="{FF2B5EF4-FFF2-40B4-BE49-F238E27FC236}">
                <a16:creationId xmlns:a16="http://schemas.microsoft.com/office/drawing/2014/main" id="{9D459DBB-B639-9109-CFA9-0D800676F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98500"/>
            <a:ext cx="10668000" cy="546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6160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8C3A-78E2-ED24-CF67-92B572C1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Helps us Out here…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D76A6-2330-D01A-4A7D-079047232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3903"/>
            <a:ext cx="9603275" cy="411957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default color schemes that Tableau assigns are generally good. </a:t>
            </a:r>
          </a:p>
          <a:p>
            <a:r>
              <a:rPr lang="en-US" dirty="0"/>
              <a:t>Some things to pay attention to:</a:t>
            </a:r>
          </a:p>
          <a:p>
            <a:pPr lvl="1"/>
            <a:r>
              <a:rPr lang="en-US" dirty="0"/>
              <a:t>If there’s more than one chart with the same data, make sure color is consistent. </a:t>
            </a:r>
          </a:p>
          <a:p>
            <a:pPr lvl="1"/>
            <a:r>
              <a:rPr lang="en-US" dirty="0"/>
              <a:t>If something’s categorical, limit number before assigning color. </a:t>
            </a:r>
          </a:p>
          <a:p>
            <a:pPr lvl="1"/>
            <a:r>
              <a:rPr lang="en-US" dirty="0"/>
              <a:t>If the data is discreet vs continuous it’ll get colored differently, you may need to adjust. </a:t>
            </a:r>
          </a:p>
          <a:p>
            <a:r>
              <a:rPr lang="en-US" dirty="0"/>
              <a:t>Some cases for departing from defaults:</a:t>
            </a:r>
          </a:p>
          <a:p>
            <a:pPr lvl="1"/>
            <a:r>
              <a:rPr lang="en-US" dirty="0"/>
              <a:t>Preexisting meaning for a certain color scheme – e.g. sports teams, politics. </a:t>
            </a:r>
          </a:p>
          <a:p>
            <a:pPr lvl="1"/>
            <a:r>
              <a:rPr lang="en-US" dirty="0"/>
              <a:t>Style guidelines demand – e.g. fitting into a larger visual thing, such as a drawing. </a:t>
            </a:r>
          </a:p>
          <a:p>
            <a:pPr lvl="1"/>
            <a:r>
              <a:rPr lang="en-US" dirty="0"/>
              <a:t>Internal consistency – we don’t want the same thing represented by several colors. </a:t>
            </a:r>
          </a:p>
          <a:p>
            <a:pPr lvl="1"/>
            <a:r>
              <a:rPr lang="en-US" dirty="0"/>
              <a:t>Clarity – always must ensure it clearly conveys the intent, so if it doesn’t, change it. </a:t>
            </a:r>
          </a:p>
        </p:txBody>
      </p:sp>
    </p:spTree>
    <p:extLst>
      <p:ext uri="{BB962C8B-B14F-4D97-AF65-F5344CB8AC3E}">
        <p14:creationId xmlns:p14="http://schemas.microsoft.com/office/powerpoint/2010/main" val="284211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D481-3BCB-FFAD-DAA4-CBCBF4D25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89" y="804519"/>
            <a:ext cx="7404965" cy="1049235"/>
          </a:xfrm>
        </p:spPr>
        <p:txBody>
          <a:bodyPr/>
          <a:lstStyle/>
          <a:p>
            <a:r>
              <a:rPr lang="en-US" dirty="0"/>
              <a:t>Think about what Color is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AEB1A-AC54-A9C4-4A83-F2D516413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405" y="1853754"/>
            <a:ext cx="10313449" cy="4199727"/>
          </a:xfrm>
        </p:spPr>
        <p:txBody>
          <a:bodyPr/>
          <a:lstStyle/>
          <a:p>
            <a:r>
              <a:rPr lang="en-US" dirty="0"/>
              <a:t>Colors obviously differentiate things, but think about it deeper. </a:t>
            </a:r>
          </a:p>
          <a:p>
            <a:r>
              <a:rPr lang="en-US" dirty="0"/>
              <a:t>What, specifically do you want a reader to be able to get from a chart? </a:t>
            </a:r>
          </a:p>
          <a:p>
            <a:pPr lvl="1"/>
            <a:r>
              <a:rPr lang="en-US" dirty="0"/>
              <a:t>Sometimes color can be targeted at it directly. </a:t>
            </a:r>
          </a:p>
          <a:p>
            <a:r>
              <a:rPr lang="en-US" dirty="0"/>
              <a:t>Example - emphasis on one thing, or a subset of things. </a:t>
            </a:r>
          </a:p>
          <a:p>
            <a:pPr lvl="1"/>
            <a:r>
              <a:rPr lang="en-US" dirty="0"/>
              <a:t>”Other” groups for coloring might make sense. </a:t>
            </a:r>
          </a:p>
          <a:p>
            <a:pPr lvl="1"/>
            <a:r>
              <a:rPr lang="en-US" dirty="0"/>
              <a:t>The color group can be made dynamic with actions. </a:t>
            </a:r>
          </a:p>
          <a:p>
            <a:r>
              <a:rPr lang="en-US" dirty="0"/>
              <a:t>Use color purposefully. </a:t>
            </a:r>
          </a:p>
          <a:p>
            <a:r>
              <a:rPr lang="en-US" dirty="0"/>
              <a:t>Always ask – is it clear? Does it help?</a:t>
            </a:r>
          </a:p>
        </p:txBody>
      </p:sp>
      <p:pic>
        <p:nvPicPr>
          <p:cNvPr id="4098" name="Picture 2" descr="How to Choose Colors for Your Data Visualizations | Nightingale">
            <a:extLst>
              <a:ext uri="{FF2B5EF4-FFF2-40B4-BE49-F238E27FC236}">
                <a16:creationId xmlns:a16="http://schemas.microsoft.com/office/drawing/2014/main" id="{638FEE50-C307-CD1B-623E-2469584C85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44"/>
          <a:stretch>
            <a:fillRect/>
          </a:stretch>
        </p:blipFill>
        <p:spPr bwMode="auto">
          <a:xfrm>
            <a:off x="5240777" y="4588477"/>
            <a:ext cx="6951224" cy="2269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Map of canada provinces hi-res stock photography and images - Alamy">
            <a:extLst>
              <a:ext uri="{FF2B5EF4-FFF2-40B4-BE49-F238E27FC236}">
                <a16:creationId xmlns:a16="http://schemas.microsoft.com/office/drawing/2014/main" id="{4EB920C8-B797-0464-4C39-5FBF011C61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15" b="16937"/>
          <a:stretch>
            <a:fillRect/>
          </a:stretch>
        </p:blipFill>
        <p:spPr bwMode="auto">
          <a:xfrm>
            <a:off x="7750957" y="2060"/>
            <a:ext cx="4441043" cy="2267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208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F023A-97BA-B902-DEFB-049CE5A3A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Colors in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39E68-5502-BEAA-475F-6E0F03637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9307" y="2015732"/>
            <a:ext cx="8277268" cy="4037749"/>
          </a:xfrm>
        </p:spPr>
        <p:txBody>
          <a:bodyPr/>
          <a:lstStyle/>
          <a:p>
            <a:r>
              <a:rPr lang="en-US" dirty="0"/>
              <a:t>We can edit color usage in Tableau easily. </a:t>
            </a:r>
          </a:p>
          <a:p>
            <a:r>
              <a:rPr lang="en-US" dirty="0"/>
              <a:t>Drag whatever variable that will control color onto the marks card ‘color’. </a:t>
            </a:r>
          </a:p>
          <a:p>
            <a:r>
              <a:rPr lang="en-US" dirty="0"/>
              <a:t>Edit Colors will bring up an editing window, where we can:</a:t>
            </a:r>
          </a:p>
          <a:p>
            <a:pPr lvl="1"/>
            <a:r>
              <a:rPr lang="en-US" dirty="0"/>
              <a:t>Set the color scale used. </a:t>
            </a:r>
          </a:p>
          <a:p>
            <a:pPr lvl="1"/>
            <a:r>
              <a:rPr lang="en-US" dirty="0"/>
              <a:t>Set scaling metrics – start, middle, end of gradient. </a:t>
            </a:r>
          </a:p>
          <a:p>
            <a:pPr lvl="1"/>
            <a:r>
              <a:rPr lang="en-US" dirty="0"/>
              <a:t>Set color per category value. </a:t>
            </a:r>
          </a:p>
          <a:p>
            <a:pPr lvl="1"/>
            <a:r>
              <a:rPr lang="en-US" dirty="0"/>
              <a:t>Reverse the scale.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8835BD-11D2-0890-5F36-3EEBE77BF8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40" r="26952" b="6412"/>
          <a:stretch>
            <a:fillRect/>
          </a:stretch>
        </p:blipFill>
        <p:spPr>
          <a:xfrm>
            <a:off x="0" y="1391655"/>
            <a:ext cx="3169085" cy="2593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5F80FE-3EAE-12BE-8015-961BB43337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17" t="29793" b="9742"/>
          <a:stretch>
            <a:fillRect/>
          </a:stretch>
        </p:blipFill>
        <p:spPr>
          <a:xfrm>
            <a:off x="0" y="3842407"/>
            <a:ext cx="3309307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07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9B97-64E3-6AE9-27CA-8E00630D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D0D43-FC7A-174E-D649-FDD44247B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07" y="1853754"/>
            <a:ext cx="6970061" cy="4199727"/>
          </a:xfrm>
        </p:spPr>
        <p:txBody>
          <a:bodyPr/>
          <a:lstStyle/>
          <a:p>
            <a:r>
              <a:rPr lang="en-US" dirty="0"/>
              <a:t>Since Tableau is interactive, we can also use colors dynamically. </a:t>
            </a:r>
          </a:p>
          <a:p>
            <a:r>
              <a:rPr lang="en-US" dirty="0"/>
              <a:t>Highlights – focus on something, when something else is clicked/moused. </a:t>
            </a:r>
          </a:p>
          <a:p>
            <a:r>
              <a:rPr lang="en-US" dirty="0"/>
              <a:t>Set/group membership:</a:t>
            </a:r>
          </a:p>
          <a:p>
            <a:pPr lvl="1"/>
            <a:r>
              <a:rPr lang="en-US" dirty="0"/>
              <a:t>Set a color value based on set/group. </a:t>
            </a:r>
          </a:p>
          <a:p>
            <a:pPr lvl="1"/>
            <a:r>
              <a:rPr lang="en-US" dirty="0"/>
              <a:t>Make something else change what’s in set/groups. </a:t>
            </a:r>
          </a:p>
          <a:p>
            <a:r>
              <a:rPr lang="en-US" dirty="0"/>
              <a:t>Color based on other attribute (more complex):</a:t>
            </a:r>
          </a:p>
          <a:p>
            <a:pPr lvl="1"/>
            <a:r>
              <a:rPr lang="en-US" dirty="0"/>
              <a:t>E.g. change color based on ranking or similar.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D4865-1960-2430-66BD-CB58DCDF3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367" y="1736004"/>
            <a:ext cx="4833633" cy="401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23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15F9-9E9C-0E3A-5C81-E33A8DDB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 (and Color)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7B0C1-7D5F-42A6-DA7C-DE594117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common usage of colors are maps. </a:t>
            </a:r>
          </a:p>
          <a:p>
            <a:r>
              <a:rPr lang="en-US" dirty="0"/>
              <a:t>We can map stuff whenever we have either:</a:t>
            </a:r>
          </a:p>
          <a:p>
            <a:pPr lvl="1"/>
            <a:r>
              <a:rPr lang="en-US" dirty="0"/>
              <a:t>A set of locations – latitude and longitude. </a:t>
            </a:r>
          </a:p>
          <a:p>
            <a:pPr lvl="1"/>
            <a:r>
              <a:rPr lang="en-US" dirty="0"/>
              <a:t>A set of geographical regions – city, state, province, country. </a:t>
            </a:r>
          </a:p>
          <a:p>
            <a:r>
              <a:rPr lang="en-US" dirty="0"/>
              <a:t>We can map some other stuff (like neighborhoods) but that requires more:</a:t>
            </a:r>
          </a:p>
          <a:p>
            <a:pPr lvl="1"/>
            <a:r>
              <a:rPr lang="en-US" dirty="0"/>
              <a:t>Spatial data files (~data defining geographical things). </a:t>
            </a:r>
          </a:p>
          <a:p>
            <a:pPr lvl="1"/>
            <a:r>
              <a:rPr lang="en-US" dirty="0"/>
              <a:t>Joins </a:t>
            </a:r>
          </a:p>
        </p:txBody>
      </p:sp>
    </p:spTree>
    <p:extLst>
      <p:ext uri="{BB962C8B-B14F-4D97-AF65-F5344CB8AC3E}">
        <p14:creationId xmlns:p14="http://schemas.microsoft.com/office/powerpoint/2010/main" val="1245130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AE74A-CF30-82FD-FF29-BA88055D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Filled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CE88E-9A98-DA52-7F4C-05F4E8443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544" y="1853754"/>
            <a:ext cx="6666614" cy="4199727"/>
          </a:xfrm>
        </p:spPr>
        <p:txBody>
          <a:bodyPr>
            <a:normAutofit/>
          </a:bodyPr>
          <a:lstStyle/>
          <a:p>
            <a:r>
              <a:rPr lang="en-US" dirty="0"/>
              <a:t>If we have some region, we can make a filled map. </a:t>
            </a:r>
          </a:p>
          <a:p>
            <a:pPr lvl="1"/>
            <a:r>
              <a:rPr lang="en-US" dirty="0"/>
              <a:t>State/province/country. </a:t>
            </a:r>
          </a:p>
          <a:p>
            <a:pPr lvl="1"/>
            <a:r>
              <a:rPr lang="en-US" dirty="0"/>
              <a:t>That geographical value needs to have a globe icon in Tableau. </a:t>
            </a:r>
          </a:p>
          <a:p>
            <a:pPr lvl="1"/>
            <a:r>
              <a:rPr lang="en-US" dirty="0"/>
              <a:t>We can set the “geographical role” if misidentified. </a:t>
            </a:r>
          </a:p>
          <a:p>
            <a:r>
              <a:rPr lang="en-US" dirty="0"/>
              <a:t>Doesn’t need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, will use the generated ones. </a:t>
            </a:r>
          </a:p>
          <a:p>
            <a:pPr lvl="1"/>
            <a:r>
              <a:rPr lang="en-US" dirty="0"/>
              <a:t>Preview: Tableau includes some spatial data that basically defines “the outline of </a:t>
            </a:r>
            <a:r>
              <a:rPr lang="en-US" dirty="0" err="1"/>
              <a:t>alberta</a:t>
            </a:r>
            <a:r>
              <a:rPr lang="en-US" dirty="0"/>
              <a:t> is…”, ”the border of NYC is…”</a:t>
            </a:r>
          </a:p>
        </p:txBody>
      </p:sp>
      <p:pic>
        <p:nvPicPr>
          <p:cNvPr id="4" name="Picture 3" descr="Show Me How: Filled Map - The Information Lab">
            <a:extLst>
              <a:ext uri="{FF2B5EF4-FFF2-40B4-BE49-F238E27FC236}">
                <a16:creationId xmlns:a16="http://schemas.microsoft.com/office/drawing/2014/main" id="{723D34FE-2B08-EAA9-7CBF-9B86F7AF4E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41" r="18126"/>
          <a:stretch>
            <a:fillRect/>
          </a:stretch>
        </p:blipFill>
        <p:spPr>
          <a:xfrm>
            <a:off x="7432157" y="1564147"/>
            <a:ext cx="4603898" cy="4353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C9022F-1C9C-61E6-A140-AF6190DA1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555" y="284569"/>
            <a:ext cx="23495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29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5C76AC0-BB6B-419E-A327-AFA297500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B3E0B6A3-E197-43D6-82D5-7455DAB1A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1847088"/>
            <a:ext cx="41587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1F60080-839B-8616-1B51-F3265F199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648" y="804520"/>
            <a:ext cx="4158749" cy="1049235"/>
          </a:xfrm>
        </p:spPr>
        <p:txBody>
          <a:bodyPr>
            <a:normAutofit/>
          </a:bodyPr>
          <a:lstStyle/>
          <a:p>
            <a:r>
              <a:rPr lang="en-US" dirty="0"/>
              <a:t>Discreet Values – Discreet Colors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B0E4246-09B8-46D7-A0D2-4D264863A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1026" name="Picture 2" descr="Map of canada provinces hi-res stock photography and images - Alamy">
            <a:extLst>
              <a:ext uri="{FF2B5EF4-FFF2-40B4-BE49-F238E27FC236}">
                <a16:creationId xmlns:a16="http://schemas.microsoft.com/office/drawing/2014/main" id="{AFD17704-2636-2303-E7FF-C6B0455A67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8" b="13621"/>
          <a:stretch>
            <a:fillRect/>
          </a:stretch>
        </p:blipFill>
        <p:spPr bwMode="auto">
          <a:xfrm>
            <a:off x="306693" y="847522"/>
            <a:ext cx="5789156" cy="484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8A473-C0B5-145E-0B78-B281F4245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850" y="1835658"/>
            <a:ext cx="6096150" cy="4217818"/>
          </a:xfrm>
        </p:spPr>
        <p:txBody>
          <a:bodyPr>
            <a:normAutofit/>
          </a:bodyPr>
          <a:lstStyle/>
          <a:p>
            <a:r>
              <a:rPr lang="en-US" dirty="0"/>
              <a:t>When dealing with discreet values, we can color code with arbitrary colors. </a:t>
            </a:r>
          </a:p>
          <a:p>
            <a:r>
              <a:rPr lang="en-US" dirty="0"/>
              <a:t>Color itself has no meaning, only to differentiate. </a:t>
            </a:r>
          </a:p>
          <a:p>
            <a:pPr lvl="1"/>
            <a:r>
              <a:rPr lang="en-US" dirty="0"/>
              <a:t>If a color is used in multiple places, we want consistency. </a:t>
            </a:r>
          </a:p>
          <a:p>
            <a:r>
              <a:rPr lang="en-US" dirty="0"/>
              <a:t>Note: we may have categories labeled 1,2,3,4…, which will have a gradient by default. </a:t>
            </a:r>
          </a:p>
          <a:p>
            <a:endParaRPr lang="en-US" dirty="0"/>
          </a:p>
        </p:txBody>
      </p: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F50C8D8D-B32F-4194-8321-164EC442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5BD24D8B-8573-4260-B700-E860AD6D2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99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E674-27BA-80AA-D179-711F1A43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Values – Color 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C1FC6-5E12-70BD-2D2E-BDB1D5A2E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07" y="2015732"/>
            <a:ext cx="4358774" cy="3450613"/>
          </a:xfrm>
        </p:spPr>
        <p:txBody>
          <a:bodyPr/>
          <a:lstStyle/>
          <a:p>
            <a:r>
              <a:rPr lang="en-US" dirty="0"/>
              <a:t>With continuous values, we can use a scale to represent the value. </a:t>
            </a:r>
          </a:p>
          <a:p>
            <a:r>
              <a:rPr lang="en-US" dirty="0"/>
              <a:t>Filled maps can really only show one thing at a time well, via the color. </a:t>
            </a:r>
          </a:p>
        </p:txBody>
      </p:sp>
      <p:pic>
        <p:nvPicPr>
          <p:cNvPr id="2052" name="Picture 4" descr="Map of Gun Ownership By US State - Brilliant Maps">
            <a:extLst>
              <a:ext uri="{FF2B5EF4-FFF2-40B4-BE49-F238E27FC236}">
                <a16:creationId xmlns:a16="http://schemas.microsoft.com/office/drawing/2014/main" id="{0FFEC903-8E03-69AB-B115-31D4723D1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281" y="1335703"/>
            <a:ext cx="7471719" cy="552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921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91B2-7469-E027-B2FF-0D611043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A1202-B536-301E-07C3-68789CA83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9052" y="2015732"/>
            <a:ext cx="6492948" cy="3450613"/>
          </a:xfrm>
        </p:spPr>
        <p:txBody>
          <a:bodyPr/>
          <a:lstStyle/>
          <a:p>
            <a:r>
              <a:rPr lang="en-US" dirty="0"/>
              <a:t>If we have latitude and longitude, we can map those points. </a:t>
            </a:r>
          </a:p>
          <a:p>
            <a:r>
              <a:rPr lang="en-US" dirty="0"/>
              <a:t>Note that Tableau doesn’t (by default) “know” where the points are in context, outside their spot on the map. </a:t>
            </a:r>
          </a:p>
          <a:p>
            <a:pPr lvl="1"/>
            <a:r>
              <a:rPr lang="en-US" dirty="0"/>
              <a:t># of stores within Alberta isn’t doable w/o other data. </a:t>
            </a:r>
          </a:p>
          <a:p>
            <a:pPr lvl="1"/>
            <a:r>
              <a:rPr lang="en-US" dirty="0"/>
              <a:t>We can add spatial data to make this possible. </a:t>
            </a:r>
          </a:p>
          <a:p>
            <a:pPr lvl="1"/>
            <a:r>
              <a:rPr lang="en-US" dirty="0"/>
              <a:t>Lat/</a:t>
            </a:r>
            <a:r>
              <a:rPr lang="en-US" dirty="0" err="1"/>
              <a:t>lon</a:t>
            </a:r>
            <a:r>
              <a:rPr lang="en-US" dirty="0"/>
              <a:t> is like x/y coordinates on a plot, they don’t know what is “under” them (city, country, region, </a:t>
            </a:r>
            <a:r>
              <a:rPr lang="en-US" dirty="0" err="1"/>
              <a:t>etc</a:t>
            </a:r>
            <a:r>
              <a:rPr lang="en-US" dirty="0"/>
              <a:t>…). </a:t>
            </a:r>
          </a:p>
        </p:txBody>
      </p:sp>
      <p:pic>
        <p:nvPicPr>
          <p:cNvPr id="4" name="Picture 3" descr="Maps in Tableau - Duke Libraries Center for Data and Visualization Sciences">
            <a:extLst>
              <a:ext uri="{FF2B5EF4-FFF2-40B4-BE49-F238E27FC236}">
                <a16:creationId xmlns:a16="http://schemas.microsoft.com/office/drawing/2014/main" id="{562BDD03-B4C0-3669-91DF-DE06AE3488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r="10191"/>
          <a:stretch>
            <a:fillRect/>
          </a:stretch>
        </p:blipFill>
        <p:spPr>
          <a:xfrm>
            <a:off x="0" y="2026687"/>
            <a:ext cx="5699052" cy="360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590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C0C1-6AFD-9221-713C-0410CEFA8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C76A4-E06D-5F8C-1BE8-533A4EC01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4195009" cy="4199727"/>
          </a:xfrm>
        </p:spPr>
        <p:txBody>
          <a:bodyPr/>
          <a:lstStyle/>
          <a:p>
            <a:r>
              <a:rPr lang="en-US" dirty="0"/>
              <a:t>We can stack more than one layer of map on top of each other. </a:t>
            </a:r>
          </a:p>
          <a:p>
            <a:pPr lvl="1"/>
            <a:r>
              <a:rPr lang="en-US" dirty="0"/>
              <a:t>E.g. a filled map showing a gradient for “profits per state” with points of “store location”. </a:t>
            </a:r>
          </a:p>
          <a:p>
            <a:pPr lvl="1"/>
            <a:endParaRPr lang="en-US" dirty="0"/>
          </a:p>
        </p:txBody>
      </p:sp>
      <p:pic>
        <p:nvPicPr>
          <p:cNvPr id="4" name="Picture 3" descr="Build custom maps the easy way with multiple map layers in Tableau">
            <a:extLst>
              <a:ext uri="{FF2B5EF4-FFF2-40B4-BE49-F238E27FC236}">
                <a16:creationId xmlns:a16="http://schemas.microsoft.com/office/drawing/2014/main" id="{79EA4A42-9DE6-9630-1031-8AF7B5620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588" y="993453"/>
            <a:ext cx="6423286" cy="515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82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C1DD1-85E4-F5AE-ED50-37DCFF364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Beware Tableau’s Italic Deception!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46402-F64A-E6C2-D3D2-BB762FC42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559" y="1853754"/>
            <a:ext cx="7898295" cy="4199727"/>
          </a:xfrm>
        </p:spPr>
        <p:txBody>
          <a:bodyPr/>
          <a:lstStyle/>
          <a:p>
            <a:r>
              <a:rPr lang="en-US" dirty="0"/>
              <a:t>In Tableau, we need to be careful on what we are mapping. </a:t>
            </a:r>
          </a:p>
          <a:p>
            <a:r>
              <a:rPr lang="en-US" dirty="0"/>
              <a:t>Latitude/Longitude (non-italicized):</a:t>
            </a:r>
          </a:p>
          <a:p>
            <a:pPr lvl="1"/>
            <a:r>
              <a:rPr lang="en-US" dirty="0"/>
              <a:t>Actual latitude and longitude values, comes from dataset. </a:t>
            </a:r>
          </a:p>
          <a:p>
            <a:pPr lvl="1"/>
            <a:r>
              <a:rPr lang="en-US" dirty="0"/>
              <a:t>Real location of a point on a map. </a:t>
            </a:r>
          </a:p>
          <a:p>
            <a:r>
              <a:rPr lang="en-US" dirty="0"/>
              <a:t>Latitude/Longitude (italicized):</a:t>
            </a:r>
          </a:p>
          <a:p>
            <a:pPr lvl="1"/>
            <a:r>
              <a:rPr lang="en-US" dirty="0"/>
              <a:t>Generated latitude and longitude that Tableau makes (e.g. filled maps). </a:t>
            </a:r>
          </a:p>
          <a:p>
            <a:pPr lvl="1"/>
            <a:r>
              <a:rPr lang="en-US" dirty="0"/>
              <a:t>Not from the data. </a:t>
            </a:r>
          </a:p>
          <a:p>
            <a:pPr lvl="1"/>
            <a:r>
              <a:rPr lang="en-US" dirty="0"/>
              <a:t>We don’t use this directly, it will automatically appear sometimes when we use some geographic value like city or country. </a:t>
            </a:r>
          </a:p>
          <a:p>
            <a:r>
              <a:rPr lang="en-US" dirty="0"/>
              <a:t>If you want to make a point map, we need non-italic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059B2-17E8-DD73-46C0-88923ED15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180"/>
          <a:stretch>
            <a:fillRect/>
          </a:stretch>
        </p:blipFill>
        <p:spPr>
          <a:xfrm>
            <a:off x="105515" y="1853754"/>
            <a:ext cx="3051044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64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8905-3C62-1291-FBFE-F59168FCD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Trickery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68794-407F-1853-E909-2E7B4A528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527" y="1853754"/>
            <a:ext cx="6666613" cy="4233965"/>
          </a:xfrm>
        </p:spPr>
        <p:txBody>
          <a:bodyPr/>
          <a:lstStyle/>
          <a:p>
            <a:r>
              <a:rPr lang="en-US" dirty="0"/>
              <a:t>Sometimes when mapping we get an “unknown” marker in the bottom right. </a:t>
            </a:r>
          </a:p>
          <a:p>
            <a:r>
              <a:rPr lang="en-US" dirty="0"/>
              <a:t>This is due to ambiguous location data. </a:t>
            </a:r>
          </a:p>
          <a:p>
            <a:pPr lvl="1"/>
            <a:r>
              <a:rPr lang="en-US" dirty="0"/>
              <a:t>Usually something like city names w/o provinces. </a:t>
            </a:r>
          </a:p>
          <a:p>
            <a:r>
              <a:rPr lang="en-US" dirty="0"/>
              <a:t>To resolve it:</a:t>
            </a:r>
          </a:p>
          <a:p>
            <a:pPr lvl="1"/>
            <a:r>
              <a:rPr lang="en-US" dirty="0"/>
              <a:t>Click unknown marker to open window, then “edit locations”. </a:t>
            </a:r>
          </a:p>
          <a:p>
            <a:pPr lvl="1"/>
            <a:r>
              <a:rPr lang="en-US" dirty="0"/>
              <a:t>Manually ”aim” the data at the correct country/state.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201F6-321B-FD3D-1A5C-8A76ABBD4E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37" t="22925"/>
          <a:stretch>
            <a:fillRect/>
          </a:stretch>
        </p:blipFill>
        <p:spPr>
          <a:xfrm>
            <a:off x="8112640" y="0"/>
            <a:ext cx="4164419" cy="4071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3BF8B8-85D7-D544-7D12-031BE00F4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40" y="4233966"/>
            <a:ext cx="4961860" cy="252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57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84CD-01EA-8C8A-66C7-74E9B2D38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Points, Lines, and Map Math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E5236-1687-EDA5-E396-CE33F588D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875" y="1853754"/>
            <a:ext cx="7269126" cy="4199728"/>
          </a:xfrm>
        </p:spPr>
        <p:txBody>
          <a:bodyPr/>
          <a:lstStyle/>
          <a:p>
            <a:r>
              <a:rPr lang="en-US" dirty="0"/>
              <a:t>We’ll do more of this when we do spatial joins (connecting map data to normal data). </a:t>
            </a:r>
          </a:p>
          <a:p>
            <a:r>
              <a:rPr lang="en-US" dirty="0"/>
              <a:t>Special data types that work with spatial (mapping) data. </a:t>
            </a:r>
          </a:p>
          <a:p>
            <a:pPr lvl="1"/>
            <a:r>
              <a:rPr lang="en-US" dirty="0"/>
              <a:t>Points, lines, areas (and more). </a:t>
            </a:r>
          </a:p>
          <a:p>
            <a:r>
              <a:rPr lang="en-US" dirty="0"/>
              <a:t>Represent spatial data and allow easy geometric calculations. </a:t>
            </a:r>
          </a:p>
          <a:p>
            <a:pPr lvl="1"/>
            <a:r>
              <a:rPr lang="en-US" dirty="0"/>
              <a:t>Can calculate distance between points, if a line intersects an area, if a point is in an area, if something is within X km of something…</a:t>
            </a:r>
          </a:p>
        </p:txBody>
      </p:sp>
      <p:pic>
        <p:nvPicPr>
          <p:cNvPr id="4" name="Picture 3" descr="Part 1: Introduction to Geographic Information Systems (GIS) | GeoAcademy  Portal">
            <a:extLst>
              <a:ext uri="{FF2B5EF4-FFF2-40B4-BE49-F238E27FC236}">
                <a16:creationId xmlns:a16="http://schemas.microsoft.com/office/drawing/2014/main" id="{52799393-4433-165E-57B9-B483F5AC0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9136"/>
            <a:ext cx="5097674" cy="515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92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87B4-122C-A850-DA01-562912AC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TabMaps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9EB63-8B13-E2CC-4C93-741EA7BFA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10068068" cy="4199726"/>
          </a:xfrm>
        </p:spPr>
        <p:txBody>
          <a:bodyPr/>
          <a:lstStyle/>
          <a:p>
            <a:r>
              <a:rPr lang="en-US" dirty="0"/>
              <a:t>Mapping is generally pretty easy in Tableau, as long as a few requirements are met:</a:t>
            </a:r>
          </a:p>
          <a:p>
            <a:pPr lvl="1"/>
            <a:r>
              <a:rPr lang="en-US" dirty="0"/>
              <a:t>To make a </a:t>
            </a:r>
            <a:r>
              <a:rPr lang="en-US" b="1" dirty="0"/>
              <a:t>filled map</a:t>
            </a:r>
            <a:r>
              <a:rPr lang="en-US" dirty="0"/>
              <a:t>, your data must have a </a:t>
            </a:r>
            <a:r>
              <a:rPr lang="en-US" b="1" dirty="0"/>
              <a:t>region</a:t>
            </a:r>
            <a:r>
              <a:rPr lang="en-US" dirty="0"/>
              <a:t> (state/prov/country)*. </a:t>
            </a:r>
          </a:p>
          <a:p>
            <a:pPr lvl="1"/>
            <a:r>
              <a:rPr lang="en-US" dirty="0"/>
              <a:t>To make a </a:t>
            </a:r>
            <a:r>
              <a:rPr lang="en-US" b="1" dirty="0"/>
              <a:t>point map</a:t>
            </a:r>
            <a:r>
              <a:rPr lang="en-US" dirty="0"/>
              <a:t>, your data must have </a:t>
            </a:r>
            <a:r>
              <a:rPr lang="en-US" b="1" dirty="0"/>
              <a:t>latitude and longitude (or point). </a:t>
            </a:r>
          </a:p>
          <a:p>
            <a:pPr lvl="1"/>
            <a:r>
              <a:rPr lang="en-US" dirty="0"/>
              <a:t>*You can do some translation here if joining with other spatial files, more later. </a:t>
            </a:r>
          </a:p>
          <a:p>
            <a:r>
              <a:rPr lang="en-US" dirty="0"/>
              <a:t>Mapping data is usually identified correctly, but you may need to fix:</a:t>
            </a:r>
          </a:p>
          <a:p>
            <a:pPr lvl="1"/>
            <a:r>
              <a:rPr lang="en-US" dirty="0"/>
              <a:t>Right click menu from the variable has options to change interpreted type. </a:t>
            </a:r>
          </a:p>
          <a:p>
            <a:pPr lvl="1"/>
            <a:r>
              <a:rPr lang="en-US" dirty="0"/>
              <a:t>Lat/</a:t>
            </a:r>
            <a:r>
              <a:rPr lang="en-US" dirty="0" err="1"/>
              <a:t>lon</a:t>
            </a:r>
            <a:r>
              <a:rPr lang="en-US" dirty="0"/>
              <a:t> – may need to manually label them. </a:t>
            </a:r>
          </a:p>
          <a:p>
            <a:pPr lvl="1"/>
            <a:r>
              <a:rPr lang="en-US" dirty="0"/>
              <a:t>State/Province/Country – may need to separate parts, label, or correct missing data interpretation. </a:t>
            </a:r>
          </a:p>
          <a:p>
            <a:r>
              <a:rPr lang="en-US" dirty="0"/>
              <a:t>Neighborhoods, regions, areas – not filled mappable, unless you add another spatial file. </a:t>
            </a:r>
          </a:p>
          <a:p>
            <a:pPr lvl="1"/>
            <a:r>
              <a:rPr lang="en-US" dirty="0"/>
              <a:t>If using City data, pay attention to this if you want to map something like a ‘hood or ward. </a:t>
            </a:r>
          </a:p>
        </p:txBody>
      </p:sp>
    </p:spTree>
    <p:extLst>
      <p:ext uri="{BB962C8B-B14F-4D97-AF65-F5344CB8AC3E}">
        <p14:creationId xmlns:p14="http://schemas.microsoft.com/office/powerpoint/2010/main" val="3658273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358D1-124B-9C97-36F8-4A7A7BF7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Colorblindness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DB0B6-F29D-D201-190F-6F62ADB7C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When choosing color schemes we want to consider colorblindness. </a:t>
            </a:r>
          </a:p>
          <a:p>
            <a:r>
              <a:rPr lang="en-US" dirty="0"/>
              <a:t>Red/green tends to be the most common issue. </a:t>
            </a:r>
          </a:p>
          <a:p>
            <a:pPr lvl="1"/>
            <a:r>
              <a:rPr lang="en-US" dirty="0"/>
              <a:t>Things like financial data – things with red/green also have brackets or negatives to be clear. </a:t>
            </a:r>
          </a:p>
          <a:p>
            <a:r>
              <a:rPr lang="en-US" dirty="0"/>
              <a:t>Default color schemes in Tableau (blue/orange) is colorblind friendly. </a:t>
            </a:r>
          </a:p>
          <a:p>
            <a:r>
              <a:rPr lang="en-US" dirty="0"/>
              <a:t>Even outside of colorblind concerns, color schemes should be clear:</a:t>
            </a:r>
          </a:p>
          <a:p>
            <a:pPr lvl="1"/>
            <a:r>
              <a:rPr lang="en-US" dirty="0"/>
              <a:t>Don’t have colors that are hard to see/differentiate. </a:t>
            </a:r>
          </a:p>
          <a:p>
            <a:pPr lvl="1"/>
            <a:r>
              <a:rPr lang="en-US" dirty="0"/>
              <a:t>Make sure that color use is consistent if you have more than one usage of color. </a:t>
            </a:r>
          </a:p>
          <a:p>
            <a:pPr lvl="1"/>
            <a:r>
              <a:rPr lang="en-US" dirty="0"/>
              <a:t>Don’t accidentally imply things with colors (red=bad, green=good, darker=higher, same color=same thing, </a:t>
            </a:r>
            <a:r>
              <a:rPr lang="en-US" dirty="0" err="1"/>
              <a:t>etc</a:t>
            </a:r>
            <a:r>
              <a:rPr lang="en-US" dirty="0"/>
              <a:t>…) </a:t>
            </a:r>
          </a:p>
        </p:txBody>
      </p:sp>
    </p:spTree>
    <p:extLst>
      <p:ext uri="{BB962C8B-B14F-4D97-AF65-F5344CB8AC3E}">
        <p14:creationId xmlns:p14="http://schemas.microsoft.com/office/powerpoint/2010/main" val="17278253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21A89-2CD6-B432-70B8-64058E67D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and Concerns Adding Density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7FE19-D97C-B44E-FE05-B44725376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Color is a common thing we can change to add some density to a chart. </a:t>
            </a:r>
          </a:p>
          <a:p>
            <a:r>
              <a:rPr lang="en-US" dirty="0"/>
              <a:t>Most chart types can have another metric added to the color. </a:t>
            </a:r>
          </a:p>
          <a:p>
            <a:pPr lvl="1"/>
            <a:r>
              <a:rPr lang="en-US" dirty="0"/>
              <a:t>Commonly: use a color to show a continuous value on something like scatter plot mark. </a:t>
            </a:r>
          </a:p>
          <a:p>
            <a:r>
              <a:rPr lang="en-US" dirty="0"/>
              <a:t>Ensure the color scheme you pick makes sense and is clear. </a:t>
            </a:r>
          </a:p>
          <a:p>
            <a:r>
              <a:rPr lang="en-US" dirty="0"/>
              <a:t>Depart from known–good color schemes with caution. </a:t>
            </a:r>
          </a:p>
          <a:p>
            <a:r>
              <a:rPr lang="en-US" dirty="0"/>
              <a:t>Using color is good, except for where it is bad! </a:t>
            </a:r>
          </a:p>
        </p:txBody>
      </p:sp>
    </p:spTree>
    <p:extLst>
      <p:ext uri="{BB962C8B-B14F-4D97-AF65-F5344CB8AC3E}">
        <p14:creationId xmlns:p14="http://schemas.microsoft.com/office/powerpoint/2010/main" val="32756229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6656-2238-7069-2E61-1056E5AA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4E757-5AE6-E929-5DB5-A47D51129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042549"/>
          </a:xfrm>
        </p:spPr>
        <p:txBody>
          <a:bodyPr/>
          <a:lstStyle/>
          <a:p>
            <a:r>
              <a:rPr lang="en-US" dirty="0"/>
              <a:t>Color is a primary tool in visualization. </a:t>
            </a:r>
          </a:p>
          <a:p>
            <a:r>
              <a:rPr lang="en-US" dirty="0"/>
              <a:t>We can use it in several way to embed information. </a:t>
            </a:r>
          </a:p>
          <a:p>
            <a:pPr lvl="1"/>
            <a:r>
              <a:rPr lang="en-US" dirty="0"/>
              <a:t>Categorical label, diverging gradient, sequential gradient. </a:t>
            </a:r>
          </a:p>
          <a:p>
            <a:r>
              <a:rPr lang="en-US" dirty="0"/>
              <a:t>Color also has common meaning. </a:t>
            </a:r>
          </a:p>
          <a:p>
            <a:pPr lvl="1"/>
            <a:r>
              <a:rPr lang="en-US" dirty="0"/>
              <a:t>Red is stop, green is go, blue is water…</a:t>
            </a:r>
          </a:p>
          <a:p>
            <a:r>
              <a:rPr lang="en-US" dirty="0"/>
              <a:t>Color is easy to add to virtually any mark. </a:t>
            </a:r>
          </a:p>
        </p:txBody>
      </p:sp>
    </p:spTree>
    <p:extLst>
      <p:ext uri="{BB962C8B-B14F-4D97-AF65-F5344CB8AC3E}">
        <p14:creationId xmlns:p14="http://schemas.microsoft.com/office/powerpoint/2010/main" val="188201021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26545</TotalTime>
  <Words>2684</Words>
  <Application>Microsoft Macintosh PowerPoint</Application>
  <PresentationFormat>Widescreen</PresentationFormat>
  <Paragraphs>230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Gill Sans MT</vt:lpstr>
      <vt:lpstr>Gallery</vt:lpstr>
      <vt:lpstr>Housekeeping</vt:lpstr>
      <vt:lpstr>Assignment</vt:lpstr>
      <vt:lpstr>PowerPoint Presentation</vt:lpstr>
      <vt:lpstr>Discreet vs Continuous</vt:lpstr>
      <vt:lpstr>PowerPoint Presentation</vt:lpstr>
      <vt:lpstr>Discreet vs Continuous in Tableau</vt:lpstr>
      <vt:lpstr>Less Formally…</vt:lpstr>
      <vt:lpstr>Translation between Discreet/continuous</vt:lpstr>
      <vt:lpstr>Aggregation</vt:lpstr>
      <vt:lpstr>Focus (excessively) on the “per” part of Groups (Granularity)</vt:lpstr>
      <vt:lpstr>In Tableau</vt:lpstr>
      <vt:lpstr>For mapping…</vt:lpstr>
      <vt:lpstr>Color</vt:lpstr>
      <vt:lpstr>Color in Visualization</vt:lpstr>
      <vt:lpstr>PowerPoint Presentation</vt:lpstr>
      <vt:lpstr>Scales and Color Choices</vt:lpstr>
      <vt:lpstr>PowerPoint Presentation</vt:lpstr>
      <vt:lpstr>Tableau Helps us Out here…</vt:lpstr>
      <vt:lpstr>Think about what Color is For</vt:lpstr>
      <vt:lpstr>Edit Colors in Tableau</vt:lpstr>
      <vt:lpstr>Dynamic Colors</vt:lpstr>
      <vt:lpstr>Maps (and Color)</vt:lpstr>
      <vt:lpstr>Filled Maps</vt:lpstr>
      <vt:lpstr>Discreet Values – Discreet Colors</vt:lpstr>
      <vt:lpstr>Continuous Values – Color Scales</vt:lpstr>
      <vt:lpstr>Point Maps</vt:lpstr>
      <vt:lpstr>Layered Maps</vt:lpstr>
      <vt:lpstr>Beware Tableau’s Italic Deception!</vt:lpstr>
      <vt:lpstr>More Trickery</vt:lpstr>
      <vt:lpstr>Points, Lines, and Map Math</vt:lpstr>
      <vt:lpstr>TabMaps</vt:lpstr>
      <vt:lpstr>Colorblindness</vt:lpstr>
      <vt:lpstr>Color and Concerns Adding Density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58</cp:revision>
  <dcterms:created xsi:type="dcterms:W3CDTF">2025-08-22T02:43:52Z</dcterms:created>
  <dcterms:modified xsi:type="dcterms:W3CDTF">2026-09-23T19:57:01Z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2025-08-22T02:44:10Z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c779dba4-fd9a-468f-bb5c-043c87891091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