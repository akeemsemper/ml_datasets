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3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26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AED4E-895E-BB4B-BDE6-34F047E66D59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25CDD68D-BFFA-8443-8538-22F8B20C1765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3364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AED4E-895E-BB4B-BDE6-34F047E66D59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DD68D-BFFA-8443-8538-22F8B20C1765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8590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AED4E-895E-BB4B-BDE6-34F047E66D59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DD68D-BFFA-8443-8538-22F8B20C1765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8331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AED4E-895E-BB4B-BDE6-34F047E66D59}" type="datetimeFigureOut">
              <a:rPr lang="en-US" smtClean="0"/>
              <a:t>9/23/26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DD68D-BFFA-8443-8538-22F8B20C1765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09665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AED4E-895E-BB4B-BDE6-34F047E66D59}" type="datetimeFigureOut">
              <a:rPr lang="en-US" smtClean="0"/>
              <a:t>9/23/26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DD68D-BFFA-8443-8538-22F8B20C1765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6143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AED4E-895E-BB4B-BDE6-34F047E66D59}" type="datetimeFigureOut">
              <a:rPr lang="en-US" smtClean="0"/>
              <a:t>9/23/26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DD68D-BFFA-8443-8538-22F8B20C1765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7044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AED4E-895E-BB4B-BDE6-34F047E66D59}" type="datetimeFigureOut">
              <a:rPr lang="en-US" smtClean="0"/>
              <a:t>9/23/26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DD68D-BFFA-8443-8538-22F8B20C17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735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AED4E-895E-BB4B-BDE6-34F047E66D59}" type="datetimeFigureOut">
              <a:rPr lang="en-US" smtClean="0"/>
              <a:t>9/23/26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DD68D-BFFA-8443-8538-22F8B20C1765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44718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1A3AED4E-895E-BB4B-BDE6-34F047E66D59}" type="datetimeFigureOut">
              <a:rPr lang="en-US" smtClean="0"/>
              <a:t>9/23/26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DD68D-BFFA-8443-8538-22F8B20C1765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37484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AED4E-895E-BB4B-BDE6-34F047E66D59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DD68D-BFFA-8443-8538-22F8B20C1765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166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AED4E-895E-BB4B-BDE6-34F047E66D59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DD68D-BFFA-8443-8538-22F8B20C1765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6609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3AED4E-895E-BB4B-BDE6-34F047E66D59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25CDD68D-BFFA-8443-8538-22F8B20C1765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1072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61FEB-3F4B-50C7-D303-DB74D7E6C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Housekeeping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953B66-3705-22AE-3367-49A74772B0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Gestalt’s Principles – concepts to consider </a:t>
            </a:r>
            <a:r>
              <a:rPr lang="en-US" dirty="0" err="1"/>
              <a:t>wrt</a:t>
            </a:r>
            <a:r>
              <a:rPr lang="en-US" dirty="0"/>
              <a:t> how we process information. </a:t>
            </a:r>
          </a:p>
          <a:p>
            <a:pPr lvl="1"/>
            <a:r>
              <a:rPr lang="en-US" dirty="0"/>
              <a:t>Guidelines for designing things, like your assignments. </a:t>
            </a:r>
          </a:p>
          <a:p>
            <a:r>
              <a:rPr lang="en-US" dirty="0"/>
              <a:t>Intro to Maps exercise - we’ll make some maps!</a:t>
            </a:r>
          </a:p>
          <a:p>
            <a:pPr lvl="1"/>
            <a:r>
              <a:rPr lang="en-US" dirty="0"/>
              <a:t>Map types. </a:t>
            </a:r>
          </a:p>
          <a:p>
            <a:pPr lvl="1"/>
            <a:r>
              <a:rPr lang="en-US" dirty="0"/>
              <a:t>Layers. </a:t>
            </a:r>
          </a:p>
          <a:p>
            <a:pPr lvl="1"/>
            <a:r>
              <a:rPr lang="en-US" dirty="0"/>
              <a:t>Paths and more!!</a:t>
            </a:r>
          </a:p>
        </p:txBody>
      </p:sp>
    </p:spTree>
    <p:extLst>
      <p:ext uri="{BB962C8B-B14F-4D97-AF65-F5344CB8AC3E}">
        <p14:creationId xmlns:p14="http://schemas.microsoft.com/office/powerpoint/2010/main" val="39570275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C7144-AA66-7534-F8E3-7DA093E0DF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Gestalt’s Principles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ECF563-FA08-576F-6592-1EB3FB54825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126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EDD47-6193-EE9C-7281-80AE873E2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Who’s Gestalt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152610-600D-4356-6605-68BA4CA517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"Gestalt" is German for "unified whole” and was discovered in Germany in the 1920s. </a:t>
            </a:r>
          </a:p>
          <a:p>
            <a:pPr lvl="1"/>
            <a:r>
              <a:rPr lang="en-US" dirty="0"/>
              <a:t>Examine how people interpret parts as a unified whole. </a:t>
            </a:r>
          </a:p>
          <a:p>
            <a:r>
              <a:rPr lang="en-US" dirty="0"/>
              <a:t>The brain will attempt to fill in the gaps to make partial information make sense. </a:t>
            </a:r>
          </a:p>
          <a:p>
            <a:r>
              <a:rPr lang="en-US" dirty="0"/>
              <a:t>Gestalt principles are observations of how we tend to perceive visual data. </a:t>
            </a:r>
          </a:p>
          <a:p>
            <a:pPr lvl="1"/>
            <a:r>
              <a:rPr lang="en-US" dirty="0"/>
              <a:t>Knowing these can inform our design -&gt; make it how people will perceive it. </a:t>
            </a:r>
          </a:p>
        </p:txBody>
      </p:sp>
    </p:spTree>
    <p:extLst>
      <p:ext uri="{BB962C8B-B14F-4D97-AF65-F5344CB8AC3E}">
        <p14:creationId xmlns:p14="http://schemas.microsoft.com/office/powerpoint/2010/main" val="22462574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B8753-0387-FF3F-D404-CD317BDA2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DB2DB6-1996-094B-305D-A6B8A0657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A sample paragraph written in English with jumbled up letters within... |  Download Scientific Diagram">
            <a:extLst>
              <a:ext uri="{FF2B5EF4-FFF2-40B4-BE49-F238E27FC236}">
                <a16:creationId xmlns:a16="http://schemas.microsoft.com/office/drawing/2014/main" id="{E1ED4464-17AD-BBFA-2805-B811770C86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8338" y="0"/>
            <a:ext cx="57753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40103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Exploring the Gestalt Principles of Design | Toptal®">
            <a:extLst>
              <a:ext uri="{FF2B5EF4-FFF2-40B4-BE49-F238E27FC236}">
                <a16:creationId xmlns:a16="http://schemas.microsoft.com/office/drawing/2014/main" id="{19E23852-6D14-1A79-A54B-02FE6F8221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39712"/>
            <a:ext cx="12192000" cy="6378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75305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1" name="Rectangle 3080">
            <a:extLst>
              <a:ext uri="{FF2B5EF4-FFF2-40B4-BE49-F238E27FC236}">
                <a16:creationId xmlns:a16="http://schemas.microsoft.com/office/drawing/2014/main" id="{742C14A9-3617-46DD-9FC4-ED828A7D3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83" name="Straight Connector 3082">
            <a:extLst>
              <a:ext uri="{FF2B5EF4-FFF2-40B4-BE49-F238E27FC236}">
                <a16:creationId xmlns:a16="http://schemas.microsoft.com/office/drawing/2014/main" id="{19AB0109-1C89-41F0-9EDF-3DE017BE3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7" y="1847088"/>
            <a:ext cx="554803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6941BED5-C651-901F-FA7B-27966909F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5550357" cy="1049235"/>
          </a:xfrm>
        </p:spPr>
        <p:txBody>
          <a:bodyPr>
            <a:normAutofit/>
          </a:bodyPr>
          <a:lstStyle/>
          <a:p>
            <a:r>
              <a:rPr lang="en-US" dirty="0"/>
              <a:t>Emergence</a:t>
            </a:r>
          </a:p>
        </p:txBody>
      </p:sp>
      <p:sp>
        <p:nvSpPr>
          <p:cNvPr id="3085" name="Rectangle 3084">
            <a:extLst>
              <a:ext uri="{FF2B5EF4-FFF2-40B4-BE49-F238E27FC236}">
                <a16:creationId xmlns:a16="http://schemas.microsoft.com/office/drawing/2014/main" id="{19E5CB6C-D5A1-44AB-BAD0-E76C67ED2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0AF832-496F-9048-767E-CF24F8846C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80" y="2015732"/>
            <a:ext cx="4406850" cy="3450613"/>
          </a:xfrm>
        </p:spPr>
        <p:txBody>
          <a:bodyPr>
            <a:normAutofit/>
          </a:bodyPr>
          <a:lstStyle/>
          <a:p>
            <a:r>
              <a:rPr lang="en-US" dirty="0"/>
              <a:t>We will assemble orderly shapes out of disconnected items. </a:t>
            </a:r>
          </a:p>
          <a:p>
            <a:endParaRPr lang="en-US" dirty="0"/>
          </a:p>
        </p:txBody>
      </p:sp>
      <p:pic>
        <p:nvPicPr>
          <p:cNvPr id="3074" name="Picture 2" descr="A set of blotches that resemble a Dalmatian.">
            <a:extLst>
              <a:ext uri="{FF2B5EF4-FFF2-40B4-BE49-F238E27FC236}">
                <a16:creationId xmlns:a16="http://schemas.microsoft.com/office/drawing/2014/main" id="{EE513DB8-713C-7213-FC5A-45334FE3BC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372" r="18919" b="20292"/>
          <a:stretch>
            <a:fillRect/>
          </a:stretch>
        </p:blipFill>
        <p:spPr bwMode="auto">
          <a:xfrm>
            <a:off x="5858731" y="1007962"/>
            <a:ext cx="6332965" cy="2738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The Unilever logo">
            <a:extLst>
              <a:ext uri="{FF2B5EF4-FFF2-40B4-BE49-F238E27FC236}">
                <a16:creationId xmlns:a16="http://schemas.microsoft.com/office/drawing/2014/main" id="{A65194C9-0661-31B2-BDA4-A27AE579D3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337929" y="3747745"/>
            <a:ext cx="8138863" cy="2543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7" name="Picture 3086">
            <a:extLst>
              <a:ext uri="{FF2B5EF4-FFF2-40B4-BE49-F238E27FC236}">
                <a16:creationId xmlns:a16="http://schemas.microsoft.com/office/drawing/2014/main" id="{D5A16967-5C32-4A48-9F02-4F0228AC8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3089" name="Straight Connector 3088">
            <a:extLst>
              <a:ext uri="{FF2B5EF4-FFF2-40B4-BE49-F238E27FC236}">
                <a16:creationId xmlns:a16="http://schemas.microsoft.com/office/drawing/2014/main" id="{942D078B-EF20-4DB1-AA1B-87F212C56A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15053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5" name="Rectangle 4104">
            <a:extLst>
              <a:ext uri="{FF2B5EF4-FFF2-40B4-BE49-F238E27FC236}">
                <a16:creationId xmlns:a16="http://schemas.microsoft.com/office/drawing/2014/main" id="{742C14A9-3617-46DD-9FC4-ED828A7D3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07" name="Straight Connector 4106">
            <a:extLst>
              <a:ext uri="{FF2B5EF4-FFF2-40B4-BE49-F238E27FC236}">
                <a16:creationId xmlns:a16="http://schemas.microsoft.com/office/drawing/2014/main" id="{19AB0109-1C89-41F0-9EDF-3DE017BE3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7" y="1847088"/>
            <a:ext cx="554803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9DE43CCB-4EFA-A40A-43BF-7B0D1E91F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5550357" cy="1049235"/>
          </a:xfrm>
        </p:spPr>
        <p:txBody>
          <a:bodyPr>
            <a:normAutofit/>
          </a:bodyPr>
          <a:lstStyle/>
          <a:p>
            <a:r>
              <a:rPr lang="en-US" dirty="0"/>
              <a:t>Closure or Reunification</a:t>
            </a:r>
          </a:p>
        </p:txBody>
      </p:sp>
      <p:sp>
        <p:nvSpPr>
          <p:cNvPr id="4109" name="Rectangle 4108">
            <a:extLst>
              <a:ext uri="{FF2B5EF4-FFF2-40B4-BE49-F238E27FC236}">
                <a16:creationId xmlns:a16="http://schemas.microsoft.com/office/drawing/2014/main" id="{19E5CB6C-D5A1-44AB-BAD0-E76C67ED2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38B238-15FC-4A77-A692-888E32E0D7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5550357" cy="3450613"/>
          </a:xfrm>
        </p:spPr>
        <p:txBody>
          <a:bodyPr>
            <a:normAutofit/>
          </a:bodyPr>
          <a:lstStyle/>
          <a:p>
            <a:r>
              <a:rPr lang="en-US" dirty="0"/>
              <a:t>We prefer complete shapes, so we automatically fill the gaps between elements to perceive a complete image. </a:t>
            </a:r>
          </a:p>
        </p:txBody>
      </p:sp>
      <p:pic>
        <p:nvPicPr>
          <p:cNvPr id="4098" name="Picture 2" descr="A square, circle and triangle with no color and dashed outlines.">
            <a:extLst>
              <a:ext uri="{FF2B5EF4-FFF2-40B4-BE49-F238E27FC236}">
                <a16:creationId xmlns:a16="http://schemas.microsoft.com/office/drawing/2014/main" id="{3A219069-8CCD-A9F5-81F0-02AA6F0B89E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46" t="27031" r="11013" b="27031"/>
          <a:stretch>
            <a:fillRect/>
          </a:stretch>
        </p:blipFill>
        <p:spPr bwMode="auto">
          <a:xfrm>
            <a:off x="7473594" y="1052453"/>
            <a:ext cx="4074836" cy="1349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F000212B-34FF-DDFD-220E-3479F813BC4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393763" y="3688660"/>
            <a:ext cx="7797934" cy="24368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1" name="Picture 4110">
            <a:extLst>
              <a:ext uri="{FF2B5EF4-FFF2-40B4-BE49-F238E27FC236}">
                <a16:creationId xmlns:a16="http://schemas.microsoft.com/office/drawing/2014/main" id="{D5A16967-5C32-4A48-9F02-4F0228AC8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4113" name="Straight Connector 4112">
            <a:extLst>
              <a:ext uri="{FF2B5EF4-FFF2-40B4-BE49-F238E27FC236}">
                <a16:creationId xmlns:a16="http://schemas.microsoft.com/office/drawing/2014/main" id="{942D078B-EF20-4DB1-AA1B-87F212C56A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56800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29" name="Rectangle 5128">
            <a:extLst>
              <a:ext uri="{FF2B5EF4-FFF2-40B4-BE49-F238E27FC236}">
                <a16:creationId xmlns:a16="http://schemas.microsoft.com/office/drawing/2014/main" id="{742C14A9-3617-46DD-9FC4-ED828A7D3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31" name="Straight Connector 5130">
            <a:extLst>
              <a:ext uri="{FF2B5EF4-FFF2-40B4-BE49-F238E27FC236}">
                <a16:creationId xmlns:a16="http://schemas.microsoft.com/office/drawing/2014/main" id="{19AB0109-1C89-41F0-9EDF-3DE017BE3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7" y="1847088"/>
            <a:ext cx="554803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8DEB25A-60EE-D8FD-E8BA-804C8F20D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5550357" cy="1049235"/>
          </a:xfrm>
        </p:spPr>
        <p:txBody>
          <a:bodyPr>
            <a:normAutofit/>
          </a:bodyPr>
          <a:lstStyle/>
          <a:p>
            <a:r>
              <a:rPr lang="en-US" dirty="0"/>
              <a:t>Common Region</a:t>
            </a:r>
          </a:p>
        </p:txBody>
      </p:sp>
      <p:sp>
        <p:nvSpPr>
          <p:cNvPr id="5133" name="Rectangle 5132">
            <a:extLst>
              <a:ext uri="{FF2B5EF4-FFF2-40B4-BE49-F238E27FC236}">
                <a16:creationId xmlns:a16="http://schemas.microsoft.com/office/drawing/2014/main" id="{19E5CB6C-D5A1-44AB-BAD0-E76C67ED2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7E39DB-03CF-522C-3FF8-D6795E42F1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0748" y="3635974"/>
            <a:ext cx="4619752" cy="3450613"/>
          </a:xfrm>
        </p:spPr>
        <p:txBody>
          <a:bodyPr>
            <a:normAutofit/>
          </a:bodyPr>
          <a:lstStyle/>
          <a:p>
            <a:r>
              <a:rPr lang="en-US" dirty="0"/>
              <a:t>We perceive things that share a region to be a group. </a:t>
            </a:r>
          </a:p>
        </p:txBody>
      </p:sp>
      <p:pic>
        <p:nvPicPr>
          <p:cNvPr id="5124" name="Picture 4" descr="Screenshot of a Facebook post with the interactive elements highlighted.">
            <a:extLst>
              <a:ext uri="{FF2B5EF4-FFF2-40B4-BE49-F238E27FC236}">
                <a16:creationId xmlns:a16="http://schemas.microsoft.com/office/drawing/2014/main" id="{70C06410-EE53-378D-ABCA-07D2847A11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-37896" y="1580562"/>
            <a:ext cx="6367144" cy="4472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A grid of equally spaced small squares, with one set of the squares against a background color.">
            <a:extLst>
              <a:ext uri="{FF2B5EF4-FFF2-40B4-BE49-F238E27FC236}">
                <a16:creationId xmlns:a16="http://schemas.microsoft.com/office/drawing/2014/main" id="{ACBB71B2-7EA6-24B9-AF1A-DBE86CE7B2A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1" t="21801" r="7060" b="24685"/>
          <a:stretch>
            <a:fillRect/>
          </a:stretch>
        </p:blipFill>
        <p:spPr bwMode="auto">
          <a:xfrm>
            <a:off x="6071634" y="1307473"/>
            <a:ext cx="6120063" cy="2138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5" name="Picture 5134">
            <a:extLst>
              <a:ext uri="{FF2B5EF4-FFF2-40B4-BE49-F238E27FC236}">
                <a16:creationId xmlns:a16="http://schemas.microsoft.com/office/drawing/2014/main" id="{D5A16967-5C32-4A48-9F02-4F0228AC8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5137" name="Straight Connector 5136">
            <a:extLst>
              <a:ext uri="{FF2B5EF4-FFF2-40B4-BE49-F238E27FC236}">
                <a16:creationId xmlns:a16="http://schemas.microsoft.com/office/drawing/2014/main" id="{942D078B-EF20-4DB1-AA1B-87F212C56A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4485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F4836-6129-FF66-7532-D95EF5355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AB8AF-9F4C-0776-76B2-2678DBE109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4887437" cy="929555"/>
          </a:xfrm>
        </p:spPr>
        <p:txBody>
          <a:bodyPr>
            <a:normAutofit/>
          </a:bodyPr>
          <a:lstStyle/>
          <a:p>
            <a:r>
              <a:rPr lang="en-US" dirty="0"/>
              <a:t>Things that appear to be following a path are interpreted as continuous.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1E45FB-D9C6-F31B-AAA1-44D64D2465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9016" y="16729"/>
            <a:ext cx="5852984" cy="3230430"/>
          </a:xfrm>
          <a:prstGeom prst="rect">
            <a:avLst/>
          </a:prstGeom>
        </p:spPr>
      </p:pic>
      <p:pic>
        <p:nvPicPr>
          <p:cNvPr id="6146" name="Picture 2" descr="Two intersecting curved lines.">
            <a:extLst>
              <a:ext uri="{FF2B5EF4-FFF2-40B4-BE49-F238E27FC236}">
                <a16:creationId xmlns:a16="http://schemas.microsoft.com/office/drawing/2014/main" id="{704D8F26-AF2A-344B-EC51-041E417F324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39" t="20292" r="14054" b="20292"/>
          <a:stretch>
            <a:fillRect/>
          </a:stretch>
        </p:blipFill>
        <p:spPr bwMode="auto">
          <a:xfrm>
            <a:off x="0" y="2783309"/>
            <a:ext cx="9205784" cy="4074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46980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89F4E-284F-1968-D86B-A7B66731D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Proximity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3E1C3-C82C-7445-2435-40393128DB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Things that are closer together than the ‘average’ are interpreted to be grouped. </a:t>
            </a:r>
          </a:p>
        </p:txBody>
      </p:sp>
      <p:pic>
        <p:nvPicPr>
          <p:cNvPr id="7170" name="Picture 2" descr="Three small squares placed randomly on one side. Three more small squares places together on the other side.">
            <a:extLst>
              <a:ext uri="{FF2B5EF4-FFF2-40B4-BE49-F238E27FC236}">
                <a16:creationId xmlns:a16="http://schemas.microsoft.com/office/drawing/2014/main" id="{0B44EEF0-AFF7-88D6-2DD3-107B58AAFA9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44" t="21802" r="11907" b="27883"/>
          <a:stretch>
            <a:fillRect/>
          </a:stretch>
        </p:blipFill>
        <p:spPr bwMode="auto">
          <a:xfrm>
            <a:off x="6561438" y="0"/>
            <a:ext cx="5630562" cy="2062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id="{E4E79F56-147A-17D5-09CB-70CE3BF55BF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69" t="8594" r="22770" b="11621"/>
          <a:stretch>
            <a:fillRect/>
          </a:stretch>
        </p:blipFill>
        <p:spPr bwMode="auto">
          <a:xfrm>
            <a:off x="3501845" y="2991805"/>
            <a:ext cx="5502741" cy="3606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3602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6901-22E3-CF82-557A-C5E2D7492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Multistability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3F84B1-76FF-4DA3-C9E5-09FDD4C4DB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853754"/>
            <a:ext cx="5844746" cy="1724055"/>
          </a:xfrm>
        </p:spPr>
        <p:txBody>
          <a:bodyPr/>
          <a:lstStyle/>
          <a:p>
            <a:r>
              <a:rPr lang="en-US" dirty="0"/>
              <a:t>When images are ambiguous, we perceive one interpretation at a time and can also perceive the switch between interpretations. 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A7E0C3E2-7666-B2B0-BC5E-A4AD4CF1A9F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61" t="21802" r="9327" b="20293"/>
          <a:stretch>
            <a:fillRect/>
          </a:stretch>
        </p:blipFill>
        <p:spPr bwMode="auto">
          <a:xfrm>
            <a:off x="5844746" y="30144"/>
            <a:ext cx="6347254" cy="3250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>
            <a:extLst>
              <a:ext uri="{FF2B5EF4-FFF2-40B4-BE49-F238E27FC236}">
                <a16:creationId xmlns:a16="http://schemas.microsoft.com/office/drawing/2014/main" id="{24B94B2A-952C-7011-C93F-81B4C4E892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5264" y="3280192"/>
            <a:ext cx="8586736" cy="3577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02230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5048E-7365-914D-3E00-0FB33BA13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0032" y="804519"/>
            <a:ext cx="5234822" cy="1049235"/>
          </a:xfrm>
        </p:spPr>
        <p:txBody>
          <a:bodyPr/>
          <a:lstStyle/>
          <a:p>
            <a:r>
              <a:rPr lang="en-US" dirty="0"/>
              <a:t>Figure/Ground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9F1F6-0981-D42E-5427-E541117807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0032" y="2015732"/>
            <a:ext cx="5234822" cy="3450613"/>
          </a:xfrm>
        </p:spPr>
        <p:txBody>
          <a:bodyPr/>
          <a:lstStyle/>
          <a:p>
            <a:r>
              <a:rPr lang="en-US" dirty="0"/>
              <a:t>We see foreground elements first unless something is ambiguous. </a:t>
            </a: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90694651-1EBC-4304-092C-EBBBCAA428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06" t="22883" r="14258" b="20292"/>
          <a:stretch>
            <a:fillRect/>
          </a:stretch>
        </p:blipFill>
        <p:spPr bwMode="auto">
          <a:xfrm>
            <a:off x="0" y="0"/>
            <a:ext cx="5820032" cy="3897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Example of dark and light theme from Google's Material Design.">
            <a:extLst>
              <a:ext uri="{FF2B5EF4-FFF2-40B4-BE49-F238E27FC236}">
                <a16:creationId xmlns:a16="http://schemas.microsoft.com/office/drawing/2014/main" id="{D76CAA44-B443-F003-7E93-A5E8715CEE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6431" y="3623763"/>
            <a:ext cx="6965569" cy="3315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5175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35A49-7732-B113-073D-7782CB920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Invariance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A20983-3945-7AF4-99BD-A1952E4F37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915" y="1853754"/>
            <a:ext cx="6586150" cy="2205933"/>
          </a:xfrm>
        </p:spPr>
        <p:txBody>
          <a:bodyPr/>
          <a:lstStyle/>
          <a:p>
            <a:r>
              <a:rPr lang="en-US" dirty="0"/>
              <a:t>We perceive shapes as being the same despite transformations such as position, rotation, stretching, resizing,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r>
              <a:rPr lang="en-US" dirty="0"/>
              <a:t>For example, you recognize a face no matter the angle, if it is in a little driver’s license picture, if it is in the dark,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</p:txBody>
      </p:sp>
      <p:pic>
        <p:nvPicPr>
          <p:cNvPr id="10242" name="Picture 2" descr="Different versions of a shape—some rotated, some distorted.">
            <a:extLst>
              <a:ext uri="{FF2B5EF4-FFF2-40B4-BE49-F238E27FC236}">
                <a16:creationId xmlns:a16="http://schemas.microsoft.com/office/drawing/2014/main" id="{125EF305-7B59-DE24-8C01-F569E86E864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99" t="23243" r="6453" b="24324"/>
          <a:stretch>
            <a:fillRect/>
          </a:stretch>
        </p:blipFill>
        <p:spPr bwMode="auto">
          <a:xfrm>
            <a:off x="2198140" y="4059687"/>
            <a:ext cx="8110151" cy="2776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 descr="A Captcha">
            <a:extLst>
              <a:ext uri="{FF2B5EF4-FFF2-40B4-BE49-F238E27FC236}">
                <a16:creationId xmlns:a16="http://schemas.microsoft.com/office/drawing/2014/main" id="{7980E8D1-335F-86A8-07C0-02F61D2F49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04" r="22669"/>
          <a:stretch>
            <a:fillRect/>
          </a:stretch>
        </p:blipFill>
        <p:spPr bwMode="auto">
          <a:xfrm>
            <a:off x="7154208" y="1220634"/>
            <a:ext cx="5037792" cy="2776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34369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273" name="Rectangle 11272">
            <a:extLst>
              <a:ext uri="{FF2B5EF4-FFF2-40B4-BE49-F238E27FC236}">
                <a16:creationId xmlns:a16="http://schemas.microsoft.com/office/drawing/2014/main" id="{EED2B910-B28F-4A54-B17C-8B7E5893A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275" name="Straight Connector 11274">
            <a:extLst>
              <a:ext uri="{FF2B5EF4-FFF2-40B4-BE49-F238E27FC236}">
                <a16:creationId xmlns:a16="http://schemas.microsoft.com/office/drawing/2014/main" id="{C545F118-1DF8-46A9-8A77-B3D9422CEA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198775" y="1847088"/>
            <a:ext cx="554803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23E63D8-EFB7-A710-6A63-A3883EA21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8962" y="804519"/>
            <a:ext cx="2677852" cy="1049235"/>
          </a:xfrm>
        </p:spPr>
        <p:txBody>
          <a:bodyPr>
            <a:normAutofit/>
          </a:bodyPr>
          <a:lstStyle/>
          <a:p>
            <a:r>
              <a:rPr lang="en-US" dirty="0" err="1"/>
              <a:t>Pragnanz</a:t>
            </a:r>
            <a:endParaRPr lang="en-US" dirty="0"/>
          </a:p>
        </p:txBody>
      </p:sp>
      <p:sp>
        <p:nvSpPr>
          <p:cNvPr id="11277" name="Rectangle 11276">
            <a:extLst>
              <a:ext uri="{FF2B5EF4-FFF2-40B4-BE49-F238E27FC236}">
                <a16:creationId xmlns:a16="http://schemas.microsoft.com/office/drawing/2014/main" id="{7CAB7D27-148D-4082-B160-72FAD580D6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pic>
        <p:nvPicPr>
          <p:cNvPr id="11268" name="Picture 4" descr="Screenshot of the Airbnb website and a wireframe drawn based on the screenshot to show the shapes of the elements on the interface.">
            <a:extLst>
              <a:ext uri="{FF2B5EF4-FFF2-40B4-BE49-F238E27FC236}">
                <a16:creationId xmlns:a16="http://schemas.microsoft.com/office/drawing/2014/main" id="{B3D22CA5-B2C9-E3A2-6D69-0E4FB47D86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-4245" y="1514586"/>
            <a:ext cx="6985510" cy="24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6" name="Picture 2" descr="Side-by-side comparison of the Olympic rings and a broken-down version of the logo.">
            <a:extLst>
              <a:ext uri="{FF2B5EF4-FFF2-40B4-BE49-F238E27FC236}">
                <a16:creationId xmlns:a16="http://schemas.microsoft.com/office/drawing/2014/main" id="{BD2D7956-551E-0B31-F7D3-28332D0CC6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27" t="24324" r="7871" b="29550"/>
          <a:stretch>
            <a:fillRect/>
          </a:stretch>
        </p:blipFill>
        <p:spPr bwMode="auto">
          <a:xfrm>
            <a:off x="412700" y="3967132"/>
            <a:ext cx="6151620" cy="192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9442A1-52DC-448A-7AFE-454A307AE9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1568" y="2015732"/>
            <a:ext cx="5004486" cy="3450613"/>
          </a:xfrm>
        </p:spPr>
        <p:txBody>
          <a:bodyPr>
            <a:normAutofit/>
          </a:bodyPr>
          <a:lstStyle/>
          <a:p>
            <a:r>
              <a:rPr lang="en-CA" dirty="0" err="1"/>
              <a:t>Pragnanz</a:t>
            </a:r>
            <a:r>
              <a:rPr lang="en-CA" dirty="0"/>
              <a:t> describes the human tendency to simplify complexity, in this case we’ll tend to interpret visual items in a simple way to save on mental processing requirements. </a:t>
            </a:r>
          </a:p>
          <a:p>
            <a:r>
              <a:rPr lang="en-CA" dirty="0"/>
              <a:t>In our case, using visual designs that are simple instead of complex can make it easier for the brain to process. </a:t>
            </a:r>
          </a:p>
          <a:p>
            <a:endParaRPr lang="en-US" dirty="0"/>
          </a:p>
        </p:txBody>
      </p:sp>
      <p:pic>
        <p:nvPicPr>
          <p:cNvPr id="11279" name="Picture 11278">
            <a:extLst>
              <a:ext uri="{FF2B5EF4-FFF2-40B4-BE49-F238E27FC236}">
                <a16:creationId xmlns:a16="http://schemas.microsoft.com/office/drawing/2014/main" id="{CD88FC76-F691-462A-BCF9-0BA4F5DE6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1281" name="Straight Connector 11280">
            <a:extLst>
              <a:ext uri="{FF2B5EF4-FFF2-40B4-BE49-F238E27FC236}">
                <a16:creationId xmlns:a16="http://schemas.microsoft.com/office/drawing/2014/main" id="{33204A7E-B7E9-42D0-9DC4-B82FDC8C4B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24933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A59D0-81AE-AEB9-EF3B-EF3D9B9B2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Similarity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E97062-1862-4F6A-E996-C9B682D69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3349005" cy="1808473"/>
          </a:xfrm>
        </p:spPr>
        <p:txBody>
          <a:bodyPr/>
          <a:lstStyle/>
          <a:p>
            <a:r>
              <a:rPr lang="en-US" dirty="0"/>
              <a:t>We interpret things that share characteristics, like color or shape, as being grouped. </a:t>
            </a:r>
          </a:p>
        </p:txBody>
      </p:sp>
      <p:pic>
        <p:nvPicPr>
          <p:cNvPr id="12290" name="Picture 2" descr="A grid of small grey squares with one row of squares colored blue.">
            <a:extLst>
              <a:ext uri="{FF2B5EF4-FFF2-40B4-BE49-F238E27FC236}">
                <a16:creationId xmlns:a16="http://schemas.microsoft.com/office/drawing/2014/main" id="{A635D9F4-8DA2-0283-EF5C-2BE42387261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10" t="22883" r="9327" b="27030"/>
          <a:stretch>
            <a:fillRect/>
          </a:stretch>
        </p:blipFill>
        <p:spPr bwMode="auto">
          <a:xfrm>
            <a:off x="0" y="3824205"/>
            <a:ext cx="4800584" cy="1642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2" name="Picture 4" descr="Screenshot of the IxDF website">
            <a:extLst>
              <a:ext uri="{FF2B5EF4-FFF2-40B4-BE49-F238E27FC236}">
                <a16:creationId xmlns:a16="http://schemas.microsoft.com/office/drawing/2014/main" id="{3C082D8F-A447-5E0E-A715-28E89FA56C1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42" r="21233"/>
          <a:stretch>
            <a:fillRect/>
          </a:stretch>
        </p:blipFill>
        <p:spPr bwMode="auto">
          <a:xfrm>
            <a:off x="4800584" y="0"/>
            <a:ext cx="7391416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15896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F375A-EDEA-3C80-C1D9-ED3E4AA8C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Symmetry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9D7742-CAA8-CDC0-D4C7-41FBB09852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brain processes things that are symmetrical as being grouped. </a:t>
            </a:r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443E63E4-E190-87AE-5EB1-00AB4A03474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52" t="32793" r="22568" b="29189"/>
          <a:stretch>
            <a:fillRect/>
          </a:stretch>
        </p:blipFill>
        <p:spPr bwMode="auto">
          <a:xfrm>
            <a:off x="37768" y="3429000"/>
            <a:ext cx="5242937" cy="2199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6" name="Picture 4" descr="Screenshot of Google's search page.">
            <a:extLst>
              <a:ext uri="{FF2B5EF4-FFF2-40B4-BE49-F238E27FC236}">
                <a16:creationId xmlns:a16="http://schemas.microsoft.com/office/drawing/2014/main" id="{BF213453-98B8-0C7A-35E6-65BA223308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34" r="18412"/>
          <a:stretch>
            <a:fillRect/>
          </a:stretch>
        </p:blipFill>
        <p:spPr bwMode="auto">
          <a:xfrm>
            <a:off x="5280705" y="3058460"/>
            <a:ext cx="6873527" cy="3688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36634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416A1-58B3-4D18-3F74-BCE4AC260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Fate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4CFF6-8C8F-BC34-4B9D-5B0A160B62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3697071" cy="3450613"/>
          </a:xfrm>
        </p:spPr>
        <p:txBody>
          <a:bodyPr/>
          <a:lstStyle/>
          <a:p>
            <a:r>
              <a:rPr lang="en-US" dirty="0"/>
              <a:t>We tend to perceive things that are aligned or moving in the same direction as grouped. </a:t>
            </a:r>
          </a:p>
        </p:txBody>
      </p:sp>
      <p:pic>
        <p:nvPicPr>
          <p:cNvPr id="14338" name="Picture 2" descr="A series of arrows pointing right, with two arrows in the middle pointing left.">
            <a:extLst>
              <a:ext uri="{FF2B5EF4-FFF2-40B4-BE49-F238E27FC236}">
                <a16:creationId xmlns:a16="http://schemas.microsoft.com/office/drawing/2014/main" id="{868E874E-F1A6-EDA8-9541-F790DF2148B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91" t="20292" r="7061" b="20292"/>
          <a:stretch>
            <a:fillRect/>
          </a:stretch>
        </p:blipFill>
        <p:spPr bwMode="auto">
          <a:xfrm>
            <a:off x="5148650" y="23826"/>
            <a:ext cx="7043350" cy="2735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0" name="Picture 4">
            <a:extLst>
              <a:ext uri="{FF2B5EF4-FFF2-40B4-BE49-F238E27FC236}">
                <a16:creationId xmlns:a16="http://schemas.microsoft.com/office/drawing/2014/main" id="{50E997A1-4638-E99F-DCA1-ECC4B84EB7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7093" y="3386296"/>
            <a:ext cx="8274907" cy="3447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42074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2878C-A118-5A42-4AF4-7B5523994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</a:t>
            </a:r>
            <a:r>
              <a:rPr lang="en-US" dirty="0" err="1"/>
              <a:t>GEstalt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7320BC-1B38-3CB6-7670-BCB147276D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/>
          <a:lstStyle/>
          <a:p>
            <a:r>
              <a:rPr lang="en-US" dirty="0"/>
              <a:t>These principles aren’t really things that you </a:t>
            </a:r>
            <a:r>
              <a:rPr lang="en-US" i="1" dirty="0"/>
              <a:t>do</a:t>
            </a:r>
            <a:r>
              <a:rPr lang="en-US" dirty="0"/>
              <a:t>, they’re things you consider. </a:t>
            </a:r>
          </a:p>
          <a:p>
            <a:r>
              <a:rPr lang="en-US" dirty="0"/>
              <a:t>A reader of your visualization will have these tendencies activate when looking. </a:t>
            </a:r>
          </a:p>
          <a:p>
            <a:r>
              <a:rPr lang="en-US" dirty="0"/>
              <a:t>We want to use them to direct attention or convey what we intend. </a:t>
            </a:r>
          </a:p>
          <a:p>
            <a:pPr lvl="1"/>
            <a:r>
              <a:rPr lang="en-US" dirty="0"/>
              <a:t>Orderly design can guide user interaction, imply ‘instructions’, and reduce friction. </a:t>
            </a:r>
          </a:p>
          <a:p>
            <a:r>
              <a:rPr lang="en-US" dirty="0"/>
              <a:t>We want to avoid doing something that conflicts with what these principles indicate. </a:t>
            </a:r>
          </a:p>
          <a:p>
            <a:pPr lvl="1"/>
            <a:r>
              <a:rPr lang="en-US" dirty="0"/>
              <a:t>Conflicting will lead to user confusion and potentially misinterpretation. </a:t>
            </a:r>
          </a:p>
          <a:p>
            <a:pPr lvl="1"/>
            <a:r>
              <a:rPr lang="en-US" dirty="0"/>
              <a:t>E.g. have you ever clicked on something you thought was a button?</a:t>
            </a:r>
          </a:p>
          <a:p>
            <a:r>
              <a:rPr lang="en-US" dirty="0"/>
              <a:t>How a reader will perceive what we make should be a key consideration. </a:t>
            </a:r>
          </a:p>
          <a:p>
            <a:pPr lvl="1"/>
            <a:r>
              <a:rPr lang="en-US" dirty="0"/>
              <a:t>Also consider the opposite, we don’t want to accidently </a:t>
            </a:r>
            <a:r>
              <a:rPr lang="en-US"/>
              <a:t>introduce info.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34306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D0750-13E1-F7D9-8F2D-3D43887FC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4CE054-C5A7-1536-0DF9-5AA79BFBB2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228278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4297</TotalTime>
  <Words>510</Words>
  <Application>Microsoft Macintosh PowerPoint</Application>
  <PresentationFormat>Widescreen</PresentationFormat>
  <Paragraphs>50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Gill Sans MT</vt:lpstr>
      <vt:lpstr>Gallery</vt:lpstr>
      <vt:lpstr>Housekeeping</vt:lpstr>
      <vt:lpstr>Gestalt’s Principles</vt:lpstr>
      <vt:lpstr>Who’s Gestalt</vt:lpstr>
      <vt:lpstr>PowerPoint Presentation</vt:lpstr>
      <vt:lpstr>PowerPoint Presentation</vt:lpstr>
      <vt:lpstr>Emergence</vt:lpstr>
      <vt:lpstr>Closure or Reunification</vt:lpstr>
      <vt:lpstr>Common Region</vt:lpstr>
      <vt:lpstr>Continuity</vt:lpstr>
      <vt:lpstr>Proximity</vt:lpstr>
      <vt:lpstr>Multistability</vt:lpstr>
      <vt:lpstr>Figure/Ground</vt:lpstr>
      <vt:lpstr>Invariance</vt:lpstr>
      <vt:lpstr>Pragnanz</vt:lpstr>
      <vt:lpstr>Similarity</vt:lpstr>
      <vt:lpstr>Symmetry</vt:lpstr>
      <vt:lpstr>Common Fate</vt:lpstr>
      <vt:lpstr>Using GEstalt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Akeem Semper</dc:creator>
  <cp:keywords/>
  <dc:description/>
  <cp:lastModifiedBy>Akeem Semper</cp:lastModifiedBy>
  <cp:revision>12</cp:revision>
  <dcterms:created xsi:type="dcterms:W3CDTF">2025-08-29T22:21:59Z</dcterms:created>
  <dcterms:modified xsi:type="dcterms:W3CDTF">2026-09-23T19:04:47Z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0877899-02b0-462c-b2a9-b7d15c4f96fe_Enabled">
    <vt:lpwstr>true</vt:lpwstr>
  </property>
  <property fmtid="{D5CDD505-2E9C-101B-9397-08002B2CF9AE}" pid="3" name="MSIP_Label_10877899-02b0-462c-b2a9-b7d15c4f96fe_SetDate">
    <vt:lpwstr>2025-08-29T22:22:20Z</vt:lpwstr>
  </property>
  <property fmtid="{D5CDD505-2E9C-101B-9397-08002B2CF9AE}" pid="4" name="MSIP_Label_10877899-02b0-462c-b2a9-b7d15c4f96fe_Method">
    <vt:lpwstr>Standard</vt:lpwstr>
  </property>
  <property fmtid="{D5CDD505-2E9C-101B-9397-08002B2CF9AE}" pid="5" name="MSIP_Label_10877899-02b0-462c-b2a9-b7d15c4f96fe_Name">
    <vt:lpwstr>Protected [Protected A]</vt:lpwstr>
  </property>
  <property fmtid="{D5CDD505-2E9C-101B-9397-08002B2CF9AE}" pid="6" name="MSIP_Label_10877899-02b0-462c-b2a9-b7d15c4f96fe_SiteId">
    <vt:lpwstr>5c98fb47-d3b9-4649-9d94-f88cbdd9729c</vt:lpwstr>
  </property>
  <property fmtid="{D5CDD505-2E9C-101B-9397-08002B2CF9AE}" pid="7" name="MSIP_Label_10877899-02b0-462c-b2a9-b7d15c4f96fe_ActionId">
    <vt:lpwstr>9b7dd73d-3cc6-40e5-8dfb-0a4608d853d8</vt:lpwstr>
  </property>
  <property fmtid="{D5CDD505-2E9C-101B-9397-08002B2CF9AE}" pid="8" name="MSIP_Label_10877899-02b0-462c-b2a9-b7d15c4f96fe_ContentBits">
    <vt:lpwstr>0</vt:lpwstr>
  </property>
  <property fmtid="{D5CDD505-2E9C-101B-9397-08002B2CF9AE}" pid="9" name="MSIP_Label_10877899-02b0-462c-b2a9-b7d15c4f96fe_Tag">
    <vt:lpwstr>50, 3, 0, 1</vt:lpwstr>
  </property>
</Properties>
</file>