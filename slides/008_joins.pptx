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0"/>
  </p:notesMasterIdLst>
  <p:sldIdLst>
    <p:sldId id="374" r:id="rId2"/>
    <p:sldId id="378" r:id="rId3"/>
    <p:sldId id="375" r:id="rId4"/>
    <p:sldId id="256" r:id="rId5"/>
    <p:sldId id="257" r:id="rId6"/>
    <p:sldId id="306" r:id="rId7"/>
    <p:sldId id="377" r:id="rId8"/>
    <p:sldId id="362" r:id="rId9"/>
    <p:sldId id="379" r:id="rId10"/>
    <p:sldId id="258" r:id="rId11"/>
    <p:sldId id="364" r:id="rId12"/>
    <p:sldId id="369" r:id="rId13"/>
    <p:sldId id="371" r:id="rId14"/>
    <p:sldId id="333" r:id="rId15"/>
    <p:sldId id="370" r:id="rId16"/>
    <p:sldId id="380" r:id="rId17"/>
    <p:sldId id="353" r:id="rId18"/>
    <p:sldId id="304" r:id="rId19"/>
    <p:sldId id="305" r:id="rId20"/>
    <p:sldId id="363" r:id="rId21"/>
    <p:sldId id="334" r:id="rId22"/>
    <p:sldId id="307" r:id="rId23"/>
    <p:sldId id="308" r:id="rId24"/>
    <p:sldId id="310" r:id="rId25"/>
    <p:sldId id="367" r:id="rId26"/>
    <p:sldId id="354" r:id="rId27"/>
    <p:sldId id="366" r:id="rId28"/>
    <p:sldId id="355" r:id="rId29"/>
    <p:sldId id="373" r:id="rId30"/>
    <p:sldId id="356" r:id="rId31"/>
    <p:sldId id="357" r:id="rId32"/>
    <p:sldId id="358" r:id="rId33"/>
    <p:sldId id="359" r:id="rId34"/>
    <p:sldId id="360" r:id="rId35"/>
    <p:sldId id="376" r:id="rId36"/>
    <p:sldId id="368" r:id="rId37"/>
    <p:sldId id="372" r:id="rId38"/>
    <p:sldId id="36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/>
    <p:restoredTop sz="94658"/>
  </p:normalViewPr>
  <p:slideViewPr>
    <p:cSldViewPr snapToGrid="0">
      <p:cViewPr varScale="1">
        <p:scale>
          <a:sx n="120" d="100"/>
          <a:sy n="120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29A22-AD26-424E-97E1-6600CB23E09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3E7A2-7B99-854A-B7E0-1D09A44B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56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01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96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96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8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4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1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9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17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6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55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9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62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35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7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98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24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73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C9DC-8DDD-6E4D-8614-EDD71F05B5A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6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if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B2DD-CCAF-56F3-68ED-3A98961D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0A98-FD55-30E1-4FE4-46BF20207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111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A closer look at datasheets. </a:t>
            </a:r>
          </a:p>
          <a:p>
            <a:pPr lvl="1"/>
            <a:r>
              <a:rPr lang="en-US" dirty="0"/>
              <a:t>Data warehousing and ETL theory. </a:t>
            </a:r>
          </a:p>
          <a:p>
            <a:pPr lvl="1"/>
            <a:r>
              <a:rPr lang="en-US" dirty="0"/>
              <a:t>Joining datasets. </a:t>
            </a:r>
          </a:p>
          <a:p>
            <a:pPr lvl="1"/>
            <a:r>
              <a:rPr lang="en-US" dirty="0"/>
              <a:t>Depending on time, </a:t>
            </a:r>
            <a:r>
              <a:rPr lang="en-US"/>
              <a:t>adding mappable data to map-less data. </a:t>
            </a:r>
            <a:endParaRPr lang="en-US" dirty="0"/>
          </a:p>
          <a:p>
            <a:r>
              <a:rPr lang="en-US" dirty="0"/>
              <a:t>There’s an exam soon – a week!</a:t>
            </a:r>
          </a:p>
          <a:p>
            <a:pPr lvl="1"/>
            <a:r>
              <a:rPr lang="en-US" dirty="0"/>
              <a:t>As we noted last time, I pushed it a week due to the quiz being pushed for the holiday.</a:t>
            </a:r>
          </a:p>
          <a:p>
            <a:pPr lvl="1"/>
            <a:r>
              <a:rPr lang="en-US" dirty="0"/>
              <a:t>Open book, theory only (no tableau activities), M/C and short answer. </a:t>
            </a:r>
          </a:p>
          <a:p>
            <a:pPr lvl="1"/>
            <a:r>
              <a:rPr lang="en-US" dirty="0"/>
              <a:t>There’s a guide on Brightspace.  </a:t>
            </a:r>
          </a:p>
          <a:p>
            <a:r>
              <a:rPr lang="en-US" dirty="0"/>
              <a:t>Link on Brightspace with example quiz 1 solution. </a:t>
            </a:r>
          </a:p>
        </p:txBody>
      </p:sp>
    </p:spTree>
    <p:extLst>
      <p:ext uri="{BB962C8B-B14F-4D97-AF65-F5344CB8AC3E}">
        <p14:creationId xmlns:p14="http://schemas.microsoft.com/office/powerpoint/2010/main" val="74922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4C62-A5FE-AE31-82A5-64978FFE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DE5B7-6637-E940-3F58-B682C9C23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03" y="1853754"/>
            <a:ext cx="7861465" cy="4309540"/>
          </a:xfrm>
        </p:spPr>
        <p:txBody>
          <a:bodyPr/>
          <a:lstStyle/>
          <a:p>
            <a:r>
              <a:rPr lang="en-US" dirty="0"/>
              <a:t>Grades are posted. I noticed some small issues:</a:t>
            </a:r>
          </a:p>
          <a:p>
            <a:pPr lvl="1"/>
            <a:r>
              <a:rPr lang="en-US" dirty="0"/>
              <a:t>Some people had 0 or near zero variance in the scores they gave. </a:t>
            </a:r>
          </a:p>
          <a:p>
            <a:pPr lvl="2"/>
            <a:r>
              <a:rPr lang="en-US" dirty="0"/>
              <a:t>I.e. every vis’ they scored got the same mark, generally 100%. </a:t>
            </a:r>
          </a:p>
          <a:p>
            <a:pPr lvl="1"/>
            <a:r>
              <a:rPr lang="en-US" dirty="0"/>
              <a:t>This isn’t really indicative of an honest evaluation. </a:t>
            </a:r>
          </a:p>
          <a:p>
            <a:r>
              <a:rPr lang="en-US" dirty="0"/>
              <a:t>So, to compensate for that:</a:t>
            </a:r>
          </a:p>
          <a:p>
            <a:pPr lvl="1"/>
            <a:r>
              <a:rPr lang="en-US" dirty="0"/>
              <a:t>I gave the non-varying evaluators 50% for the </a:t>
            </a:r>
            <a:r>
              <a:rPr lang="en-US" i="1" dirty="0"/>
              <a:t>evaluation</a:t>
            </a:r>
            <a:r>
              <a:rPr lang="en-US" dirty="0"/>
              <a:t> score. </a:t>
            </a:r>
          </a:p>
          <a:p>
            <a:pPr lvl="1"/>
            <a:r>
              <a:rPr lang="en-US" dirty="0"/>
              <a:t>I rescaled the grades so each group had the same distribution. </a:t>
            </a:r>
          </a:p>
          <a:p>
            <a:pPr lvl="1"/>
            <a:r>
              <a:rPr lang="en-US" dirty="0"/>
              <a:t>This will have the effect of lowering some of those grades so all the groups have an even distribution of grades given out. </a:t>
            </a:r>
          </a:p>
          <a:p>
            <a:r>
              <a:rPr lang="en-US" dirty="0"/>
              <a:t>You can protest this if you think it is unfair, I’ll argue for it though.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351AB-69CA-6B3D-21EF-9C1AB7AA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426" y="2078181"/>
            <a:ext cx="3281573" cy="1555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B359B8-0FA6-07B4-D510-4AA9D97BE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868" y="3891519"/>
            <a:ext cx="3321132" cy="185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4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9F9D-3A9A-BC4C-D460-874DA626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– Some things to consider…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7C791-D4DB-FB92-6D79-4D13E3C3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2615"/>
            <a:ext cx="9603275" cy="4090866"/>
          </a:xfrm>
        </p:spPr>
        <p:txBody>
          <a:bodyPr/>
          <a:lstStyle/>
          <a:p>
            <a:r>
              <a:rPr lang="en-US" dirty="0"/>
              <a:t>I have no context or prior knowledge, all I know is what I see on the charts. </a:t>
            </a:r>
          </a:p>
          <a:p>
            <a:pPr lvl="1"/>
            <a:r>
              <a:rPr lang="en-US" dirty="0"/>
              <a:t>Ensure that whatever you want to show is what comes through. </a:t>
            </a:r>
          </a:p>
          <a:p>
            <a:pPr lvl="1"/>
            <a:r>
              <a:rPr lang="en-US" dirty="0"/>
              <a:t>There should be a clear title/thesis that says what your viz does. </a:t>
            </a:r>
          </a:p>
          <a:p>
            <a:pPr lvl="1"/>
            <a:r>
              <a:rPr lang="en-US" dirty="0"/>
              <a:t>Asking another person what they get is a good idea. </a:t>
            </a:r>
          </a:p>
          <a:p>
            <a:r>
              <a:rPr lang="en-US" dirty="0"/>
              <a:t>Check simple details. </a:t>
            </a:r>
          </a:p>
          <a:p>
            <a:pPr lvl="1"/>
            <a:r>
              <a:rPr lang="en-US" dirty="0"/>
              <a:t>Check labels, titles, axis, </a:t>
            </a:r>
            <a:r>
              <a:rPr lang="en-US" dirty="0" err="1"/>
              <a:t>etc</a:t>
            </a:r>
            <a:r>
              <a:rPr lang="en-US" dirty="0"/>
              <a:t>… to make sure they make sense. </a:t>
            </a:r>
          </a:p>
          <a:p>
            <a:pPr lvl="1"/>
            <a:r>
              <a:rPr lang="en-US" dirty="0"/>
              <a:t>Ensure things are readable and aligned clearly. </a:t>
            </a:r>
          </a:p>
          <a:p>
            <a:r>
              <a:rPr lang="en-US" dirty="0"/>
              <a:t>Easy improvements – can I change a Tableau thing to make it better? </a:t>
            </a:r>
          </a:p>
          <a:p>
            <a:pPr lvl="1"/>
            <a:r>
              <a:rPr lang="en-US" dirty="0"/>
              <a:t>Highlights, filtering, adding info to tooltips,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6782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C134-34A8-CA43-F3C7-A4A8EC7DE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19B4B-3B42-508B-8522-F29D6676A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0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73F8-905A-1BDE-04E2-88E09968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7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6745E-3AA0-0429-A63C-B25B0E9C6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7877772" cy="3983624"/>
          </a:xfrm>
        </p:spPr>
        <p:txBody>
          <a:bodyPr/>
          <a:lstStyle/>
          <a:p>
            <a:r>
              <a:rPr lang="en-US" dirty="0"/>
              <a:t>Chapter 7 is on visualizing distributions. </a:t>
            </a:r>
          </a:p>
          <a:p>
            <a:r>
              <a:rPr lang="en-US" dirty="0"/>
              <a:t>We looked at histograms and box and whisker plots in chart types. </a:t>
            </a:r>
          </a:p>
          <a:p>
            <a:r>
              <a:rPr lang="en-US" dirty="0"/>
              <a:t>Several variants, particularly the line versions, can be made with the marks card. </a:t>
            </a:r>
          </a:p>
          <a:p>
            <a:r>
              <a:rPr lang="en-US" dirty="0"/>
              <a:t>Try some…</a:t>
            </a:r>
          </a:p>
          <a:p>
            <a:pPr lvl="1"/>
            <a:r>
              <a:rPr lang="en-US" dirty="0"/>
              <a:t>Different granularities, different mark types, multiple distributions. </a:t>
            </a:r>
          </a:p>
          <a:p>
            <a:pPr lvl="1"/>
            <a:r>
              <a:rPr lang="en-US" dirty="0"/>
              <a:t>In an example soon, there’s a good candidate to use…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F35E0-261A-FB40-D589-33D11C9C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7" t="21142" r="41465"/>
          <a:stretch>
            <a:fillRect/>
          </a:stretch>
        </p:blipFill>
        <p:spPr>
          <a:xfrm>
            <a:off x="9329351" y="400"/>
            <a:ext cx="2862649" cy="68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27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/>
          </a:bodyPr>
          <a:lstStyle/>
          <a:p>
            <a:r>
              <a:rPr lang="en-US" sz="2400" dirty="0"/>
              <a:t>The relational database environment provides businesses with an efficient and effective way to manage data.</a:t>
            </a:r>
          </a:p>
          <a:p>
            <a:r>
              <a:rPr lang="en-US" sz="2400" dirty="0"/>
              <a:t>Most applications will have their own database for their stuff. </a:t>
            </a:r>
          </a:p>
          <a:p>
            <a:pPr lvl="1"/>
            <a:r>
              <a:rPr lang="en-US" sz="2200" dirty="0"/>
              <a:t>Every system generates data as stuff happens – sales, products, views…</a:t>
            </a:r>
          </a:p>
          <a:p>
            <a:pPr lvl="1"/>
            <a:r>
              <a:rPr lang="en-US" sz="2200" dirty="0"/>
              <a:t>This is the OLTP stuff, processing transactions are storing data. </a:t>
            </a:r>
          </a:p>
          <a:p>
            <a:r>
              <a:rPr lang="en-US" sz="2400" dirty="0"/>
              <a:t>Each app’s database will have tables for each entity. </a:t>
            </a:r>
          </a:p>
          <a:p>
            <a:pPr lvl="1"/>
            <a:r>
              <a:rPr lang="en-US" sz="2200" dirty="0"/>
              <a:t>Each entity* has a key, aka ID number – there’s some overlap here. </a:t>
            </a:r>
          </a:p>
          <a:p>
            <a:pPr lvl="1"/>
            <a:r>
              <a:rPr lang="en-US" sz="2200" dirty="0"/>
              <a:t>Sales list a customer id, class registrations list student id,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458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8CF3-C866-1699-5DC2-6E97129A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are Serious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57A6-B483-A436-7400-1A5604254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5811494" cy="4285789"/>
          </a:xfrm>
        </p:spPr>
        <p:txBody>
          <a:bodyPr>
            <a:normAutofit/>
          </a:bodyPr>
          <a:lstStyle/>
          <a:p>
            <a:r>
              <a:rPr lang="en-US" dirty="0"/>
              <a:t>A RDBMS contains tables, one for each entity. </a:t>
            </a:r>
          </a:p>
          <a:p>
            <a:r>
              <a:rPr lang="en-US" dirty="0"/>
              <a:t>They model reality by building relationships. </a:t>
            </a:r>
          </a:p>
          <a:p>
            <a:pPr lvl="1"/>
            <a:r>
              <a:rPr lang="en-US" dirty="0"/>
              <a:t>E.g. an order includes a customer. </a:t>
            </a:r>
          </a:p>
          <a:p>
            <a:r>
              <a:rPr lang="en-US" dirty="0"/>
              <a:t>Relationships use (usually) keys to connect tables. </a:t>
            </a:r>
          </a:p>
          <a:p>
            <a:pPr lvl="1"/>
            <a:r>
              <a:rPr lang="en-US" dirty="0"/>
              <a:t>The primary key is a unique ID, like a DL number. </a:t>
            </a:r>
          </a:p>
          <a:p>
            <a:pPr lvl="1"/>
            <a:r>
              <a:rPr lang="en-US" dirty="0"/>
              <a:t>A foreign key is another table’s primary key, that acts as a reference. </a:t>
            </a:r>
          </a:p>
          <a:p>
            <a:pPr lvl="2"/>
            <a:r>
              <a:rPr lang="en-US" dirty="0"/>
              <a:t>E.g. an order table will have a “customer” field holding the Customer ID key. </a:t>
            </a:r>
          </a:p>
          <a:p>
            <a:pPr lvl="2"/>
            <a:r>
              <a:rPr lang="en-US" dirty="0"/>
              <a:t>We can “grab” the customer data via the ID as needed. </a:t>
            </a:r>
          </a:p>
        </p:txBody>
      </p:sp>
      <p:pic>
        <p:nvPicPr>
          <p:cNvPr id="4" name="Picture 3" descr="Database schema design 101 for relational databases — PlanetScale">
            <a:extLst>
              <a:ext uri="{FF2B5EF4-FFF2-40B4-BE49-F238E27FC236}">
                <a16:creationId xmlns:a16="http://schemas.microsoft.com/office/drawing/2014/main" id="{988146A2-3193-66BE-5C0A-410DC5BA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493" y="1329136"/>
            <a:ext cx="6380507" cy="51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2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20917C-471C-5319-721E-5EA30F6A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Benefits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35CA4A-584E-3C26-E067-24A469DAC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264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copy of data.</a:t>
            </a:r>
          </a:p>
          <a:p>
            <a:pPr lvl="1"/>
            <a:r>
              <a:rPr lang="en-US" dirty="0"/>
              <a:t>Can’t have multiple values for one thing. </a:t>
            </a:r>
          </a:p>
          <a:p>
            <a:pPr lvl="1"/>
            <a:r>
              <a:rPr lang="en-US" dirty="0"/>
              <a:t>Changes to values don’t require tracking down many copies of data. </a:t>
            </a:r>
          </a:p>
          <a:p>
            <a:r>
              <a:rPr lang="en-US" dirty="0"/>
              <a:t>Enforcement of integrity rules. </a:t>
            </a:r>
          </a:p>
          <a:p>
            <a:pPr lvl="1"/>
            <a:r>
              <a:rPr lang="en-US" dirty="0"/>
              <a:t>Mandate that data meets certain rules. </a:t>
            </a:r>
          </a:p>
          <a:p>
            <a:r>
              <a:rPr lang="en-US" dirty="0"/>
              <a:t>Access control.</a:t>
            </a:r>
          </a:p>
          <a:p>
            <a:pPr lvl="1"/>
            <a:r>
              <a:rPr lang="en-US" dirty="0"/>
              <a:t>Allow read/write access to only those allowed. </a:t>
            </a:r>
          </a:p>
          <a:p>
            <a:r>
              <a:rPr lang="en-US" dirty="0"/>
              <a:t>Data sharing and access.</a:t>
            </a:r>
          </a:p>
          <a:p>
            <a:pPr lvl="1"/>
            <a:r>
              <a:rPr lang="en-US" dirty="0"/>
              <a:t>Creation, storing, and access to data are separate.</a:t>
            </a:r>
          </a:p>
          <a:p>
            <a:pPr lvl="1"/>
            <a:r>
              <a:rPr lang="en-US" dirty="0"/>
              <a:t>E.g. One program makes data, another uses it…</a:t>
            </a:r>
          </a:p>
        </p:txBody>
      </p:sp>
    </p:spTree>
    <p:extLst>
      <p:ext uri="{BB962C8B-B14F-4D97-AF65-F5344CB8AC3E}">
        <p14:creationId xmlns:p14="http://schemas.microsoft.com/office/powerpoint/2010/main" val="375574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40C5-EF7C-8AF2-F9FC-2748618A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and Archiving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F30E-1A79-2161-EC04-24C43EA1E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7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0C7E-F6C4-463C-6796-7CE4D422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and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3CB7-2C7D-FE96-8D6C-7F01E34D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853753"/>
            <a:ext cx="9917708" cy="4199727"/>
          </a:xfrm>
        </p:spPr>
        <p:txBody>
          <a:bodyPr/>
          <a:lstStyle/>
          <a:p>
            <a:r>
              <a:rPr lang="en-US" dirty="0"/>
              <a:t>We generally work off of centralized repositories for data to analyze. </a:t>
            </a:r>
          </a:p>
          <a:p>
            <a:r>
              <a:rPr lang="en-US" dirty="0"/>
              <a:t>Large organizations have data from many sources. </a:t>
            </a:r>
          </a:p>
          <a:p>
            <a:pPr lvl="1"/>
            <a:r>
              <a:rPr lang="en-US" dirty="0"/>
              <a:t>Website. </a:t>
            </a:r>
          </a:p>
          <a:p>
            <a:pPr lvl="1"/>
            <a:r>
              <a:rPr lang="en-US" dirty="0"/>
              <a:t>Equipment like factory machines. </a:t>
            </a:r>
          </a:p>
          <a:p>
            <a:pPr lvl="1"/>
            <a:r>
              <a:rPr lang="en-US" dirty="0"/>
              <a:t>HR, finance, marketing,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External data sources. </a:t>
            </a:r>
          </a:p>
          <a:p>
            <a:r>
              <a:rPr lang="en-US" dirty="0"/>
              <a:t>Consolidating this data is non-trivial. </a:t>
            </a:r>
          </a:p>
          <a:p>
            <a:pPr lvl="1"/>
            <a:r>
              <a:rPr lang="en-US" dirty="0"/>
              <a:t>Date formats, prov/state abbreviations, currency…</a:t>
            </a:r>
          </a:p>
          <a:p>
            <a:pPr lvl="1"/>
            <a:r>
              <a:rPr lang="en-US" dirty="0"/>
              <a:t>We want consistency so we can use all data together.</a:t>
            </a:r>
          </a:p>
          <a:p>
            <a:pPr lvl="1"/>
            <a:r>
              <a:rPr lang="en-US" dirty="0"/>
              <a:t>Data mining source – massive dump of data, some gold.</a:t>
            </a:r>
          </a:p>
        </p:txBody>
      </p:sp>
      <p:pic>
        <p:nvPicPr>
          <p:cNvPr id="4" name="Picture 3" descr="What is a Unified Data Warehouse? | Databricks">
            <a:extLst>
              <a:ext uri="{FF2B5EF4-FFF2-40B4-BE49-F238E27FC236}">
                <a16:creationId xmlns:a16="http://schemas.microsoft.com/office/drawing/2014/main" id="{42F3DEE8-09C8-67C5-522E-B203EC9E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444" y="2622965"/>
            <a:ext cx="4948052" cy="316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3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9488-81CC-9770-8976-D82712D9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– Extract Transform 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A92E-9ED1-CFCF-C37A-8810AF06F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ETL is a process to move data from one location to another. </a:t>
            </a:r>
          </a:p>
          <a:p>
            <a:pPr lvl="1"/>
            <a:r>
              <a:rPr lang="en-US" dirty="0"/>
              <a:t>In this case it is to gather and centralize data from multiple sources into a central warehouse.</a:t>
            </a:r>
          </a:p>
          <a:p>
            <a:r>
              <a:rPr lang="en-US" dirty="0"/>
              <a:t>Extract – gathers data from multiple sources. </a:t>
            </a:r>
          </a:p>
          <a:p>
            <a:pPr lvl="1"/>
            <a:r>
              <a:rPr lang="en-US" dirty="0"/>
              <a:t>Includes all the OLTP doing sources of business data, pos systems, web stores, production…</a:t>
            </a:r>
          </a:p>
          <a:p>
            <a:pPr lvl="1"/>
            <a:r>
              <a:rPr lang="en-US" dirty="0"/>
              <a:t>Each source can be totally different in type, data structure,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Transform – process and clean the data into a standardized format. </a:t>
            </a:r>
          </a:p>
          <a:p>
            <a:pPr lvl="1"/>
            <a:r>
              <a:rPr lang="en-US" dirty="0"/>
              <a:t>Make all the data fit the format you want, and remove anything not needed. </a:t>
            </a:r>
          </a:p>
          <a:p>
            <a:pPr lvl="1"/>
            <a:r>
              <a:rPr lang="en-US" dirty="0"/>
              <a:t> Can include correcting mistakes, missing data, date formats, spelling, granularity,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Load – store the consistent data in a data warehouse for analysis. </a:t>
            </a:r>
          </a:p>
        </p:txBody>
      </p:sp>
    </p:spTree>
    <p:extLst>
      <p:ext uri="{BB962C8B-B14F-4D97-AF65-F5344CB8AC3E}">
        <p14:creationId xmlns:p14="http://schemas.microsoft.com/office/powerpoint/2010/main" val="420838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C734-7FBA-8A07-D719-8700E11E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950C-C644-BCB1-0D44-0B7D4AD61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TL vs ELT: Key Differences, Comparisons, &amp; Use Cases">
            <a:extLst>
              <a:ext uri="{FF2B5EF4-FFF2-40B4-BE49-F238E27FC236}">
                <a16:creationId xmlns:a16="http://schemas.microsoft.com/office/drawing/2014/main" id="{7D0B1C7B-AC7F-5C23-4AF5-5A50F4150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888"/>
            <a:ext cx="12192000" cy="63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53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A05C-692F-A4B8-E540-7B52BD8C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21BB9-D253-A836-5EBE-6C1E99EA1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1" y="1853754"/>
            <a:ext cx="10869503" cy="4199727"/>
          </a:xfrm>
        </p:spPr>
        <p:txBody>
          <a:bodyPr/>
          <a:lstStyle/>
          <a:p>
            <a:r>
              <a:rPr lang="en-US" dirty="0"/>
              <a:t>The ETL process normally loads our data into a special database - the data warehouse. </a:t>
            </a:r>
          </a:p>
          <a:p>
            <a:pPr lvl="1"/>
            <a:r>
              <a:rPr lang="en-US" dirty="0"/>
              <a:t>Usually periodically – hourly, nightly,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 data warehouse is a large </a:t>
            </a:r>
            <a:r>
              <a:rPr lang="en-US" dirty="0" err="1"/>
              <a:t>db</a:t>
            </a:r>
            <a:r>
              <a:rPr lang="en-US" dirty="0"/>
              <a:t> that is intended for archiving and analysis. </a:t>
            </a:r>
          </a:p>
          <a:p>
            <a:pPr lvl="1"/>
            <a:r>
              <a:rPr lang="en-US" dirty="0"/>
              <a:t>Not used with live transactions or current data. </a:t>
            </a:r>
          </a:p>
          <a:p>
            <a:pPr lvl="1"/>
            <a:r>
              <a:rPr lang="en-US" dirty="0"/>
              <a:t>Stores (ideally) all historical data that the organization needs – central source o’ truth. </a:t>
            </a:r>
          </a:p>
          <a:p>
            <a:pPr lvl="1"/>
            <a:r>
              <a:rPr lang="en-US" dirty="0"/>
              <a:t>Allows for data from different sources to be integrated for analysis. </a:t>
            </a:r>
          </a:p>
          <a:p>
            <a:pPr lvl="1"/>
            <a:r>
              <a:rPr lang="en-US" dirty="0"/>
              <a:t>All the data is consistent and clean once it gets here, so analyst and just analyze. </a:t>
            </a:r>
          </a:p>
          <a:p>
            <a:r>
              <a:rPr lang="en-US" dirty="0"/>
              <a:t>Data is stored with many entities and must be connected for analysis. </a:t>
            </a:r>
          </a:p>
          <a:p>
            <a:pPr lvl="1"/>
            <a:r>
              <a:rPr lang="en-US" dirty="0"/>
              <a:t>ER diagrams and </a:t>
            </a:r>
            <a:r>
              <a:rPr lang="en-US" dirty="0" err="1"/>
              <a:t>dicts</a:t>
            </a:r>
            <a:r>
              <a:rPr lang="en-US" dirty="0"/>
              <a:t> show layout, and we must join to make usable data. </a:t>
            </a:r>
          </a:p>
        </p:txBody>
      </p:sp>
      <p:pic>
        <p:nvPicPr>
          <p:cNvPr id="3074" name="Picture 2" descr="What Is Cloud Data Warehousing">
            <a:extLst>
              <a:ext uri="{FF2B5EF4-FFF2-40B4-BE49-F238E27FC236}">
                <a16:creationId xmlns:a16="http://schemas.microsoft.com/office/drawing/2014/main" id="{311AABCD-8C42-D7FA-AA95-265BB746F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3" r="7239"/>
          <a:stretch>
            <a:fillRect/>
          </a:stretch>
        </p:blipFill>
        <p:spPr bwMode="auto">
          <a:xfrm>
            <a:off x="9090454" y="3429000"/>
            <a:ext cx="310154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591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45027"/>
          </a:xfrm>
        </p:spPr>
        <p:txBody>
          <a:bodyPr>
            <a:normAutofit fontScale="85000" lnSpcReduction="10000"/>
          </a:bodyPr>
          <a:lstStyle/>
          <a:p>
            <a:r>
              <a:rPr lang="en-US" sz="2600" dirty="0"/>
              <a:t>A data warehouse is usually highly dimensional, or has data on many things. </a:t>
            </a:r>
          </a:p>
          <a:p>
            <a:pPr lvl="1"/>
            <a:r>
              <a:rPr lang="en-US" sz="2400" dirty="0"/>
              <a:t>Entity: person, places, things, events</a:t>
            </a:r>
          </a:p>
          <a:p>
            <a:pPr lvl="1"/>
            <a:r>
              <a:rPr lang="en-US" sz="2400" dirty="0"/>
              <a:t>Instance: a single occurrence of an entity; represented as a record in a database</a:t>
            </a:r>
          </a:p>
          <a:p>
            <a:pPr lvl="1"/>
            <a:r>
              <a:rPr lang="en-US" sz="2400" dirty="0"/>
              <a:t>Entities have relationships with one another: either 1:1, 1:M, M:N</a:t>
            </a:r>
          </a:p>
          <a:p>
            <a:pPr lvl="1"/>
            <a:r>
              <a:rPr lang="en-US" sz="2400" dirty="0"/>
              <a:t>Primary key: attribute that uniquely identifies each instance of the entity; used to create a data structure called an index for fast data retrieval and searches </a:t>
            </a:r>
          </a:p>
          <a:p>
            <a:pPr lvl="2"/>
            <a:r>
              <a:rPr lang="en-US" sz="2000" dirty="0"/>
              <a:t>Composite primary key: primary key that consists of more than one attribute; used when none of the individual attributes alone can uniquely identify each instance of the entity. (Not critical). </a:t>
            </a:r>
          </a:p>
          <a:p>
            <a:pPr lvl="1"/>
            <a:r>
              <a:rPr lang="en-US" sz="2400" dirty="0"/>
              <a:t>Foreign key: a primary key of a related entity. </a:t>
            </a:r>
          </a:p>
          <a:p>
            <a:r>
              <a:rPr lang="en-US" sz="2600" dirty="0"/>
              <a:t>Most ‘real’ things require connection of data from several tables (entities). 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96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9071-9DC0-1157-7B36-EE03960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03C4-7FD2-B791-60AA-ADF73735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8"/>
          </a:xfrm>
        </p:spPr>
        <p:txBody>
          <a:bodyPr/>
          <a:lstStyle/>
          <a:p>
            <a:r>
              <a:rPr lang="en-US" dirty="0"/>
              <a:t>At this point we’ve touched on most of the infrastructure related to our data. </a:t>
            </a:r>
          </a:p>
          <a:p>
            <a:r>
              <a:rPr lang="en-US" dirty="0"/>
              <a:t>Data is generated in many places, include those that process transactions – OLTP. </a:t>
            </a:r>
          </a:p>
          <a:p>
            <a:pPr lvl="1"/>
            <a:r>
              <a:rPr lang="en-US" dirty="0"/>
              <a:t>Each of these system normally has a DB that stores those transactions. </a:t>
            </a:r>
          </a:p>
          <a:p>
            <a:r>
              <a:rPr lang="en-US" dirty="0"/>
              <a:t>That data is consolidated and cleaned in an ETL process and stored centrally. </a:t>
            </a:r>
          </a:p>
          <a:p>
            <a:r>
              <a:rPr lang="en-US" dirty="0"/>
              <a:t>We connect to that warehouse to get data. </a:t>
            </a:r>
          </a:p>
          <a:p>
            <a:pPr lvl="1"/>
            <a:r>
              <a:rPr lang="en-US" dirty="0"/>
              <a:t>The database uses entity-relationship model to store data on many different things. </a:t>
            </a:r>
          </a:p>
          <a:p>
            <a:pPr lvl="1"/>
            <a:r>
              <a:rPr lang="en-US" dirty="0"/>
              <a:t>We need to navigate the </a:t>
            </a:r>
            <a:r>
              <a:rPr lang="en-US" dirty="0" err="1"/>
              <a:t>db</a:t>
            </a:r>
            <a:r>
              <a:rPr lang="en-US" dirty="0"/>
              <a:t> structure and join to make useful data. </a:t>
            </a:r>
          </a:p>
          <a:p>
            <a:pPr lvl="1"/>
            <a:r>
              <a:rPr lang="en-US" dirty="0"/>
              <a:t>We can get data on almost anything, but it comes separated. (CSVs we use are the ~output). </a:t>
            </a:r>
          </a:p>
          <a:p>
            <a:r>
              <a:rPr lang="en-US" dirty="0"/>
              <a:t>In practice, what we are normally using now is an export csv of several joined tables. </a:t>
            </a:r>
          </a:p>
        </p:txBody>
      </p:sp>
    </p:spTree>
    <p:extLst>
      <p:ext uri="{BB962C8B-B14F-4D97-AF65-F5344CB8AC3E}">
        <p14:creationId xmlns:p14="http://schemas.microsoft.com/office/powerpoint/2010/main" val="682342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28F2-91C1-0B04-F9E7-DE22438C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0970-1110-2112-55A4-CE3A9B818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53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B89F83-DD6F-7EEC-C494-DE316ECD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D507C7-7485-1599-066C-97F97A079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031584" cy="4199727"/>
          </a:xfrm>
        </p:spPr>
        <p:txBody>
          <a:bodyPr/>
          <a:lstStyle/>
          <a:p>
            <a:r>
              <a:rPr lang="en-US" dirty="0"/>
              <a:t>Once data are stored in a relational database, we can retrieve them using database queries.</a:t>
            </a:r>
          </a:p>
          <a:p>
            <a:r>
              <a:rPr lang="en-US" dirty="0"/>
              <a:t>SQL is how we “talk” to a database. </a:t>
            </a:r>
          </a:p>
          <a:p>
            <a:r>
              <a:rPr lang="en-US" dirty="0"/>
              <a:t>We specify what we want, the database figures out how to get it. </a:t>
            </a:r>
          </a:p>
          <a:p>
            <a:pPr lvl="1"/>
            <a:r>
              <a:rPr lang="en-US" dirty="0"/>
              <a:t>SELECT -&gt; Give me all the records that match these criteria…</a:t>
            </a:r>
          </a:p>
          <a:p>
            <a:r>
              <a:rPr lang="en-US" dirty="0"/>
              <a:t>In Tableau, there are SQL queries generated behind the scenes when we manipulate data. </a:t>
            </a:r>
          </a:p>
          <a:p>
            <a:pPr lvl="1"/>
            <a:r>
              <a:rPr lang="en-US" dirty="0"/>
              <a:t>You don’t need to know </a:t>
            </a:r>
            <a:r>
              <a:rPr lang="en-US" dirty="0" err="1"/>
              <a:t>sql</a:t>
            </a:r>
            <a:r>
              <a:rPr lang="en-US" dirty="0"/>
              <a:t> but you need to understand and use the concepts. </a:t>
            </a:r>
          </a:p>
          <a:p>
            <a:r>
              <a:rPr lang="en-US" dirty="0"/>
              <a:t>Like a many dimension OLAP cube – we select fields to include, slice and dice for values. </a:t>
            </a:r>
          </a:p>
          <a:p>
            <a:r>
              <a:rPr lang="en-US" dirty="0"/>
              <a:t>All access goes through these questions to the RDBMS, it allows it to control the data. </a:t>
            </a:r>
          </a:p>
        </p:txBody>
      </p:sp>
    </p:spTree>
    <p:extLst>
      <p:ext uri="{BB962C8B-B14F-4D97-AF65-F5344CB8AC3E}">
        <p14:creationId xmlns:p14="http://schemas.microsoft.com/office/powerpoint/2010/main" val="3069179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The most popular query language used is Structure Query Language (SQL).</a:t>
            </a:r>
            <a:endParaRPr lang="en-US" dirty="0"/>
          </a:p>
          <a:p>
            <a:pPr lvl="1"/>
            <a:r>
              <a:rPr lang="en-US" sz="2400" dirty="0"/>
              <a:t>Manipulate data using a relatively simple and intuitive approach</a:t>
            </a:r>
          </a:p>
          <a:p>
            <a:pPr lvl="1"/>
            <a:r>
              <a:rPr lang="en-US" sz="2400" dirty="0"/>
              <a:t>Specify the attributes, tables, and criteria the retrieved data must meet</a:t>
            </a:r>
          </a:p>
          <a:p>
            <a:pPr lvl="1"/>
            <a:r>
              <a:rPr lang="en-US" sz="2400" dirty="0"/>
              <a:t>Uses three key words: SELECT, FROM, and WHERE</a:t>
            </a:r>
          </a:p>
          <a:p>
            <a:pPr lvl="1"/>
            <a:r>
              <a:rPr lang="en-US" sz="2400" dirty="0"/>
              <a:t>SELECT: specifies the attributes</a:t>
            </a:r>
          </a:p>
          <a:p>
            <a:pPr lvl="1"/>
            <a:r>
              <a:rPr lang="en-US" sz="2400" dirty="0"/>
              <a:t>FROM: specifies the tables (more than one)</a:t>
            </a:r>
          </a:p>
          <a:p>
            <a:pPr lvl="1"/>
            <a:r>
              <a:rPr lang="en-US" sz="2400" dirty="0"/>
              <a:t>WHERE: specifies selection criteria and/or conditions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2494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Simple: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More complex:  </a:t>
            </a:r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EF9A2-CF8B-C340-B038-ED0B97D9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49" y="1765372"/>
            <a:ext cx="3932296" cy="144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706353-55B9-5B42-8FD3-4E833F782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349" y="3294161"/>
            <a:ext cx="732929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33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ableau Joins | Types of Joins in Tableau and their Application">
            <a:extLst>
              <a:ext uri="{FF2B5EF4-FFF2-40B4-BE49-F238E27FC236}">
                <a16:creationId xmlns:a16="http://schemas.microsoft.com/office/drawing/2014/main" id="{61C74D02-61A9-BA09-FCD5-EC310794A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74701"/>
            <a:ext cx="9144000" cy="530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201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Data must be integrated from different databases in different departments.</a:t>
            </a:r>
          </a:p>
          <a:p>
            <a:pPr lvl="1"/>
            <a:r>
              <a:rPr lang="en-US" sz="2000" dirty="0"/>
              <a:t>Extraction, transformation, and load (ETL) process is used</a:t>
            </a:r>
          </a:p>
          <a:p>
            <a:pPr lvl="1"/>
            <a:r>
              <a:rPr lang="en-US" sz="2000" dirty="0"/>
              <a:t>Retrieve, reconcile, and transform data into a consistent format</a:t>
            </a:r>
          </a:p>
          <a:p>
            <a:pPr lvl="1"/>
            <a:r>
              <a:rPr lang="en-US" sz="2000" dirty="0"/>
              <a:t>Load the final data into the data warehouse</a:t>
            </a:r>
          </a:p>
          <a:p>
            <a:r>
              <a:rPr lang="en-US" sz="2800" dirty="0"/>
              <a:t>A data mart is a small-scale data warehouse.</a:t>
            </a:r>
          </a:p>
          <a:p>
            <a:pPr lvl="1"/>
            <a:r>
              <a:rPr lang="en-US" sz="2400" dirty="0"/>
              <a:t>A subset of the enterprise data warehouse</a:t>
            </a:r>
          </a:p>
          <a:p>
            <a:pPr lvl="1"/>
            <a:r>
              <a:rPr lang="en-US" sz="2400" dirty="0"/>
              <a:t>Focuses on one particular subject or decision areas</a:t>
            </a:r>
          </a:p>
          <a:p>
            <a:pPr lvl="1"/>
            <a:r>
              <a:rPr lang="en-US" sz="2400" dirty="0"/>
              <a:t>Conforms to a multidimensional data model called a star scheme.</a:t>
            </a:r>
          </a:p>
          <a:p>
            <a:pPr lvl="1"/>
            <a:r>
              <a:rPr lang="en-US" sz="2400" dirty="0"/>
              <a:t>Two types of tables: dimension and fact tables</a:t>
            </a:r>
          </a:p>
          <a:p>
            <a:pPr lvl="2"/>
            <a:r>
              <a:rPr lang="en-US" sz="1900" dirty="0"/>
              <a:t>Dimension table: describes business dimensions such as customer, product, location, and time</a:t>
            </a:r>
          </a:p>
          <a:p>
            <a:pPr lvl="2"/>
            <a:r>
              <a:rPr lang="en-US" sz="1900" dirty="0"/>
              <a:t>Fact table: facts about the business operation, often quantitative format</a:t>
            </a:r>
          </a:p>
          <a:p>
            <a:pPr lvl="1"/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7265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Each of the dimension tables has a 1:M relationship with the fact table.</a:t>
            </a:r>
          </a:p>
          <a:p>
            <a:pPr lvl="1"/>
            <a:r>
              <a:rPr lang="en-US" sz="2000" dirty="0"/>
              <a:t>Primary keys of the dimension table are also the foreign keys in the fact table</a:t>
            </a:r>
          </a:p>
          <a:p>
            <a:pPr lvl="1"/>
            <a:r>
              <a:rPr lang="en-US" sz="2000" dirty="0"/>
              <a:t>Combination of the primary keys of the dimension tables forms the composite primary key of the fact table</a:t>
            </a:r>
          </a:p>
          <a:p>
            <a:r>
              <a:rPr lang="en-US" sz="2400" dirty="0"/>
              <a:t>The fact table is usually depicted at the center surrounded by multiple dimension tables, forming the shape of a star.</a:t>
            </a:r>
          </a:p>
          <a:p>
            <a:r>
              <a:rPr lang="en-US" sz="2400" dirty="0"/>
              <a:t>Not uncommon to see multiple fact tables sharing relationships with a group of dimension tables in a data mart.</a:t>
            </a:r>
          </a:p>
          <a:p>
            <a:r>
              <a:rPr lang="en-US" sz="2400" dirty="0"/>
              <a:t>Star schemas can ”slice and dice” data based on different dimensions.</a:t>
            </a:r>
          </a:p>
        </p:txBody>
      </p:sp>
    </p:spTree>
    <p:extLst>
      <p:ext uri="{BB962C8B-B14F-4D97-AF65-F5344CB8AC3E}">
        <p14:creationId xmlns:p14="http://schemas.microsoft.com/office/powerpoint/2010/main" val="1261577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1D7626-6687-45DB-8C18-87188E951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562100"/>
            <a:ext cx="4986338" cy="411527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A11EE4-AE2D-16DB-EAF1-85E772463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77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/>
              <a:t>New forms of databases to support big data have emerged.</a:t>
            </a:r>
          </a:p>
          <a:p>
            <a:r>
              <a:rPr lang="en-US" sz="2800" dirty="0"/>
              <a:t>NoSQL: “Not Only SQL” database</a:t>
            </a:r>
          </a:p>
          <a:p>
            <a:pPr lvl="1"/>
            <a:r>
              <a:rPr lang="en-US" sz="2400" dirty="0"/>
              <a:t>Nonrelational database that supports the storage of a wide range of data types.</a:t>
            </a:r>
          </a:p>
          <a:p>
            <a:pPr lvl="1"/>
            <a:r>
              <a:rPr lang="en-US" sz="2400" dirty="0"/>
              <a:t>Structured, semi-structured, and unstructured</a:t>
            </a:r>
          </a:p>
          <a:p>
            <a:pPr lvl="1"/>
            <a:r>
              <a:rPr lang="en-US" sz="2400" dirty="0"/>
              <a:t>Flexibility, performance, and scalability to handle extremely high volumes of data. </a:t>
            </a:r>
          </a:p>
          <a:p>
            <a:r>
              <a:rPr lang="en-US" sz="2800" dirty="0"/>
              <a:t>NoSQL will likely be implemented alongside relational databases to support organization data needs.</a:t>
            </a:r>
          </a:p>
          <a:p>
            <a:r>
              <a:rPr lang="en-US" sz="2800" dirty="0"/>
              <a:t>Driven by unstructured data – how to store videos in a database table? </a:t>
            </a:r>
          </a:p>
        </p:txBody>
      </p:sp>
    </p:spTree>
    <p:extLst>
      <p:ext uri="{BB962C8B-B14F-4D97-AF65-F5344CB8AC3E}">
        <p14:creationId xmlns:p14="http://schemas.microsoft.com/office/powerpoint/2010/main" val="1320795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EDE5-10AB-8730-4143-58F7A690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79A0-8933-06FA-8862-DF93C1836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Recall the special database field called the primary key. </a:t>
            </a:r>
          </a:p>
          <a:p>
            <a:r>
              <a:rPr lang="en-US" dirty="0"/>
              <a:t>This is a unique identifier – often just an arbitrary ID value. </a:t>
            </a:r>
          </a:p>
          <a:p>
            <a:pPr lvl="1"/>
            <a:r>
              <a:rPr lang="en-US" dirty="0"/>
              <a:t>Never duplicated, always refers to exactly one row. </a:t>
            </a:r>
          </a:p>
          <a:p>
            <a:r>
              <a:rPr lang="en-US" dirty="0"/>
              <a:t>Most tables have a key:</a:t>
            </a:r>
          </a:p>
          <a:p>
            <a:pPr lvl="1"/>
            <a:r>
              <a:rPr lang="en-US" dirty="0" err="1"/>
              <a:t>Nait’s</a:t>
            </a:r>
            <a:r>
              <a:rPr lang="en-US" dirty="0"/>
              <a:t> student list has your student ID. </a:t>
            </a:r>
          </a:p>
          <a:p>
            <a:pPr lvl="1"/>
            <a:r>
              <a:rPr lang="en-US" dirty="0"/>
              <a:t>Registries have your driver’s license number. </a:t>
            </a:r>
          </a:p>
          <a:p>
            <a:pPr lvl="1"/>
            <a:r>
              <a:rPr lang="en-US" dirty="0"/>
              <a:t>It could just be 1, 2, 3, 4…</a:t>
            </a:r>
          </a:p>
        </p:txBody>
      </p:sp>
    </p:spTree>
    <p:extLst>
      <p:ext uri="{BB962C8B-B14F-4D97-AF65-F5344CB8AC3E}">
        <p14:creationId xmlns:p14="http://schemas.microsoft.com/office/powerpoint/2010/main" val="868589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263722-E6BD-C173-3E49-EF7D86DC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Joins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947EBA-1864-8CA7-68F2-A61F434C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461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join in SQL connects two tables (or datasheets) together. </a:t>
            </a:r>
          </a:p>
          <a:p>
            <a:r>
              <a:rPr lang="en-US" dirty="0"/>
              <a:t>Based (usually) on a key – a unique ID:</a:t>
            </a:r>
          </a:p>
          <a:p>
            <a:pPr lvl="1"/>
            <a:r>
              <a:rPr lang="en-US" dirty="0"/>
              <a:t>Each row has a unique ID value. (Primary Key) </a:t>
            </a:r>
          </a:p>
          <a:p>
            <a:pPr lvl="1"/>
            <a:r>
              <a:rPr lang="en-US" dirty="0"/>
              <a:t>We can refer to it to “grab” that row of data. </a:t>
            </a:r>
          </a:p>
          <a:p>
            <a:pPr lvl="1"/>
            <a:r>
              <a:rPr lang="en-US" dirty="0"/>
              <a:t>Other tables have a foreign key – the key from another table. </a:t>
            </a:r>
          </a:p>
          <a:p>
            <a:r>
              <a:rPr lang="en-US" dirty="0"/>
              <a:t>E.g. at NAIT:</a:t>
            </a:r>
          </a:p>
          <a:p>
            <a:pPr lvl="1"/>
            <a:r>
              <a:rPr lang="en-US" dirty="0"/>
              <a:t>Students are in the student DB table. </a:t>
            </a:r>
          </a:p>
          <a:p>
            <a:pPr lvl="1"/>
            <a:r>
              <a:rPr lang="en-US" dirty="0"/>
              <a:t>Registrations are in the registration table. </a:t>
            </a:r>
          </a:p>
          <a:p>
            <a:pPr lvl="1"/>
            <a:r>
              <a:rPr lang="en-US" dirty="0"/>
              <a:t>Join says, “grab this list of registrations, look at the student ID, and get the name… from the Student table”. </a:t>
            </a:r>
          </a:p>
        </p:txBody>
      </p:sp>
    </p:spTree>
    <p:extLst>
      <p:ext uri="{BB962C8B-B14F-4D97-AF65-F5344CB8AC3E}">
        <p14:creationId xmlns:p14="http://schemas.microsoft.com/office/powerpoint/2010/main" val="1937476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283F-317D-C4A0-9163-AD6B46B6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7CBD-0071-76CA-F2E5-F18130749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330" y="2015732"/>
            <a:ext cx="5366667" cy="4037749"/>
          </a:xfrm>
        </p:spPr>
        <p:txBody>
          <a:bodyPr/>
          <a:lstStyle/>
          <a:p>
            <a:r>
              <a:rPr lang="en-US" dirty="0"/>
              <a:t>Joins connect tables together horizontally. </a:t>
            </a:r>
          </a:p>
          <a:p>
            <a:r>
              <a:rPr lang="en-US" dirty="0"/>
              <a:t>Rows from each table are matched when whatever you’re joining on (e.g. key). </a:t>
            </a:r>
          </a:p>
          <a:p>
            <a:pPr lvl="1"/>
            <a:r>
              <a:rPr lang="en-US" dirty="0"/>
              <a:t>Select a row from left table. </a:t>
            </a:r>
          </a:p>
          <a:p>
            <a:pPr lvl="1"/>
            <a:r>
              <a:rPr lang="en-US" dirty="0"/>
              <a:t>Scan through right table for matching key. </a:t>
            </a:r>
          </a:p>
          <a:p>
            <a:pPr lvl="1"/>
            <a:r>
              <a:rPr lang="en-US" dirty="0"/>
              <a:t>If there’s a match, join these two rows and add it to the results. </a:t>
            </a:r>
          </a:p>
          <a:p>
            <a:pPr lvl="1"/>
            <a:r>
              <a:rPr lang="en-US" dirty="0"/>
              <a:t>Do this for every row of left table. </a:t>
            </a:r>
          </a:p>
        </p:txBody>
      </p:sp>
      <p:pic>
        <p:nvPicPr>
          <p:cNvPr id="1026" name="Picture 2" descr="The ins and outs of INNER JOIN">
            <a:extLst>
              <a:ext uri="{FF2B5EF4-FFF2-40B4-BE49-F238E27FC236}">
                <a16:creationId xmlns:a16="http://schemas.microsoft.com/office/drawing/2014/main" id="{305C40D4-9DAA-02B5-7984-EAEC85CFC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6" y="2978566"/>
            <a:ext cx="6130831" cy="224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371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C2BAF-300B-5DBC-98A6-4B763407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251A15-DBAA-9D39-7FEF-24F9B142D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 the same logic in Tableau:</a:t>
            </a:r>
          </a:p>
          <a:p>
            <a:pPr lvl="1"/>
            <a:r>
              <a:rPr lang="en-US" dirty="0"/>
              <a:t>Specify the two tables to connect. </a:t>
            </a:r>
          </a:p>
          <a:p>
            <a:pPr lvl="1"/>
            <a:r>
              <a:rPr lang="en-US" dirty="0"/>
              <a:t>Find the key (id number, maybe name, something unique) that exists in each. </a:t>
            </a:r>
          </a:p>
          <a:p>
            <a:pPr lvl="1"/>
            <a:r>
              <a:rPr lang="en-US" dirty="0"/>
              <a:t>Set the join criteria to make those two match (usually). </a:t>
            </a:r>
          </a:p>
          <a:p>
            <a:pPr lvl="1"/>
            <a:r>
              <a:rPr lang="en-US" dirty="0"/>
              <a:t>Choose Left/Right/Inner to control what is included. </a:t>
            </a:r>
          </a:p>
          <a:p>
            <a:r>
              <a:rPr lang="en-US" dirty="0"/>
              <a:t>You will need to do (relatively simple) joins in Tableau. </a:t>
            </a:r>
          </a:p>
        </p:txBody>
      </p:sp>
    </p:spTree>
    <p:extLst>
      <p:ext uri="{BB962C8B-B14F-4D97-AF65-F5344CB8AC3E}">
        <p14:creationId xmlns:p14="http://schemas.microsoft.com/office/powerpoint/2010/main" val="877090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38F7-C468-DF0B-9721-731780E1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97CE-CE38-86DC-0BA0-CE85E320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 more than anything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24DAD-8820-42B5-6E18-21F7B0990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849E3-10D0-9E6A-F32D-2FD5436A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2134"/>
            <a:ext cx="5549900" cy="528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A020B8-8962-06C6-A74C-7AAF8F0B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5" y="1482265"/>
            <a:ext cx="5891055" cy="49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76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D4596F-58E7-97B1-0584-D7F16E74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”Template”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EDF6E4-8DE9-559D-4BCC-39850171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Joins can be complex, but not all…</a:t>
            </a:r>
          </a:p>
          <a:p>
            <a:r>
              <a:rPr lang="en-US" dirty="0"/>
              <a:t>One (either) dataset is left, one is right. </a:t>
            </a:r>
          </a:p>
          <a:p>
            <a:r>
              <a:rPr lang="en-US" dirty="0"/>
              <a:t>The records are (usually) joined when these two values are equal. Typically, an ID. </a:t>
            </a:r>
          </a:p>
          <a:p>
            <a:pPr lvl="1"/>
            <a:r>
              <a:rPr lang="en-US" dirty="0"/>
              <a:t>One side is a primary key, the other is foreign.</a:t>
            </a:r>
          </a:p>
          <a:p>
            <a:r>
              <a:rPr lang="en-US" dirty="0"/>
              <a:t>Do you want to see:</a:t>
            </a:r>
          </a:p>
          <a:p>
            <a:pPr lvl="1"/>
            <a:r>
              <a:rPr lang="en-US" dirty="0"/>
              <a:t>Every record on left, with the right stuff added where the keys match. </a:t>
            </a:r>
          </a:p>
          <a:p>
            <a:pPr lvl="1"/>
            <a:r>
              <a:rPr lang="en-US" dirty="0"/>
              <a:t>Every record on right, with the left stuff added where the keys match. </a:t>
            </a:r>
          </a:p>
          <a:p>
            <a:pPr lvl="1"/>
            <a:r>
              <a:rPr lang="en-US" dirty="0"/>
              <a:t>Only the records where the keys match. </a:t>
            </a:r>
          </a:p>
        </p:txBody>
      </p:sp>
    </p:spTree>
    <p:extLst>
      <p:ext uri="{BB962C8B-B14F-4D97-AF65-F5344CB8AC3E}">
        <p14:creationId xmlns:p14="http://schemas.microsoft.com/office/powerpoint/2010/main" val="3861780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QL JOIN (With Examples)">
            <a:extLst>
              <a:ext uri="{FF2B5EF4-FFF2-40B4-BE49-F238E27FC236}">
                <a16:creationId xmlns:a16="http://schemas.microsoft.com/office/drawing/2014/main" id="{D1CA630C-E909-22F9-F75C-73FBB982E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856" y="537854"/>
            <a:ext cx="6365875" cy="578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14416FE-E674-4C0F-2D62-73F8636B5C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30274" y="100670"/>
            <a:ext cx="9604375" cy="1049337"/>
          </a:xfrm>
        </p:spPr>
        <p:txBody>
          <a:bodyPr/>
          <a:lstStyle/>
          <a:p>
            <a:r>
              <a:rPr lang="en-US" dirty="0"/>
              <a:t>Inner Join – Keys Must Match</a:t>
            </a:r>
          </a:p>
        </p:txBody>
      </p:sp>
    </p:spTree>
    <p:extLst>
      <p:ext uri="{BB962C8B-B14F-4D97-AF65-F5344CB8AC3E}">
        <p14:creationId xmlns:p14="http://schemas.microsoft.com/office/powerpoint/2010/main" val="3345895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C345-E0F8-19D3-C884-543D6727CC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390009"/>
            <a:ext cx="9604375" cy="1049337"/>
          </a:xfrm>
        </p:spPr>
        <p:txBody>
          <a:bodyPr/>
          <a:lstStyle/>
          <a:p>
            <a:r>
              <a:rPr lang="en-US" dirty="0"/>
              <a:t>Left Join – All of the Left</a:t>
            </a:r>
            <a:br>
              <a:rPr lang="en-US" dirty="0"/>
            </a:br>
            <a:r>
              <a:rPr lang="en-US" dirty="0"/>
              <a:t>With Only what matches from the Right</a:t>
            </a:r>
          </a:p>
        </p:txBody>
      </p:sp>
      <p:pic>
        <p:nvPicPr>
          <p:cNvPr id="5122" name="Picture 2" descr="How to use LEFT JOIN in SQL">
            <a:extLst>
              <a:ext uri="{FF2B5EF4-FFF2-40B4-BE49-F238E27FC236}">
                <a16:creationId xmlns:a16="http://schemas.microsoft.com/office/drawing/2014/main" id="{14B756E0-A5E6-29F2-5ACD-19A3C0C84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2214"/>
            <a:ext cx="914400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428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E018-FDA3-2FC3-4B01-0E0D0CA517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458874"/>
            <a:ext cx="9604375" cy="1049337"/>
          </a:xfrm>
        </p:spPr>
        <p:txBody>
          <a:bodyPr/>
          <a:lstStyle/>
          <a:p>
            <a:r>
              <a:rPr lang="en-US" dirty="0"/>
              <a:t>Right Join – All of the Right</a:t>
            </a:r>
            <a:br>
              <a:rPr lang="en-US" dirty="0"/>
            </a:br>
            <a:r>
              <a:rPr lang="en-US" dirty="0"/>
              <a:t>With only what Matches from the Left</a:t>
            </a:r>
          </a:p>
        </p:txBody>
      </p:sp>
      <p:pic>
        <p:nvPicPr>
          <p:cNvPr id="6146" name="Picture 2" descr="How to use RIGHT JOIN in SQL">
            <a:extLst>
              <a:ext uri="{FF2B5EF4-FFF2-40B4-BE49-F238E27FC236}">
                <a16:creationId xmlns:a16="http://schemas.microsoft.com/office/drawing/2014/main" id="{27F705BD-0AA4-918B-C4D8-D8A7E2F62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2214"/>
            <a:ext cx="914400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421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QL JOIN (With Examples)">
            <a:extLst>
              <a:ext uri="{FF2B5EF4-FFF2-40B4-BE49-F238E27FC236}">
                <a16:creationId xmlns:a16="http://schemas.microsoft.com/office/drawing/2014/main" id="{9050D256-39C7-255F-BD2D-912EE18F1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1"/>
            <a:ext cx="4783137" cy="434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417674F-6DC9-4AF4-63E7-8F059DE0DE25}"/>
              </a:ext>
            </a:extLst>
          </p:cNvPr>
          <p:cNvGrpSpPr/>
          <p:nvPr/>
        </p:nvGrpSpPr>
        <p:grpSpPr>
          <a:xfrm>
            <a:off x="199248" y="2892028"/>
            <a:ext cx="3305953" cy="2985194"/>
            <a:chOff x="704916" y="3160252"/>
            <a:chExt cx="3305953" cy="2985194"/>
          </a:xfrm>
        </p:grpSpPr>
        <p:pic>
          <p:nvPicPr>
            <p:cNvPr id="4" name="Picture 2" descr="How to use LEFT JOIN in SQL">
              <a:extLst>
                <a:ext uri="{FF2B5EF4-FFF2-40B4-BE49-F238E27FC236}">
                  <a16:creationId xmlns:a16="http://schemas.microsoft.com/office/drawing/2014/main" id="{7C332395-CA3C-28E6-37F3-799ED31B26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3" t="10824" r="26025" b="10823"/>
            <a:stretch/>
          </p:blipFill>
          <p:spPr bwMode="auto">
            <a:xfrm>
              <a:off x="704916" y="3513082"/>
              <a:ext cx="3305953" cy="2632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07C4CA-ABDC-A1B8-B6FF-D0787A8BA0BD}"/>
                </a:ext>
              </a:extLst>
            </p:cNvPr>
            <p:cNvSpPr txBox="1"/>
            <p:nvPr/>
          </p:nvSpPr>
          <p:spPr>
            <a:xfrm>
              <a:off x="1824492" y="3160252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Left Join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A08FD4-DE32-1017-C4B6-F0A08A24B713}"/>
              </a:ext>
            </a:extLst>
          </p:cNvPr>
          <p:cNvGrpSpPr/>
          <p:nvPr/>
        </p:nvGrpSpPr>
        <p:grpSpPr>
          <a:xfrm>
            <a:off x="8478951" y="2707886"/>
            <a:ext cx="3713049" cy="3169336"/>
            <a:chOff x="8288338" y="2892028"/>
            <a:chExt cx="3713049" cy="3169336"/>
          </a:xfrm>
        </p:grpSpPr>
        <p:pic>
          <p:nvPicPr>
            <p:cNvPr id="5" name="Picture 2" descr="How to use RIGHT JOIN in SQL">
              <a:extLst>
                <a:ext uri="{FF2B5EF4-FFF2-40B4-BE49-F238E27FC236}">
                  <a16:creationId xmlns:a16="http://schemas.microsoft.com/office/drawing/2014/main" id="{263395AB-0F77-725B-EA3D-77C70B92C5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67" t="10823" r="25000" b="10824"/>
            <a:stretch/>
          </p:blipFill>
          <p:spPr bwMode="auto">
            <a:xfrm>
              <a:off x="8288338" y="3261360"/>
              <a:ext cx="3713049" cy="2800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EB0EBE-BDBF-B3E8-DECF-97058148F24E}"/>
                </a:ext>
              </a:extLst>
            </p:cNvPr>
            <p:cNvSpPr txBox="1"/>
            <p:nvPr/>
          </p:nvSpPr>
          <p:spPr>
            <a:xfrm>
              <a:off x="9435646" y="2892028"/>
              <a:ext cx="1418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Right Join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518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7F5A14-E41F-45A2-A8D7-C8DA1569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Criteria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36808-1184-3867-98EC-AEF5A5FB3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826" y="1853754"/>
            <a:ext cx="6746174" cy="4199453"/>
          </a:xfrm>
        </p:spPr>
        <p:txBody>
          <a:bodyPr/>
          <a:lstStyle/>
          <a:p>
            <a:r>
              <a:rPr lang="en-US" dirty="0"/>
              <a:t>Some scenarios require more than one join criteria. </a:t>
            </a:r>
          </a:p>
          <a:p>
            <a:r>
              <a:rPr lang="en-US" dirty="0"/>
              <a:t>The most common case is data with time-based iterations. </a:t>
            </a:r>
          </a:p>
          <a:p>
            <a:pPr lvl="1"/>
            <a:r>
              <a:rPr lang="en-US" dirty="0"/>
              <a:t>I.e. the same data each year, month, hour,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Screenshot is data per state per year. </a:t>
            </a:r>
          </a:p>
          <a:p>
            <a:r>
              <a:rPr lang="en-US" dirty="0"/>
              <a:t>We may need to specify 2+ criteria to make things work. </a:t>
            </a:r>
          </a:p>
          <a:p>
            <a:pPr lvl="1"/>
            <a:r>
              <a:rPr lang="en-US" dirty="0"/>
              <a:t>One join condition for each ‘per’. </a:t>
            </a:r>
          </a:p>
          <a:p>
            <a:pPr lvl="1"/>
            <a:r>
              <a:rPr lang="en-US" dirty="0"/>
              <a:t>Joining only on state means every year for California matches with every other year for California. </a:t>
            </a:r>
          </a:p>
          <a:p>
            <a:pPr lvl="1"/>
            <a:r>
              <a:rPr lang="en-US" dirty="0"/>
              <a:t>Adding year means those Californias only join when same year. </a:t>
            </a:r>
          </a:p>
          <a:p>
            <a:r>
              <a:rPr lang="en-US" dirty="0"/>
              <a:t>ALL matches are included, you must specify all restrictions.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2B04F-4600-DAEA-12AF-24C8F1BB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62" y="2015732"/>
            <a:ext cx="5217464" cy="403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12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6168-B355-3E54-406A-D154AFB0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Unjoined</a:t>
            </a:r>
            <a:r>
              <a:rPr lang="en-US" dirty="0"/>
              <a:t>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40EED-E4C4-CDBC-5F92-4C39DECA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97100"/>
            <a:ext cx="9603275" cy="3856381"/>
          </a:xfrm>
        </p:spPr>
        <p:txBody>
          <a:bodyPr/>
          <a:lstStyle/>
          <a:p>
            <a:r>
              <a:rPr lang="en-US" dirty="0"/>
              <a:t>If we want to use multiple datasets in </a:t>
            </a:r>
            <a:r>
              <a:rPr lang="en-US" b="1" dirty="0"/>
              <a:t>one </a:t>
            </a:r>
            <a:r>
              <a:rPr lang="en-US" dirty="0"/>
              <a:t>sheet or calculation we must join them. </a:t>
            </a:r>
          </a:p>
          <a:p>
            <a:r>
              <a:rPr lang="en-US" dirty="0"/>
              <a:t>We are able to use more than one dataset in one workbook without joins. </a:t>
            </a:r>
          </a:p>
          <a:p>
            <a:pPr lvl="1"/>
            <a:r>
              <a:rPr lang="en-US" dirty="0"/>
              <a:t>The datasets must be used independently, you can’t mix datasets. </a:t>
            </a:r>
          </a:p>
          <a:p>
            <a:pPr lvl="1"/>
            <a:r>
              <a:rPr lang="en-US" dirty="0"/>
              <a:t>You </a:t>
            </a:r>
            <a:r>
              <a:rPr lang="en-US" b="1" i="1" dirty="0"/>
              <a:t>can</a:t>
            </a:r>
            <a:r>
              <a:rPr lang="en-US" dirty="0"/>
              <a:t> put sheets made with different on the same dashboard or story. </a:t>
            </a:r>
          </a:p>
          <a:p>
            <a:pPr lvl="1"/>
            <a:r>
              <a:rPr lang="en-US" dirty="0"/>
              <a:t>Filters, actions, legends, calculations, </a:t>
            </a:r>
            <a:r>
              <a:rPr lang="en-US" dirty="0" err="1"/>
              <a:t>etc</a:t>
            </a:r>
            <a:r>
              <a:rPr lang="en-US" dirty="0"/>
              <a:t>… are separate. </a:t>
            </a:r>
          </a:p>
          <a:p>
            <a:pPr lvl="1"/>
            <a:r>
              <a:rPr lang="en-US" dirty="0"/>
              <a:t>This is easy and takes about one second. </a:t>
            </a:r>
          </a:p>
          <a:p>
            <a:r>
              <a:rPr lang="en-US" dirty="0"/>
              <a:t>If you need both sides for one vis (or one calc…), join, if not, add separately.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CC5DC-49FA-3A02-60D6-48B52427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848" y="0"/>
            <a:ext cx="40640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2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2B9C-9A1B-63DC-89D6-69E5F183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 more than anything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0F88F-B53A-88B0-9972-100E01B4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7A727-C026-C786-A172-546F32D0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2134"/>
            <a:ext cx="5549900" cy="528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9FBABE-FB44-A2C5-1F08-CEE77D399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5" y="1867787"/>
            <a:ext cx="5429735" cy="453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65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5E7A-3949-21FD-2069-81679C97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39" y="804519"/>
            <a:ext cx="8278600" cy="1049235"/>
          </a:xfrm>
        </p:spPr>
        <p:txBody>
          <a:bodyPr/>
          <a:lstStyle/>
          <a:p>
            <a:r>
              <a:rPr lang="en-US" dirty="0"/>
              <a:t>Get your Join On, Get Your Data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FD6E-4EE6-B9CE-910D-F31F0BC9D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122582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Joins are common and we’ll use them semi-regularly. (Ask for help if needed). </a:t>
            </a:r>
          </a:p>
          <a:p>
            <a:pPr lvl="1"/>
            <a:r>
              <a:rPr lang="en-US" dirty="0"/>
              <a:t>Can get very (sadistically) complex in real life, but most of ours are pretty simple. </a:t>
            </a:r>
          </a:p>
          <a:p>
            <a:r>
              <a:rPr lang="en-US" dirty="0"/>
              <a:t>Process to join:</a:t>
            </a:r>
          </a:p>
          <a:p>
            <a:pPr lvl="1"/>
            <a:r>
              <a:rPr lang="en-US" dirty="0"/>
              <a:t>Identify the shared value to join on (usually key). </a:t>
            </a:r>
          </a:p>
          <a:p>
            <a:pPr lvl="1"/>
            <a:r>
              <a:rPr lang="en-US" dirty="0"/>
              <a:t>Label one table as left, one as right. If 3+, join 2 and repeat. (In tab, make sure join window is open). </a:t>
            </a:r>
          </a:p>
          <a:p>
            <a:pPr lvl="1"/>
            <a:r>
              <a:rPr lang="en-US" dirty="0"/>
              <a:t>Determine type – do you want matches, all left side, or all right side. </a:t>
            </a:r>
          </a:p>
          <a:p>
            <a:pPr lvl="2"/>
            <a:r>
              <a:rPr lang="en-US" dirty="0"/>
              <a:t>What is the goal outcome – draw out a line or a few on paper to confirm. </a:t>
            </a:r>
          </a:p>
          <a:p>
            <a:pPr lvl="1"/>
            <a:r>
              <a:rPr lang="en-US" dirty="0"/>
              <a:t>Check, is it right? Especially if there’s more than one of anything. </a:t>
            </a:r>
          </a:p>
          <a:p>
            <a:pPr lvl="2"/>
            <a:r>
              <a:rPr lang="en-US" dirty="0"/>
              <a:t>Estimate number of results after and check, it can explode with errors. </a:t>
            </a:r>
          </a:p>
          <a:p>
            <a:pPr lvl="2"/>
            <a:r>
              <a:rPr lang="en-US" dirty="0"/>
              <a:t>Check a couple of specific rows. </a:t>
            </a:r>
          </a:p>
          <a:p>
            <a:pPr lvl="1"/>
            <a:r>
              <a:rPr lang="en-US" dirty="0"/>
              <a:t>You can think of physically cutting and pasting the rows. </a:t>
            </a:r>
          </a:p>
        </p:txBody>
      </p:sp>
      <p:pic>
        <p:nvPicPr>
          <p:cNvPr id="4098" name="Picture 2" descr="Xzibit - Get Your Walk On (HD / Dirty) on Make a GIF">
            <a:extLst>
              <a:ext uri="{FF2B5EF4-FFF2-40B4-BE49-F238E27FC236}">
                <a16:creationId xmlns:a16="http://schemas.microsoft.com/office/drawing/2014/main" id="{B9347140-DF5C-6D70-89C7-0116ADB9B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439" y="0"/>
            <a:ext cx="3295562" cy="185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6563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11466</TotalTime>
  <Words>2678</Words>
  <Application>Microsoft Macintosh PowerPoint</Application>
  <PresentationFormat>Widescreen</PresentationFormat>
  <Paragraphs>256</Paragraphs>
  <Slides>38</Slides>
  <Notes>8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Gill Sans MT</vt:lpstr>
      <vt:lpstr>Gallery</vt:lpstr>
      <vt:lpstr>Housekeeping</vt:lpstr>
      <vt:lpstr>Assignment Grades</vt:lpstr>
      <vt:lpstr>Assignment – Some things to consider…</vt:lpstr>
      <vt:lpstr>Joins</vt:lpstr>
      <vt:lpstr>Chapter 7 Challenges</vt:lpstr>
      <vt:lpstr>Data Management</vt:lpstr>
      <vt:lpstr>Relationships are Serious Business</vt:lpstr>
      <vt:lpstr>Database Benefits</vt:lpstr>
      <vt:lpstr>Organizing and Archiving Data</vt:lpstr>
      <vt:lpstr>ETL and Warehousing</vt:lpstr>
      <vt:lpstr>ETL – Extract Transform Load</vt:lpstr>
      <vt:lpstr>PowerPoint Presentation</vt:lpstr>
      <vt:lpstr>Data Warehouse</vt:lpstr>
      <vt:lpstr>Data Management</vt:lpstr>
      <vt:lpstr>Our Data Life</vt:lpstr>
      <vt:lpstr>Interacting with Databases</vt:lpstr>
      <vt:lpstr>SQL</vt:lpstr>
      <vt:lpstr>Data Management</vt:lpstr>
      <vt:lpstr>Data Management</vt:lpstr>
      <vt:lpstr>PowerPoint Presentation</vt:lpstr>
      <vt:lpstr>Data Management</vt:lpstr>
      <vt:lpstr>Data Management</vt:lpstr>
      <vt:lpstr>Data Management</vt:lpstr>
      <vt:lpstr>Data Management</vt:lpstr>
      <vt:lpstr>Remember the Key</vt:lpstr>
      <vt:lpstr>SQL Joins</vt:lpstr>
      <vt:lpstr>Join Mechanics</vt:lpstr>
      <vt:lpstr>Joins</vt:lpstr>
      <vt:lpstr>Remember this more than anything</vt:lpstr>
      <vt:lpstr>Join ”Template”</vt:lpstr>
      <vt:lpstr>Inner Join – Keys Must Match</vt:lpstr>
      <vt:lpstr>Left Join – All of the Left With Only what matches from the Right</vt:lpstr>
      <vt:lpstr>Right Join – All of the Right With only what Matches from the Left</vt:lpstr>
      <vt:lpstr>PowerPoint Presentation</vt:lpstr>
      <vt:lpstr>Multiple Criteria</vt:lpstr>
      <vt:lpstr>Unjoined Datasets</vt:lpstr>
      <vt:lpstr>Remember this more than anything</vt:lpstr>
      <vt:lpstr>Get your Join On, Get Your Data Right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39</cp:revision>
  <dcterms:created xsi:type="dcterms:W3CDTF">2025-09-22T17:13:03Z</dcterms:created>
  <dcterms:modified xsi:type="dcterms:W3CDTF">2026-10-07T19:25:56Z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2025-09-22T17:13:32Z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e4ffb939-052d-4b04-875e-49032dfc58ef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