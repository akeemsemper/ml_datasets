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ebp&amp;w=1200&amp;q=75" ContentType="image/jpe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2" r:id="rId1"/>
  </p:sldMasterIdLst>
  <p:sldIdLst>
    <p:sldId id="256" r:id="rId2"/>
    <p:sldId id="275" r:id="rId3"/>
    <p:sldId id="276" r:id="rId4"/>
    <p:sldId id="257" r:id="rId5"/>
    <p:sldId id="258" r:id="rId6"/>
    <p:sldId id="266" r:id="rId7"/>
    <p:sldId id="267" r:id="rId8"/>
    <p:sldId id="259" r:id="rId9"/>
    <p:sldId id="277" r:id="rId10"/>
    <p:sldId id="278" r:id="rId11"/>
    <p:sldId id="260" r:id="rId12"/>
    <p:sldId id="268" r:id="rId13"/>
    <p:sldId id="269" r:id="rId14"/>
    <p:sldId id="271" r:id="rId15"/>
    <p:sldId id="272" r:id="rId16"/>
    <p:sldId id="270" r:id="rId17"/>
    <p:sldId id="261" r:id="rId18"/>
    <p:sldId id="262" r:id="rId19"/>
    <p:sldId id="263" r:id="rId20"/>
    <p:sldId id="264" r:id="rId21"/>
    <p:sldId id="274" r:id="rId22"/>
    <p:sldId id="265" r:id="rId23"/>
    <p:sldId id="273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23"/>
    <p:restoredTop sz="94659"/>
  </p:normalViewPr>
  <p:slideViewPr>
    <p:cSldViewPr snapToGrid="0">
      <p:cViewPr varScale="1">
        <p:scale>
          <a:sx n="146" d="100"/>
          <a:sy n="146" d="100"/>
        </p:scale>
        <p:origin x="10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40410"/>
            <a:ext cx="10813067" cy="78383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600" dirty="0">
                <a:solidFill>
                  <a:schemeClr val="tx2">
                    <a:alpha val="90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998185"/>
            <a:ext cx="10813067" cy="541508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69E8996-63F9-282F-EB89-823A9E405F9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2974" y="1606318"/>
            <a:ext cx="11268845" cy="479145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FC4771-5A22-2E68-AB04-0949D0A15B66}"/>
              </a:ext>
            </a:extLst>
          </p:cNvPr>
          <p:cNvCxnSpPr>
            <a:cxnSpLocks/>
          </p:cNvCxnSpPr>
          <p:nvPr/>
        </p:nvCxnSpPr>
        <p:spPr>
          <a:xfrm flipH="1">
            <a:off x="0" y="159971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AA95C5A-6D75-9E1D-C459-7F2022E84F55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0ED5AC1-9F96-A868-7F45-523BF1A45E7C}"/>
              </a:ext>
            </a:extLst>
          </p:cNvPr>
          <p:cNvCxnSpPr>
            <a:cxnSpLocks/>
          </p:cNvCxnSpPr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0E1F764-5B01-7711-9CF1-7EA13A629701}"/>
              </a:ext>
            </a:extLst>
          </p:cNvPr>
          <p:cNvCxnSpPr>
            <a:cxnSpLocks/>
          </p:cNvCxnSpPr>
          <p:nvPr/>
        </p:nvCxnSpPr>
        <p:spPr>
          <a:xfrm flipH="1">
            <a:off x="0" y="6396171"/>
            <a:ext cx="12192000" cy="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61124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360221"/>
            <a:ext cx="10515600" cy="13304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004291"/>
            <a:ext cx="10515600" cy="41726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58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76D044F-5574-D6D7-2A47-5069E411C22F}"/>
              </a:ext>
            </a:extLst>
          </p:cNvPr>
          <p:cNvCxnSpPr>
            <a:cxnSpLocks/>
          </p:cNvCxnSpPr>
          <p:nvPr/>
        </p:nvCxnSpPr>
        <p:spPr>
          <a:xfrm flipH="1">
            <a:off x="0" y="1825625"/>
            <a:ext cx="12210293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13209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72445" y="1480212"/>
            <a:ext cx="3849131" cy="2871351"/>
          </a:xfrm>
        </p:spPr>
        <p:txBody>
          <a:bodyPr anchor="ctr">
            <a:normAutofit/>
          </a:bodyPr>
          <a:lstStyle>
            <a:lvl1pPr algn="ctr">
              <a:defRPr sz="3600">
                <a:solidFill>
                  <a:schemeClr val="tx2">
                    <a:alpha val="9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46" y="5410440"/>
            <a:ext cx="3849128" cy="106820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69E8996-63F9-282F-EB89-823A9E405F9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204414" cy="6859634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429501" y="6445997"/>
            <a:ext cx="295546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26650" y="6445997"/>
            <a:ext cx="1353059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8BE003B-9AA9-5AAB-16A3-CC8CD5997AAA}"/>
              </a:ext>
            </a:extLst>
          </p:cNvPr>
          <p:cNvCxnSpPr>
            <a:cxnSpLocks/>
          </p:cNvCxnSpPr>
          <p:nvPr/>
        </p:nvCxnSpPr>
        <p:spPr>
          <a:xfrm flipH="1">
            <a:off x="7206802" y="5031087"/>
            <a:ext cx="4985198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0CBC2A1-BC50-27CD-C764-435FA7A59ABD}"/>
              </a:ext>
            </a:extLst>
          </p:cNvPr>
          <p:cNvCxnSpPr>
            <a:cxnSpLocks/>
          </p:cNvCxnSpPr>
          <p:nvPr/>
        </p:nvCxnSpPr>
        <p:spPr>
          <a:xfrm>
            <a:off x="7206802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7226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6222" y="1246912"/>
            <a:ext cx="8919556" cy="3050766"/>
          </a:xfrm>
        </p:spPr>
        <p:txBody>
          <a:bodyPr anchor="ctr">
            <a:normAutofit/>
          </a:bodyPr>
          <a:lstStyle>
            <a:lvl1pPr algn="ctr">
              <a:defRPr sz="5400">
                <a:solidFill>
                  <a:schemeClr val="tx2">
                    <a:alpha val="9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51378" y="5345199"/>
            <a:ext cx="7289245" cy="118403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7C4A186-7A3C-2849-F4A7-5B5565EB29E6}"/>
              </a:ext>
            </a:extLst>
          </p:cNvPr>
          <p:cNvCxnSpPr>
            <a:cxnSpLocks/>
          </p:cNvCxnSpPr>
          <p:nvPr/>
        </p:nvCxnSpPr>
        <p:spPr>
          <a:xfrm flipH="1">
            <a:off x="0" y="5016433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0C7E87E-EC44-47F9-6172-5EEA03DE5D87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395416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2D6AD5-6168-B411-89A9-90C82303B25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EC6DA0-2CB8-AFC5-DB06-AB9235983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38087"/>
            <a:ext cx="8932653" cy="331254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cap="all" baseline="0">
                <a:solidFill>
                  <a:schemeClr val="tx2">
                    <a:alpha val="5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E16A9F-28B9-2207-66D3-D952EB7EC8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-789870"/>
            <a:ext cx="10515600" cy="638352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3F77F-C41D-1011-B9F4-A5DE814F4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751081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8CD507-925C-84B3-8F49-9F3B91209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13B4AE-32E8-CAFF-4A3C-6CBE4FFFA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BFA0DE8-9E4B-D747-CB64-14B8DEDC02EA}"/>
              </a:ext>
            </a:extLst>
          </p:cNvPr>
          <p:cNvCxnSpPr>
            <a:cxnSpLocks/>
          </p:cNvCxnSpPr>
          <p:nvPr/>
        </p:nvCxnSpPr>
        <p:spPr>
          <a:xfrm flipH="1">
            <a:off x="0" y="1367580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EB75EB-F27E-271A-C843-4096E1F19057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14159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02D18C4-A1A8-6CA4-B4A2-0E9791DC7F7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63362"/>
            <a:ext cx="11122507" cy="1162632"/>
          </a:xfrm>
        </p:spPr>
        <p:txBody>
          <a:bodyPr anchor="ctr">
            <a:normAutofit/>
          </a:bodyPr>
          <a:lstStyle>
            <a:lvl1pPr>
              <a:defRPr sz="72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79085" y="2249592"/>
            <a:ext cx="6100623" cy="3787062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>
                <a:solidFill>
                  <a:schemeClr val="tx2"/>
                </a:solidFill>
              </a:defRPr>
            </a:lvl1pPr>
            <a:lvl2pPr marL="571500" indent="-342900">
              <a:buFont typeface="+mj-lt"/>
              <a:buAutoNum type="arabicPeriod"/>
              <a:defRPr lang="en-US" sz="1800" dirty="0">
                <a:solidFill>
                  <a:schemeClr val="tx2"/>
                </a:solidFill>
              </a:defRPr>
            </a:lvl2pPr>
            <a:lvl3pPr marL="800100" indent="-342900">
              <a:buFont typeface="+mj-lt"/>
              <a:buAutoNum type="arabicPeriod"/>
              <a:defRPr lang="en-US" sz="1600" dirty="0">
                <a:solidFill>
                  <a:schemeClr val="tx2"/>
                </a:solidFill>
              </a:defRPr>
            </a:lvl3pPr>
            <a:lvl4pPr marL="10287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4pPr>
            <a:lvl5pPr marL="12573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6406B2-3637-5849-867E-A0ADC9D9DDA5}"/>
              </a:ext>
            </a:extLst>
          </p:cNvPr>
          <p:cNvCxnSpPr>
            <a:cxnSpLocks/>
          </p:cNvCxnSpPr>
          <p:nvPr/>
        </p:nvCxnSpPr>
        <p:spPr>
          <a:xfrm flipH="1">
            <a:off x="0" y="1822345"/>
            <a:ext cx="121920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0E47964-42E3-09B6-4B3F-96D1060D072B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69566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0D0A563-F018-FFF1-B911-D69E42CEEA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63362"/>
            <a:ext cx="11130279" cy="1162632"/>
          </a:xfrm>
        </p:spPr>
        <p:txBody>
          <a:bodyPr anchor="ctr">
            <a:normAutofit/>
          </a:bodyPr>
          <a:lstStyle>
            <a:lvl1pPr>
              <a:defRPr sz="72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DA2B1BE-7DDF-C8B4-6A46-21B5A0257D0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8364" y="1830708"/>
            <a:ext cx="5321063" cy="4563927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46552" y="2191025"/>
            <a:ext cx="5733156" cy="3894807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>
                <a:solidFill>
                  <a:schemeClr val="tx2"/>
                </a:solidFill>
              </a:defRPr>
            </a:lvl1pPr>
            <a:lvl2pPr marL="571500" indent="-342900">
              <a:buFont typeface="+mj-lt"/>
              <a:buAutoNum type="arabicPeriod"/>
              <a:defRPr lang="en-US" sz="1800" dirty="0">
                <a:solidFill>
                  <a:schemeClr val="tx2"/>
                </a:solidFill>
              </a:defRPr>
            </a:lvl2pPr>
            <a:lvl3pPr marL="800100" indent="-342900">
              <a:buFont typeface="+mj-lt"/>
              <a:buAutoNum type="arabicPeriod"/>
              <a:defRPr lang="en-US" sz="1600" dirty="0">
                <a:solidFill>
                  <a:schemeClr val="tx2"/>
                </a:solidFill>
              </a:defRPr>
            </a:lvl3pPr>
            <a:lvl4pPr marL="10287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4pPr>
            <a:lvl5pPr marL="12573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6406B2-3637-5849-867E-A0ADC9D9DDA5}"/>
              </a:ext>
            </a:extLst>
          </p:cNvPr>
          <p:cNvCxnSpPr>
            <a:cxnSpLocks/>
          </p:cNvCxnSpPr>
          <p:nvPr/>
        </p:nvCxnSpPr>
        <p:spPr>
          <a:xfrm flipH="1">
            <a:off x="0" y="1822345"/>
            <a:ext cx="12192000" cy="0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0E47964-42E3-09B6-4B3F-96D1060D072B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DD64E6-257D-65B2-D2A7-6A1002E1E580}"/>
              </a:ext>
            </a:extLst>
          </p:cNvPr>
          <p:cNvCxnSpPr>
            <a:cxnSpLocks/>
          </p:cNvCxnSpPr>
          <p:nvPr/>
        </p:nvCxnSpPr>
        <p:spPr>
          <a:xfrm>
            <a:off x="5321065" y="1822345"/>
            <a:ext cx="0" cy="5035655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838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1299"/>
            <a:ext cx="3689927" cy="1486906"/>
          </a:xfrm>
        </p:spPr>
        <p:txBody>
          <a:bodyPr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4515" y="2780147"/>
            <a:ext cx="6567049" cy="3359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F5C1EC-3A2D-2E51-65A6-6155B3776C4A}"/>
              </a:ext>
            </a:extLst>
          </p:cNvPr>
          <p:cNvCxnSpPr>
            <a:cxnSpLocks/>
          </p:cNvCxnSpPr>
          <p:nvPr/>
        </p:nvCxnSpPr>
        <p:spPr>
          <a:xfrm flipH="1">
            <a:off x="0" y="2397979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797FEE4-9B7E-CE58-4AA3-EC6E3E1861F3}"/>
              </a:ext>
            </a:extLst>
          </p:cNvPr>
          <p:cNvCxnSpPr>
            <a:cxnSpLocks/>
          </p:cNvCxnSpPr>
          <p:nvPr/>
        </p:nvCxnSpPr>
        <p:spPr>
          <a:xfrm>
            <a:off x="4469245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467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3360">
          <p15:clr>
            <a:srgbClr val="FBAE40"/>
          </p15:clr>
        </p15:guide>
        <p15:guide id="4" pos="2928">
          <p15:clr>
            <a:srgbClr val="FBAE40"/>
          </p15:clr>
        </p15:guide>
        <p15:guide id="5" pos="47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0473"/>
            <a:ext cx="3664107" cy="3864052"/>
          </a:xfrm>
        </p:spPr>
        <p:txBody>
          <a:bodyPr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70349" y="720473"/>
            <a:ext cx="6309360" cy="5303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6AC6891-86BE-FF41-E94E-AB97BFFB2322}"/>
              </a:ext>
            </a:extLst>
          </p:cNvPr>
          <p:cNvCxnSpPr>
            <a:cxnSpLocks/>
          </p:cNvCxnSpPr>
          <p:nvPr/>
        </p:nvCxnSpPr>
        <p:spPr>
          <a:xfrm>
            <a:off x="4643464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51E503-5C8D-3CDA-5CC2-A56B4F2A6193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86005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1995" y="559483"/>
            <a:ext cx="6825541" cy="1009652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421943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1994" y="2083837"/>
            <a:ext cx="6825545" cy="4032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811448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4423739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4425535" y="1810995"/>
            <a:ext cx="7750205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6791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2644" y="669386"/>
            <a:ext cx="7231413" cy="10058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8994" y="-5468"/>
            <a:ext cx="4011836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72644" y="1812385"/>
            <a:ext cx="7231407" cy="44238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408011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4009212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7656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80728"/>
            <a:ext cx="7281067" cy="10058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23728"/>
            <a:ext cx="7281061" cy="44238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5489" y="-6369"/>
            <a:ext cx="3996512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8188287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46463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78485"/>
            <a:ext cx="6369370" cy="10058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21484"/>
            <a:ext cx="6360897" cy="42921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77100" y="-8466"/>
            <a:ext cx="4914895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7270008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10157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8145"/>
            <a:ext cx="4000497" cy="16797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272880"/>
            <a:ext cx="4000497" cy="37894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53323" y="0"/>
            <a:ext cx="7338676" cy="6396281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40005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9854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4849331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5293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9922" y="458144"/>
            <a:ext cx="3909536" cy="148587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268396" cy="6396281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9922" y="2463789"/>
            <a:ext cx="3909534" cy="35610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9854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A67EAFE-BA64-2156-9780-AA400F6F3026}"/>
              </a:ext>
            </a:extLst>
          </p:cNvPr>
          <p:cNvCxnSpPr>
            <a:cxnSpLocks/>
          </p:cNvCxnSpPr>
          <p:nvPr/>
        </p:nvCxnSpPr>
        <p:spPr>
          <a:xfrm>
            <a:off x="7271347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54F2342-86AA-3EA4-EB3B-2DB8D68315E6}"/>
              </a:ext>
            </a:extLst>
          </p:cNvPr>
          <p:cNvCxnSpPr>
            <a:cxnSpLocks/>
          </p:cNvCxnSpPr>
          <p:nvPr/>
        </p:nvCxnSpPr>
        <p:spPr>
          <a:xfrm flipH="1">
            <a:off x="7227420" y="2212509"/>
            <a:ext cx="493532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43319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959530"/>
            <a:ext cx="3512409" cy="219986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B441162-7125-E1E0-1B82-FCC1AB84227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857" y="-1"/>
            <a:ext cx="12192000" cy="3648977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3613" y="3959529"/>
            <a:ext cx="7011183" cy="23695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1" y="6445997"/>
            <a:ext cx="354329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FF81FBD-8D67-B5E4-E22E-74E98EF89F80}"/>
              </a:ext>
            </a:extLst>
          </p:cNvPr>
          <p:cNvCxnSpPr>
            <a:cxnSpLocks/>
          </p:cNvCxnSpPr>
          <p:nvPr/>
        </p:nvCxnSpPr>
        <p:spPr>
          <a:xfrm>
            <a:off x="4290210" y="3648976"/>
            <a:ext cx="0" cy="3209024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92870-1B48-2935-21E8-3BC6F474C661}"/>
              </a:ext>
            </a:extLst>
          </p:cNvPr>
          <p:cNvCxnSpPr>
            <a:cxnSpLocks/>
          </p:cNvCxnSpPr>
          <p:nvPr/>
        </p:nvCxnSpPr>
        <p:spPr>
          <a:xfrm flipH="1">
            <a:off x="-857" y="3654706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16960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77072"/>
            <a:ext cx="4958078" cy="122548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842182"/>
            <a:ext cx="5758172" cy="4546457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142" y="377072"/>
            <a:ext cx="5558655" cy="57974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7362BC-3CD1-D6F5-CB9B-B2AAD7EAD176}"/>
              </a:ext>
            </a:extLst>
          </p:cNvPr>
          <p:cNvCxnSpPr>
            <a:cxnSpLocks/>
          </p:cNvCxnSpPr>
          <p:nvPr/>
        </p:nvCxnSpPr>
        <p:spPr>
          <a:xfrm>
            <a:off x="5758174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0" y="1842182"/>
            <a:ext cx="5758174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991806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407360"/>
            <a:ext cx="3543299" cy="173282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66598"/>
            <a:ext cx="4460008" cy="3601433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92635" y="788704"/>
            <a:ext cx="6730614" cy="53858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5433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0" y="4068031"/>
            <a:ext cx="4460008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7362BC-3CD1-D6F5-CB9B-B2AAD7EAD176}"/>
              </a:ext>
            </a:extLst>
          </p:cNvPr>
          <p:cNvCxnSpPr>
            <a:cxnSpLocks/>
          </p:cNvCxnSpPr>
          <p:nvPr/>
        </p:nvCxnSpPr>
        <p:spPr>
          <a:xfrm>
            <a:off x="4460008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40D58D1-F636-9620-582E-41FBB707092B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26797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91F6A87-CC7B-D4BD-1F6A-C3948971C39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8720" y="5264780"/>
            <a:ext cx="9811512" cy="1097280"/>
          </a:xfrm>
        </p:spPr>
        <p:txBody>
          <a:bodyPr vert="horz" lIns="91440" tIns="45720" rIns="91440" bIns="45720" rtlCol="0" anchor="ctr">
            <a:normAutofit/>
          </a:bodyPr>
          <a:lstStyle>
            <a:lvl1pPr algn="ctr">
              <a:lnSpc>
                <a:spcPct val="110000"/>
              </a:lnSpc>
              <a:defRPr lang="en-US" sz="2800" cap="all" spc="100" baseline="0" dirty="0">
                <a:solidFill>
                  <a:schemeClr val="tx2">
                    <a:lumMod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93776" y="676656"/>
            <a:ext cx="11201400" cy="420624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n-US" sz="27800" dirty="0">
                <a:solidFill>
                  <a:schemeClr val="tx2">
                    <a:lumMod val="9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ADE133-B5D6-A1C0-6BC9-C723D008EC0E}"/>
              </a:ext>
            </a:extLst>
          </p:cNvPr>
          <p:cNvCxnSpPr>
            <a:cxnSpLocks/>
          </p:cNvCxnSpPr>
          <p:nvPr/>
        </p:nvCxnSpPr>
        <p:spPr>
          <a:xfrm flipH="1">
            <a:off x="0" y="5018669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96448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FB4D75-C478-D736-9A5A-B64DEA24103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93103" y="1493520"/>
            <a:ext cx="8805794" cy="3911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sz="5400" b="0">
                <a:solidFill>
                  <a:schemeClr val="tx2"/>
                </a:solidFill>
                <a:latin typeface="+mj-lt"/>
              </a:defRPr>
            </a:lvl1pPr>
            <a:lvl2pPr marL="228600" indent="0" algn="ctr">
              <a:lnSpc>
                <a:spcPct val="110000"/>
              </a:lnSpc>
              <a:buNone/>
              <a:defRPr sz="4800" b="0">
                <a:solidFill>
                  <a:schemeClr val="tx2"/>
                </a:solidFill>
                <a:latin typeface="+mj-lt"/>
              </a:defRPr>
            </a:lvl2pPr>
            <a:lvl3pPr marL="457200" indent="0" algn="ctr">
              <a:lnSpc>
                <a:spcPct val="110000"/>
              </a:lnSpc>
              <a:buNone/>
              <a:defRPr sz="4400" b="0">
                <a:solidFill>
                  <a:schemeClr val="tx2"/>
                </a:solidFill>
                <a:latin typeface="+mj-lt"/>
              </a:defRPr>
            </a:lvl3pPr>
            <a:lvl4pPr marL="685800" indent="0" algn="ctr">
              <a:lnSpc>
                <a:spcPct val="110000"/>
              </a:lnSpc>
              <a:buNone/>
              <a:defRPr sz="4000" b="0">
                <a:solidFill>
                  <a:schemeClr val="tx2"/>
                </a:solidFill>
                <a:latin typeface="+mj-lt"/>
              </a:defRPr>
            </a:lvl4pPr>
            <a:lvl5pPr marL="914400" indent="0" algn="ctr">
              <a:lnSpc>
                <a:spcPct val="110000"/>
              </a:lnSpc>
              <a:buNone/>
              <a:defRPr sz="3600" b="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C547212-589F-3A5C-2FF7-4E576B86E3A3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40E2472-A2D0-B3C4-1592-E709B2EC9AD6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F95E0B8-C6C3-8095-D53F-FB618E39D7CE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AD2DF78-237E-1E21-906C-273460F55F55}"/>
              </a:ext>
            </a:extLst>
          </p:cNvPr>
          <p:cNvCxnSpPr>
            <a:cxnSpLocks/>
          </p:cNvCxnSpPr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35670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47DCC75-46A1-9953-9459-89672E9805A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40000"/>
              <a:lumOff val="6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62100" y="5549186"/>
            <a:ext cx="9199563" cy="65318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 cap="all" spc="100" baseline="0">
                <a:solidFill>
                  <a:schemeClr val="accent4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36EB602-83B2-B4EE-7805-FB94B774766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562100" y="823913"/>
            <a:ext cx="9199563" cy="3614737"/>
          </a:xfrm>
        </p:spPr>
        <p:txBody>
          <a:bodyPr anchor="ctr">
            <a:normAutofit/>
          </a:bodyPr>
          <a:lstStyle>
            <a:lvl1pPr marL="182880" indent="-182880">
              <a:buNone/>
              <a:defRPr sz="4000">
                <a:solidFill>
                  <a:schemeClr val="accent4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58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41338F2-C5CE-45A7-7748-138B348BA1E7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14CFB94-8AB3-65DB-0B12-EC4F7DAAEBF7}"/>
              </a:ext>
            </a:extLst>
          </p:cNvPr>
          <p:cNvCxnSpPr>
            <a:cxnSpLocks/>
          </p:cNvCxnSpPr>
          <p:nvPr/>
        </p:nvCxnSpPr>
        <p:spPr>
          <a:xfrm flipH="1">
            <a:off x="0" y="5043721"/>
            <a:ext cx="12192000" cy="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56958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27BF6-CDFA-AAF4-F7FD-F4F8D06FF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5309"/>
            <a:ext cx="11277600" cy="914400"/>
          </a:xfrm>
        </p:spPr>
        <p:txBody>
          <a:bodyPr anchor="ctr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AB1904-05A3-AF54-90B7-8B4E5E9BFC6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5613" y="1677988"/>
            <a:ext cx="5181600" cy="44989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D15555F-2C1E-04D7-CE37-D06ABFB568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53200" y="1677988"/>
            <a:ext cx="5180013" cy="4498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108197-F703-726D-4372-C7520052D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5FAA39-5E1E-3A94-5A04-C36BA19E3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E80595-19B6-01B9-FCF5-F94B0C1BB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2C5098A-8A29-951C-ABCF-B4C329C3A94F}"/>
              </a:ext>
            </a:extLst>
          </p:cNvPr>
          <p:cNvCxnSpPr>
            <a:cxnSpLocks/>
          </p:cNvCxnSpPr>
          <p:nvPr/>
        </p:nvCxnSpPr>
        <p:spPr>
          <a:xfrm>
            <a:off x="6096000" y="1362719"/>
            <a:ext cx="0" cy="5490348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4A1D01-2B46-73F0-8DC7-926AA95F7DFC}"/>
              </a:ext>
            </a:extLst>
          </p:cNvPr>
          <p:cNvCxnSpPr>
            <a:cxnSpLocks/>
          </p:cNvCxnSpPr>
          <p:nvPr/>
        </p:nvCxnSpPr>
        <p:spPr>
          <a:xfrm flipH="1">
            <a:off x="0" y="1362719"/>
            <a:ext cx="12200040" cy="0"/>
          </a:xfrm>
          <a:prstGeom prst="line">
            <a:avLst/>
          </a:prstGeom>
          <a:ln w="9525">
            <a:solidFill>
              <a:srgbClr val="616867">
                <a:alpha val="4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6126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F27A1-B3E2-4312-9475-76586DB13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6838"/>
            <a:ext cx="11274552" cy="9144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FD6984-5D8F-6F35-3DC2-352D46E75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9" y="1475623"/>
            <a:ext cx="5184648" cy="676690"/>
          </a:xfrm>
        </p:spPr>
        <p:txBody>
          <a:bodyPr anchor="ctr">
            <a:normAutofit/>
          </a:bodyPr>
          <a:lstStyle>
            <a:lvl1pPr marL="0" indent="0">
              <a:buNone/>
              <a:defRPr sz="1800" b="0" cap="all" spc="16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CD5136-48A0-D788-8CE2-627309A00EC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2522538"/>
            <a:ext cx="5178425" cy="38068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07CEA6-7FDB-2A72-485B-D38A79C182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56248" y="1475622"/>
            <a:ext cx="5184648" cy="676690"/>
          </a:xfrm>
        </p:spPr>
        <p:txBody>
          <a:bodyPr anchor="ctr">
            <a:normAutofit/>
          </a:bodyPr>
          <a:lstStyle>
            <a:lvl1pPr marL="0" indent="0">
              <a:buNone/>
              <a:defRPr sz="1800" b="0" cap="all" spc="16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FC4D723F-4492-3B3B-CE74-0959714EEB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56375" y="2522538"/>
            <a:ext cx="5175249" cy="38068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3FA108E0-63AE-4B5C-404F-AD0FEC4AB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42E2EB77-3CF8-CDC9-D0D4-1AC07FC53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6918C09E-FCA3-F1F6-7408-40D98FCEA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54F547E-1AC1-2FFD-3E17-DC3F25B07823}"/>
              </a:ext>
            </a:extLst>
          </p:cNvPr>
          <p:cNvCxnSpPr>
            <a:cxnSpLocks/>
          </p:cNvCxnSpPr>
          <p:nvPr/>
        </p:nvCxnSpPr>
        <p:spPr>
          <a:xfrm>
            <a:off x="6096000" y="1362719"/>
            <a:ext cx="0" cy="5490348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695E25D-D4B1-2002-F8AB-8B987C1683D9}"/>
              </a:ext>
            </a:extLst>
          </p:cNvPr>
          <p:cNvCxnSpPr>
            <a:cxnSpLocks/>
          </p:cNvCxnSpPr>
          <p:nvPr/>
        </p:nvCxnSpPr>
        <p:spPr>
          <a:xfrm flipH="1">
            <a:off x="0" y="2268129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335EA16-C700-BA75-F075-2E4BC3EAFBE2}"/>
              </a:ext>
            </a:extLst>
          </p:cNvPr>
          <p:cNvCxnSpPr>
            <a:cxnSpLocks/>
          </p:cNvCxnSpPr>
          <p:nvPr/>
        </p:nvCxnSpPr>
        <p:spPr>
          <a:xfrm flipH="1">
            <a:off x="0" y="1362719"/>
            <a:ext cx="12200040" cy="0"/>
          </a:xfrm>
          <a:prstGeom prst="line">
            <a:avLst/>
          </a:prstGeom>
          <a:ln w="9525">
            <a:solidFill>
              <a:srgbClr val="616867">
                <a:alpha val="4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342507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552C1-DD73-A90F-46E0-33A4D5580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8F8C10-87B8-01D2-2FEE-DAC41B9CF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25E57E-7F73-3825-2158-80859BAD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A634BF-792D-AC8C-B0E0-492263401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8305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51370D-0A93-44DD-E049-EF3265B73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FF00A2-5853-30A7-62F5-7C7CB5A22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3E97DA-A7DF-E3FF-8937-F6A36D17F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59714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319627-2791-E32D-91B0-857B27F822F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34473"/>
            <a:ext cx="11122508" cy="1993399"/>
          </a:xfrm>
        </p:spPr>
        <p:txBody>
          <a:bodyPr anchor="b">
            <a:normAutofit/>
          </a:bodyPr>
          <a:lstStyle>
            <a:lvl1pPr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199" y="3528206"/>
            <a:ext cx="11122509" cy="275425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2128EF9-7F8A-2F1B-41F7-2CA02A35CCA7}"/>
              </a:ext>
            </a:extLst>
          </p:cNvPr>
          <p:cNvCxnSpPr>
            <a:cxnSpLocks/>
          </p:cNvCxnSpPr>
          <p:nvPr/>
        </p:nvCxnSpPr>
        <p:spPr>
          <a:xfrm flipH="1">
            <a:off x="0" y="3191402"/>
            <a:ext cx="121920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59252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7CD7571-736E-B4CB-34E0-C8B31B5A98C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34473"/>
            <a:ext cx="6768193" cy="1993399"/>
          </a:xfrm>
        </p:spPr>
        <p:txBody>
          <a:bodyPr anchor="b">
            <a:normAutofit/>
          </a:bodyPr>
          <a:lstStyle>
            <a:lvl1pPr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" y="3528206"/>
            <a:ext cx="6768193" cy="1794899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2128EF9-7F8A-2F1B-41F7-2CA02A35CCA7}"/>
              </a:ext>
            </a:extLst>
          </p:cNvPr>
          <p:cNvCxnSpPr>
            <a:cxnSpLocks/>
          </p:cNvCxnSpPr>
          <p:nvPr/>
        </p:nvCxnSpPr>
        <p:spPr>
          <a:xfrm flipH="1">
            <a:off x="0" y="3191402"/>
            <a:ext cx="121920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38272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57148D-D60C-3359-4AC2-15A43E221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3401"/>
            <a:ext cx="10515600" cy="11572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A8731C-FCAE-A05A-5A11-57005B86AB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52E70-B2DF-717F-6373-70A688FAD8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445997"/>
            <a:ext cx="39493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5215E5-6146-14C5-665E-EF04630DCB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737594" y="6445997"/>
            <a:ext cx="18421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5550093D-F34E-A14E-B095-82AD02A24AD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E8FA3A-8706-3F4B-41CC-B024431F62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34800" y="6445997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3B97473B-6A92-4C48-BBF9-A9F5C9F3ED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376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  <p:sldLayoutId id="2147483715" r:id="rId13"/>
    <p:sldLayoutId id="2147483716" r:id="rId14"/>
    <p:sldLayoutId id="2147483717" r:id="rId15"/>
    <p:sldLayoutId id="2147483718" r:id="rId16"/>
    <p:sldLayoutId id="2147483719" r:id="rId17"/>
    <p:sldLayoutId id="2147483720" r:id="rId18"/>
    <p:sldLayoutId id="2147483721" r:id="rId19"/>
    <p:sldLayoutId id="2147483722" r:id="rId20"/>
    <p:sldLayoutId id="2147483723" r:id="rId21"/>
    <p:sldLayoutId id="2147483724" r:id="rId22"/>
    <p:sldLayoutId id="2147483725" r:id="rId23"/>
    <p:sldLayoutId id="2147483726" r:id="rId24"/>
    <p:sldLayoutId id="2147483727" r:id="rId25"/>
    <p:sldLayoutId id="2147483728" r:id="rId26"/>
    <p:sldLayoutId id="2147483729" r:id="rId2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08">
          <p15:clr>
            <a:srgbClr val="F26B43"/>
          </p15:clr>
        </p15:guide>
        <p15:guide id="3" pos="4872">
          <p15:clr>
            <a:srgbClr val="F26B43"/>
          </p15:clr>
        </p15:guide>
        <p15:guide id="4" pos="5160">
          <p15:clr>
            <a:srgbClr val="F26B43"/>
          </p15:clr>
        </p15:guide>
        <p15:guide id="5" pos="2520">
          <p15:clr>
            <a:srgbClr val="F26B43"/>
          </p15:clr>
        </p15:guide>
        <p15:guide id="6" pos="45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webp&amp;w=1200&amp;q=75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C6E12-F73E-D5CD-E8C9-1C8A696355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Parameters, Control Charts, Waterfall Charts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3A4669-634C-1DD9-0834-9EB20783030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648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D3A501-A9FB-42C9-8E52-0865B4E6F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5905302-E5F0-CEBD-2922-1B2AB8266D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839433"/>
            <a:ext cx="10515600" cy="4572000"/>
          </a:xfrm>
        </p:spPr>
        <p:txBody>
          <a:bodyPr/>
          <a:lstStyle/>
          <a:p>
            <a:r>
              <a:rPr lang="en-US" dirty="0"/>
              <a:t>Test marks up, let me know if issues. </a:t>
            </a:r>
          </a:p>
          <a:p>
            <a:r>
              <a:rPr lang="en-US" dirty="0"/>
              <a:t>Today – parameters, control charts, waterfall charts. </a:t>
            </a:r>
          </a:p>
          <a:p>
            <a:pPr lvl="1"/>
            <a:r>
              <a:rPr lang="en-US" dirty="0"/>
              <a:t>Some table calculation basics. </a:t>
            </a:r>
          </a:p>
          <a:p>
            <a:pPr lvl="1"/>
            <a:r>
              <a:rPr lang="en-US" dirty="0"/>
              <a:t>Parameters and calculating with them. </a:t>
            </a:r>
          </a:p>
          <a:p>
            <a:pPr lvl="1"/>
            <a:r>
              <a:rPr lang="en-US" dirty="0"/>
              <a:t>Customizing marks. </a:t>
            </a:r>
          </a:p>
          <a:p>
            <a:r>
              <a:rPr lang="en-US" dirty="0"/>
              <a:t>Next time – spatial joining and table calculations (fixed) for a reason. </a:t>
            </a:r>
          </a:p>
          <a:p>
            <a:pPr lvl="1"/>
            <a:r>
              <a:rPr lang="en-US" dirty="0"/>
              <a:t>If we don’t have “regions”, like a neighborhood, how can we make filled maps?</a:t>
            </a:r>
          </a:p>
          <a:p>
            <a:pPr lvl="1"/>
            <a:r>
              <a:rPr lang="en-US" dirty="0"/>
              <a:t>More table calculations. </a:t>
            </a:r>
          </a:p>
          <a:p>
            <a:pPr lvl="1"/>
            <a:r>
              <a:rPr lang="en-US" dirty="0"/>
              <a:t>Join directly based on location instead of a key. </a:t>
            </a:r>
          </a:p>
        </p:txBody>
      </p:sp>
    </p:spTree>
    <p:extLst>
      <p:ext uri="{BB962C8B-B14F-4D97-AF65-F5344CB8AC3E}">
        <p14:creationId xmlns:p14="http://schemas.microsoft.com/office/powerpoint/2010/main" val="6689801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BBC54-6464-CF16-FBB4-367C4764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AC17C4-2976-F20F-FD33-2F5209C28F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850065"/>
            <a:ext cx="10515600" cy="4326898"/>
          </a:xfrm>
        </p:spPr>
        <p:txBody>
          <a:bodyPr/>
          <a:lstStyle/>
          <a:p>
            <a:r>
              <a:rPr lang="en-US" dirty="0"/>
              <a:t>Assignment – you want to do something “good” and I am going to evaluate that when marking. </a:t>
            </a:r>
          </a:p>
          <a:p>
            <a:pPr lvl="1"/>
            <a:r>
              <a:rPr lang="en-US" dirty="0"/>
              <a:t>You have practice making basic dashboards, that should be easy for you. </a:t>
            </a:r>
          </a:p>
          <a:p>
            <a:r>
              <a:rPr lang="en-US" dirty="0"/>
              <a:t>You want to and are expected to make things nice, useful, and interesting:</a:t>
            </a:r>
          </a:p>
          <a:p>
            <a:pPr lvl="1"/>
            <a:r>
              <a:rPr lang="en-US" dirty="0"/>
              <a:t>Based on your topic, are you actually showing something plausibly useful?</a:t>
            </a:r>
          </a:p>
          <a:p>
            <a:pPr lvl="1"/>
            <a:r>
              <a:rPr lang="en-US" dirty="0"/>
              <a:t>Is that data being displayed in a way that makes sense (not just T/F, are there better choices?)</a:t>
            </a:r>
          </a:p>
          <a:p>
            <a:pPr lvl="1"/>
            <a:r>
              <a:rPr lang="en-US" dirty="0"/>
              <a:t>Have you used some of Tableau’s features to make the dash better – interactivity, filters, highlights,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Are there clear opportunities where improvements could have been made?</a:t>
            </a:r>
          </a:p>
          <a:p>
            <a:pPr lvl="2"/>
            <a:r>
              <a:rPr lang="en-US" dirty="0"/>
              <a:t>”If I’m a manager/researcher/whatever, what might I want need to do with this data”?</a:t>
            </a:r>
          </a:p>
          <a:p>
            <a:pPr lvl="1"/>
            <a:r>
              <a:rPr lang="en-US" dirty="0"/>
              <a:t>I am going to be asking this stuff in grading, technically meeting requirements != good. </a:t>
            </a:r>
          </a:p>
          <a:p>
            <a:pPr lvl="1"/>
            <a:r>
              <a:rPr lang="en-US" b="1" dirty="0"/>
              <a:t>You will probably need to learn something new as it comes up, as you build. </a:t>
            </a:r>
          </a:p>
          <a:p>
            <a:r>
              <a:rPr lang="en-US" b="1" dirty="0"/>
              <a:t>You can probably do a substantial portion of it at the ends of periods, post examples. </a:t>
            </a:r>
          </a:p>
        </p:txBody>
      </p:sp>
    </p:spTree>
    <p:extLst>
      <p:ext uri="{BB962C8B-B14F-4D97-AF65-F5344CB8AC3E}">
        <p14:creationId xmlns:p14="http://schemas.microsoft.com/office/powerpoint/2010/main" val="32160698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B6CAC-9030-B513-B352-CAD2848E1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DDBFBD-16E9-A5DB-1A6F-117097F19F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0874" y="1850065"/>
            <a:ext cx="5486886" cy="4326205"/>
          </a:xfrm>
        </p:spPr>
        <p:txBody>
          <a:bodyPr/>
          <a:lstStyle/>
          <a:p>
            <a:r>
              <a:rPr lang="en-US" dirty="0"/>
              <a:t>Parameters allow us to get input from a user. </a:t>
            </a:r>
          </a:p>
          <a:p>
            <a:r>
              <a:rPr lang="en-US" dirty="0"/>
              <a:t>Similar mechanics to a filter, but flexible. </a:t>
            </a:r>
          </a:p>
          <a:p>
            <a:r>
              <a:rPr lang="en-US" dirty="0"/>
              <a:t>We can capture numbers, strings (text), selection from list, Boolean (T/F),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Can be based on data – e.g. list of values. </a:t>
            </a:r>
          </a:p>
          <a:p>
            <a:r>
              <a:rPr lang="en-US" dirty="0"/>
              <a:t>Once captured, the parameter values are usable just like any other variable. </a:t>
            </a:r>
          </a:p>
          <a:p>
            <a:pPr lvl="1"/>
            <a:r>
              <a:rPr lang="en-US" dirty="0"/>
              <a:t>Show up in list of variables*. </a:t>
            </a:r>
          </a:p>
          <a:p>
            <a:pPr lvl="1"/>
            <a:r>
              <a:rPr lang="en-US" dirty="0"/>
              <a:t>Can be used in a calculation. </a:t>
            </a:r>
          </a:p>
          <a:p>
            <a:pPr lvl="1"/>
            <a:r>
              <a:rPr lang="en-US" dirty="0"/>
              <a:t>Compare everything to this item. </a:t>
            </a:r>
          </a:p>
          <a:p>
            <a:pPr lvl="1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595198-B9D8-4B0E-D388-F4AE453D5C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7760" y="0"/>
            <a:ext cx="635424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27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F4B82-5559-3473-85AF-25B6A3B10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can Parameters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D44EB-D87C-0CDA-A3C4-EA18170776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839433"/>
            <a:ext cx="10515600" cy="4337530"/>
          </a:xfrm>
        </p:spPr>
        <p:txBody>
          <a:bodyPr/>
          <a:lstStyle/>
          <a:p>
            <a:r>
              <a:rPr lang="en-US" dirty="0"/>
              <a:t>Parameters allow us to take in user input and do something with it. </a:t>
            </a:r>
          </a:p>
          <a:p>
            <a:r>
              <a:rPr lang="en-US" dirty="0"/>
              <a:t>This is very flexible:</a:t>
            </a:r>
          </a:p>
          <a:p>
            <a:pPr lvl="1"/>
            <a:r>
              <a:rPr lang="en-US" dirty="0"/>
              <a:t>Text searching – capture something and use that to highlight or use some subset of values. </a:t>
            </a:r>
          </a:p>
          <a:p>
            <a:pPr lvl="1"/>
            <a:r>
              <a:rPr lang="en-US" dirty="0"/>
              <a:t>Customization – take in something like an interest rate and term for mortgage calculator. </a:t>
            </a:r>
          </a:p>
          <a:p>
            <a:pPr lvl="1"/>
            <a:r>
              <a:rPr lang="en-US" dirty="0"/>
              <a:t>Interactive elements – base calculations off some user inputted value. </a:t>
            </a:r>
          </a:p>
          <a:p>
            <a:pPr lvl="1"/>
            <a:r>
              <a:rPr lang="en-US" dirty="0"/>
              <a:t>Change “focus” – select a base item and compare things relative it. (e.g. investing vs </a:t>
            </a:r>
            <a:r>
              <a:rPr lang="en-US" dirty="0" err="1"/>
              <a:t>s&amp;p</a:t>
            </a:r>
            <a:r>
              <a:rPr lang="en-US" dirty="0"/>
              <a:t> 500)</a:t>
            </a:r>
          </a:p>
          <a:p>
            <a:r>
              <a:rPr lang="en-US" dirty="0"/>
              <a:t>Parameters can do all kinds of different things. </a:t>
            </a:r>
          </a:p>
          <a:p>
            <a:pPr lvl="1"/>
            <a:r>
              <a:rPr lang="en-US" dirty="0"/>
              <a:t>If we want some info from a user, a parameter probably does it. </a:t>
            </a:r>
          </a:p>
          <a:p>
            <a:r>
              <a:rPr lang="en-US" dirty="0"/>
              <a:t>Allows for greater flexibility as well – one visualization may serve several groups/people. </a:t>
            </a:r>
          </a:p>
        </p:txBody>
      </p:sp>
    </p:spTree>
    <p:extLst>
      <p:ext uri="{BB962C8B-B14F-4D97-AF65-F5344CB8AC3E}">
        <p14:creationId xmlns:p14="http://schemas.microsoft.com/office/powerpoint/2010/main" val="37892451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43027-17B2-36C8-776D-72C852098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Life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77C9D5-A2FC-2949-5558-D38672FF16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839433"/>
            <a:ext cx="10515600" cy="4337530"/>
          </a:xfrm>
        </p:spPr>
        <p:txBody>
          <a:bodyPr/>
          <a:lstStyle/>
          <a:p>
            <a:r>
              <a:rPr lang="en-US" dirty="0"/>
              <a:t>I used to create many reports for training at ATB. </a:t>
            </a:r>
          </a:p>
          <a:p>
            <a:pPr lvl="1"/>
            <a:r>
              <a:rPr lang="en-US" dirty="0"/>
              <a:t>These were originally random spreadsheet checklists per region/branch. </a:t>
            </a:r>
          </a:p>
          <a:p>
            <a:pPr lvl="1"/>
            <a:r>
              <a:rPr lang="en-US" dirty="0"/>
              <a:t>Mainly centered around “how many people are in training and when will they be done?”</a:t>
            </a:r>
          </a:p>
          <a:p>
            <a:pPr lvl="1"/>
            <a:r>
              <a:rPr lang="en-US" dirty="0"/>
              <a:t>This was unknowable when I started, my first task was to call every branch and say, “got any trainees”. </a:t>
            </a:r>
          </a:p>
          <a:p>
            <a:r>
              <a:rPr lang="en-US" dirty="0"/>
              <a:t>Different stakeholders/regions had different exact requirements. </a:t>
            </a:r>
          </a:p>
          <a:p>
            <a:pPr lvl="1"/>
            <a:r>
              <a:rPr lang="en-US" dirty="0"/>
              <a:t>Percentages, counts, expected grad dates, on track/off track, “concerns”, level of detail, </a:t>
            </a:r>
            <a:r>
              <a:rPr lang="en-US" dirty="0" err="1"/>
              <a:t>etc</a:t>
            </a:r>
            <a:r>
              <a:rPr lang="en-US" dirty="0"/>
              <a:t>….</a:t>
            </a:r>
          </a:p>
          <a:p>
            <a:pPr lvl="1"/>
            <a:r>
              <a:rPr lang="en-US" dirty="0"/>
              <a:t>This originally had dozens of reports on basically the same stuff (list of course completions). </a:t>
            </a:r>
          </a:p>
          <a:p>
            <a:r>
              <a:rPr lang="en-US" dirty="0"/>
              <a:t>Solution – base reports that are customized via parameters. </a:t>
            </a:r>
          </a:p>
          <a:p>
            <a:pPr lvl="1"/>
            <a:r>
              <a:rPr lang="en-US" dirty="0"/>
              <a:t>Use different selections to show/hide data on demand. </a:t>
            </a:r>
          </a:p>
          <a:p>
            <a:r>
              <a:rPr lang="en-US" dirty="0"/>
              <a:t>Way better in the long term – if things change only one report to update. </a:t>
            </a:r>
          </a:p>
          <a:p>
            <a:pPr lvl="1"/>
            <a:r>
              <a:rPr lang="en-US" dirty="0"/>
              <a:t>The report/dashboard is more complex, but we only have one of it. </a:t>
            </a:r>
          </a:p>
        </p:txBody>
      </p:sp>
    </p:spTree>
    <p:extLst>
      <p:ext uri="{BB962C8B-B14F-4D97-AF65-F5344CB8AC3E}">
        <p14:creationId xmlns:p14="http://schemas.microsoft.com/office/powerpoint/2010/main" val="1029275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BC0E9-750E-8589-CA0C-3317C2BA3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9922" y="458144"/>
            <a:ext cx="3909536" cy="1485873"/>
          </a:xfrm>
        </p:spPr>
        <p:txBody>
          <a:bodyPr anchor="b">
            <a:normAutofit/>
          </a:bodyPr>
          <a:lstStyle/>
          <a:p>
            <a:r>
              <a:rPr lang="en-US" dirty="0"/>
              <a:t>Finance Adjacent Charts</a:t>
            </a:r>
          </a:p>
        </p:txBody>
      </p:sp>
      <p:pic>
        <p:nvPicPr>
          <p:cNvPr id="5" name="Picture 4" descr="Calculator, pen, compass, money and a paper with graphs printed on it">
            <a:extLst>
              <a:ext uri="{FF2B5EF4-FFF2-40B4-BE49-F238E27FC236}">
                <a16:creationId xmlns:a16="http://schemas.microsoft.com/office/drawing/2014/main" id="{83783B54-7675-3C78-E403-C906B9A203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878" r="13658" b="2"/>
          <a:stretch>
            <a:fillRect/>
          </a:stretch>
        </p:blipFill>
        <p:spPr>
          <a:xfrm>
            <a:off x="20" y="10"/>
            <a:ext cx="7268376" cy="6396271"/>
          </a:xfrm>
          <a:prstGeom prst="rect">
            <a:avLst/>
          </a:prstGeom>
          <a:noFill/>
        </p:spPr>
      </p:pic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B1559C3-689D-BED3-39BA-F3B41B71B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9922" y="2463789"/>
            <a:ext cx="3909534" cy="3561091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7164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0B537-D271-27BA-4DFF-228CC9277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Control 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66A09-B133-1B1D-5F13-CB93D89A7B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03480" y="2004291"/>
            <a:ext cx="6488520" cy="4172672"/>
          </a:xfrm>
        </p:spPr>
        <p:txBody>
          <a:bodyPr/>
          <a:lstStyle/>
          <a:p>
            <a:r>
              <a:rPr lang="en-US" dirty="0"/>
              <a:t>One place where we can use a parameter is a control chart. </a:t>
            </a:r>
          </a:p>
          <a:p>
            <a:r>
              <a:rPr lang="en-US" dirty="0"/>
              <a:t>Control charts are common where we have:</a:t>
            </a:r>
          </a:p>
          <a:p>
            <a:pPr lvl="1"/>
            <a:r>
              <a:rPr lang="en-US" dirty="0"/>
              <a:t>An “acceptable” range of values where things are ok. </a:t>
            </a:r>
          </a:p>
          <a:p>
            <a:pPr lvl="1"/>
            <a:r>
              <a:rPr lang="en-US" dirty="0"/>
              <a:t>An alarm/error/alert where values leave that range. </a:t>
            </a:r>
          </a:p>
          <a:p>
            <a:r>
              <a:rPr lang="en-US" dirty="0"/>
              <a:t>Common examples:</a:t>
            </a:r>
          </a:p>
          <a:p>
            <a:pPr lvl="1"/>
            <a:r>
              <a:rPr lang="en-US" dirty="0"/>
              <a:t>Temp gauge on your car – in range is fine, too hot/cold is issue. </a:t>
            </a:r>
          </a:p>
          <a:p>
            <a:pPr lvl="1"/>
            <a:r>
              <a:rPr lang="en-US" dirty="0"/>
              <a:t>Similar industrial things – pressure, temperature, rate,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Technical investing. </a:t>
            </a:r>
          </a:p>
          <a:p>
            <a:r>
              <a:rPr lang="en-US" dirty="0"/>
              <a:t>Limits can be from outside (e.g. temp limit) or based on data.</a:t>
            </a:r>
          </a:p>
        </p:txBody>
      </p:sp>
      <p:pic>
        <p:nvPicPr>
          <p:cNvPr id="4" name="Picture 3" descr="What is Control Chart ? SPC Chart | Shewhart Chart">
            <a:extLst>
              <a:ext uri="{FF2B5EF4-FFF2-40B4-BE49-F238E27FC236}">
                <a16:creationId xmlns:a16="http://schemas.microsoft.com/office/drawing/2014/main" id="{D97B5FA1-19D6-50F4-8949-366FC7CE19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488" y="1838172"/>
            <a:ext cx="5543993" cy="4398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6561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64670-42C6-054A-DF5B-04CD5269A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your Tableau 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5F86F3-E169-38C9-1CFC-424BCEAD71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004291"/>
            <a:ext cx="5058143" cy="4172672"/>
          </a:xfrm>
        </p:spPr>
        <p:txBody>
          <a:bodyPr/>
          <a:lstStyle/>
          <a:p>
            <a:r>
              <a:rPr lang="en-US" dirty="0"/>
              <a:t>We can try using control charts with parameters. </a:t>
            </a:r>
          </a:p>
          <a:p>
            <a:r>
              <a:rPr lang="en-US" dirty="0"/>
              <a:t>Use stock price for data. </a:t>
            </a:r>
          </a:p>
          <a:p>
            <a:r>
              <a:rPr lang="en-US" dirty="0"/>
              <a:t>Use a parameter to control upper/lower limits. </a:t>
            </a:r>
          </a:p>
          <a:p>
            <a:r>
              <a:rPr lang="en-US" dirty="0"/>
              <a:t>Base other stuff, like color coding, off of this. </a:t>
            </a:r>
          </a:p>
          <a:p>
            <a:pPr lvl="1"/>
            <a:r>
              <a:rPr lang="en-US" dirty="0"/>
              <a:t>We can detect when limits are crossed, based on the limits that are configurable by user. </a:t>
            </a:r>
          </a:p>
        </p:txBody>
      </p:sp>
      <p:pic>
        <p:nvPicPr>
          <p:cNvPr id="4" name="Picture 3" descr="How to create control charts in Tableau">
            <a:extLst>
              <a:ext uri="{FF2B5EF4-FFF2-40B4-BE49-F238E27FC236}">
                <a16:creationId xmlns:a16="http://schemas.microsoft.com/office/drawing/2014/main" id="{6A1B47D9-87C5-8331-E870-C6ECACD0F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3943" y="2307265"/>
            <a:ext cx="6277935" cy="3228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1212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8BA11-12EE-C5AA-5F44-3A356458C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Even More Dynamic?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63855-4EC9-BFE3-EEB2-B65C3722D9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0804" y="2004291"/>
            <a:ext cx="6571196" cy="4172672"/>
          </a:xfrm>
        </p:spPr>
        <p:txBody>
          <a:bodyPr/>
          <a:lstStyle/>
          <a:p>
            <a:r>
              <a:rPr lang="en-US" dirty="0"/>
              <a:t>We can combine another feature to help more – window function. </a:t>
            </a:r>
          </a:p>
          <a:p>
            <a:r>
              <a:rPr lang="en-US" dirty="0"/>
              <a:t>Window functions calculate aggregation for what’s in window. </a:t>
            </a:r>
          </a:p>
          <a:p>
            <a:pPr lvl="1"/>
            <a:r>
              <a:rPr lang="en-US" dirty="0"/>
              <a:t>I.e. whatever is visible based on filters/calculations.</a:t>
            </a:r>
          </a:p>
          <a:p>
            <a:pPr lvl="1"/>
            <a:r>
              <a:rPr lang="en-US" dirty="0"/>
              <a:t>Regular avg/median/std… do all data, which may be confusing. </a:t>
            </a:r>
          </a:p>
          <a:p>
            <a:r>
              <a:rPr lang="en-US" dirty="0"/>
              <a:t>Stock data goes for years, we can make everything reactive to what we are looking at </a:t>
            </a:r>
            <a:r>
              <a:rPr lang="en-US" i="1" dirty="0"/>
              <a:t>now.</a:t>
            </a:r>
            <a:endParaRPr lang="en-US" dirty="0"/>
          </a:p>
          <a:p>
            <a:pPr lvl="1"/>
            <a:endParaRPr lang="en-US" dirty="0"/>
          </a:p>
        </p:txBody>
      </p:sp>
      <p:pic>
        <p:nvPicPr>
          <p:cNvPr id="4" name="Picture 3" descr="Tableau Window Functions | How does window functions work in tableau?">
            <a:extLst>
              <a:ext uri="{FF2B5EF4-FFF2-40B4-BE49-F238E27FC236}">
                <a16:creationId xmlns:a16="http://schemas.microsoft.com/office/drawing/2014/main" id="{DE91066F-5A6D-E870-F6C6-1CB3A43665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53486"/>
            <a:ext cx="5620804" cy="3026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753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2F61E-C7B6-0DD9-D2DA-7076590C1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Waterfall (Candlestick) 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A2D161-CBC3-29B3-3C0C-10AFE6D394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004291"/>
            <a:ext cx="4919921" cy="4172672"/>
          </a:xfrm>
        </p:spPr>
        <p:txBody>
          <a:bodyPr/>
          <a:lstStyle/>
          <a:p>
            <a:r>
              <a:rPr lang="en-US" dirty="0"/>
              <a:t>Waterfall charts show two things:</a:t>
            </a:r>
          </a:p>
          <a:p>
            <a:pPr lvl="1"/>
            <a:r>
              <a:rPr lang="en-US" dirty="0"/>
              <a:t>A value, similar to a line chart. </a:t>
            </a:r>
          </a:p>
          <a:p>
            <a:pPr lvl="1"/>
            <a:r>
              <a:rPr lang="en-US" dirty="0"/>
              <a:t>The per period (e.g. daily) change. </a:t>
            </a:r>
          </a:p>
          <a:p>
            <a:r>
              <a:rPr lang="en-US" dirty="0"/>
              <a:t>Good application of data density. </a:t>
            </a:r>
          </a:p>
          <a:p>
            <a:pPr lvl="1"/>
            <a:r>
              <a:rPr lang="en-US" dirty="0"/>
              <a:t>Change is added to a ”regular” line chart. </a:t>
            </a:r>
          </a:p>
          <a:p>
            <a:r>
              <a:rPr lang="en-US" dirty="0"/>
              <a:t>Commonly seen in:</a:t>
            </a:r>
          </a:p>
          <a:p>
            <a:pPr lvl="1"/>
            <a:r>
              <a:rPr lang="en-US" dirty="0"/>
              <a:t>Stock price quotes. </a:t>
            </a:r>
          </a:p>
          <a:p>
            <a:pPr lvl="1"/>
            <a:r>
              <a:rPr lang="en-US" dirty="0"/>
              <a:t>Summary of things like sales/profit totals. </a:t>
            </a:r>
          </a:p>
        </p:txBody>
      </p:sp>
      <p:pic>
        <p:nvPicPr>
          <p:cNvPr id="4" name="Picture 3" descr="Build Insightful Waterfall Charts in PowerPoint - Ampler">
            <a:extLst>
              <a:ext uri="{FF2B5EF4-FFF2-40B4-BE49-F238E27FC236}">
                <a16:creationId xmlns:a16="http://schemas.microsoft.com/office/drawing/2014/main" id="{0049D6A1-47F6-2E35-0C63-861953723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5721" y="2004291"/>
            <a:ext cx="6502400" cy="355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2179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F016D-327C-32DC-89BC-118D12F90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Waterfall Chart Pieces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55B5BC-8DE0-E066-3A50-E63CF6875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9999" y="1839433"/>
            <a:ext cx="7009219" cy="4337530"/>
          </a:xfrm>
        </p:spPr>
        <p:txBody>
          <a:bodyPr/>
          <a:lstStyle/>
          <a:p>
            <a:r>
              <a:rPr lang="en-US" dirty="0"/>
              <a:t>A waterfall chart has a few basic components. </a:t>
            </a:r>
          </a:p>
          <a:p>
            <a:pPr lvl="1"/>
            <a:r>
              <a:rPr lang="en-US" dirty="0"/>
              <a:t>The value – where the mark is on the Y axis. </a:t>
            </a:r>
          </a:p>
          <a:p>
            <a:pPr lvl="1"/>
            <a:r>
              <a:rPr lang="en-US" dirty="0"/>
              <a:t>The change – difference between previous value and this value, shown by size of mark. </a:t>
            </a:r>
          </a:p>
          <a:p>
            <a:pPr lvl="1"/>
            <a:r>
              <a:rPr lang="en-US" dirty="0"/>
              <a:t>The x-axis – usually time, but could be other thing (e.g. product type). </a:t>
            </a:r>
          </a:p>
          <a:p>
            <a:r>
              <a:rPr lang="en-US" dirty="0"/>
              <a:t>The change is signified by size and color of mark:</a:t>
            </a:r>
          </a:p>
          <a:p>
            <a:pPr lvl="1"/>
            <a:r>
              <a:rPr lang="en-US" dirty="0"/>
              <a:t>Normally have discreet color for up/down. </a:t>
            </a:r>
          </a:p>
          <a:p>
            <a:pPr lvl="1"/>
            <a:r>
              <a:rPr lang="en-US" dirty="0"/>
              <a:t>Size of bar “goes from” start to finish of time period. </a:t>
            </a:r>
          </a:p>
          <a:p>
            <a:r>
              <a:rPr lang="en-US" dirty="0"/>
              <a:t>Sometimes have start/end total bars. </a:t>
            </a:r>
          </a:p>
        </p:txBody>
      </p:sp>
      <p:pic>
        <p:nvPicPr>
          <p:cNvPr id="4" name="Picture 3" descr="Waterfall Charts in PowerPoint">
            <a:extLst>
              <a:ext uri="{FF2B5EF4-FFF2-40B4-BE49-F238E27FC236}">
                <a16:creationId xmlns:a16="http://schemas.microsoft.com/office/drawing/2014/main" id="{DC0E5B41-6BB6-FF6A-CB85-5CC835E17C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1877"/>
            <a:ext cx="50800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3327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8CD89-1BA3-FDE0-9269-C32F25A91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Waterfall Requirements – Table Calculations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0CA7B7-36C1-3E95-69FF-F712ED27BB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078" y="1865870"/>
            <a:ext cx="6909246" cy="4631909"/>
          </a:xfrm>
        </p:spPr>
        <p:txBody>
          <a:bodyPr>
            <a:normAutofit/>
          </a:bodyPr>
          <a:lstStyle/>
          <a:p>
            <a:r>
              <a:rPr lang="en-US" dirty="0"/>
              <a:t>Table calculations allow us to do more complex math in some ways. </a:t>
            </a:r>
          </a:p>
          <a:p>
            <a:r>
              <a:rPr lang="en-US" dirty="0"/>
              <a:t>Table calculations are based on the aggregates in the visualization. </a:t>
            </a:r>
          </a:p>
          <a:p>
            <a:pPr lvl="1"/>
            <a:r>
              <a:rPr lang="en-US" dirty="0"/>
              <a:t>Remember – what do we want and how do we want it aggregated. </a:t>
            </a:r>
          </a:p>
          <a:p>
            <a:pPr lvl="1"/>
            <a:r>
              <a:rPr lang="en-US" dirty="0"/>
              <a:t>A table calc takes those agrégations and calculates them. </a:t>
            </a:r>
          </a:p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Ranking of profit by location – aggregate profits by location, then rank the aggregates. </a:t>
            </a:r>
          </a:p>
          <a:p>
            <a:pPr lvl="1"/>
            <a:r>
              <a:rPr lang="en-US" dirty="0"/>
              <a:t>Moving average – average together previous N aggregated values. </a:t>
            </a:r>
          </a:p>
          <a:p>
            <a:pPr lvl="1"/>
            <a:r>
              <a:rPr lang="en-US" dirty="0"/>
              <a:t>Percentage of total – aggregate total sales, then convert to percent. </a:t>
            </a:r>
          </a:p>
          <a:p>
            <a:r>
              <a:rPr lang="en-US" dirty="0"/>
              <a:t>Also frequently seen in trying to do “fancy” stuff. </a:t>
            </a:r>
          </a:p>
        </p:txBody>
      </p:sp>
      <p:pic>
        <p:nvPicPr>
          <p:cNvPr id="4" name="Picture 3" descr="Quick Table Calculations - Tableau">
            <a:extLst>
              <a:ext uri="{FF2B5EF4-FFF2-40B4-BE49-F238E27FC236}">
                <a16:creationId xmlns:a16="http://schemas.microsoft.com/office/drawing/2014/main" id="{AD8E5CBE-2548-25AE-B478-8A65D08962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3323" y="2004291"/>
            <a:ext cx="5054600" cy="326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4366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58659-2229-1A60-9592-54C79A680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Calculation Previewer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AAB01-38EE-4A6E-AE23-F42F49CA2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004291"/>
            <a:ext cx="5332228" cy="4172672"/>
          </a:xfrm>
        </p:spPr>
        <p:txBody>
          <a:bodyPr/>
          <a:lstStyle/>
          <a:p>
            <a:r>
              <a:rPr lang="en-US" dirty="0"/>
              <a:t>For simple things, the table calculation window gives us help. </a:t>
            </a:r>
          </a:p>
          <a:p>
            <a:pPr lvl="1"/>
            <a:r>
              <a:rPr lang="en-US" dirty="0"/>
              <a:t>We need to be ok with the parts of the data. </a:t>
            </a:r>
          </a:p>
          <a:p>
            <a:r>
              <a:rPr lang="en-US" dirty="0"/>
              <a:t>The way calculations are done are based on how the data is displayed in the visualization. </a:t>
            </a:r>
          </a:p>
        </p:txBody>
      </p:sp>
      <p:pic>
        <p:nvPicPr>
          <p:cNvPr id="4" name="Picture 3" descr="Tableau Secrets: Understanding Table Calculations Scope and Direction –  Part 1 – Michael Sandberg's Data Visualization Blog">
            <a:extLst>
              <a:ext uri="{FF2B5EF4-FFF2-40B4-BE49-F238E27FC236}">
                <a16:creationId xmlns:a16="http://schemas.microsoft.com/office/drawing/2014/main" id="{40AADAFA-A0B0-6286-602C-4FDF353051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421" t="18875"/>
          <a:stretch>
            <a:fillRect/>
          </a:stretch>
        </p:blipFill>
        <p:spPr>
          <a:xfrm>
            <a:off x="5912495" y="2004291"/>
            <a:ext cx="6279505" cy="4172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9835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0C220-3906-9AAC-04DC-D985EC8C1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Calculate your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C4750-2F21-C441-F47F-B602DF29B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88028" y="2004291"/>
            <a:ext cx="4188344" cy="4172672"/>
          </a:xfrm>
        </p:spPr>
        <p:txBody>
          <a:bodyPr>
            <a:normAutofit fontScale="92500"/>
          </a:bodyPr>
          <a:lstStyle/>
          <a:p>
            <a:r>
              <a:rPr lang="en-US" dirty="0"/>
              <a:t>The yellow highlight is one “thing”. </a:t>
            </a:r>
          </a:p>
          <a:p>
            <a:pPr lvl="1"/>
            <a:r>
              <a:rPr lang="en-US" dirty="0"/>
              <a:t>An aggregate per “thing” is calculated. </a:t>
            </a:r>
          </a:p>
          <a:p>
            <a:r>
              <a:rPr lang="en-US" dirty="0"/>
              <a:t>We will need table calculations to do several things:</a:t>
            </a:r>
          </a:p>
          <a:p>
            <a:pPr lvl="1"/>
            <a:r>
              <a:rPr lang="en-US" dirty="0"/>
              <a:t>Simple things – you should be able to do rank or similar on your own. </a:t>
            </a:r>
          </a:p>
          <a:p>
            <a:pPr lvl="1"/>
            <a:r>
              <a:rPr lang="en-US" dirty="0"/>
              <a:t>Complex things – as a step in some complex how-to, can you replicate/adapt. </a:t>
            </a:r>
          </a:p>
          <a:p>
            <a:r>
              <a:rPr lang="en-US" dirty="0"/>
              <a:t>Table calculations have some more things to (re)consider:</a:t>
            </a:r>
          </a:p>
          <a:p>
            <a:pPr lvl="1"/>
            <a:r>
              <a:rPr lang="en-US" dirty="0"/>
              <a:t>How do I want this thing aggregated. </a:t>
            </a:r>
          </a:p>
          <a:p>
            <a:pPr lvl="1"/>
            <a:r>
              <a:rPr lang="en-US" dirty="0"/>
              <a:t>I want an answer “for each”. </a:t>
            </a:r>
          </a:p>
          <a:p>
            <a:endParaRPr lang="en-US" dirty="0"/>
          </a:p>
        </p:txBody>
      </p:sp>
      <p:pic>
        <p:nvPicPr>
          <p:cNvPr id="4" name="Picture 3" descr="Table Calculation Types - Tableau">
            <a:extLst>
              <a:ext uri="{FF2B5EF4-FFF2-40B4-BE49-F238E27FC236}">
                <a16:creationId xmlns:a16="http://schemas.microsoft.com/office/drawing/2014/main" id="{58572117-5D46-7104-0DA2-D06F42652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28" y="1939566"/>
            <a:ext cx="7772400" cy="4237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8883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5E119-E750-85A9-1015-D5529A82C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Tables and You!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F6444D-A898-DBB7-B472-2BE02C40A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19507" y="1853514"/>
            <a:ext cx="4972493" cy="4644265"/>
          </a:xfrm>
        </p:spPr>
        <p:txBody>
          <a:bodyPr>
            <a:normAutofit/>
          </a:bodyPr>
          <a:lstStyle/>
          <a:p>
            <a:r>
              <a:rPr lang="en-US" dirty="0"/>
              <a:t>The Specific Dimensions are complex:</a:t>
            </a:r>
          </a:p>
          <a:p>
            <a:pPr lvl="1"/>
            <a:r>
              <a:rPr lang="en-US" dirty="0"/>
              <a:t>Specify exactly how to calculate what we need. </a:t>
            </a:r>
          </a:p>
          <a:p>
            <a:pPr lvl="1"/>
            <a:r>
              <a:rPr lang="en-US" dirty="0"/>
              <a:t>This is common in complex examples.</a:t>
            </a:r>
          </a:p>
          <a:p>
            <a:pPr lvl="1"/>
            <a:r>
              <a:rPr lang="en-US" dirty="0"/>
              <a:t>May require T&amp;E to get – check 1. </a:t>
            </a:r>
          </a:p>
          <a:p>
            <a:r>
              <a:rPr lang="en-US" dirty="0"/>
              <a:t>For each segment, compute running sum, by quarter and year. </a:t>
            </a:r>
          </a:p>
          <a:p>
            <a:pPr lvl="1"/>
            <a:r>
              <a:rPr lang="en-US" dirty="0"/>
              <a:t>Each unchecked thing gets a grouping. </a:t>
            </a:r>
          </a:p>
          <a:p>
            <a:pPr lvl="1"/>
            <a:r>
              <a:rPr lang="en-US" dirty="0"/>
              <a:t>That value is calculated per q/year. </a:t>
            </a:r>
          </a:p>
          <a:p>
            <a:r>
              <a:rPr lang="en-US" dirty="0"/>
              <a:t>We can also have secondary calcs. </a:t>
            </a:r>
          </a:p>
          <a:p>
            <a:pPr lvl="1"/>
            <a:r>
              <a:rPr lang="en-US" dirty="0"/>
              <a:t>Calculate totals then rank them. </a:t>
            </a:r>
          </a:p>
        </p:txBody>
      </p:sp>
      <p:pic>
        <p:nvPicPr>
          <p:cNvPr id="4" name="Picture 3" descr="Tables and Table Calculations | Springer Nature Link">
            <a:extLst>
              <a:ext uri="{FF2B5EF4-FFF2-40B4-BE49-F238E27FC236}">
                <a16:creationId xmlns:a16="http://schemas.microsoft.com/office/drawing/2014/main" id="{7AFBCD0B-1D5F-7ED2-C7A4-8B489D53C9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574"/>
          <a:stretch>
            <a:fillRect/>
          </a:stretch>
        </p:blipFill>
        <p:spPr>
          <a:xfrm>
            <a:off x="148855" y="1853514"/>
            <a:ext cx="7070652" cy="4926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41263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D5B3B-A751-5182-D937-379D3B7D4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Stock Investing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C15AE-F161-3078-B108-EA76C3CA0A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9416" y="2004291"/>
            <a:ext cx="5461984" cy="4172672"/>
          </a:xfrm>
        </p:spPr>
        <p:txBody>
          <a:bodyPr/>
          <a:lstStyle/>
          <a:p>
            <a:r>
              <a:rPr lang="en-US" dirty="0"/>
              <a:t>Technical investing is based on patterns in stock price rather than value of underlying company. </a:t>
            </a:r>
          </a:p>
          <a:p>
            <a:pPr lvl="1"/>
            <a:r>
              <a:rPr lang="en-US" dirty="0"/>
              <a:t>We should invest because </a:t>
            </a:r>
            <a:r>
              <a:rPr lang="en-US" i="1" dirty="0"/>
              <a:t>based on patterns in price</a:t>
            </a:r>
            <a:r>
              <a:rPr lang="en-US" dirty="0"/>
              <a:t> it appears this stock will go up/down. </a:t>
            </a:r>
          </a:p>
          <a:p>
            <a:pPr lvl="1"/>
            <a:r>
              <a:rPr lang="en-US" dirty="0"/>
              <a:t>Rather than, we should invest because this is a good business that’ll grow in the future. </a:t>
            </a:r>
          </a:p>
          <a:p>
            <a:r>
              <a:rPr lang="en-US" dirty="0"/>
              <a:t>Based on looking at movement patterns in price. </a:t>
            </a:r>
          </a:p>
          <a:p>
            <a:pPr lvl="1"/>
            <a:r>
              <a:rPr lang="en-US" dirty="0"/>
              <a:t>The core idea is that stock prices move in repeatable patterns that we can follow if we notice them. </a:t>
            </a:r>
          </a:p>
          <a:p>
            <a:pPr lvl="1"/>
            <a:r>
              <a:rPr lang="en-US" dirty="0"/>
              <a:t>Fast computers have made this more powerful. </a:t>
            </a:r>
          </a:p>
          <a:p>
            <a:endParaRPr lang="en-US" dirty="0"/>
          </a:p>
        </p:txBody>
      </p:sp>
      <p:pic>
        <p:nvPicPr>
          <p:cNvPr id="4" name="Picture 3" descr="Unlock Trading Insights with Key Stock Chart Patterns">
            <a:extLst>
              <a:ext uri="{FF2B5EF4-FFF2-40B4-BE49-F238E27FC236}">
                <a16:creationId xmlns:a16="http://schemas.microsoft.com/office/drawing/2014/main" id="{752604EB-D45E-3B7F-41FF-F74FFC20A3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0721"/>
          <a:stretch>
            <a:fillRect/>
          </a:stretch>
        </p:blipFill>
        <p:spPr>
          <a:xfrm>
            <a:off x="164813" y="1905699"/>
            <a:ext cx="5574603" cy="4592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3648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1DE3C-9792-FBA1-115E-49BF23468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Patterns in Prices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77AA2-69DE-12EE-6EE1-DF7BE5CAE0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004291"/>
            <a:ext cx="5410200" cy="4172672"/>
          </a:xfrm>
        </p:spPr>
        <p:txBody>
          <a:bodyPr/>
          <a:lstStyle/>
          <a:p>
            <a:r>
              <a:rPr lang="en-US" dirty="0"/>
              <a:t>There are several patterns that people have noticed in how stock prices move. </a:t>
            </a:r>
          </a:p>
          <a:p>
            <a:r>
              <a:rPr lang="en-US" dirty="0"/>
              <a:t>Investors look for stocks at the start of the pattern, and invest assuming the stock may follow that pattern further. </a:t>
            </a:r>
          </a:p>
        </p:txBody>
      </p:sp>
      <p:pic>
        <p:nvPicPr>
          <p:cNvPr id="4" name="Picture 3" descr="10 important stock chart analysis patterns | CMC Markets">
            <a:extLst>
              <a:ext uri="{FF2B5EF4-FFF2-40B4-BE49-F238E27FC236}">
                <a16:creationId xmlns:a16="http://schemas.microsoft.com/office/drawing/2014/main" id="{C8AC9038-C089-12DC-268F-39D067535E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540832"/>
            <a:ext cx="6079087" cy="2956947"/>
          </a:xfrm>
          <a:prstGeom prst="rect">
            <a:avLst/>
          </a:prstGeom>
        </p:spPr>
      </p:pic>
      <p:pic>
        <p:nvPicPr>
          <p:cNvPr id="5" name="Picture 4" descr="How to Count Bases &amp; Why You Should?">
            <a:extLst>
              <a:ext uri="{FF2B5EF4-FFF2-40B4-BE49-F238E27FC236}">
                <a16:creationId xmlns:a16="http://schemas.microsoft.com/office/drawing/2014/main" id="{CDEF01C5-158D-6E8C-2C92-FCB1BCB4B38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7919"/>
          <a:stretch>
            <a:fillRect/>
          </a:stretch>
        </p:blipFill>
        <p:spPr>
          <a:xfrm>
            <a:off x="6995547" y="61955"/>
            <a:ext cx="5105400" cy="3367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45776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E1A50-1ED5-624E-16C5-B09B71AB01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36046-E343-14DE-F415-601029C4EA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What are the basics of chart patterns in technical analysis?">
            <a:extLst>
              <a:ext uri="{FF2B5EF4-FFF2-40B4-BE49-F238E27FC236}">
                <a16:creationId xmlns:a16="http://schemas.microsoft.com/office/drawing/2014/main" id="{2E953289-773B-23CF-0909-AA8C02EEF85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528" b="6405"/>
          <a:stretch>
            <a:fillRect/>
          </a:stretch>
        </p:blipFill>
        <p:spPr>
          <a:xfrm>
            <a:off x="0" y="0"/>
            <a:ext cx="6474941" cy="6890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1676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DE790-B16F-190E-537E-B9F6A994A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146" y="360221"/>
            <a:ext cx="4442254" cy="1330468"/>
          </a:xfrm>
        </p:spPr>
        <p:txBody>
          <a:bodyPr/>
          <a:lstStyle/>
          <a:p>
            <a:r>
              <a:rPr lang="en-US" dirty="0"/>
              <a:t>Patterns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DEA5FA-01AF-B57A-8566-8D504771D3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59144" y="2004291"/>
            <a:ext cx="4442255" cy="4172672"/>
          </a:xfrm>
        </p:spPr>
        <p:txBody>
          <a:bodyPr/>
          <a:lstStyle/>
          <a:p>
            <a:r>
              <a:rPr lang="en-US" dirty="0"/>
              <a:t>There are many existing patterns. </a:t>
            </a:r>
          </a:p>
          <a:p>
            <a:r>
              <a:rPr lang="en-US" dirty="0"/>
              <a:t>These are not certainties. </a:t>
            </a:r>
          </a:p>
          <a:p>
            <a:r>
              <a:rPr lang="en-US" dirty="0"/>
              <a:t>Computers can allow us to check all stocks for all patterns very quickly. </a:t>
            </a:r>
          </a:p>
          <a:p>
            <a:r>
              <a:rPr lang="en-US" dirty="0"/>
              <a:t>Can base decisions strictly on technical data or as a factor with ”normal” data. </a:t>
            </a:r>
          </a:p>
        </p:txBody>
      </p:sp>
      <p:pic>
        <p:nvPicPr>
          <p:cNvPr id="4" name="Picture 3" descr="Common stock chart patterns for trading decisions">
            <a:extLst>
              <a:ext uri="{FF2B5EF4-FFF2-40B4-BE49-F238E27FC236}">
                <a16:creationId xmlns:a16="http://schemas.microsoft.com/office/drawing/2014/main" id="{1867EDF7-DF42-3E6E-3C47-8F850070E2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631" b="20238"/>
          <a:stretch>
            <a:fillRect/>
          </a:stretch>
        </p:blipFill>
        <p:spPr>
          <a:xfrm>
            <a:off x="0" y="0"/>
            <a:ext cx="6759146" cy="6816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1399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6E685-0BEE-1098-604A-4DB749211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Even Smarter Versions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CB77F6-EC1A-B5BF-C185-E72C523E77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853" y="1860698"/>
            <a:ext cx="5393959" cy="4637081"/>
          </a:xfrm>
        </p:spPr>
        <p:txBody>
          <a:bodyPr/>
          <a:lstStyle/>
          <a:p>
            <a:r>
              <a:rPr lang="en-US" dirty="0"/>
              <a:t>Modern ML is more powerful. </a:t>
            </a:r>
          </a:p>
          <a:p>
            <a:r>
              <a:rPr lang="en-US" dirty="0"/>
              <a:t>Can feed model all data. </a:t>
            </a:r>
          </a:p>
          <a:p>
            <a:r>
              <a:rPr lang="en-US" dirty="0"/>
              <a:t>Model will learn more subtle patterns in data. </a:t>
            </a:r>
          </a:p>
          <a:p>
            <a:r>
              <a:rPr lang="en-US" dirty="0"/>
              <a:t>Can screen all stocks. </a:t>
            </a:r>
          </a:p>
          <a:p>
            <a:r>
              <a:rPr lang="en-US" dirty="0"/>
              <a:t>Trained by making “old” preds. </a:t>
            </a:r>
          </a:p>
          <a:p>
            <a:pPr lvl="1"/>
            <a:r>
              <a:rPr lang="en-US" dirty="0"/>
              <a:t>Using data before today, predict today’s prices. </a:t>
            </a:r>
          </a:p>
          <a:p>
            <a:pPr lvl="1"/>
            <a:r>
              <a:rPr lang="en-US" dirty="0"/>
              <a:t>What is error in each prediction?</a:t>
            </a:r>
          </a:p>
          <a:p>
            <a:pPr lvl="1"/>
            <a:r>
              <a:rPr lang="en-US" dirty="0"/>
              <a:t>Repeat and adjust to lower – models have billions of parameters (numbers) that can be tuned. </a:t>
            </a:r>
          </a:p>
        </p:txBody>
      </p:sp>
      <p:pic>
        <p:nvPicPr>
          <p:cNvPr id="5" name="Picture 4" descr="PDF] An Artificial Neural Network-based Stock Trading System Using Technical  Analysis and Big Data Framework | Semantic Scholar">
            <a:extLst>
              <a:ext uri="{FF2B5EF4-FFF2-40B4-BE49-F238E27FC236}">
                <a16:creationId xmlns:a16="http://schemas.microsoft.com/office/drawing/2014/main" id="{E79086CC-BFA5-9083-EE5A-594FB6D93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2813" y="2224132"/>
            <a:ext cx="6490080" cy="3400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6563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137DE-6DF7-C6CD-E966-D8847DB23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Reality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D71FE7-C57E-7569-B790-FED07EF461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924" y="1816443"/>
            <a:ext cx="5224117" cy="4694152"/>
          </a:xfrm>
        </p:spPr>
        <p:txBody>
          <a:bodyPr>
            <a:normAutofit/>
          </a:bodyPr>
          <a:lstStyle/>
          <a:p>
            <a:r>
              <a:rPr lang="en-US" dirty="0"/>
              <a:t>In the real world, this is one type of investing, and is pretty widespread. </a:t>
            </a:r>
          </a:p>
          <a:p>
            <a:r>
              <a:rPr lang="en-US" dirty="0"/>
              <a:t>Large amounts of investing is now algorithmic:</a:t>
            </a:r>
          </a:p>
          <a:p>
            <a:pPr lvl="1"/>
            <a:r>
              <a:rPr lang="en-US" dirty="0"/>
              <a:t>Decisions are made automatically, via computers, immediately as things happen. </a:t>
            </a:r>
          </a:p>
          <a:p>
            <a:pPr lvl="1"/>
            <a:r>
              <a:rPr lang="en-US" dirty="0"/>
              <a:t>Large hedge funds, private equity have very fast systems to try to front-run this. </a:t>
            </a:r>
          </a:p>
          <a:p>
            <a:pPr lvl="1"/>
            <a:r>
              <a:rPr lang="en-US" dirty="0"/>
              <a:t>With massive volumes, lots of money can be made from small advantages. </a:t>
            </a:r>
          </a:p>
          <a:p>
            <a:r>
              <a:rPr lang="en-US" dirty="0"/>
              <a:t>If you like this and want to get a math Ph.D., this can pay in the millions. </a:t>
            </a:r>
          </a:p>
        </p:txBody>
      </p:sp>
      <p:pic>
        <p:nvPicPr>
          <p:cNvPr id="4" name="Picture 3" descr="Algorithmic Trading and the Nature of Market Agency">
            <a:extLst>
              <a:ext uri="{FF2B5EF4-FFF2-40B4-BE49-F238E27FC236}">
                <a16:creationId xmlns:a16="http://schemas.microsoft.com/office/drawing/2014/main" id="{D4D8B80A-586E-C617-7CA8-826302502A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615" b="5676"/>
          <a:stretch>
            <a:fillRect/>
          </a:stretch>
        </p:blipFill>
        <p:spPr>
          <a:xfrm>
            <a:off x="5360041" y="1482809"/>
            <a:ext cx="6831959" cy="4694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3335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5F6FD-CD84-BE31-262D-275CEC5A3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DC35C9-3E9B-2DF8-6D4E-50BD5F690E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881962"/>
            <a:ext cx="10515600" cy="4518837"/>
          </a:xfrm>
        </p:spPr>
        <p:txBody>
          <a:bodyPr/>
          <a:lstStyle/>
          <a:p>
            <a:r>
              <a:rPr lang="en-US" dirty="0"/>
              <a:t>These two chart types are common in the real world and frequently useful. </a:t>
            </a:r>
          </a:p>
          <a:p>
            <a:r>
              <a:rPr lang="en-US" dirty="0"/>
              <a:t>Parameters are powerful, especially as things get more complex. </a:t>
            </a:r>
          </a:p>
          <a:p>
            <a:r>
              <a:rPr lang="en-US" dirty="0"/>
              <a:t>Don’t stop with what you </a:t>
            </a:r>
            <a:r>
              <a:rPr lang="en-US" i="1" dirty="0"/>
              <a:t>can </a:t>
            </a:r>
            <a:r>
              <a:rPr lang="en-US" dirty="0"/>
              <a:t>directly do, think about what’s needed, then learn how:</a:t>
            </a:r>
          </a:p>
          <a:p>
            <a:pPr lvl="1"/>
            <a:r>
              <a:rPr lang="en-US" dirty="0"/>
              <a:t>We can modify and customize the calculations we create to get exactly what’s needed. </a:t>
            </a:r>
          </a:p>
          <a:p>
            <a:pPr lvl="1"/>
            <a:r>
              <a:rPr lang="en-US" dirty="0"/>
              <a:t>We can manipulate marks to show exactly what we care about. </a:t>
            </a:r>
          </a:p>
          <a:p>
            <a:pPr lvl="1"/>
            <a:r>
              <a:rPr lang="en-US" dirty="0"/>
              <a:t>You want/</a:t>
            </a:r>
            <a:r>
              <a:rPr lang="en-US" b="1" dirty="0"/>
              <a:t>need</a:t>
            </a:r>
            <a:r>
              <a:rPr lang="en-US" dirty="0"/>
              <a:t> to spend time here to make things good. </a:t>
            </a:r>
          </a:p>
          <a:p>
            <a:r>
              <a:rPr lang="en-US" dirty="0"/>
              <a:t>For the next assignments, you want to think about this kind of stuff. </a:t>
            </a:r>
          </a:p>
          <a:p>
            <a:pPr lvl="1"/>
            <a:r>
              <a:rPr lang="en-US" dirty="0"/>
              <a:t>Is what I’m calculating what is best, or does a person need to do other steps mentally?</a:t>
            </a:r>
          </a:p>
          <a:p>
            <a:pPr lvl="1"/>
            <a:r>
              <a:rPr lang="en-US" dirty="0"/>
              <a:t>Is the way data is displayed the best, or would another mark type/style be better?</a:t>
            </a:r>
          </a:p>
          <a:p>
            <a:pPr lvl="1"/>
            <a:r>
              <a:rPr lang="en-US" dirty="0"/>
              <a:t>Can I change anything to make it </a:t>
            </a:r>
            <a:r>
              <a:rPr lang="en-US" i="1" dirty="0"/>
              <a:t>more</a:t>
            </a:r>
            <a:r>
              <a:rPr lang="en-US" dirty="0"/>
              <a:t> useful?</a:t>
            </a:r>
          </a:p>
          <a:p>
            <a:pPr lvl="1"/>
            <a:r>
              <a:rPr lang="en-US" dirty="0"/>
              <a:t>You need to think of this stuff, I’m going to ask it when looking at your visualizations. </a:t>
            </a:r>
          </a:p>
        </p:txBody>
      </p:sp>
    </p:spTree>
    <p:extLst>
      <p:ext uri="{BB962C8B-B14F-4D97-AF65-F5344CB8AC3E}">
        <p14:creationId xmlns:p14="http://schemas.microsoft.com/office/powerpoint/2010/main" val="3381005576"/>
      </p:ext>
    </p:extLst>
  </p:cSld>
  <p:clrMapOvr>
    <a:masterClrMapping/>
  </p:clrMapOvr>
</p:sld>
</file>

<file path=ppt/theme/theme1.xml><?xml version="1.0" encoding="utf-8"?>
<a:theme xmlns:a="http://schemas.openxmlformats.org/drawingml/2006/main" name="Shoji">
  <a:themeElements>
    <a:clrScheme name="Shoji">
      <a:dk1>
        <a:srgbClr val="131313"/>
      </a:dk1>
      <a:lt1>
        <a:sysClr val="window" lastClr="FFFFFF"/>
      </a:lt1>
      <a:dk2>
        <a:srgbClr val="1D3433"/>
      </a:dk2>
      <a:lt2>
        <a:srgbClr val="F3F2ED"/>
      </a:lt2>
      <a:accent1>
        <a:srgbClr val="7C5C3E"/>
      </a:accent1>
      <a:accent2>
        <a:srgbClr val="B8A189"/>
      </a:accent2>
      <a:accent3>
        <a:srgbClr val="A1A696"/>
      </a:accent3>
      <a:accent4>
        <a:srgbClr val="566868"/>
      </a:accent4>
      <a:accent5>
        <a:srgbClr val="786F50"/>
      </a:accent5>
      <a:accent6>
        <a:srgbClr val="A9A375"/>
      </a:accent6>
      <a:hlink>
        <a:srgbClr val="B1785F"/>
      </a:hlink>
      <a:folHlink>
        <a:srgbClr val="6C7F7F"/>
      </a:folHlink>
    </a:clrScheme>
    <a:fontScheme name="Custom 35">
      <a:majorFont>
        <a:latin typeface="Walbaum Display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hoji" id="{FC7F6458-703E-4B19-BAF9-E88A9B02521B}" vid="{6FBA4037-BA28-4926-BD89-6C54034403A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Shoji</Template>
  <TotalTime>196</TotalTime>
  <Words>1903</Words>
  <Application>Microsoft Macintosh PowerPoint</Application>
  <PresentationFormat>Widescreen</PresentationFormat>
  <Paragraphs>171</Paragraphs>
  <Slides>23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Aptos Light</vt:lpstr>
      <vt:lpstr>Arial</vt:lpstr>
      <vt:lpstr>Walbaum Display</vt:lpstr>
      <vt:lpstr>Shoji</vt:lpstr>
      <vt:lpstr>Parameters, Control Charts, Waterfall Charts</vt:lpstr>
      <vt:lpstr>Housekeeping</vt:lpstr>
      <vt:lpstr>Assignment</vt:lpstr>
      <vt:lpstr>Parameters</vt:lpstr>
      <vt:lpstr>What can Parameters do?</vt:lpstr>
      <vt:lpstr>Real Life Examples</vt:lpstr>
      <vt:lpstr>Finance Adjacent Charts</vt:lpstr>
      <vt:lpstr>Example – Control Chart</vt:lpstr>
      <vt:lpstr>Control your Tableau Charts</vt:lpstr>
      <vt:lpstr>Even More Dynamic?</vt:lpstr>
      <vt:lpstr>Waterfall (Candlestick) Chart</vt:lpstr>
      <vt:lpstr>Waterfall Chart Pieces</vt:lpstr>
      <vt:lpstr>Waterfall Requirements – Table Calculations</vt:lpstr>
      <vt:lpstr>Table Calculation Previewer</vt:lpstr>
      <vt:lpstr>How to Calculate your Tables</vt:lpstr>
      <vt:lpstr>Tables and You!</vt:lpstr>
      <vt:lpstr>Technical Stock Investing</vt:lpstr>
      <vt:lpstr>Patterns in Prices</vt:lpstr>
      <vt:lpstr>PowerPoint Presentation</vt:lpstr>
      <vt:lpstr>Patterns</vt:lpstr>
      <vt:lpstr>Even Smarter Versions</vt:lpstr>
      <vt:lpstr>In Reality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Akeem Semper</dc:creator>
  <cp:lastModifiedBy>Akeem Semper</cp:lastModifiedBy>
  <cp:revision>18</cp:revision>
  <dcterms:created xsi:type="dcterms:W3CDTF">2026-10-19T15:12:01Z</dcterms:created>
  <dcterms:modified xsi:type="dcterms:W3CDTF">2026-10-19T21:29:10Z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2026-10-19T16:01:43Z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948880e7-7191-4f6a-a4e4-64f096110cce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