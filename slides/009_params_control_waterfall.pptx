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&amp;w=1200&amp;q=75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75" r:id="rId3"/>
    <p:sldId id="276" r:id="rId4"/>
    <p:sldId id="257" r:id="rId5"/>
    <p:sldId id="258" r:id="rId6"/>
    <p:sldId id="266" r:id="rId7"/>
    <p:sldId id="267" r:id="rId8"/>
    <p:sldId id="259" r:id="rId9"/>
    <p:sldId id="260" r:id="rId10"/>
    <p:sldId id="268" r:id="rId11"/>
    <p:sldId id="269" r:id="rId12"/>
    <p:sldId id="271" r:id="rId13"/>
    <p:sldId id="272" r:id="rId14"/>
    <p:sldId id="270" r:id="rId15"/>
    <p:sldId id="261" r:id="rId16"/>
    <p:sldId id="262" r:id="rId17"/>
    <p:sldId id="263" r:id="rId18"/>
    <p:sldId id="264" r:id="rId19"/>
    <p:sldId id="274" r:id="rId20"/>
    <p:sldId id="265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12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32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2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954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415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95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283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7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600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79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656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646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015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29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331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696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9180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679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644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567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695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126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425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30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971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925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827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550093D-F34E-A14E-B095-82AD02A24AD5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3B97473B-6A92-4C48-BBF9-A9F5C9F3E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7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ebp&amp;w=1200&amp;q=75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6E12-F73E-D5CD-E8C9-1C8A69635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A4669-634C-1DD9-0834-9EB2078303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D3A501-A9FB-42C9-8E52-0865B4E6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905302-E5F0-CEBD-2922-1B2AB8266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39433"/>
            <a:ext cx="10515600" cy="4572000"/>
          </a:xfrm>
        </p:spPr>
        <p:txBody>
          <a:bodyPr/>
          <a:lstStyle/>
          <a:p>
            <a:r>
              <a:rPr lang="en-US" dirty="0"/>
              <a:t>Test marks up, let me know if issues. </a:t>
            </a:r>
          </a:p>
          <a:p>
            <a:r>
              <a:rPr lang="en-US" dirty="0"/>
              <a:t>Today – parameters, control charts, waterfall charts. </a:t>
            </a:r>
          </a:p>
          <a:p>
            <a:pPr lvl="1"/>
            <a:r>
              <a:rPr lang="en-US" dirty="0"/>
              <a:t>Some table calculation basics. </a:t>
            </a:r>
          </a:p>
          <a:p>
            <a:pPr lvl="1"/>
            <a:r>
              <a:rPr lang="en-US" dirty="0"/>
              <a:t>Parameters and calculating with them. </a:t>
            </a:r>
          </a:p>
          <a:p>
            <a:pPr lvl="1"/>
            <a:r>
              <a:rPr lang="en-US" dirty="0"/>
              <a:t>Customizing marks. </a:t>
            </a:r>
          </a:p>
          <a:p>
            <a:r>
              <a:rPr lang="en-US" dirty="0"/>
              <a:t>Next time – spatial joining. </a:t>
            </a:r>
          </a:p>
          <a:p>
            <a:pPr lvl="1"/>
            <a:r>
              <a:rPr lang="en-US" dirty="0"/>
              <a:t>If we don’t have “regions”, like a neighborhood, how can we make filled maps?</a:t>
            </a:r>
          </a:p>
          <a:p>
            <a:pPr lvl="1"/>
            <a:r>
              <a:rPr lang="en-US" dirty="0"/>
              <a:t>More table calculations. </a:t>
            </a:r>
          </a:p>
          <a:p>
            <a:pPr lvl="1"/>
            <a:r>
              <a:rPr lang="en-US" dirty="0"/>
              <a:t>Join directly based on location instead of a key. </a:t>
            </a:r>
          </a:p>
        </p:txBody>
      </p:sp>
    </p:spTree>
    <p:extLst>
      <p:ext uri="{BB962C8B-B14F-4D97-AF65-F5344CB8AC3E}">
        <p14:creationId xmlns:p14="http://schemas.microsoft.com/office/powerpoint/2010/main" val="66898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BBC54-6464-CF16-FBB4-367C4764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C17C4-2976-F20F-FD33-2F5209C28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50065"/>
            <a:ext cx="10515600" cy="4326898"/>
          </a:xfrm>
        </p:spPr>
        <p:txBody>
          <a:bodyPr/>
          <a:lstStyle/>
          <a:p>
            <a:r>
              <a:rPr lang="en-US" dirty="0"/>
              <a:t>Assignment – you want to do something “good” and I am going to evaluate that when marking. </a:t>
            </a:r>
          </a:p>
          <a:p>
            <a:pPr lvl="1"/>
            <a:r>
              <a:rPr lang="en-US" dirty="0"/>
              <a:t>You have practice making basic dashboards, that should be easy for you. </a:t>
            </a:r>
          </a:p>
          <a:p>
            <a:r>
              <a:rPr lang="en-US" dirty="0"/>
              <a:t>You want to and are expected to make things nice, useful, and interesting:</a:t>
            </a:r>
          </a:p>
          <a:p>
            <a:pPr lvl="1"/>
            <a:r>
              <a:rPr lang="en-US" dirty="0"/>
              <a:t>Based on your topic, are you actually showing something plausibly useful?</a:t>
            </a:r>
          </a:p>
          <a:p>
            <a:pPr lvl="1"/>
            <a:r>
              <a:rPr lang="en-US" dirty="0"/>
              <a:t>Is that data being displayed in a way that makes sense (not just T/F, are there better choices?)</a:t>
            </a:r>
          </a:p>
          <a:p>
            <a:pPr lvl="1"/>
            <a:r>
              <a:rPr lang="en-US" dirty="0"/>
              <a:t>Have you used some of Tableau’s features to make the dash better – interactivity, filters, highlights,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Are there clear opportunities where improvements could have been made?</a:t>
            </a:r>
          </a:p>
          <a:p>
            <a:pPr lvl="2"/>
            <a:r>
              <a:rPr lang="en-US" dirty="0"/>
              <a:t>”If I’m a manager/researcher/whatever, what might I want need to do with this data”?</a:t>
            </a:r>
          </a:p>
          <a:p>
            <a:pPr lvl="1"/>
            <a:r>
              <a:rPr lang="en-US" dirty="0"/>
              <a:t>I am going to be asking this stuff in grading, technically meeting requirements != good. </a:t>
            </a:r>
          </a:p>
          <a:p>
            <a:pPr lvl="1"/>
            <a:r>
              <a:rPr lang="en-US" b="1" dirty="0"/>
              <a:t>You will probably need to learn something new as it comes up, as </a:t>
            </a:r>
            <a:r>
              <a:rPr lang="en-US" b="1"/>
              <a:t>you build.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606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6CAC-9030-B513-B352-CAD2848E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DBFBD-16E9-A5DB-1A6F-117097F1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469"/>
            <a:ext cx="4999560" cy="4114801"/>
          </a:xfrm>
        </p:spPr>
        <p:txBody>
          <a:bodyPr/>
          <a:lstStyle/>
          <a:p>
            <a:r>
              <a:rPr lang="en-US" dirty="0"/>
              <a:t>Parameters allow us to get input from a user. </a:t>
            </a:r>
          </a:p>
          <a:p>
            <a:r>
              <a:rPr lang="en-US" dirty="0"/>
              <a:t>Similar mechanics to a filter, but flexible. </a:t>
            </a:r>
          </a:p>
          <a:p>
            <a:r>
              <a:rPr lang="en-US" dirty="0"/>
              <a:t>We can capture numbers, strings (text), selection from list, Boolean (T/F),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Once captured, the parameter values are usable just like any other variable. </a:t>
            </a:r>
          </a:p>
          <a:p>
            <a:pPr lvl="1"/>
            <a:r>
              <a:rPr lang="en-US" dirty="0"/>
              <a:t>Show up in list of variables*. </a:t>
            </a:r>
          </a:p>
          <a:p>
            <a:pPr lvl="1"/>
            <a:r>
              <a:rPr lang="en-US" dirty="0"/>
              <a:t>Can be used in a calculation.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95198-B9D8-4B0E-D388-F4AE453D5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760" y="0"/>
            <a:ext cx="6354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7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4B82-5559-3473-85AF-25B6A3B1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Parameters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44EB-D87C-0CDA-A3C4-EA1817077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allow us to take in user input and do something with it. </a:t>
            </a:r>
          </a:p>
          <a:p>
            <a:r>
              <a:rPr lang="en-US" dirty="0"/>
              <a:t>This is very flexible:</a:t>
            </a:r>
          </a:p>
          <a:p>
            <a:pPr lvl="1"/>
            <a:r>
              <a:rPr lang="en-US" dirty="0"/>
              <a:t>Text searching – capture something and use that to highlight or use some subset of values. </a:t>
            </a:r>
          </a:p>
          <a:p>
            <a:pPr lvl="1"/>
            <a:r>
              <a:rPr lang="en-US" dirty="0"/>
              <a:t>Customization – take in something like an interest rate and term for mortgage calculator. </a:t>
            </a:r>
          </a:p>
          <a:p>
            <a:pPr lvl="1"/>
            <a:r>
              <a:rPr lang="en-US" dirty="0"/>
              <a:t>Interactive elements – base calculations off some user inputted value. </a:t>
            </a:r>
          </a:p>
          <a:p>
            <a:r>
              <a:rPr lang="en-US" dirty="0"/>
              <a:t>Parameters can do all kinds of different things. </a:t>
            </a:r>
          </a:p>
          <a:p>
            <a:pPr lvl="1"/>
            <a:r>
              <a:rPr lang="en-US" dirty="0"/>
              <a:t>If we want some info from a user, a parameter probably does it. </a:t>
            </a:r>
          </a:p>
          <a:p>
            <a:r>
              <a:rPr lang="en-US" dirty="0"/>
              <a:t>Allows for greater flexibility as well – one visualization may serve several groups/people. </a:t>
            </a:r>
          </a:p>
        </p:txBody>
      </p:sp>
    </p:spTree>
    <p:extLst>
      <p:ext uri="{BB962C8B-B14F-4D97-AF65-F5344CB8AC3E}">
        <p14:creationId xmlns:p14="http://schemas.microsoft.com/office/powerpoint/2010/main" val="378924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3027-17B2-36C8-776D-72C85209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7C9D5-A2FC-2949-5558-D38672FF1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39433"/>
            <a:ext cx="10515600" cy="4337530"/>
          </a:xfrm>
        </p:spPr>
        <p:txBody>
          <a:bodyPr/>
          <a:lstStyle/>
          <a:p>
            <a:r>
              <a:rPr lang="en-US" dirty="0"/>
              <a:t>I used to create many reports for training at ATB. </a:t>
            </a:r>
          </a:p>
          <a:p>
            <a:pPr lvl="1"/>
            <a:r>
              <a:rPr lang="en-US" dirty="0"/>
              <a:t>These were originally random spreadsheet checklists per region/branch. </a:t>
            </a:r>
          </a:p>
          <a:p>
            <a:pPr lvl="1"/>
            <a:r>
              <a:rPr lang="en-US" dirty="0"/>
              <a:t>Mainly centered around “how many people are in training and when will they be done?”</a:t>
            </a:r>
          </a:p>
          <a:p>
            <a:pPr lvl="1"/>
            <a:r>
              <a:rPr lang="en-US" dirty="0"/>
              <a:t>This was unknowable when I started, my first task was to call every branch and say, “got any trainees”. </a:t>
            </a:r>
          </a:p>
          <a:p>
            <a:r>
              <a:rPr lang="en-US" dirty="0"/>
              <a:t>Different stakeholders/regions had different exact requirements. </a:t>
            </a:r>
          </a:p>
          <a:p>
            <a:pPr lvl="1"/>
            <a:r>
              <a:rPr lang="en-US" dirty="0"/>
              <a:t>Percentages, counts, expected grad dates, on track/off track, “concerns”, level of detail, </a:t>
            </a:r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pPr lvl="1"/>
            <a:r>
              <a:rPr lang="en-US" dirty="0"/>
              <a:t>This originally had dozens of reports on basically the same stuff (list of course completions). </a:t>
            </a:r>
          </a:p>
          <a:p>
            <a:r>
              <a:rPr lang="en-US" dirty="0"/>
              <a:t>Solution – base reports that are customized via parameters. </a:t>
            </a:r>
          </a:p>
          <a:p>
            <a:pPr lvl="1"/>
            <a:r>
              <a:rPr lang="en-US" dirty="0"/>
              <a:t>Use different selections to show/hide data on demand. </a:t>
            </a:r>
          </a:p>
          <a:p>
            <a:r>
              <a:rPr lang="en-US" dirty="0"/>
              <a:t>Way better in the long term – if things change only one report to update. </a:t>
            </a:r>
          </a:p>
          <a:p>
            <a:pPr lvl="1"/>
            <a:r>
              <a:rPr lang="en-US" dirty="0"/>
              <a:t>The report/dashboard is more complex, but we only have one of it. </a:t>
            </a:r>
          </a:p>
        </p:txBody>
      </p:sp>
    </p:spTree>
    <p:extLst>
      <p:ext uri="{BB962C8B-B14F-4D97-AF65-F5344CB8AC3E}">
        <p14:creationId xmlns:p14="http://schemas.microsoft.com/office/powerpoint/2010/main" val="102927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C0E9-750E-8589-CA0C-3317C2BA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 anchor="b">
            <a:normAutofit/>
          </a:bodyPr>
          <a:lstStyle/>
          <a:p>
            <a:r>
              <a:rPr lang="en-US" dirty="0"/>
              <a:t>Finance Adjacent Charts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83783B54-7675-3C78-E403-C906B9A2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78" r="13658" b="2"/>
          <a:stretch>
            <a:fillRect/>
          </a:stretch>
        </p:blipFill>
        <p:spPr>
          <a:xfrm>
            <a:off x="20" y="10"/>
            <a:ext cx="7268376" cy="6396271"/>
          </a:xfrm>
          <a:prstGeom prst="rect">
            <a:avLst/>
          </a:prstGeom>
          <a:noFill/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1559C3-689D-BED3-39BA-F3B41B71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1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B537-D271-27BA-4DFF-228CC927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Control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66A09-B133-1B1D-5F13-CB93D89A7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3480" y="2004291"/>
            <a:ext cx="6195239" cy="4172672"/>
          </a:xfrm>
        </p:spPr>
        <p:txBody>
          <a:bodyPr/>
          <a:lstStyle/>
          <a:p>
            <a:r>
              <a:rPr lang="en-US" dirty="0"/>
              <a:t>One place where we can use a parameter is a control chart. </a:t>
            </a:r>
          </a:p>
          <a:p>
            <a:r>
              <a:rPr lang="en-US" dirty="0"/>
              <a:t>Control charts are common where we have:</a:t>
            </a:r>
          </a:p>
          <a:p>
            <a:pPr lvl="1"/>
            <a:r>
              <a:rPr lang="en-US" dirty="0"/>
              <a:t>An “acceptable” range of values where things are ok. </a:t>
            </a:r>
          </a:p>
          <a:p>
            <a:pPr lvl="1"/>
            <a:r>
              <a:rPr lang="en-US" dirty="0"/>
              <a:t>An alarm/error/alert where values leave that range. </a:t>
            </a:r>
          </a:p>
          <a:p>
            <a:r>
              <a:rPr lang="en-US" dirty="0"/>
              <a:t>Common examples:</a:t>
            </a:r>
          </a:p>
          <a:p>
            <a:pPr lvl="1"/>
            <a:r>
              <a:rPr lang="en-US" dirty="0"/>
              <a:t>Temp gauge on your car – in range is fine, too hot/cold is issue. </a:t>
            </a:r>
          </a:p>
          <a:p>
            <a:pPr lvl="1"/>
            <a:r>
              <a:rPr lang="en-US" dirty="0"/>
              <a:t>Similar industrial things – pressure, temperature, rate,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Technical investing. </a:t>
            </a:r>
          </a:p>
        </p:txBody>
      </p:sp>
      <p:pic>
        <p:nvPicPr>
          <p:cNvPr id="4" name="Picture 3" descr="What is Control Chart ? SPC Chart | Shewhart Chart">
            <a:extLst>
              <a:ext uri="{FF2B5EF4-FFF2-40B4-BE49-F238E27FC236}">
                <a16:creationId xmlns:a16="http://schemas.microsoft.com/office/drawing/2014/main" id="{D97B5FA1-19D6-50F4-8949-366FC7CE1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81" y="1944327"/>
            <a:ext cx="54102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5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F61E-C7B6-0DD9-D2DA-7076590C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(Candlestick)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2D161-CBC3-29B3-3C0C-10AFE6D3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4919921" cy="4172672"/>
          </a:xfrm>
        </p:spPr>
        <p:txBody>
          <a:bodyPr/>
          <a:lstStyle/>
          <a:p>
            <a:r>
              <a:rPr lang="en-US" dirty="0"/>
              <a:t>Waterfall charts show two things:</a:t>
            </a:r>
          </a:p>
          <a:p>
            <a:pPr lvl="1"/>
            <a:r>
              <a:rPr lang="en-US" dirty="0"/>
              <a:t>A value, similar to a line chart. </a:t>
            </a:r>
          </a:p>
          <a:p>
            <a:pPr lvl="1"/>
            <a:r>
              <a:rPr lang="en-US" dirty="0"/>
              <a:t>The per period (e.g. daily) change. </a:t>
            </a:r>
          </a:p>
          <a:p>
            <a:r>
              <a:rPr lang="en-US" dirty="0"/>
              <a:t>Good application of data density. </a:t>
            </a:r>
          </a:p>
          <a:p>
            <a:pPr lvl="1"/>
            <a:r>
              <a:rPr lang="en-US" dirty="0"/>
              <a:t>Change is added to a ”regular” line chart. </a:t>
            </a:r>
          </a:p>
          <a:p>
            <a:r>
              <a:rPr lang="en-US" dirty="0"/>
              <a:t>Commonly seen in:</a:t>
            </a:r>
          </a:p>
          <a:p>
            <a:pPr lvl="1"/>
            <a:r>
              <a:rPr lang="en-US" dirty="0"/>
              <a:t>Stock price quotes. </a:t>
            </a:r>
          </a:p>
          <a:p>
            <a:pPr lvl="1"/>
            <a:r>
              <a:rPr lang="en-US" dirty="0"/>
              <a:t>Summary of things like sales/profit totals. </a:t>
            </a:r>
          </a:p>
        </p:txBody>
      </p:sp>
      <p:pic>
        <p:nvPicPr>
          <p:cNvPr id="4" name="Picture 3" descr="Build Insightful Waterfall Charts in PowerPoint - Ampler">
            <a:extLst>
              <a:ext uri="{FF2B5EF4-FFF2-40B4-BE49-F238E27FC236}">
                <a16:creationId xmlns:a16="http://schemas.microsoft.com/office/drawing/2014/main" id="{0049D6A1-47F6-2E35-0C63-86195372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721" y="2004291"/>
            <a:ext cx="65024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17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016D-327C-32DC-89BC-118D12F9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Chart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5B5BC-8DE0-E066-3A50-E63CF6875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9" y="1839433"/>
            <a:ext cx="7009219" cy="4337530"/>
          </a:xfrm>
        </p:spPr>
        <p:txBody>
          <a:bodyPr/>
          <a:lstStyle/>
          <a:p>
            <a:r>
              <a:rPr lang="en-US" dirty="0"/>
              <a:t>A waterfall chart has a few basic components. </a:t>
            </a:r>
          </a:p>
          <a:p>
            <a:pPr lvl="1"/>
            <a:r>
              <a:rPr lang="en-US" dirty="0"/>
              <a:t>The value – where the mark is on the Y axis. </a:t>
            </a:r>
          </a:p>
          <a:p>
            <a:pPr lvl="1"/>
            <a:r>
              <a:rPr lang="en-US" dirty="0"/>
              <a:t>The change – difference between previous value and this value, shown by size of mark. </a:t>
            </a:r>
          </a:p>
          <a:p>
            <a:pPr lvl="1"/>
            <a:r>
              <a:rPr lang="en-US" dirty="0"/>
              <a:t>The x-axis – usually time, but could be other thing (e.g. product type). </a:t>
            </a:r>
          </a:p>
          <a:p>
            <a:r>
              <a:rPr lang="en-US" dirty="0"/>
              <a:t>The change is signified by size and color of mark:</a:t>
            </a:r>
          </a:p>
          <a:p>
            <a:pPr lvl="1"/>
            <a:r>
              <a:rPr lang="en-US" dirty="0"/>
              <a:t>Normally have discreet color for up/down. </a:t>
            </a:r>
          </a:p>
          <a:p>
            <a:pPr lvl="1"/>
            <a:r>
              <a:rPr lang="en-US" dirty="0"/>
              <a:t>Size of bar “goes from” start to finish of time period. </a:t>
            </a:r>
          </a:p>
          <a:p>
            <a:r>
              <a:rPr lang="en-US" dirty="0"/>
              <a:t>Sometimes have start/end total bars. </a:t>
            </a:r>
          </a:p>
        </p:txBody>
      </p:sp>
      <p:pic>
        <p:nvPicPr>
          <p:cNvPr id="4" name="Picture 3" descr="Waterfall Charts in PowerPoint">
            <a:extLst>
              <a:ext uri="{FF2B5EF4-FFF2-40B4-BE49-F238E27FC236}">
                <a16:creationId xmlns:a16="http://schemas.microsoft.com/office/drawing/2014/main" id="{DC0E5B41-6BB6-FF6A-CB85-5CC835E1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1877"/>
            <a:ext cx="508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3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CD89-1BA3-FDE0-9269-C32F25A9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Requirements – Table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CA7B7-36C1-3E95-69FF-F712ED27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78" y="1865870"/>
            <a:ext cx="6909246" cy="4631909"/>
          </a:xfrm>
        </p:spPr>
        <p:txBody>
          <a:bodyPr>
            <a:normAutofit/>
          </a:bodyPr>
          <a:lstStyle/>
          <a:p>
            <a:r>
              <a:rPr lang="en-US" dirty="0"/>
              <a:t>Table calculations allow us to do more complex math in some ways. </a:t>
            </a:r>
          </a:p>
          <a:p>
            <a:r>
              <a:rPr lang="en-US" dirty="0"/>
              <a:t>Table calculations are based on the aggregates in the visualization. </a:t>
            </a:r>
          </a:p>
          <a:p>
            <a:pPr lvl="1"/>
            <a:r>
              <a:rPr lang="en-US" dirty="0"/>
              <a:t>Remember – what do we want and how do we want it aggregated. </a:t>
            </a:r>
          </a:p>
          <a:p>
            <a:pPr lvl="1"/>
            <a:r>
              <a:rPr lang="en-US" dirty="0"/>
              <a:t>A table calc takes those agrégations and calculates them.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Ranking of profit by location – aggregate profits by location, then rank the aggregates. </a:t>
            </a:r>
          </a:p>
          <a:p>
            <a:pPr lvl="1"/>
            <a:r>
              <a:rPr lang="en-US" dirty="0"/>
              <a:t>Moving average – average together previous N aggregated values. </a:t>
            </a:r>
          </a:p>
          <a:p>
            <a:pPr lvl="1"/>
            <a:r>
              <a:rPr lang="en-US" dirty="0"/>
              <a:t>Percentage of total – aggregate total sales, then convert to percent. </a:t>
            </a:r>
          </a:p>
          <a:p>
            <a:r>
              <a:rPr lang="en-US" dirty="0"/>
              <a:t>Also frequently seen in trying to do “fancy” stuff. </a:t>
            </a:r>
          </a:p>
        </p:txBody>
      </p:sp>
      <p:pic>
        <p:nvPicPr>
          <p:cNvPr id="4" name="Picture 3" descr="Quick Table Calculations - Tableau">
            <a:extLst>
              <a:ext uri="{FF2B5EF4-FFF2-40B4-BE49-F238E27FC236}">
                <a16:creationId xmlns:a16="http://schemas.microsoft.com/office/drawing/2014/main" id="{AD8E5CBE-2548-25AE-B478-8A65D0896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323" y="2004291"/>
            <a:ext cx="50546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3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8659-2229-1A60-9592-54C79A68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Calculation Previewer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AB01-38EE-4A6E-AE23-F42F49CA2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5332228" cy="4172672"/>
          </a:xfrm>
        </p:spPr>
        <p:txBody>
          <a:bodyPr/>
          <a:lstStyle/>
          <a:p>
            <a:r>
              <a:rPr lang="en-US" dirty="0"/>
              <a:t>For simple things, the table calculation window gives us help. </a:t>
            </a:r>
          </a:p>
          <a:p>
            <a:pPr lvl="1"/>
            <a:r>
              <a:rPr lang="en-US" dirty="0"/>
              <a:t>We need to be ok with the parts of the data. </a:t>
            </a:r>
          </a:p>
          <a:p>
            <a:r>
              <a:rPr lang="en-US" dirty="0"/>
              <a:t>The way calculations are done are based on how the data is displayed in the visualization. </a:t>
            </a:r>
          </a:p>
        </p:txBody>
      </p:sp>
      <p:pic>
        <p:nvPicPr>
          <p:cNvPr id="4" name="Picture 3" descr="Tableau Secrets: Understanding Table Calculations Scope and Direction –  Part 1 – Michael Sandberg's Data Visualization Blog">
            <a:extLst>
              <a:ext uri="{FF2B5EF4-FFF2-40B4-BE49-F238E27FC236}">
                <a16:creationId xmlns:a16="http://schemas.microsoft.com/office/drawing/2014/main" id="{40AADAFA-A0B0-6286-602C-4FDF35305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1" t="18875"/>
          <a:stretch>
            <a:fillRect/>
          </a:stretch>
        </p:blipFill>
        <p:spPr>
          <a:xfrm>
            <a:off x="5912495" y="2004291"/>
            <a:ext cx="6279505" cy="417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83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C220-3906-9AAC-04DC-D985EC8C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your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C4750-2F21-C441-F47F-B602DF29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028" y="2004291"/>
            <a:ext cx="4188344" cy="4172672"/>
          </a:xfrm>
        </p:spPr>
        <p:txBody>
          <a:bodyPr>
            <a:normAutofit fontScale="92500"/>
          </a:bodyPr>
          <a:lstStyle/>
          <a:p>
            <a:r>
              <a:rPr lang="en-US" dirty="0"/>
              <a:t>The yellow highlight is one “thing”. </a:t>
            </a:r>
          </a:p>
          <a:p>
            <a:pPr lvl="1"/>
            <a:r>
              <a:rPr lang="en-US" dirty="0"/>
              <a:t>An aggregate per “thing” is calculated. </a:t>
            </a:r>
          </a:p>
          <a:p>
            <a:r>
              <a:rPr lang="en-US" dirty="0"/>
              <a:t>We will need table calculations to do several things:</a:t>
            </a:r>
          </a:p>
          <a:p>
            <a:pPr lvl="1"/>
            <a:r>
              <a:rPr lang="en-US" dirty="0"/>
              <a:t>Simple things – you should be able to do rank or similar on your own. </a:t>
            </a:r>
          </a:p>
          <a:p>
            <a:pPr lvl="1"/>
            <a:r>
              <a:rPr lang="en-US" dirty="0"/>
              <a:t>Complex things – as a step in some complex how-to, can you replicate/adapt. </a:t>
            </a:r>
          </a:p>
          <a:p>
            <a:r>
              <a:rPr lang="en-US" dirty="0"/>
              <a:t>Table calculations have some more things to (re)consider:</a:t>
            </a:r>
          </a:p>
          <a:p>
            <a:pPr lvl="1"/>
            <a:r>
              <a:rPr lang="en-US" dirty="0"/>
              <a:t>How do I want this thing aggregated. </a:t>
            </a:r>
          </a:p>
          <a:p>
            <a:pPr lvl="1"/>
            <a:r>
              <a:rPr lang="en-US" dirty="0"/>
              <a:t>I want an answer “for each”. </a:t>
            </a:r>
          </a:p>
          <a:p>
            <a:endParaRPr lang="en-US" dirty="0"/>
          </a:p>
        </p:txBody>
      </p:sp>
      <p:pic>
        <p:nvPicPr>
          <p:cNvPr id="4" name="Picture 3" descr="Table Calculation Types - Tableau">
            <a:extLst>
              <a:ext uri="{FF2B5EF4-FFF2-40B4-BE49-F238E27FC236}">
                <a16:creationId xmlns:a16="http://schemas.microsoft.com/office/drawing/2014/main" id="{58572117-5D46-7104-0DA2-D06F4265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8" y="1939566"/>
            <a:ext cx="7772400" cy="42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88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E119-E750-85A9-1015-D5529A82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and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6444D-A898-DBB7-B472-2BE02C40A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507" y="1853514"/>
            <a:ext cx="4972493" cy="4644265"/>
          </a:xfrm>
        </p:spPr>
        <p:txBody>
          <a:bodyPr>
            <a:normAutofit/>
          </a:bodyPr>
          <a:lstStyle/>
          <a:p>
            <a:r>
              <a:rPr lang="en-US" dirty="0"/>
              <a:t>The Specific Dimensions are complex:</a:t>
            </a:r>
          </a:p>
          <a:p>
            <a:pPr lvl="1"/>
            <a:r>
              <a:rPr lang="en-US" dirty="0"/>
              <a:t>Specify exactly how to calculate what we need. </a:t>
            </a:r>
          </a:p>
          <a:p>
            <a:pPr lvl="1"/>
            <a:r>
              <a:rPr lang="en-US" dirty="0"/>
              <a:t>This is common in complex examples.</a:t>
            </a:r>
          </a:p>
          <a:p>
            <a:pPr lvl="1"/>
            <a:r>
              <a:rPr lang="en-US" dirty="0"/>
              <a:t>May require T&amp;E to get – check 1. </a:t>
            </a:r>
          </a:p>
          <a:p>
            <a:r>
              <a:rPr lang="en-US" dirty="0"/>
              <a:t>For each segment, compute running sum, by quarter and year. </a:t>
            </a:r>
          </a:p>
          <a:p>
            <a:pPr lvl="1"/>
            <a:r>
              <a:rPr lang="en-US" dirty="0"/>
              <a:t>Each unchecked thing gets a grouping. </a:t>
            </a:r>
          </a:p>
          <a:p>
            <a:pPr lvl="1"/>
            <a:r>
              <a:rPr lang="en-US" dirty="0"/>
              <a:t>That value is calculated per q/year. </a:t>
            </a:r>
          </a:p>
          <a:p>
            <a:r>
              <a:rPr lang="en-US" dirty="0"/>
              <a:t>We can also have secondary calcs. </a:t>
            </a:r>
          </a:p>
          <a:p>
            <a:pPr lvl="1"/>
            <a:r>
              <a:rPr lang="en-US" dirty="0"/>
              <a:t>Calculate totals then rank them. </a:t>
            </a:r>
          </a:p>
        </p:txBody>
      </p:sp>
      <p:pic>
        <p:nvPicPr>
          <p:cNvPr id="4" name="Picture 3" descr="Tables and Table Calculations | Springer Nature Link">
            <a:extLst>
              <a:ext uri="{FF2B5EF4-FFF2-40B4-BE49-F238E27FC236}">
                <a16:creationId xmlns:a16="http://schemas.microsoft.com/office/drawing/2014/main" id="{7AFBCD0B-1D5F-7ED2-C7A4-8B489D53C9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74"/>
          <a:stretch>
            <a:fillRect/>
          </a:stretch>
        </p:blipFill>
        <p:spPr>
          <a:xfrm>
            <a:off x="148855" y="1853514"/>
            <a:ext cx="7070652" cy="49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2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5B3B-A751-5182-D937-379D3B7D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Stock Investing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C15AE-F161-3078-B108-EA76C3CA0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416" y="2004291"/>
            <a:ext cx="5461984" cy="4172672"/>
          </a:xfrm>
        </p:spPr>
        <p:txBody>
          <a:bodyPr/>
          <a:lstStyle/>
          <a:p>
            <a:r>
              <a:rPr lang="en-US" dirty="0"/>
              <a:t>Technical investing is based on patterns in stock price rather than value of underlying company. </a:t>
            </a:r>
          </a:p>
          <a:p>
            <a:pPr lvl="1"/>
            <a:r>
              <a:rPr lang="en-US" dirty="0"/>
              <a:t>We should invest because </a:t>
            </a:r>
            <a:r>
              <a:rPr lang="en-US" i="1" dirty="0"/>
              <a:t>based on patterns in price</a:t>
            </a:r>
            <a:r>
              <a:rPr lang="en-US" dirty="0"/>
              <a:t> it appears this stock will go up/down. </a:t>
            </a:r>
          </a:p>
          <a:p>
            <a:pPr lvl="1"/>
            <a:r>
              <a:rPr lang="en-US" dirty="0"/>
              <a:t>Rather than, we should invest because this is a good business that’ll grow in the future. </a:t>
            </a:r>
          </a:p>
          <a:p>
            <a:r>
              <a:rPr lang="en-US" dirty="0"/>
              <a:t>Based on looking at movement patterns in price. </a:t>
            </a:r>
          </a:p>
          <a:p>
            <a:pPr lvl="1"/>
            <a:r>
              <a:rPr lang="en-US" dirty="0"/>
              <a:t>The core idea is that stock prices move in repeatable patterns that we can follow if we notice them. </a:t>
            </a:r>
          </a:p>
          <a:p>
            <a:pPr lvl="1"/>
            <a:r>
              <a:rPr lang="en-US" dirty="0"/>
              <a:t>Fast computers have made this more powerful. </a:t>
            </a:r>
          </a:p>
          <a:p>
            <a:endParaRPr lang="en-US" dirty="0"/>
          </a:p>
        </p:txBody>
      </p:sp>
      <p:pic>
        <p:nvPicPr>
          <p:cNvPr id="4" name="Picture 3" descr="Unlock Trading Insights with Key Stock Chart Patterns">
            <a:extLst>
              <a:ext uri="{FF2B5EF4-FFF2-40B4-BE49-F238E27FC236}">
                <a16:creationId xmlns:a16="http://schemas.microsoft.com/office/drawing/2014/main" id="{752604EB-D45E-3B7F-41FF-F74FFC20A3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21"/>
          <a:stretch>
            <a:fillRect/>
          </a:stretch>
        </p:blipFill>
        <p:spPr>
          <a:xfrm>
            <a:off x="164813" y="1905699"/>
            <a:ext cx="5574603" cy="459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6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DE3C-9792-FBA1-115E-49BF2346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in Prices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7AA2-69DE-12EE-6EE1-DF7BE5CAE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5410200" cy="4172672"/>
          </a:xfrm>
        </p:spPr>
        <p:txBody>
          <a:bodyPr/>
          <a:lstStyle/>
          <a:p>
            <a:r>
              <a:rPr lang="en-US" dirty="0"/>
              <a:t>There are several patterns that people have noticed in how stock prices move. </a:t>
            </a:r>
          </a:p>
          <a:p>
            <a:r>
              <a:rPr lang="en-US" dirty="0"/>
              <a:t>Investors look for stocks at the start of the pattern, and invest assuming the stock may follow that pattern further. </a:t>
            </a:r>
          </a:p>
        </p:txBody>
      </p:sp>
      <p:pic>
        <p:nvPicPr>
          <p:cNvPr id="4" name="Picture 3" descr="10 important stock chart analysis patterns | CMC Markets">
            <a:extLst>
              <a:ext uri="{FF2B5EF4-FFF2-40B4-BE49-F238E27FC236}">
                <a16:creationId xmlns:a16="http://schemas.microsoft.com/office/drawing/2014/main" id="{C8AC9038-C089-12DC-268F-39D067535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40832"/>
            <a:ext cx="6079087" cy="2956947"/>
          </a:xfrm>
          <a:prstGeom prst="rect">
            <a:avLst/>
          </a:prstGeom>
        </p:spPr>
      </p:pic>
      <p:pic>
        <p:nvPicPr>
          <p:cNvPr id="5" name="Picture 4" descr="How to Count Bases &amp; Why You Should?">
            <a:extLst>
              <a:ext uri="{FF2B5EF4-FFF2-40B4-BE49-F238E27FC236}">
                <a16:creationId xmlns:a16="http://schemas.microsoft.com/office/drawing/2014/main" id="{CDEF01C5-158D-6E8C-2C92-FCB1BCB4B3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19"/>
          <a:stretch>
            <a:fillRect/>
          </a:stretch>
        </p:blipFill>
        <p:spPr>
          <a:xfrm>
            <a:off x="6995547" y="61955"/>
            <a:ext cx="5105400" cy="336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77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1A50-1ED5-624E-16C5-B09B71AB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6046-E343-14DE-F415-601029C4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What are the basics of chart patterns in technical analysis?">
            <a:extLst>
              <a:ext uri="{FF2B5EF4-FFF2-40B4-BE49-F238E27FC236}">
                <a16:creationId xmlns:a16="http://schemas.microsoft.com/office/drawing/2014/main" id="{2E953289-773B-23CF-0909-AA8C02EE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8" b="6405"/>
          <a:stretch>
            <a:fillRect/>
          </a:stretch>
        </p:blipFill>
        <p:spPr>
          <a:xfrm>
            <a:off x="0" y="0"/>
            <a:ext cx="6474941" cy="68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67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E790-B16F-190E-537E-B9F6A994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146" y="360221"/>
            <a:ext cx="4442254" cy="1330468"/>
          </a:xfrm>
        </p:spPr>
        <p:txBody>
          <a:bodyPr/>
          <a:lstStyle/>
          <a:p>
            <a:r>
              <a:rPr lang="en-US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EA5FA-01AF-B57A-8566-8D504771D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144" y="2004291"/>
            <a:ext cx="4442255" cy="4172672"/>
          </a:xfrm>
        </p:spPr>
        <p:txBody>
          <a:bodyPr/>
          <a:lstStyle/>
          <a:p>
            <a:r>
              <a:rPr lang="en-US" dirty="0"/>
              <a:t>There are many existing patterns. </a:t>
            </a:r>
          </a:p>
          <a:p>
            <a:r>
              <a:rPr lang="en-US" dirty="0"/>
              <a:t>These are not certainties. </a:t>
            </a:r>
          </a:p>
          <a:p>
            <a:r>
              <a:rPr lang="en-US" dirty="0"/>
              <a:t>Computers can allow us to check all stocks for all patterns very quickly. </a:t>
            </a:r>
          </a:p>
          <a:p>
            <a:r>
              <a:rPr lang="en-US" dirty="0"/>
              <a:t>Can base decisions strictly on technical data or as a factor with ”normal” data. </a:t>
            </a:r>
          </a:p>
        </p:txBody>
      </p:sp>
      <p:pic>
        <p:nvPicPr>
          <p:cNvPr id="4" name="Picture 3" descr="Common stock chart patterns for trading decisions">
            <a:extLst>
              <a:ext uri="{FF2B5EF4-FFF2-40B4-BE49-F238E27FC236}">
                <a16:creationId xmlns:a16="http://schemas.microsoft.com/office/drawing/2014/main" id="{1867EDF7-DF42-3E6E-3C47-8F850070E2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31" b="20238"/>
          <a:stretch>
            <a:fillRect/>
          </a:stretch>
        </p:blipFill>
        <p:spPr>
          <a:xfrm>
            <a:off x="0" y="0"/>
            <a:ext cx="6759146" cy="68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9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E685-0BEE-1098-604A-4DB74921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Smarter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B77F6-EC1A-B5BF-C185-E72C523E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53" y="1860698"/>
            <a:ext cx="5393959" cy="4637081"/>
          </a:xfrm>
        </p:spPr>
        <p:txBody>
          <a:bodyPr/>
          <a:lstStyle/>
          <a:p>
            <a:r>
              <a:rPr lang="en-US" dirty="0"/>
              <a:t>Modern ML is more powerful. </a:t>
            </a:r>
          </a:p>
          <a:p>
            <a:r>
              <a:rPr lang="en-US" dirty="0"/>
              <a:t>Can feed model all data. </a:t>
            </a:r>
          </a:p>
          <a:p>
            <a:r>
              <a:rPr lang="en-US" dirty="0"/>
              <a:t>Model will learn more subtle patterns in data. </a:t>
            </a:r>
          </a:p>
          <a:p>
            <a:r>
              <a:rPr lang="en-US" dirty="0"/>
              <a:t>Can screen all stocks. </a:t>
            </a:r>
          </a:p>
          <a:p>
            <a:r>
              <a:rPr lang="en-US" dirty="0"/>
              <a:t>Trained by making “old” preds. </a:t>
            </a:r>
          </a:p>
          <a:p>
            <a:pPr lvl="1"/>
            <a:r>
              <a:rPr lang="en-US" dirty="0"/>
              <a:t>Using data before today, predict today’s prices. </a:t>
            </a:r>
          </a:p>
          <a:p>
            <a:pPr lvl="1"/>
            <a:r>
              <a:rPr lang="en-US" dirty="0"/>
              <a:t>What is error in each prediction?</a:t>
            </a:r>
          </a:p>
          <a:p>
            <a:pPr lvl="1"/>
            <a:r>
              <a:rPr lang="en-US" dirty="0"/>
              <a:t>Repeat and adjust to lower – models have billions of parameters (numbers) that can be tuned. </a:t>
            </a:r>
          </a:p>
        </p:txBody>
      </p:sp>
      <p:pic>
        <p:nvPicPr>
          <p:cNvPr id="5" name="Picture 4" descr="PDF] An Artificial Neural Network-based Stock Trading System Using Technical  Analysis and Big Data Framework | Semantic Scholar">
            <a:extLst>
              <a:ext uri="{FF2B5EF4-FFF2-40B4-BE49-F238E27FC236}">
                <a16:creationId xmlns:a16="http://schemas.microsoft.com/office/drawing/2014/main" id="{E79086CC-BFA5-9083-EE5A-594FB6D93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813" y="2224132"/>
            <a:ext cx="6490080" cy="340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56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37DE-6DF7-C6CD-E966-D8847DB2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71FE7-C57E-7569-B790-FED07EF46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4" y="1816443"/>
            <a:ext cx="5224117" cy="4694152"/>
          </a:xfrm>
        </p:spPr>
        <p:txBody>
          <a:bodyPr>
            <a:normAutofit/>
          </a:bodyPr>
          <a:lstStyle/>
          <a:p>
            <a:r>
              <a:rPr lang="en-US" dirty="0"/>
              <a:t>In the real world, this is one type of investing, and is pretty widespread. </a:t>
            </a:r>
          </a:p>
          <a:p>
            <a:r>
              <a:rPr lang="en-US" dirty="0"/>
              <a:t>Large amounts of investing is now algorithmic:</a:t>
            </a:r>
          </a:p>
          <a:p>
            <a:pPr lvl="1"/>
            <a:r>
              <a:rPr lang="en-US" dirty="0"/>
              <a:t>Decisions are made automatically, via computers, immediately as things happen. </a:t>
            </a:r>
          </a:p>
          <a:p>
            <a:pPr lvl="1"/>
            <a:r>
              <a:rPr lang="en-US" dirty="0"/>
              <a:t>Large hedge funds, private equity have very fast systems to try to front-run this. </a:t>
            </a:r>
          </a:p>
          <a:p>
            <a:pPr lvl="1"/>
            <a:r>
              <a:rPr lang="en-US" dirty="0"/>
              <a:t>With massive volumes, lots of money can be made from small advantages. </a:t>
            </a:r>
          </a:p>
          <a:p>
            <a:r>
              <a:rPr lang="en-US" dirty="0"/>
              <a:t>If you like this and want to get a math Ph.D., this can pay in the millions. </a:t>
            </a:r>
          </a:p>
        </p:txBody>
      </p:sp>
      <p:pic>
        <p:nvPicPr>
          <p:cNvPr id="4" name="Picture 3" descr="Algorithmic Trading and the Nature of Market Agency">
            <a:extLst>
              <a:ext uri="{FF2B5EF4-FFF2-40B4-BE49-F238E27FC236}">
                <a16:creationId xmlns:a16="http://schemas.microsoft.com/office/drawing/2014/main" id="{D4D8B80A-586E-C617-7CA8-826302502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15" b="5676"/>
          <a:stretch>
            <a:fillRect/>
          </a:stretch>
        </p:blipFill>
        <p:spPr>
          <a:xfrm>
            <a:off x="5360041" y="1482809"/>
            <a:ext cx="6831959" cy="469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33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F6FD-CD84-BE31-262D-275CEC5A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C35C9-3E9B-2DF8-6D4E-50BD5F690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81962"/>
            <a:ext cx="10515600" cy="4518837"/>
          </a:xfrm>
        </p:spPr>
        <p:txBody>
          <a:bodyPr/>
          <a:lstStyle/>
          <a:p>
            <a:r>
              <a:rPr lang="en-US" dirty="0"/>
              <a:t>These two chart types are common in the real world and frequently useful. </a:t>
            </a:r>
          </a:p>
          <a:p>
            <a:r>
              <a:rPr lang="en-US" dirty="0"/>
              <a:t>Parameters are powerful, especially as things get more complex. </a:t>
            </a:r>
          </a:p>
          <a:p>
            <a:r>
              <a:rPr lang="en-US" dirty="0"/>
              <a:t>Don’t stop with what you </a:t>
            </a:r>
            <a:r>
              <a:rPr lang="en-US" i="1" dirty="0"/>
              <a:t>can </a:t>
            </a:r>
            <a:r>
              <a:rPr lang="en-US" dirty="0"/>
              <a:t>directly do, think about what’s needed, then learn how:</a:t>
            </a:r>
          </a:p>
          <a:p>
            <a:pPr lvl="1"/>
            <a:r>
              <a:rPr lang="en-US" dirty="0"/>
              <a:t>We can modify and customize the calculations we create to get exactly what’s needed. </a:t>
            </a:r>
          </a:p>
          <a:p>
            <a:pPr lvl="1"/>
            <a:r>
              <a:rPr lang="en-US" dirty="0"/>
              <a:t>We can manipulate marks to show exactly what we care about. </a:t>
            </a:r>
          </a:p>
          <a:p>
            <a:pPr lvl="1"/>
            <a:r>
              <a:rPr lang="en-US" dirty="0"/>
              <a:t>You want/</a:t>
            </a:r>
            <a:r>
              <a:rPr lang="en-US" b="1" dirty="0"/>
              <a:t>need</a:t>
            </a:r>
            <a:r>
              <a:rPr lang="en-US" dirty="0"/>
              <a:t> to spend time here to make things good. </a:t>
            </a:r>
          </a:p>
          <a:p>
            <a:r>
              <a:rPr lang="en-US" dirty="0"/>
              <a:t>For the next assignments, you want to think about this kind of stuff. </a:t>
            </a:r>
          </a:p>
          <a:p>
            <a:pPr lvl="1"/>
            <a:r>
              <a:rPr lang="en-US" dirty="0"/>
              <a:t>Is what I’m calculating what is best, or does a person need to do other steps mentally?</a:t>
            </a:r>
          </a:p>
          <a:p>
            <a:pPr lvl="1"/>
            <a:r>
              <a:rPr lang="en-US" dirty="0"/>
              <a:t>Is the way data is displayed the best, or would another mark type/style be better?</a:t>
            </a:r>
          </a:p>
          <a:p>
            <a:pPr lvl="1"/>
            <a:r>
              <a:rPr lang="en-US" dirty="0"/>
              <a:t>Can I change anything to make it </a:t>
            </a:r>
            <a:r>
              <a:rPr lang="en-US" i="1" dirty="0"/>
              <a:t>more</a:t>
            </a:r>
            <a:r>
              <a:rPr lang="en-US" dirty="0"/>
              <a:t> useful?</a:t>
            </a:r>
          </a:p>
          <a:p>
            <a:pPr lvl="1"/>
            <a:r>
              <a:rPr lang="en-US" dirty="0"/>
              <a:t>You need to think of this stuff, I’m going to ask it when looking at your visualizations. </a:t>
            </a:r>
          </a:p>
        </p:txBody>
      </p:sp>
    </p:spTree>
    <p:extLst>
      <p:ext uri="{BB962C8B-B14F-4D97-AF65-F5344CB8AC3E}">
        <p14:creationId xmlns:p14="http://schemas.microsoft.com/office/powerpoint/2010/main" val="338100557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83</TotalTime>
  <Words>1672</Words>
  <Application>Microsoft Macintosh PowerPoint</Application>
  <PresentationFormat>Widescreen</PresentationFormat>
  <Paragraphs>153</Paragraphs>
  <Slides>21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 Light</vt:lpstr>
      <vt:lpstr>Arial</vt:lpstr>
      <vt:lpstr>Walbaum Display</vt:lpstr>
      <vt:lpstr>Shoji</vt:lpstr>
      <vt:lpstr>PowerPoint Presentation</vt:lpstr>
      <vt:lpstr>Housekeeping</vt:lpstr>
      <vt:lpstr>Assignment</vt:lpstr>
      <vt:lpstr>Parameters</vt:lpstr>
      <vt:lpstr>What can Parameters do?</vt:lpstr>
      <vt:lpstr>Real Life Examples</vt:lpstr>
      <vt:lpstr>Finance Adjacent Charts</vt:lpstr>
      <vt:lpstr>Example – Control Chart</vt:lpstr>
      <vt:lpstr>Waterfall (Candlestick) Chart</vt:lpstr>
      <vt:lpstr>Waterfall Chart Pieces</vt:lpstr>
      <vt:lpstr>Waterfall Requirements – Table Calculations</vt:lpstr>
      <vt:lpstr>Table Calculation Previewer</vt:lpstr>
      <vt:lpstr>How to Calculate your Tables</vt:lpstr>
      <vt:lpstr>Tables and You!</vt:lpstr>
      <vt:lpstr>Technical Stock Investing</vt:lpstr>
      <vt:lpstr>Patterns in Prices</vt:lpstr>
      <vt:lpstr>PowerPoint Presentation</vt:lpstr>
      <vt:lpstr>Patterns</vt:lpstr>
      <vt:lpstr>Even Smarter Versions</vt:lpstr>
      <vt:lpstr>In Reality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11</cp:revision>
  <dcterms:created xsi:type="dcterms:W3CDTF">2026-10-19T15:12:01Z</dcterms:created>
  <dcterms:modified xsi:type="dcterms:W3CDTF">2026-10-19T17:25:41Z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2026-10-19T16:01:43Z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948880e7-7191-4f6a-a4e4-64f096110cce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