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5" r:id="rId2"/>
    <p:sldId id="256" r:id="rId3"/>
    <p:sldId id="266" r:id="rId4"/>
    <p:sldId id="287" r:id="rId5"/>
    <p:sldId id="288" r:id="rId6"/>
    <p:sldId id="259" r:id="rId7"/>
    <p:sldId id="260" r:id="rId8"/>
    <p:sldId id="261" r:id="rId9"/>
    <p:sldId id="262" r:id="rId10"/>
    <p:sldId id="276" r:id="rId11"/>
    <p:sldId id="257" r:id="rId12"/>
    <p:sldId id="258" r:id="rId13"/>
    <p:sldId id="274" r:id="rId14"/>
    <p:sldId id="284" r:id="rId15"/>
    <p:sldId id="275" r:id="rId16"/>
    <p:sldId id="264" r:id="rId17"/>
    <p:sldId id="277" r:id="rId18"/>
    <p:sldId id="263" r:id="rId19"/>
    <p:sldId id="265" r:id="rId20"/>
    <p:sldId id="280" r:id="rId21"/>
    <p:sldId id="289" r:id="rId22"/>
    <p:sldId id="290" r:id="rId23"/>
    <p:sldId id="291" r:id="rId24"/>
    <p:sldId id="292" r:id="rId25"/>
    <p:sldId id="267" r:id="rId26"/>
    <p:sldId id="278" r:id="rId27"/>
    <p:sldId id="269" r:id="rId28"/>
    <p:sldId id="272" r:id="rId29"/>
    <p:sldId id="273" r:id="rId30"/>
    <p:sldId id="279" r:id="rId31"/>
    <p:sldId id="281" r:id="rId32"/>
    <p:sldId id="282" r:id="rId33"/>
    <p:sldId id="283" r:id="rId34"/>
    <p:sldId id="27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341B91C-C88A-2F42-BFA6-ADB033483798}">
          <p14:sldIdLst>
            <p14:sldId id="285"/>
            <p14:sldId id="256"/>
          </p14:sldIdLst>
        </p14:section>
        <p14:section name="Samples" id="{E23DD445-57D6-9E44-81A2-6042C5498028}">
          <p14:sldIdLst>
            <p14:sldId id="266"/>
            <p14:sldId id="287"/>
          </p14:sldIdLst>
        </p14:section>
        <p14:section name="Distributions" id="{E1DD6C1B-6A15-A045-9353-1AE685AF145B}">
          <p14:sldIdLst>
            <p14:sldId id="288"/>
            <p14:sldId id="259"/>
            <p14:sldId id="260"/>
            <p14:sldId id="261"/>
            <p14:sldId id="262"/>
            <p14:sldId id="276"/>
            <p14:sldId id="257"/>
            <p14:sldId id="258"/>
            <p14:sldId id="274"/>
            <p14:sldId id="284"/>
            <p14:sldId id="275"/>
          </p14:sldIdLst>
        </p14:section>
        <p14:section name="Location" id="{D6B829A6-53FF-6F4B-B8C3-A250E6328AC4}">
          <p14:sldIdLst/>
        </p14:section>
        <p14:section name="Percentiles" id="{CBAF4E24-97C9-C443-B9F6-47C3E6FE7146}">
          <p14:sldIdLst>
            <p14:sldId id="264"/>
            <p14:sldId id="277"/>
          </p14:sldIdLst>
        </p14:section>
        <p14:section name="Dispersion" id="{ED3695C3-2DF3-A846-BD8F-E62AFDF627B4}">
          <p14:sldIdLst>
            <p14:sldId id="263"/>
            <p14:sldId id="265"/>
            <p14:sldId id="280"/>
          </p14:sldIdLst>
        </p14:section>
        <p14:section name="Interlude" id="{92FD6BE7-F6DB-9945-8CDD-A9A7B907C4C0}">
          <p14:sldIdLst>
            <p14:sldId id="289"/>
            <p14:sldId id="290"/>
            <p14:sldId id="291"/>
            <p14:sldId id="292"/>
          </p14:sldIdLst>
        </p14:section>
        <p14:section name="Skew and Kurtosis" id="{B467D408-7998-4F47-9EB7-B29D60349D0D}">
          <p14:sldIdLst>
            <p14:sldId id="267"/>
            <p14:sldId id="278"/>
          </p14:sldIdLst>
        </p14:section>
        <p14:section name="Outliers" id="{D8207A84-A422-364D-A3CC-855A64EFF1D1}">
          <p14:sldIdLst>
            <p14:sldId id="269"/>
            <p14:sldId id="272"/>
            <p14:sldId id="273"/>
            <p14:sldId id="279"/>
          </p14:sldIdLst>
        </p14:section>
        <p14:section name="Relationships in Data" id="{926D156D-CDB2-224F-B851-78910DE0F346}">
          <p14:sldIdLst>
            <p14:sldId id="281"/>
            <p14:sldId id="282"/>
            <p14:sldId id="283"/>
          </p14:sldIdLst>
        </p14:section>
        <p14:section name="Conclusion" id="{92E05195-E955-7842-941B-259B31EB34E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79"/>
    <p:restoredTop sz="96327"/>
  </p:normalViewPr>
  <p:slideViewPr>
    <p:cSldViewPr snapToGrid="0">
      <p:cViewPr varScale="1">
        <p:scale>
          <a:sx n="128" d="100"/>
          <a:sy n="128" d="100"/>
        </p:scale>
        <p:origin x="37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8/28/25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F10C01B-C436-7D44-91D6-27CC1FBE036E}"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8393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4315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FBEA87-A981-1343-B38D-AB9C959BA66C}"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3617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FBEA87-A981-1343-B38D-AB9C959BA66C}" type="datetimeFigureOut">
              <a:rPr lang="en-US" smtClean="0"/>
              <a:t>8/28/25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1641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FBEA87-A981-1343-B38D-AB9C959BA66C}" type="datetimeFigureOut">
              <a:rPr lang="en-US" smtClean="0"/>
              <a:t>8/28/25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10C01B-C436-7D44-91D6-27CC1FBE036E}"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2506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FBEA87-A981-1343-B38D-AB9C959BA66C}" type="datetimeFigureOut">
              <a:rPr lang="en-US" smtClean="0"/>
              <a:t>8/28/25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10C01B-C436-7D44-91D6-27CC1FBE036E}"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0297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FBEA87-A981-1343-B38D-AB9C959BA66C}" type="datetimeFigureOut">
              <a:rPr lang="en-US" smtClean="0"/>
              <a:t>8/28/25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10C01B-C436-7D44-91D6-27CC1FBE036E}" type="slidenum">
              <a:rPr lang="en-US" smtClean="0"/>
              <a:t>‹#›</a:t>
            </a:fld>
            <a:endParaRPr lang="en-US"/>
          </a:p>
        </p:txBody>
      </p:sp>
    </p:spTree>
    <p:extLst>
      <p:ext uri="{BB962C8B-B14F-4D97-AF65-F5344CB8AC3E}">
        <p14:creationId xmlns:p14="http://schemas.microsoft.com/office/powerpoint/2010/main" val="690977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BEA87-A981-1343-B38D-AB9C959BA66C}" type="datetimeFigureOut">
              <a:rPr lang="en-US" smtClean="0"/>
              <a:t>8/28/25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268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FFBEA87-A981-1343-B38D-AB9C959BA66C}" type="datetimeFigureOut">
              <a:rPr lang="en-US" smtClean="0"/>
              <a:t>8/28/25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0679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1866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8/28/25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519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FFBEA87-A981-1343-B38D-AB9C959BA66C}" type="datetimeFigureOut">
              <a:rPr lang="en-US" smtClean="0"/>
              <a:t>8/28/25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F10C01B-C436-7D44-91D6-27CC1FBE036E}"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431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F5FF-1C41-8B22-D423-A234B31AD250}"/>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DD0DEF38-3EB7-D962-9EC7-9D92F329A842}"/>
              </a:ext>
            </a:extLst>
          </p:cNvPr>
          <p:cNvSpPr>
            <a:spLocks noGrp="1"/>
          </p:cNvSpPr>
          <p:nvPr>
            <p:ph idx="1"/>
          </p:nvPr>
        </p:nvSpPr>
        <p:spPr>
          <a:xfrm>
            <a:off x="1451579" y="1853754"/>
            <a:ext cx="9603275" cy="4199727"/>
          </a:xfrm>
        </p:spPr>
        <p:txBody>
          <a:bodyPr>
            <a:normAutofit fontScale="92500" lnSpcReduction="20000"/>
          </a:bodyPr>
          <a:lstStyle/>
          <a:p>
            <a:r>
              <a:rPr lang="en-US" dirty="0"/>
              <a:t>Describing data and basic stats. (Chapter 3 – cutoff chapter for exam)</a:t>
            </a:r>
          </a:p>
          <a:p>
            <a:pPr lvl="1"/>
            <a:r>
              <a:rPr lang="en-US" dirty="0"/>
              <a:t>Describing one variable. </a:t>
            </a:r>
          </a:p>
          <a:p>
            <a:pPr lvl="1"/>
            <a:r>
              <a:rPr lang="en-US" dirty="0"/>
              <a:t>Describing two variables. </a:t>
            </a:r>
          </a:p>
          <a:p>
            <a:pPr lvl="1"/>
            <a:r>
              <a:rPr lang="en-US" dirty="0"/>
              <a:t>Stats-y plots to explore each. </a:t>
            </a:r>
          </a:p>
          <a:p>
            <a:r>
              <a:rPr lang="en-US" dirty="0"/>
              <a:t>Assignment Q+A – ask whatever. Specifically, make sure that you can do what you want with the data. It is normal to have to adjust either your plan or the datasets once started. </a:t>
            </a:r>
          </a:p>
          <a:p>
            <a:r>
              <a:rPr lang="en-US" dirty="0"/>
              <a:t>If you guys don’t have questions or want to ask</a:t>
            </a:r>
          </a:p>
          <a:p>
            <a:pPr lvl="1"/>
            <a:r>
              <a:rPr lang="en-US" dirty="0"/>
              <a:t>Tableau features:</a:t>
            </a:r>
          </a:p>
          <a:p>
            <a:pPr lvl="2"/>
            <a:r>
              <a:rPr lang="en-US" dirty="0"/>
              <a:t>Bins, details, parameters, and some calculations. </a:t>
            </a:r>
          </a:p>
          <a:p>
            <a:pPr lvl="1"/>
            <a:r>
              <a:rPr lang="en-US" dirty="0"/>
              <a:t>Dynamic axes with parameters – applied to stat’s heavy data. </a:t>
            </a:r>
          </a:p>
          <a:p>
            <a:pPr lvl="2"/>
            <a:r>
              <a:rPr lang="en-US" dirty="0"/>
              <a:t>Make an interactive dashboard to explore statistical descriptions!</a:t>
            </a:r>
          </a:p>
          <a:p>
            <a:pPr lvl="2"/>
            <a:r>
              <a:rPr lang="en-US" dirty="0"/>
              <a:t>07… data file from Brightspace (there’s some code there that we’ll copy/paste too). </a:t>
            </a:r>
          </a:p>
        </p:txBody>
      </p:sp>
    </p:spTree>
    <p:extLst>
      <p:ext uri="{BB962C8B-B14F-4D97-AF65-F5344CB8AC3E}">
        <p14:creationId xmlns:p14="http://schemas.microsoft.com/office/powerpoint/2010/main" val="615081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7A39-FB78-8080-9A4E-BBAE894AD1FD}"/>
              </a:ext>
            </a:extLst>
          </p:cNvPr>
          <p:cNvSpPr>
            <a:spLocks noGrp="1"/>
          </p:cNvSpPr>
          <p:nvPr>
            <p:ph type="ctrTitle"/>
          </p:nvPr>
        </p:nvSpPr>
        <p:spPr/>
        <p:txBody>
          <a:bodyPr/>
          <a:lstStyle/>
          <a:p>
            <a:r>
              <a:rPr lang="en-US" dirty="0"/>
              <a:t>Summary Measures</a:t>
            </a:r>
          </a:p>
        </p:txBody>
      </p:sp>
      <p:sp>
        <p:nvSpPr>
          <p:cNvPr id="3" name="Subtitle 2">
            <a:extLst>
              <a:ext uri="{FF2B5EF4-FFF2-40B4-BE49-F238E27FC236}">
                <a16:creationId xmlns:a16="http://schemas.microsoft.com/office/drawing/2014/main" id="{3A712D9B-A2CE-2C7B-5905-622F645CAB42}"/>
              </a:ext>
            </a:extLst>
          </p:cNvPr>
          <p:cNvSpPr>
            <a:spLocks noGrp="1"/>
          </p:cNvSpPr>
          <p:nvPr>
            <p:ph type="subTitle" idx="1"/>
          </p:nvPr>
        </p:nvSpPr>
        <p:spPr/>
        <p:txBody>
          <a:bodyPr/>
          <a:lstStyle/>
          <a:p>
            <a:r>
              <a:rPr lang="en-US" dirty="0"/>
              <a:t>Single Variable Statistics </a:t>
            </a:r>
          </a:p>
        </p:txBody>
      </p:sp>
    </p:spTree>
    <p:extLst>
      <p:ext uri="{BB962C8B-B14F-4D97-AF65-F5344CB8AC3E}">
        <p14:creationId xmlns:p14="http://schemas.microsoft.com/office/powerpoint/2010/main" val="429138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AF2C-6840-D0C0-4FFC-8B58DB547075}"/>
              </a:ext>
            </a:extLst>
          </p:cNvPr>
          <p:cNvSpPr>
            <a:spLocks noGrp="1"/>
          </p:cNvSpPr>
          <p:nvPr>
            <p:ph type="title"/>
          </p:nvPr>
        </p:nvSpPr>
        <p:spPr/>
        <p:txBody>
          <a:bodyPr/>
          <a:lstStyle/>
          <a:p>
            <a:r>
              <a:rPr lang="en-US" dirty="0"/>
              <a:t>Populations and Samples</a:t>
            </a:r>
          </a:p>
        </p:txBody>
      </p:sp>
      <p:sp>
        <p:nvSpPr>
          <p:cNvPr id="3" name="Content Placeholder 2">
            <a:extLst>
              <a:ext uri="{FF2B5EF4-FFF2-40B4-BE49-F238E27FC236}">
                <a16:creationId xmlns:a16="http://schemas.microsoft.com/office/drawing/2014/main" id="{6D5D086E-44B7-6A1C-23A5-3F8286A1EA59}"/>
              </a:ext>
            </a:extLst>
          </p:cNvPr>
          <p:cNvSpPr>
            <a:spLocks noGrp="1"/>
          </p:cNvSpPr>
          <p:nvPr>
            <p:ph idx="1"/>
          </p:nvPr>
        </p:nvSpPr>
        <p:spPr>
          <a:xfrm>
            <a:off x="1451579" y="2015732"/>
            <a:ext cx="9603275" cy="4112842"/>
          </a:xfrm>
        </p:spPr>
        <p:txBody>
          <a:bodyPr/>
          <a:lstStyle/>
          <a:p>
            <a:r>
              <a:rPr lang="en-US" dirty="0"/>
              <a:t>The first description of data is the idea of a POPULATION and a SAMPLE. </a:t>
            </a:r>
          </a:p>
          <a:p>
            <a:pPr lvl="1"/>
            <a:r>
              <a:rPr lang="en-US" dirty="0"/>
              <a:t>Population = all the data. </a:t>
            </a:r>
          </a:p>
          <a:p>
            <a:pPr lvl="1"/>
            <a:r>
              <a:rPr lang="en-US" dirty="0"/>
              <a:t>Sample = some subset of data that we use to analyze. </a:t>
            </a:r>
          </a:p>
          <a:p>
            <a:pPr lvl="1"/>
            <a:r>
              <a:rPr lang="en-US" dirty="0"/>
              <a:t>Population is all the data for our scope, not always every person alive. </a:t>
            </a:r>
          </a:p>
          <a:p>
            <a:r>
              <a:rPr lang="en-US" dirty="0"/>
              <a:t>In general, we take a sample of data, analyze it, and extrapolate to the population. </a:t>
            </a:r>
          </a:p>
          <a:p>
            <a:pPr lvl="1"/>
            <a:r>
              <a:rPr lang="en-US" dirty="0"/>
              <a:t>E.g. a political poll surveys ~1k people, and projects for the entire populace. </a:t>
            </a:r>
          </a:p>
          <a:p>
            <a:pPr lvl="1"/>
            <a:r>
              <a:rPr lang="en-US" dirty="0"/>
              <a:t>In reality, we often can’t get data for an entire population. </a:t>
            </a:r>
          </a:p>
          <a:p>
            <a:r>
              <a:rPr lang="en-US" dirty="0"/>
              <a:t>We want samples that are large and match the population as a whole. </a:t>
            </a:r>
          </a:p>
          <a:p>
            <a:pPr lvl="1"/>
            <a:r>
              <a:rPr lang="en-US" dirty="0"/>
              <a:t>Both of these things mean that our analysis will project for the entire population. </a:t>
            </a:r>
          </a:p>
          <a:p>
            <a:endParaRPr lang="en-US" dirty="0"/>
          </a:p>
        </p:txBody>
      </p:sp>
    </p:spTree>
    <p:extLst>
      <p:ext uri="{BB962C8B-B14F-4D97-AF65-F5344CB8AC3E}">
        <p14:creationId xmlns:p14="http://schemas.microsoft.com/office/powerpoint/2010/main" val="1960244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2761F-2090-AE80-F4CD-044DF3C69D5F}"/>
              </a:ext>
            </a:extLst>
          </p:cNvPr>
          <p:cNvSpPr>
            <a:spLocks noGrp="1"/>
          </p:cNvSpPr>
          <p:nvPr>
            <p:ph type="title"/>
          </p:nvPr>
        </p:nvSpPr>
        <p:spPr/>
        <p:txBody>
          <a:bodyPr/>
          <a:lstStyle/>
          <a:p>
            <a:r>
              <a:rPr lang="en-US" dirty="0"/>
              <a:t>Samples</a:t>
            </a:r>
          </a:p>
        </p:txBody>
      </p:sp>
      <p:sp>
        <p:nvSpPr>
          <p:cNvPr id="3" name="Content Placeholder 2">
            <a:extLst>
              <a:ext uri="{FF2B5EF4-FFF2-40B4-BE49-F238E27FC236}">
                <a16:creationId xmlns:a16="http://schemas.microsoft.com/office/drawing/2014/main" id="{948527DE-74C3-467E-741F-2EB75488FCD9}"/>
              </a:ext>
            </a:extLst>
          </p:cNvPr>
          <p:cNvSpPr>
            <a:spLocks noGrp="1"/>
          </p:cNvSpPr>
          <p:nvPr>
            <p:ph idx="1"/>
          </p:nvPr>
        </p:nvSpPr>
        <p:spPr/>
        <p:txBody>
          <a:bodyPr/>
          <a:lstStyle/>
          <a:p>
            <a:r>
              <a:rPr lang="en-US" dirty="0"/>
              <a:t>Conclusions we can draw from our analysis are better if a sample is:</a:t>
            </a:r>
          </a:p>
          <a:p>
            <a:pPr lvl="1"/>
            <a:r>
              <a:rPr lang="en-US" dirty="0"/>
              <a:t>More representative of the population. </a:t>
            </a:r>
          </a:p>
          <a:p>
            <a:pPr lvl="1"/>
            <a:r>
              <a:rPr lang="en-US" dirty="0"/>
              <a:t>Larger. </a:t>
            </a:r>
          </a:p>
          <a:p>
            <a:r>
              <a:rPr lang="en-US" dirty="0"/>
              <a:t>As well, samples will allow us to predict for a population better when the value is less variable. </a:t>
            </a:r>
          </a:p>
          <a:p>
            <a:pPr lvl="1"/>
            <a:r>
              <a:rPr lang="en-US" dirty="0"/>
              <a:t>If the value we are looking at is more constant, we need less data to project it. </a:t>
            </a:r>
          </a:p>
        </p:txBody>
      </p:sp>
    </p:spTree>
    <p:extLst>
      <p:ext uri="{BB962C8B-B14F-4D97-AF65-F5344CB8AC3E}">
        <p14:creationId xmlns:p14="http://schemas.microsoft.com/office/powerpoint/2010/main" val="2048498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02E8-6808-214C-636F-F6A9EC70F7C1}"/>
              </a:ext>
            </a:extLst>
          </p:cNvPr>
          <p:cNvSpPr>
            <a:spLocks noGrp="1"/>
          </p:cNvSpPr>
          <p:nvPr>
            <p:ph type="title"/>
          </p:nvPr>
        </p:nvSpPr>
        <p:spPr/>
        <p:txBody>
          <a:bodyPr/>
          <a:lstStyle/>
          <a:p>
            <a:r>
              <a:rPr lang="en-US" dirty="0"/>
              <a:t>Describing one Variable</a:t>
            </a:r>
          </a:p>
        </p:txBody>
      </p:sp>
      <p:sp>
        <p:nvSpPr>
          <p:cNvPr id="3" name="Content Placeholder 2">
            <a:extLst>
              <a:ext uri="{FF2B5EF4-FFF2-40B4-BE49-F238E27FC236}">
                <a16:creationId xmlns:a16="http://schemas.microsoft.com/office/drawing/2014/main" id="{DC4890B8-F3FB-6FFE-498D-0E10ACA6825F}"/>
              </a:ext>
            </a:extLst>
          </p:cNvPr>
          <p:cNvSpPr>
            <a:spLocks noGrp="1"/>
          </p:cNvSpPr>
          <p:nvPr>
            <p:ph idx="1"/>
          </p:nvPr>
        </p:nvSpPr>
        <p:spPr/>
        <p:txBody>
          <a:bodyPr/>
          <a:lstStyle/>
          <a:p>
            <a:r>
              <a:rPr lang="en-US" dirty="0"/>
              <a:t>First, we can look at describing one value at a time. </a:t>
            </a:r>
          </a:p>
        </p:txBody>
      </p:sp>
    </p:spTree>
    <p:extLst>
      <p:ext uri="{BB962C8B-B14F-4D97-AF65-F5344CB8AC3E}">
        <p14:creationId xmlns:p14="http://schemas.microsoft.com/office/powerpoint/2010/main" val="2256802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91EDE-C1CD-72E8-64A0-8D6741F1A61B}"/>
              </a:ext>
            </a:extLst>
          </p:cNvPr>
          <p:cNvSpPr>
            <a:spLocks noGrp="1"/>
          </p:cNvSpPr>
          <p:nvPr>
            <p:ph type="title"/>
          </p:nvPr>
        </p:nvSpPr>
        <p:spPr/>
        <p:txBody>
          <a:bodyPr/>
          <a:lstStyle/>
          <a:p>
            <a:r>
              <a:rPr lang="en-US" dirty="0"/>
              <a:t>Measures of Location</a:t>
            </a:r>
          </a:p>
        </p:txBody>
      </p:sp>
      <p:sp>
        <p:nvSpPr>
          <p:cNvPr id="3" name="Content Placeholder 2">
            <a:extLst>
              <a:ext uri="{FF2B5EF4-FFF2-40B4-BE49-F238E27FC236}">
                <a16:creationId xmlns:a16="http://schemas.microsoft.com/office/drawing/2014/main" id="{7D4A2192-8B14-813E-AF54-F4758A2AEAEB}"/>
              </a:ext>
            </a:extLst>
          </p:cNvPr>
          <p:cNvSpPr>
            <a:spLocks noGrp="1"/>
          </p:cNvSpPr>
          <p:nvPr>
            <p:ph idx="1"/>
          </p:nvPr>
        </p:nvSpPr>
        <p:spPr>
          <a:xfrm>
            <a:off x="1451579" y="2015732"/>
            <a:ext cx="9603275" cy="4037749"/>
          </a:xfrm>
        </p:spPr>
        <p:txBody>
          <a:bodyPr/>
          <a:lstStyle/>
          <a:p>
            <a:r>
              <a:rPr lang="en-US" dirty="0"/>
              <a:t>One key thing to understand about data is where it is located, or centered. </a:t>
            </a:r>
          </a:p>
          <a:p>
            <a:pPr lvl="1"/>
            <a:r>
              <a:rPr lang="en-US" dirty="0"/>
              <a:t>One of two things needed to define a normal distribution. </a:t>
            </a:r>
          </a:p>
          <a:p>
            <a:r>
              <a:rPr lang="en-US" dirty="0"/>
              <a:t>We have 3 main measures for location, the averages:</a:t>
            </a:r>
          </a:p>
          <a:p>
            <a:pPr lvl="1"/>
            <a:r>
              <a:rPr lang="en-US" dirty="0"/>
              <a:t>MEAN – The “average”, values added and divided by count. </a:t>
            </a:r>
          </a:p>
          <a:p>
            <a:pPr lvl="1"/>
            <a:r>
              <a:rPr lang="en-US" dirty="0"/>
              <a:t>MEDIAN – Value in the middle. (50% above, 50% below)</a:t>
            </a:r>
          </a:p>
          <a:p>
            <a:pPr lvl="1"/>
            <a:r>
              <a:rPr lang="en-US" dirty="0"/>
              <a:t>MODE – Most frequent value. </a:t>
            </a:r>
          </a:p>
          <a:p>
            <a:r>
              <a:rPr lang="en-US" dirty="0"/>
              <a:t>Depending on scenario, any of which may be useful. </a:t>
            </a:r>
          </a:p>
          <a:p>
            <a:pPr lvl="1"/>
            <a:r>
              <a:rPr lang="en-US" dirty="0"/>
              <a:t>E.g. When looking at income, the median is less impacted by really rich people. </a:t>
            </a:r>
          </a:p>
          <a:p>
            <a:r>
              <a:rPr lang="en-US" dirty="0"/>
              <a:t>In a true normal distribution, all these measures are equal. </a:t>
            </a:r>
          </a:p>
        </p:txBody>
      </p:sp>
    </p:spTree>
    <p:extLst>
      <p:ext uri="{BB962C8B-B14F-4D97-AF65-F5344CB8AC3E}">
        <p14:creationId xmlns:p14="http://schemas.microsoft.com/office/powerpoint/2010/main" val="3570988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4BA0-4965-C67C-E905-30B1868EDAA0}"/>
              </a:ext>
            </a:extLst>
          </p:cNvPr>
          <p:cNvSpPr>
            <a:spLocks noGrp="1"/>
          </p:cNvSpPr>
          <p:nvPr>
            <p:ph type="title"/>
          </p:nvPr>
        </p:nvSpPr>
        <p:spPr/>
        <p:txBody>
          <a:bodyPr/>
          <a:lstStyle/>
          <a:p>
            <a:r>
              <a:rPr lang="en-US" dirty="0"/>
              <a:t>Mean</a:t>
            </a:r>
          </a:p>
        </p:txBody>
      </p:sp>
      <p:sp>
        <p:nvSpPr>
          <p:cNvPr id="3" name="Content Placeholder 2">
            <a:extLst>
              <a:ext uri="{FF2B5EF4-FFF2-40B4-BE49-F238E27FC236}">
                <a16:creationId xmlns:a16="http://schemas.microsoft.com/office/drawing/2014/main" id="{177F100C-FC76-F09C-790D-9D3DF9B25881}"/>
              </a:ext>
            </a:extLst>
          </p:cNvPr>
          <p:cNvSpPr>
            <a:spLocks noGrp="1"/>
          </p:cNvSpPr>
          <p:nvPr>
            <p:ph idx="1"/>
          </p:nvPr>
        </p:nvSpPr>
        <p:spPr/>
        <p:txBody>
          <a:bodyPr/>
          <a:lstStyle/>
          <a:p>
            <a:r>
              <a:rPr lang="en-US" dirty="0"/>
              <a:t>MEAN is what we normally think of as the average. </a:t>
            </a:r>
          </a:p>
          <a:p>
            <a:pPr lvl="1"/>
            <a:r>
              <a:rPr lang="en-US" dirty="0"/>
              <a:t>Sum of values, divided by count of values. </a:t>
            </a:r>
          </a:p>
          <a:p>
            <a:r>
              <a:rPr lang="en-US" dirty="0"/>
              <a:t>Can be very impacted by outliers (very high/low values). </a:t>
            </a:r>
          </a:p>
        </p:txBody>
      </p:sp>
      <p:pic>
        <p:nvPicPr>
          <p:cNvPr id="2050" name="Picture 2" descr="Mean Median Mode: Measures for Data Sets - Curvebreakers">
            <a:extLst>
              <a:ext uri="{FF2B5EF4-FFF2-40B4-BE49-F238E27FC236}">
                <a16:creationId xmlns:a16="http://schemas.microsoft.com/office/drawing/2014/main" id="{2C18E986-DB6C-6AFC-ED2B-5A4F6E6AC006}"/>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l="2572" t="21918" r="1537" b="41735"/>
          <a:stretch/>
        </p:blipFill>
        <p:spPr bwMode="auto">
          <a:xfrm>
            <a:off x="2965133" y="3741038"/>
            <a:ext cx="6576165" cy="2492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805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A0FA-97B0-0063-6242-00D7DBDFBD97}"/>
              </a:ext>
            </a:extLst>
          </p:cNvPr>
          <p:cNvSpPr>
            <a:spLocks noGrp="1"/>
          </p:cNvSpPr>
          <p:nvPr>
            <p:ph type="title"/>
          </p:nvPr>
        </p:nvSpPr>
        <p:spPr/>
        <p:txBody>
          <a:bodyPr/>
          <a:lstStyle/>
          <a:p>
            <a:r>
              <a:rPr lang="en-US" dirty="0"/>
              <a:t>Median</a:t>
            </a:r>
          </a:p>
        </p:txBody>
      </p:sp>
      <p:sp>
        <p:nvSpPr>
          <p:cNvPr id="3" name="Content Placeholder 2">
            <a:extLst>
              <a:ext uri="{FF2B5EF4-FFF2-40B4-BE49-F238E27FC236}">
                <a16:creationId xmlns:a16="http://schemas.microsoft.com/office/drawing/2014/main" id="{12BED4B9-E0FF-EA1F-86F1-6DCFA9A0C662}"/>
              </a:ext>
            </a:extLst>
          </p:cNvPr>
          <p:cNvSpPr>
            <a:spLocks noGrp="1"/>
          </p:cNvSpPr>
          <p:nvPr>
            <p:ph idx="1"/>
          </p:nvPr>
        </p:nvSpPr>
        <p:spPr/>
        <p:txBody>
          <a:bodyPr/>
          <a:lstStyle/>
          <a:p>
            <a:r>
              <a:rPr lang="en-US" dirty="0"/>
              <a:t>The median is the value “in the middle” – half of values are above, half below. </a:t>
            </a:r>
          </a:p>
          <a:p>
            <a:r>
              <a:rPr lang="en-US" dirty="0"/>
              <a:t>The median is more resistant to outliers (more on this later). </a:t>
            </a:r>
          </a:p>
          <a:p>
            <a:r>
              <a:rPr lang="en-US" dirty="0"/>
              <a:t>Commonly used when we have data like income – with large values that would impact the mean drastically. </a:t>
            </a:r>
          </a:p>
        </p:txBody>
      </p:sp>
      <p:pic>
        <p:nvPicPr>
          <p:cNvPr id="1026" name="Picture 2" descr="Median Calculator - Inch Calculator">
            <a:extLst>
              <a:ext uri="{FF2B5EF4-FFF2-40B4-BE49-F238E27FC236}">
                <a16:creationId xmlns:a16="http://schemas.microsoft.com/office/drawing/2014/main" id="{92B1627F-BF20-B995-2AF9-EFA40B47F085}"/>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t="20293" r="14856" b="17077"/>
          <a:stretch/>
        </p:blipFill>
        <p:spPr bwMode="auto">
          <a:xfrm>
            <a:off x="5173248" y="3971522"/>
            <a:ext cx="5881605" cy="2886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441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A1D3A-5EDC-EBA4-C940-035E86F8D59B}"/>
              </a:ext>
            </a:extLst>
          </p:cNvPr>
          <p:cNvSpPr>
            <a:spLocks noGrp="1"/>
          </p:cNvSpPr>
          <p:nvPr>
            <p:ph type="title"/>
          </p:nvPr>
        </p:nvSpPr>
        <p:spPr/>
        <p:txBody>
          <a:bodyPr/>
          <a:lstStyle/>
          <a:p>
            <a:r>
              <a:rPr lang="en-US" dirty="0"/>
              <a:t>Mode</a:t>
            </a:r>
          </a:p>
        </p:txBody>
      </p:sp>
      <p:sp>
        <p:nvSpPr>
          <p:cNvPr id="3" name="Content Placeholder 2">
            <a:extLst>
              <a:ext uri="{FF2B5EF4-FFF2-40B4-BE49-F238E27FC236}">
                <a16:creationId xmlns:a16="http://schemas.microsoft.com/office/drawing/2014/main" id="{FEF22785-FAE9-3754-04A8-BDF619695606}"/>
              </a:ext>
            </a:extLst>
          </p:cNvPr>
          <p:cNvSpPr>
            <a:spLocks noGrp="1"/>
          </p:cNvSpPr>
          <p:nvPr>
            <p:ph idx="1"/>
          </p:nvPr>
        </p:nvSpPr>
        <p:spPr/>
        <p:txBody>
          <a:bodyPr/>
          <a:lstStyle/>
          <a:p>
            <a:r>
              <a:rPr lang="en-US" dirty="0"/>
              <a:t>MODE is the most frequently occurring value. </a:t>
            </a:r>
          </a:p>
          <a:p>
            <a:r>
              <a:rPr lang="en-US" dirty="0"/>
              <a:t>Most useful if data is discreet – can only take on certain values. </a:t>
            </a:r>
          </a:p>
          <a:p>
            <a:r>
              <a:rPr lang="en-US" dirty="0"/>
              <a:t>Pops up with distributions in terms such as BIMODAL, distributions that have 2 peeks. </a:t>
            </a:r>
          </a:p>
          <a:p>
            <a:r>
              <a:rPr lang="en-US" dirty="0"/>
              <a:t>Note – with continuous data, the mode might not have much meaning. E.g. with grades that are to 2 decimal places (59.23%, 81.04%, </a:t>
            </a:r>
            <a:r>
              <a:rPr lang="en-US" dirty="0" err="1"/>
              <a:t>etc</a:t>
            </a:r>
            <a:r>
              <a:rPr lang="en-US" dirty="0"/>
              <a:t>…) even if the values are tightly clustered, we won’t see the exact same value repeated often. </a:t>
            </a:r>
          </a:p>
        </p:txBody>
      </p:sp>
      <p:pic>
        <p:nvPicPr>
          <p:cNvPr id="8194" name="Picture 2" descr="Bimodal Distribution: Definition, Examples &amp; Analysis - Statistics By Jim">
            <a:extLst>
              <a:ext uri="{FF2B5EF4-FFF2-40B4-BE49-F238E27FC236}">
                <a16:creationId xmlns:a16="http://schemas.microsoft.com/office/drawing/2014/main" id="{8C5D4124-51C6-A3B5-7117-52EB47D02394}"/>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8276094" y="0"/>
            <a:ext cx="3915905" cy="238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677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D2960-63F9-0EAB-9C08-ED483496A478}"/>
              </a:ext>
            </a:extLst>
          </p:cNvPr>
          <p:cNvSpPr>
            <a:spLocks noGrp="1"/>
          </p:cNvSpPr>
          <p:nvPr>
            <p:ph type="title"/>
          </p:nvPr>
        </p:nvSpPr>
        <p:spPr/>
        <p:txBody>
          <a:bodyPr/>
          <a:lstStyle/>
          <a:p>
            <a:r>
              <a:rPr lang="en-US" dirty="0"/>
              <a:t>Locations in tableau</a:t>
            </a:r>
          </a:p>
        </p:txBody>
      </p:sp>
      <p:sp>
        <p:nvSpPr>
          <p:cNvPr id="3" name="Content Placeholder 2">
            <a:extLst>
              <a:ext uri="{FF2B5EF4-FFF2-40B4-BE49-F238E27FC236}">
                <a16:creationId xmlns:a16="http://schemas.microsoft.com/office/drawing/2014/main" id="{2D7E63B9-C223-223E-665E-12375D96BBBD}"/>
              </a:ext>
            </a:extLst>
          </p:cNvPr>
          <p:cNvSpPr>
            <a:spLocks noGrp="1"/>
          </p:cNvSpPr>
          <p:nvPr>
            <p:ph idx="1"/>
          </p:nvPr>
        </p:nvSpPr>
        <p:spPr/>
        <p:txBody>
          <a:bodyPr/>
          <a:lstStyle/>
          <a:p>
            <a:r>
              <a:rPr lang="en-US" dirty="0"/>
              <a:t>Mean, median, and mode functions. </a:t>
            </a:r>
          </a:p>
          <a:p>
            <a:r>
              <a:rPr lang="en-US" dirty="0"/>
              <a:t>Reference lines. </a:t>
            </a:r>
          </a:p>
          <a:p>
            <a:endParaRPr lang="en-US" dirty="0"/>
          </a:p>
          <a:p>
            <a:r>
              <a:rPr lang="en-US" dirty="0"/>
              <a:t>Note: for many/most “real life” population wide values, we often want to use the median as the “average”. Think of something like income, the oligarchs of the world drag up the mean substantially. The median is a more meaningful measure for most cases. </a:t>
            </a:r>
          </a:p>
        </p:txBody>
      </p:sp>
    </p:spTree>
    <p:extLst>
      <p:ext uri="{BB962C8B-B14F-4D97-AF65-F5344CB8AC3E}">
        <p14:creationId xmlns:p14="http://schemas.microsoft.com/office/powerpoint/2010/main" val="45666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D61F3-0E1D-116D-104E-8E15ABF02AF3}"/>
              </a:ext>
            </a:extLst>
          </p:cNvPr>
          <p:cNvSpPr>
            <a:spLocks noGrp="1"/>
          </p:cNvSpPr>
          <p:nvPr>
            <p:ph type="title"/>
          </p:nvPr>
        </p:nvSpPr>
        <p:spPr>
          <a:xfrm>
            <a:off x="1451579" y="804519"/>
            <a:ext cx="9603275" cy="1049235"/>
          </a:xfrm>
        </p:spPr>
        <p:txBody>
          <a:bodyPr>
            <a:normAutofit/>
          </a:bodyPr>
          <a:lstStyle/>
          <a:p>
            <a:r>
              <a:rPr lang="en-US" dirty="0"/>
              <a:t>Distributions</a:t>
            </a:r>
          </a:p>
        </p:txBody>
      </p:sp>
      <p:pic>
        <p:nvPicPr>
          <p:cNvPr id="11268" name="Picture 4" descr="Plot probability distribution object - MATLAB plot">
            <a:extLst>
              <a:ext uri="{FF2B5EF4-FFF2-40B4-BE49-F238E27FC236}">
                <a16:creationId xmlns:a16="http://schemas.microsoft.com/office/drawing/2014/main" id="{6984CBEF-F81B-919A-7579-53E9570BC8A7}"/>
              </a:ext>
            </a:extLst>
          </p:cNvPr>
          <p:cNvPicPr>
            <a:picLocks noChangeAspect="1" noChangeArrowheads="1"/>
          </p:cNvPicPr>
          <p:nvPr/>
        </p:nvPicPr>
        <p:blipFill>
          <a:blip>
            <a:extLst>
              <a:ext uri="{28A0092B-C50C-407E-A947-70E740481C1C}">
                <a14:useLocalDpi xmlns:a14="http://schemas.microsoft.com/office/drawing/2010/main" val="0"/>
              </a:ext>
            </a:extLst>
          </a:blip>
          <a:stretch>
            <a:fillRect/>
          </a:stretch>
        </p:blipFill>
        <p:spPr bwMode="auto">
          <a:xfrm>
            <a:off x="174551" y="1914995"/>
            <a:ext cx="5517981" cy="41384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635E69D-689B-7CA2-B0B9-7B646D6BFF5C}"/>
              </a:ext>
            </a:extLst>
          </p:cNvPr>
          <p:cNvSpPr>
            <a:spLocks noGrp="1"/>
          </p:cNvSpPr>
          <p:nvPr>
            <p:ph idx="1"/>
          </p:nvPr>
        </p:nvSpPr>
        <p:spPr>
          <a:xfrm>
            <a:off x="6315559" y="2015734"/>
            <a:ext cx="5701890" cy="4037747"/>
          </a:xfrm>
        </p:spPr>
        <p:txBody>
          <a:bodyPr>
            <a:normAutofit/>
          </a:bodyPr>
          <a:lstStyle/>
          <a:p>
            <a:pPr>
              <a:lnSpc>
                <a:spcPct val="110000"/>
              </a:lnSpc>
            </a:pPr>
            <a:r>
              <a:rPr lang="en-US" dirty="0"/>
              <a:t>The distribution of data describes its “shape”. </a:t>
            </a:r>
          </a:p>
          <a:p>
            <a:pPr lvl="1">
              <a:lnSpc>
                <a:spcPct val="110000"/>
              </a:lnSpc>
            </a:pPr>
            <a:r>
              <a:rPr lang="en-US" sz="2000" dirty="0"/>
              <a:t>Data is distributed over the RANGE – the minimum to the maximum value. </a:t>
            </a:r>
          </a:p>
          <a:p>
            <a:pPr lvl="1">
              <a:lnSpc>
                <a:spcPct val="110000"/>
              </a:lnSpc>
            </a:pPr>
            <a:r>
              <a:rPr lang="en-US" sz="2000" dirty="0"/>
              <a:t>Range tells us the limits, distribution describes the pattern</a:t>
            </a:r>
          </a:p>
          <a:p>
            <a:pPr>
              <a:lnSpc>
                <a:spcPct val="110000"/>
              </a:lnSpc>
            </a:pPr>
            <a:r>
              <a:rPr lang="en-US" dirty="0"/>
              <a:t>Knowing the distribution can help us know how to treat our data. </a:t>
            </a:r>
          </a:p>
          <a:p>
            <a:pPr>
              <a:lnSpc>
                <a:spcPct val="110000"/>
              </a:lnSpc>
            </a:pPr>
            <a:r>
              <a:rPr lang="en-US" dirty="0"/>
              <a:t>When generalizing from samples, we “lean on” what we know about a distribution to help the extrapolation. </a:t>
            </a:r>
          </a:p>
        </p:txBody>
      </p:sp>
    </p:spTree>
    <p:extLst>
      <p:ext uri="{BB962C8B-B14F-4D97-AF65-F5344CB8AC3E}">
        <p14:creationId xmlns:p14="http://schemas.microsoft.com/office/powerpoint/2010/main" val="852349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0DE6-EC62-8D27-B0F5-6F5A98BB19FD}"/>
              </a:ext>
            </a:extLst>
          </p:cNvPr>
          <p:cNvSpPr>
            <a:spLocks noGrp="1"/>
          </p:cNvSpPr>
          <p:nvPr>
            <p:ph type="title"/>
          </p:nvPr>
        </p:nvSpPr>
        <p:spPr/>
        <p:txBody>
          <a:bodyPr/>
          <a:lstStyle/>
          <a:p>
            <a:r>
              <a:rPr lang="en-US" dirty="0"/>
              <a:t>Normal Distribution</a:t>
            </a:r>
          </a:p>
        </p:txBody>
      </p:sp>
      <p:sp>
        <p:nvSpPr>
          <p:cNvPr id="3" name="Content Placeholder 2">
            <a:extLst>
              <a:ext uri="{FF2B5EF4-FFF2-40B4-BE49-F238E27FC236}">
                <a16:creationId xmlns:a16="http://schemas.microsoft.com/office/drawing/2014/main" id="{E044766A-B8E2-9C18-09F4-112DC48C22ED}"/>
              </a:ext>
            </a:extLst>
          </p:cNvPr>
          <p:cNvSpPr>
            <a:spLocks noGrp="1"/>
          </p:cNvSpPr>
          <p:nvPr>
            <p:ph idx="1"/>
          </p:nvPr>
        </p:nvSpPr>
        <p:spPr>
          <a:xfrm>
            <a:off x="1451579" y="2015732"/>
            <a:ext cx="9603275" cy="4091902"/>
          </a:xfrm>
        </p:spPr>
        <p:txBody>
          <a:bodyPr/>
          <a:lstStyle/>
          <a:p>
            <a:r>
              <a:rPr lang="en-US" dirty="0"/>
              <a:t>The NORMAL DISTRIBUTION is perhaps the most common distribution. </a:t>
            </a:r>
          </a:p>
          <a:p>
            <a:pPr lvl="1"/>
            <a:r>
              <a:rPr lang="en-US" dirty="0"/>
              <a:t>Also known as a bell curve. </a:t>
            </a:r>
          </a:p>
          <a:p>
            <a:r>
              <a:rPr lang="en-US" dirty="0"/>
              <a:t>A large percentage of data will follow a normal, or normal-</a:t>
            </a:r>
            <a:r>
              <a:rPr lang="en-US" dirty="0" err="1"/>
              <a:t>ish</a:t>
            </a:r>
            <a:r>
              <a:rPr lang="en-US" dirty="0"/>
              <a:t>, distribution. </a:t>
            </a:r>
          </a:p>
          <a:p>
            <a:pPr lvl="1"/>
            <a:r>
              <a:rPr lang="en-US" dirty="0"/>
              <a:t>E.g. sizes of animals, people’s height, </a:t>
            </a:r>
            <a:r>
              <a:rPr lang="en-US" dirty="0" err="1"/>
              <a:t>etc</a:t>
            </a:r>
            <a:r>
              <a:rPr lang="en-US" dirty="0"/>
              <a:t>…</a:t>
            </a:r>
          </a:p>
          <a:p>
            <a:r>
              <a:rPr lang="en-US" dirty="0"/>
              <a:t>The normal distribution has a bunch of properties and tools that are premade/pre-calculated for any data that is normal. </a:t>
            </a:r>
          </a:p>
          <a:p>
            <a:pPr lvl="1"/>
            <a:r>
              <a:rPr lang="en-US" dirty="0"/>
              <a:t>Analyzing normal data is often easier. </a:t>
            </a:r>
          </a:p>
          <a:p>
            <a:pPr lvl="1"/>
            <a:r>
              <a:rPr lang="en-US" dirty="0"/>
              <a:t>We can TRANSFORM data to make it normal, for easier analysis. </a:t>
            </a:r>
          </a:p>
          <a:p>
            <a:r>
              <a:rPr lang="en-US" dirty="0"/>
              <a:t>Lots of data follows a normal distribution, but we can’t just assume it all does. </a:t>
            </a:r>
          </a:p>
        </p:txBody>
      </p:sp>
    </p:spTree>
    <p:extLst>
      <p:ext uri="{BB962C8B-B14F-4D97-AF65-F5344CB8AC3E}">
        <p14:creationId xmlns:p14="http://schemas.microsoft.com/office/powerpoint/2010/main" val="3940324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BB14-296F-3B29-D4FE-AAFE2E1678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AFE4A9-2715-648E-0E0E-CD6AFF2010B0}"/>
              </a:ext>
            </a:extLst>
          </p:cNvPr>
          <p:cNvSpPr>
            <a:spLocks noGrp="1"/>
          </p:cNvSpPr>
          <p:nvPr>
            <p:ph idx="1"/>
          </p:nvPr>
        </p:nvSpPr>
        <p:spPr/>
        <p:txBody>
          <a:bodyPr/>
          <a:lstStyle/>
          <a:p>
            <a:endParaRPr lang="en-US"/>
          </a:p>
        </p:txBody>
      </p:sp>
      <p:pic>
        <p:nvPicPr>
          <p:cNvPr id="2050" name="Picture 2" descr="How to identify the outliers in your Data?? | by Gautam Kumar | Medium">
            <a:extLst>
              <a:ext uri="{FF2B5EF4-FFF2-40B4-BE49-F238E27FC236}">
                <a16:creationId xmlns:a16="http://schemas.microsoft.com/office/drawing/2014/main" id="{37CF36C6-8993-F3B7-80FB-13E08D3890BD}"/>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95325" y="0"/>
            <a:ext cx="107997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596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30E29-1777-A502-1DFD-549B9052AF5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5DB3D54-6DC3-3124-606C-0DA538ADA01E}"/>
              </a:ext>
            </a:extLst>
          </p:cNvPr>
          <p:cNvSpPr>
            <a:spLocks noGrp="1"/>
          </p:cNvSpPr>
          <p:nvPr>
            <p:ph idx="1"/>
          </p:nvPr>
        </p:nvSpPr>
        <p:spPr/>
        <p:txBody>
          <a:bodyPr/>
          <a:lstStyle/>
          <a:p>
            <a:endParaRPr lang="en-US"/>
          </a:p>
        </p:txBody>
      </p:sp>
      <p:pic>
        <p:nvPicPr>
          <p:cNvPr id="7170" name="Picture 2" descr="14. Common Shapes of Data - LabXchange">
            <a:extLst>
              <a:ext uri="{FF2B5EF4-FFF2-40B4-BE49-F238E27FC236}">
                <a16:creationId xmlns:a16="http://schemas.microsoft.com/office/drawing/2014/main" id="{76FEC4E7-3D5B-376F-7609-FE529C7EA548}"/>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081088" y="0"/>
            <a:ext cx="10028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471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0415-BC6B-7F8F-233F-75C214A751BC}"/>
              </a:ext>
            </a:extLst>
          </p:cNvPr>
          <p:cNvSpPr>
            <a:spLocks noGrp="1"/>
          </p:cNvSpPr>
          <p:nvPr>
            <p:ph type="title"/>
          </p:nvPr>
        </p:nvSpPr>
        <p:spPr>
          <a:xfrm>
            <a:off x="100740" y="804519"/>
            <a:ext cx="5640414" cy="1049235"/>
          </a:xfrm>
        </p:spPr>
        <p:txBody>
          <a:bodyPr/>
          <a:lstStyle/>
          <a:p>
            <a:r>
              <a:rPr lang="en-US" dirty="0"/>
              <a:t>Distributions in Tableau</a:t>
            </a:r>
          </a:p>
        </p:txBody>
      </p:sp>
      <p:sp>
        <p:nvSpPr>
          <p:cNvPr id="3" name="Content Placeholder 2">
            <a:extLst>
              <a:ext uri="{FF2B5EF4-FFF2-40B4-BE49-F238E27FC236}">
                <a16:creationId xmlns:a16="http://schemas.microsoft.com/office/drawing/2014/main" id="{B8E7669D-AAA4-BBB1-7D7A-64869F189AF4}"/>
              </a:ext>
            </a:extLst>
          </p:cNvPr>
          <p:cNvSpPr>
            <a:spLocks noGrp="1"/>
          </p:cNvSpPr>
          <p:nvPr>
            <p:ph idx="1"/>
          </p:nvPr>
        </p:nvSpPr>
        <p:spPr>
          <a:xfrm>
            <a:off x="317715" y="2015732"/>
            <a:ext cx="5315919" cy="4144844"/>
          </a:xfrm>
        </p:spPr>
        <p:txBody>
          <a:bodyPr/>
          <a:lstStyle/>
          <a:p>
            <a:r>
              <a:rPr lang="en-US" dirty="0"/>
              <a:t>Histograms and box-and-whisker plot are good at showing distributions. </a:t>
            </a:r>
          </a:p>
          <a:p>
            <a:pPr lvl="1"/>
            <a:r>
              <a:rPr lang="en-US" dirty="0"/>
              <a:t>Histograms are great for 1 variable per chart. </a:t>
            </a:r>
          </a:p>
          <a:p>
            <a:pPr lvl="1"/>
            <a:r>
              <a:rPr lang="en-US" dirty="0"/>
              <a:t>Box-and-whisker can show several at once. </a:t>
            </a:r>
          </a:p>
          <a:p>
            <a:r>
              <a:rPr lang="en-US" dirty="0"/>
              <a:t>Each shows the same data, in slightly different ways. </a:t>
            </a:r>
          </a:p>
          <a:p>
            <a:r>
              <a:rPr lang="en-US" dirty="0"/>
              <a:t>The main reason we need to understand different distributions is to know if something is normal or not. </a:t>
            </a:r>
          </a:p>
        </p:txBody>
      </p:sp>
      <p:pic>
        <p:nvPicPr>
          <p:cNvPr id="5122" name="Picture 2" descr="Vizible Difference: Overlaying Histogram with Box and Whisker Plot">
            <a:extLst>
              <a:ext uri="{FF2B5EF4-FFF2-40B4-BE49-F238E27FC236}">
                <a16:creationId xmlns:a16="http://schemas.microsoft.com/office/drawing/2014/main" id="{72BDF09D-6370-DAB0-1269-D63ECFA413DF}"/>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r="15764"/>
          <a:stretch/>
        </p:blipFill>
        <p:spPr bwMode="auto">
          <a:xfrm>
            <a:off x="5741153" y="0"/>
            <a:ext cx="645084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5181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66A8-0404-6EF5-9FE7-FB58BCFCA6EA}"/>
              </a:ext>
            </a:extLst>
          </p:cNvPr>
          <p:cNvSpPr>
            <a:spLocks noGrp="1"/>
          </p:cNvSpPr>
          <p:nvPr>
            <p:ph type="title"/>
          </p:nvPr>
        </p:nvSpPr>
        <p:spPr/>
        <p:txBody>
          <a:bodyPr/>
          <a:lstStyle/>
          <a:p>
            <a:r>
              <a:rPr lang="en-US" dirty="0"/>
              <a:t>Percentiles</a:t>
            </a:r>
          </a:p>
        </p:txBody>
      </p:sp>
      <p:sp>
        <p:nvSpPr>
          <p:cNvPr id="3" name="Content Placeholder 2">
            <a:extLst>
              <a:ext uri="{FF2B5EF4-FFF2-40B4-BE49-F238E27FC236}">
                <a16:creationId xmlns:a16="http://schemas.microsoft.com/office/drawing/2014/main" id="{E074EA29-927B-8488-C106-338FCF98D74B}"/>
              </a:ext>
            </a:extLst>
          </p:cNvPr>
          <p:cNvSpPr>
            <a:spLocks noGrp="1"/>
          </p:cNvSpPr>
          <p:nvPr>
            <p:ph idx="1"/>
          </p:nvPr>
        </p:nvSpPr>
        <p:spPr>
          <a:xfrm>
            <a:off x="1451579" y="2015732"/>
            <a:ext cx="9603275" cy="4037749"/>
          </a:xfrm>
        </p:spPr>
        <p:txBody>
          <a:bodyPr/>
          <a:lstStyle/>
          <a:p>
            <a:r>
              <a:rPr lang="en-US" dirty="0"/>
              <a:t>PERCENTILES indicate how far “up the scale” a value is. </a:t>
            </a:r>
          </a:p>
          <a:p>
            <a:pPr lvl="1"/>
            <a:r>
              <a:rPr lang="en-US" dirty="0"/>
              <a:t>What percentage of records is this value greater than? </a:t>
            </a:r>
          </a:p>
          <a:p>
            <a:r>
              <a:rPr lang="en-US" dirty="0"/>
              <a:t>Works the same as the median, the median is the 50% percentile. </a:t>
            </a:r>
          </a:p>
          <a:p>
            <a:pPr lvl="1"/>
            <a:r>
              <a:rPr lang="en-US" dirty="0"/>
              <a:t>Also less impacted by outliers, like the median.  </a:t>
            </a:r>
          </a:p>
          <a:p>
            <a:pPr lvl="1"/>
            <a:r>
              <a:rPr lang="en-US" dirty="0"/>
              <a:t>The median is the value a record needs to be greater than 50% of records. </a:t>
            </a:r>
          </a:p>
          <a:p>
            <a:r>
              <a:rPr lang="en-US" dirty="0"/>
              <a:t>Commonly used in rankings:</a:t>
            </a:r>
          </a:p>
          <a:p>
            <a:pPr lvl="1"/>
            <a:r>
              <a:rPr lang="en-US" dirty="0"/>
              <a:t>E.g. the top 5%-10% of GPA in some states is guaranteed entrance in state colleges. </a:t>
            </a:r>
          </a:p>
          <a:p>
            <a:pPr lvl="1"/>
            <a:r>
              <a:rPr lang="en-US" dirty="0"/>
              <a:t>There might be variation on curriculum/test difficulty from year to year, but the top 5% can be assumed to be similarly capable every year. </a:t>
            </a:r>
          </a:p>
        </p:txBody>
      </p:sp>
      <p:pic>
        <p:nvPicPr>
          <p:cNvPr id="12290" name="Picture 2" descr="Analysis of the USMLE Percentile Rankings – USMLE Gunner">
            <a:extLst>
              <a:ext uri="{FF2B5EF4-FFF2-40B4-BE49-F238E27FC236}">
                <a16:creationId xmlns:a16="http://schemas.microsoft.com/office/drawing/2014/main" id="{625492BC-2D03-684B-251E-E4F38BD2EABA}"/>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862206" y="0"/>
            <a:ext cx="4329794" cy="2541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783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548E3-3430-AEC1-357C-65D492B6FB1D}"/>
              </a:ext>
            </a:extLst>
          </p:cNvPr>
          <p:cNvSpPr>
            <a:spLocks noGrp="1"/>
          </p:cNvSpPr>
          <p:nvPr>
            <p:ph type="title"/>
          </p:nvPr>
        </p:nvSpPr>
        <p:spPr/>
        <p:txBody>
          <a:bodyPr/>
          <a:lstStyle/>
          <a:p>
            <a:r>
              <a:rPr lang="en-US" dirty="0"/>
              <a:t>Percentiles in Tableau</a:t>
            </a:r>
          </a:p>
        </p:txBody>
      </p:sp>
      <p:sp>
        <p:nvSpPr>
          <p:cNvPr id="3" name="Content Placeholder 2">
            <a:extLst>
              <a:ext uri="{FF2B5EF4-FFF2-40B4-BE49-F238E27FC236}">
                <a16:creationId xmlns:a16="http://schemas.microsoft.com/office/drawing/2014/main" id="{86BD0F0E-99A4-01B3-BAC6-C97BB288F636}"/>
              </a:ext>
            </a:extLst>
          </p:cNvPr>
          <p:cNvSpPr>
            <a:spLocks noGrp="1"/>
          </p:cNvSpPr>
          <p:nvPr>
            <p:ph idx="1"/>
          </p:nvPr>
        </p:nvSpPr>
        <p:spPr/>
        <p:txBody>
          <a:bodyPr/>
          <a:lstStyle/>
          <a:p>
            <a:r>
              <a:rPr lang="en-US" dirty="0"/>
              <a:t>Tableau can calculate our percentiles easily:</a:t>
            </a:r>
          </a:p>
          <a:p>
            <a:pPr lvl="1"/>
            <a:r>
              <a:rPr lang="en-US" dirty="0"/>
              <a:t>“What percentile is this value in?” – Table calculation -&gt; percentile. </a:t>
            </a:r>
          </a:p>
          <a:p>
            <a:pPr lvl="1"/>
            <a:r>
              <a:rPr lang="en-US" dirty="0"/>
              <a:t>“What value do I need to be in this percentile” – Measure -&gt; percentile -&gt; choose cutoff. </a:t>
            </a:r>
          </a:p>
        </p:txBody>
      </p:sp>
    </p:spTree>
    <p:extLst>
      <p:ext uri="{BB962C8B-B14F-4D97-AF65-F5344CB8AC3E}">
        <p14:creationId xmlns:p14="http://schemas.microsoft.com/office/powerpoint/2010/main" val="924334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8AD7E-39D0-95AA-6D8A-D2D7D251AE61}"/>
              </a:ext>
            </a:extLst>
          </p:cNvPr>
          <p:cNvSpPr>
            <a:spLocks noGrp="1"/>
          </p:cNvSpPr>
          <p:nvPr>
            <p:ph type="title"/>
          </p:nvPr>
        </p:nvSpPr>
        <p:spPr/>
        <p:txBody>
          <a:bodyPr/>
          <a:lstStyle/>
          <a:p>
            <a:r>
              <a:rPr lang="en-US" dirty="0"/>
              <a:t>Measures of Dispersion</a:t>
            </a:r>
          </a:p>
        </p:txBody>
      </p:sp>
      <p:sp>
        <p:nvSpPr>
          <p:cNvPr id="3" name="Content Placeholder 2">
            <a:extLst>
              <a:ext uri="{FF2B5EF4-FFF2-40B4-BE49-F238E27FC236}">
                <a16:creationId xmlns:a16="http://schemas.microsoft.com/office/drawing/2014/main" id="{DABC2036-388B-032E-2173-CF8081E7E4A8}"/>
              </a:ext>
            </a:extLst>
          </p:cNvPr>
          <p:cNvSpPr>
            <a:spLocks noGrp="1"/>
          </p:cNvSpPr>
          <p:nvPr>
            <p:ph idx="1"/>
          </p:nvPr>
        </p:nvSpPr>
        <p:spPr>
          <a:xfrm>
            <a:off x="726510" y="2015732"/>
            <a:ext cx="11123112" cy="4037749"/>
          </a:xfrm>
        </p:spPr>
        <p:txBody>
          <a:bodyPr/>
          <a:lstStyle/>
          <a:p>
            <a:r>
              <a:rPr lang="en-US" dirty="0"/>
              <a:t>Measures of dispersion give us an idea of how spread out our data is over its range. </a:t>
            </a:r>
          </a:p>
          <a:p>
            <a:pPr lvl="1"/>
            <a:r>
              <a:rPr lang="en-US" dirty="0"/>
              <a:t>Highly dispersed data has values more evenly distributed. </a:t>
            </a:r>
          </a:p>
          <a:p>
            <a:pPr lvl="1"/>
            <a:r>
              <a:rPr lang="en-US" dirty="0"/>
              <a:t>Non-dispersed data is more clustered (usually near the mean). </a:t>
            </a:r>
          </a:p>
          <a:p>
            <a:r>
              <a:rPr lang="en-US" dirty="0"/>
              <a:t>The main measure of dispersion is the STANDARD DEVIATION, which is made from the VARIANCE. </a:t>
            </a:r>
          </a:p>
          <a:p>
            <a:r>
              <a:rPr lang="en-US" dirty="0"/>
              <a:t>One of the other measures needed to define a normal distribution. </a:t>
            </a:r>
          </a:p>
          <a:p>
            <a:pPr lvl="1"/>
            <a:r>
              <a:rPr lang="en-US" dirty="0"/>
              <a:t>If we know the mean and standard deviation, we know what a normal distribution looks like. </a:t>
            </a:r>
          </a:p>
          <a:p>
            <a:pPr lvl="1"/>
            <a:r>
              <a:rPr lang="en-US" dirty="0"/>
              <a:t>In real life (beyond scope) – collect a sample, measure mean/std for the sample, create a normal distribution with that mean/std, use the new normal distribution to represent the population, that estimation process also gives us expected error in our generalization. </a:t>
            </a:r>
          </a:p>
        </p:txBody>
      </p:sp>
    </p:spTree>
    <p:extLst>
      <p:ext uri="{BB962C8B-B14F-4D97-AF65-F5344CB8AC3E}">
        <p14:creationId xmlns:p14="http://schemas.microsoft.com/office/powerpoint/2010/main" val="145730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ED737-A27C-E5FB-C428-6E5FAB2BF4BA}"/>
              </a:ext>
            </a:extLst>
          </p:cNvPr>
          <p:cNvSpPr>
            <a:spLocks noGrp="1"/>
          </p:cNvSpPr>
          <p:nvPr>
            <p:ph type="title"/>
          </p:nvPr>
        </p:nvSpPr>
        <p:spPr>
          <a:xfrm>
            <a:off x="1451579" y="804519"/>
            <a:ext cx="5596921" cy="1049235"/>
          </a:xfrm>
        </p:spPr>
        <p:txBody>
          <a:bodyPr/>
          <a:lstStyle/>
          <a:p>
            <a:r>
              <a:rPr lang="en-US" dirty="0"/>
              <a:t>Standard Deviation and </a:t>
            </a:r>
            <a:br>
              <a:rPr lang="en-US" dirty="0"/>
            </a:br>
            <a:r>
              <a:rPr lang="en-US" dirty="0"/>
              <a:t>Variance</a:t>
            </a:r>
          </a:p>
        </p:txBody>
      </p:sp>
      <p:sp>
        <p:nvSpPr>
          <p:cNvPr id="3" name="Content Placeholder 2">
            <a:extLst>
              <a:ext uri="{FF2B5EF4-FFF2-40B4-BE49-F238E27FC236}">
                <a16:creationId xmlns:a16="http://schemas.microsoft.com/office/drawing/2014/main" id="{C824EDDC-60E0-AA18-8307-F3305C8D5760}"/>
              </a:ext>
            </a:extLst>
          </p:cNvPr>
          <p:cNvSpPr>
            <a:spLocks noGrp="1"/>
          </p:cNvSpPr>
          <p:nvPr>
            <p:ph idx="1"/>
          </p:nvPr>
        </p:nvSpPr>
        <p:spPr>
          <a:xfrm>
            <a:off x="77492" y="1947791"/>
            <a:ext cx="7485681" cy="4166290"/>
          </a:xfrm>
        </p:spPr>
        <p:txBody>
          <a:bodyPr>
            <a:normAutofit/>
          </a:bodyPr>
          <a:lstStyle/>
          <a:p>
            <a:r>
              <a:rPr lang="en-US" dirty="0"/>
              <a:t>Variance is the average of the squared distances of values from the mean. </a:t>
            </a:r>
          </a:p>
          <a:p>
            <a:pPr lvl="1"/>
            <a:r>
              <a:rPr lang="en-US" dirty="0"/>
              <a:t>The squaring negates less/greater than, and penalizes small “misses” less. </a:t>
            </a:r>
          </a:p>
          <a:p>
            <a:pPr lvl="1"/>
            <a:r>
              <a:rPr lang="en-US" dirty="0"/>
              <a:t>High variance data has values far from the mean, low variance indicates they are closer. </a:t>
            </a:r>
          </a:p>
          <a:p>
            <a:r>
              <a:rPr lang="en-US" dirty="0"/>
              <a:t>Standard deviation is the square root of the variance. </a:t>
            </a:r>
          </a:p>
          <a:p>
            <a:pPr lvl="1"/>
            <a:r>
              <a:rPr lang="en-US" dirty="0"/>
              <a:t>We normally use the standard deviation. </a:t>
            </a:r>
          </a:p>
          <a:p>
            <a:pPr lvl="1"/>
            <a:r>
              <a:rPr lang="en-US" dirty="0"/>
              <a:t>On the same scale as the original data, while variance is a large number. </a:t>
            </a:r>
          </a:p>
          <a:p>
            <a:pPr lvl="1"/>
            <a:r>
              <a:rPr lang="en-US" dirty="0"/>
              <a:t>~ How far we expect the average value to be from the mean. </a:t>
            </a:r>
          </a:p>
          <a:p>
            <a:pPr lvl="1"/>
            <a:endParaRPr lang="en-US" dirty="0"/>
          </a:p>
        </p:txBody>
      </p:sp>
      <p:pic>
        <p:nvPicPr>
          <p:cNvPr id="3074" name="Picture 2" descr="Variance and Standard Deviation of a Sample">
            <a:extLst>
              <a:ext uri="{FF2B5EF4-FFF2-40B4-BE49-F238E27FC236}">
                <a16:creationId xmlns:a16="http://schemas.microsoft.com/office/drawing/2014/main" id="{11FA05F9-D32D-AEA4-B84E-171F549B75B3}"/>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048500" y="0"/>
            <a:ext cx="5143500" cy="15748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ow to Calculate Standard Deviation in Excel (Step-by-Step)">
            <a:extLst>
              <a:ext uri="{FF2B5EF4-FFF2-40B4-BE49-F238E27FC236}">
                <a16:creationId xmlns:a16="http://schemas.microsoft.com/office/drawing/2014/main" id="{5023939E-95F3-10CD-E9FC-02BA690450EE}"/>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480999" y="3673098"/>
            <a:ext cx="4711001" cy="3184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14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E005-ED26-04B6-C360-C1B83F5DBDF6}"/>
              </a:ext>
            </a:extLst>
          </p:cNvPr>
          <p:cNvSpPr>
            <a:spLocks noGrp="1"/>
          </p:cNvSpPr>
          <p:nvPr>
            <p:ph type="title"/>
          </p:nvPr>
        </p:nvSpPr>
        <p:spPr/>
        <p:txBody>
          <a:bodyPr/>
          <a:lstStyle/>
          <a:p>
            <a:r>
              <a:rPr lang="en-US" dirty="0"/>
              <a:t>Dispersion in Tableau</a:t>
            </a:r>
          </a:p>
        </p:txBody>
      </p:sp>
      <p:sp>
        <p:nvSpPr>
          <p:cNvPr id="3" name="Content Placeholder 2">
            <a:extLst>
              <a:ext uri="{FF2B5EF4-FFF2-40B4-BE49-F238E27FC236}">
                <a16:creationId xmlns:a16="http://schemas.microsoft.com/office/drawing/2014/main" id="{C35C486D-4A56-8EF4-423F-6CF20F95DD5F}"/>
              </a:ext>
            </a:extLst>
          </p:cNvPr>
          <p:cNvSpPr>
            <a:spLocks noGrp="1"/>
          </p:cNvSpPr>
          <p:nvPr>
            <p:ph idx="1"/>
          </p:nvPr>
        </p:nvSpPr>
        <p:spPr/>
        <p:txBody>
          <a:bodyPr/>
          <a:lstStyle/>
          <a:p>
            <a:r>
              <a:rPr lang="en-US" dirty="0"/>
              <a:t>Dispersion can be seen in a histogram, box-and-whisker plot, or others. </a:t>
            </a:r>
          </a:p>
          <a:p>
            <a:r>
              <a:rPr lang="en-US" dirty="0"/>
              <a:t>Dispersion can be measured with the standard deviation or variance functions. </a:t>
            </a:r>
          </a:p>
          <a:p>
            <a:r>
              <a:rPr lang="en-US" dirty="0"/>
              <a:t>We normally use the standard deviation. </a:t>
            </a:r>
          </a:p>
        </p:txBody>
      </p:sp>
    </p:spTree>
    <p:extLst>
      <p:ext uri="{BB962C8B-B14F-4D97-AF65-F5344CB8AC3E}">
        <p14:creationId xmlns:p14="http://schemas.microsoft.com/office/powerpoint/2010/main" val="2423012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B664E-89F7-F743-5802-0D124E26E138}"/>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DD99C9C7-372B-AD83-4DF3-38F3F89EAB6D}"/>
              </a:ext>
            </a:extLst>
          </p:cNvPr>
          <p:cNvSpPr>
            <a:spLocks noGrp="1"/>
          </p:cNvSpPr>
          <p:nvPr>
            <p:ph idx="1"/>
          </p:nvPr>
        </p:nvSpPr>
        <p:spPr>
          <a:xfrm>
            <a:off x="1451579" y="1853754"/>
            <a:ext cx="10134170" cy="4199727"/>
          </a:xfrm>
        </p:spPr>
        <p:txBody>
          <a:bodyPr/>
          <a:lstStyle/>
          <a:p>
            <a:r>
              <a:rPr lang="en-US" dirty="0"/>
              <a:t>Stats – finish chapter 3. </a:t>
            </a:r>
          </a:p>
          <a:p>
            <a:pPr lvl="1"/>
            <a:r>
              <a:rPr lang="en-US" dirty="0"/>
              <a:t>Review basic stats – location, dispersion, distribution, range. </a:t>
            </a:r>
          </a:p>
          <a:p>
            <a:pPr lvl="1"/>
            <a:r>
              <a:rPr lang="en-US" dirty="0"/>
              <a:t>This will be the cutoff for the first test, which is a week from Wed. </a:t>
            </a:r>
          </a:p>
          <a:p>
            <a:r>
              <a:rPr lang="en-US" dirty="0"/>
              <a:t>Tableau: Parameters</a:t>
            </a:r>
          </a:p>
          <a:p>
            <a:pPr lvl="1"/>
            <a:r>
              <a:rPr lang="en-US" dirty="0"/>
              <a:t>“madden_23…” dataset. </a:t>
            </a:r>
          </a:p>
          <a:p>
            <a:pPr lvl="1"/>
            <a:r>
              <a:rPr lang="en-US" dirty="0"/>
              <a:t>Taking input from users. </a:t>
            </a:r>
          </a:p>
          <a:p>
            <a:pPr lvl="1"/>
            <a:r>
              <a:rPr lang="en-US" dirty="0"/>
              <a:t>Dynamic charts. </a:t>
            </a:r>
          </a:p>
          <a:p>
            <a:pPr lvl="1"/>
            <a:r>
              <a:rPr lang="en-US" dirty="0"/>
              <a:t>Comparing distributions (group and compare)</a:t>
            </a:r>
          </a:p>
          <a:p>
            <a:r>
              <a:rPr lang="en-US" dirty="0"/>
              <a:t>Tableau Quiz practice rounds – we’ll look at some solutions for the 1st next time, bring Q’s. </a:t>
            </a:r>
          </a:p>
        </p:txBody>
      </p:sp>
    </p:spTree>
    <p:extLst>
      <p:ext uri="{BB962C8B-B14F-4D97-AF65-F5344CB8AC3E}">
        <p14:creationId xmlns:p14="http://schemas.microsoft.com/office/powerpoint/2010/main" val="882342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8A97-BA09-91B4-4478-2319079C8D6F}"/>
              </a:ext>
            </a:extLst>
          </p:cNvPr>
          <p:cNvSpPr>
            <a:spLocks noGrp="1"/>
          </p:cNvSpPr>
          <p:nvPr>
            <p:ph type="title"/>
          </p:nvPr>
        </p:nvSpPr>
        <p:spPr/>
        <p:txBody>
          <a:bodyPr/>
          <a:lstStyle/>
          <a:p>
            <a:r>
              <a:rPr lang="en-US" dirty="0"/>
              <a:t>Location and Range</a:t>
            </a:r>
          </a:p>
        </p:txBody>
      </p:sp>
      <p:sp>
        <p:nvSpPr>
          <p:cNvPr id="3" name="Content Placeholder 2">
            <a:extLst>
              <a:ext uri="{FF2B5EF4-FFF2-40B4-BE49-F238E27FC236}">
                <a16:creationId xmlns:a16="http://schemas.microsoft.com/office/drawing/2014/main" id="{FD0F6473-0BCC-54B1-18B1-5D036EC1464F}"/>
              </a:ext>
            </a:extLst>
          </p:cNvPr>
          <p:cNvSpPr>
            <a:spLocks noGrp="1"/>
          </p:cNvSpPr>
          <p:nvPr>
            <p:ph idx="1"/>
          </p:nvPr>
        </p:nvSpPr>
        <p:spPr/>
        <p:txBody>
          <a:bodyPr/>
          <a:lstStyle/>
          <a:p>
            <a:endParaRPr lang="en-US"/>
          </a:p>
        </p:txBody>
      </p:sp>
      <p:pic>
        <p:nvPicPr>
          <p:cNvPr id="1026" name="Picture 2" descr="Ledidi | Measures of central tendency: Mean, median and mode">
            <a:extLst>
              <a:ext uri="{FF2B5EF4-FFF2-40B4-BE49-F238E27FC236}">
                <a16:creationId xmlns:a16="http://schemas.microsoft.com/office/drawing/2014/main" id="{2EBEAE47-E952-42B0-D351-30B77F289E49}"/>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l="7826" t="14910" r="9327" b="19792"/>
          <a:stretch/>
        </p:blipFill>
        <p:spPr bwMode="auto">
          <a:xfrm>
            <a:off x="1137146" y="2015732"/>
            <a:ext cx="10100698" cy="3988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970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4D590-E521-78D9-3B36-659DBC1CF12E}"/>
              </a:ext>
            </a:extLst>
          </p:cNvPr>
          <p:cNvSpPr>
            <a:spLocks noGrp="1"/>
          </p:cNvSpPr>
          <p:nvPr>
            <p:ph type="title"/>
          </p:nvPr>
        </p:nvSpPr>
        <p:spPr/>
        <p:txBody>
          <a:bodyPr/>
          <a:lstStyle/>
          <a:p>
            <a:r>
              <a:rPr lang="en-US" dirty="0"/>
              <a:t>Dispersion</a:t>
            </a:r>
          </a:p>
        </p:txBody>
      </p:sp>
      <p:sp>
        <p:nvSpPr>
          <p:cNvPr id="3" name="Content Placeholder 2">
            <a:extLst>
              <a:ext uri="{FF2B5EF4-FFF2-40B4-BE49-F238E27FC236}">
                <a16:creationId xmlns:a16="http://schemas.microsoft.com/office/drawing/2014/main" id="{B90F3CF9-8946-DFB9-90CD-2C641CED9C02}"/>
              </a:ext>
            </a:extLst>
          </p:cNvPr>
          <p:cNvSpPr>
            <a:spLocks noGrp="1"/>
          </p:cNvSpPr>
          <p:nvPr>
            <p:ph idx="1"/>
          </p:nvPr>
        </p:nvSpPr>
        <p:spPr/>
        <p:txBody>
          <a:bodyPr/>
          <a:lstStyle/>
          <a:p>
            <a:endParaRPr lang="en-US"/>
          </a:p>
        </p:txBody>
      </p:sp>
      <p:pic>
        <p:nvPicPr>
          <p:cNvPr id="2052" name="Picture 4" descr="Dispersion in Statistics - Meaning, Measures, Examples">
            <a:extLst>
              <a:ext uri="{FF2B5EF4-FFF2-40B4-BE49-F238E27FC236}">
                <a16:creationId xmlns:a16="http://schemas.microsoft.com/office/drawing/2014/main" id="{A1733D61-B5FD-2412-BE37-422C57515764}"/>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290816" y="1853754"/>
            <a:ext cx="7924800" cy="455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2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FA3C-F16B-0C6E-F09B-1DA8B6564D7E}"/>
              </a:ext>
            </a:extLst>
          </p:cNvPr>
          <p:cNvSpPr>
            <a:spLocks noGrp="1"/>
          </p:cNvSpPr>
          <p:nvPr>
            <p:ph type="title"/>
          </p:nvPr>
        </p:nvSpPr>
        <p:spPr/>
        <p:txBody>
          <a:bodyPr/>
          <a:lstStyle/>
          <a:p>
            <a:r>
              <a:rPr lang="en-US" dirty="0"/>
              <a:t>Distributions</a:t>
            </a:r>
          </a:p>
        </p:txBody>
      </p:sp>
      <p:sp>
        <p:nvSpPr>
          <p:cNvPr id="3" name="Content Placeholder 2">
            <a:extLst>
              <a:ext uri="{FF2B5EF4-FFF2-40B4-BE49-F238E27FC236}">
                <a16:creationId xmlns:a16="http://schemas.microsoft.com/office/drawing/2014/main" id="{4A4A795F-7ED2-7B52-6919-BF706C1BBD55}"/>
              </a:ext>
            </a:extLst>
          </p:cNvPr>
          <p:cNvSpPr>
            <a:spLocks noGrp="1"/>
          </p:cNvSpPr>
          <p:nvPr>
            <p:ph idx="1"/>
          </p:nvPr>
        </p:nvSpPr>
        <p:spPr/>
        <p:txBody>
          <a:bodyPr/>
          <a:lstStyle/>
          <a:p>
            <a:endParaRPr lang="en-US"/>
          </a:p>
        </p:txBody>
      </p:sp>
      <p:pic>
        <p:nvPicPr>
          <p:cNvPr id="3074" name="Picture 2" descr="Statistical Distributions!. The normal distribution is the most… | by Vivek  Parashar | Becoming Human: Artificial Intelligence Magazine">
            <a:extLst>
              <a:ext uri="{FF2B5EF4-FFF2-40B4-BE49-F238E27FC236}">
                <a16:creationId xmlns:a16="http://schemas.microsoft.com/office/drawing/2014/main" id="{0DEB3AE2-E33F-F17B-E3A1-BB3DDEAF4B58}"/>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b="14351"/>
          <a:stretch/>
        </p:blipFill>
        <p:spPr bwMode="auto">
          <a:xfrm>
            <a:off x="1137145" y="1499152"/>
            <a:ext cx="9603275" cy="528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027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23B45-0FC8-D6D2-1BB2-E2B59542D43B}"/>
              </a:ext>
            </a:extLst>
          </p:cNvPr>
          <p:cNvSpPr>
            <a:spLocks noGrp="1"/>
          </p:cNvSpPr>
          <p:nvPr>
            <p:ph type="title"/>
          </p:nvPr>
        </p:nvSpPr>
        <p:spPr>
          <a:xfrm>
            <a:off x="1451579" y="804519"/>
            <a:ext cx="9603275" cy="1049235"/>
          </a:xfrm>
        </p:spPr>
        <p:txBody>
          <a:bodyPr>
            <a:normAutofit/>
          </a:bodyPr>
          <a:lstStyle/>
          <a:p>
            <a:r>
              <a:rPr lang="en-US" dirty="0"/>
              <a:t>Skewness and Kurtosis</a:t>
            </a:r>
          </a:p>
        </p:txBody>
      </p:sp>
      <p:pic>
        <p:nvPicPr>
          <p:cNvPr id="4098" name="Picture 2" descr="Illustration of the skewness and kurtosis values and how they correlate...  | Download Scientific Diagram">
            <a:extLst>
              <a:ext uri="{FF2B5EF4-FFF2-40B4-BE49-F238E27FC236}">
                <a16:creationId xmlns:a16="http://schemas.microsoft.com/office/drawing/2014/main" id="{76B10831-CCFA-9459-2064-D24031F10C80}"/>
              </a:ext>
            </a:extLst>
          </p:cNvPr>
          <p:cNvPicPr>
            <a:picLocks noChangeAspect="1" noChangeArrowheads="1"/>
          </p:cNvPicPr>
          <p:nvPr/>
        </p:nvPicPr>
        <p:blipFill>
          <a:blip>
            <a:extLst>
              <a:ext uri="{28A0092B-C50C-407E-A947-70E740481C1C}">
                <a14:useLocalDpi xmlns:a14="http://schemas.microsoft.com/office/drawing/2010/main" val="0"/>
              </a:ext>
            </a:extLst>
          </a:blip>
          <a:stretch>
            <a:fillRect/>
          </a:stretch>
        </p:blipFill>
        <p:spPr bwMode="auto">
          <a:xfrm>
            <a:off x="79979" y="2384194"/>
            <a:ext cx="6379192" cy="323743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35B88B6-2DDF-1F2B-A0C4-4305A5608BCA}"/>
              </a:ext>
            </a:extLst>
          </p:cNvPr>
          <p:cNvSpPr>
            <a:spLocks noGrp="1"/>
          </p:cNvSpPr>
          <p:nvPr>
            <p:ph idx="1"/>
          </p:nvPr>
        </p:nvSpPr>
        <p:spPr>
          <a:xfrm>
            <a:off x="6459171" y="2015734"/>
            <a:ext cx="5435778" cy="3974361"/>
          </a:xfrm>
        </p:spPr>
        <p:txBody>
          <a:bodyPr>
            <a:normAutofit/>
          </a:bodyPr>
          <a:lstStyle/>
          <a:p>
            <a:r>
              <a:rPr lang="en-US" dirty="0"/>
              <a:t>SKEWNESS indicates if a distribution is skewed, or shifted, in one direction or another. </a:t>
            </a:r>
          </a:p>
          <a:p>
            <a:pPr lvl="1"/>
            <a:r>
              <a:rPr lang="en-US" dirty="0"/>
              <a:t>Skew tells us if the distribution is “stretched” in one direction or the other. </a:t>
            </a:r>
          </a:p>
          <a:p>
            <a:pPr lvl="1"/>
            <a:r>
              <a:rPr lang="en-US" dirty="0"/>
              <a:t>+/- refers to the part “stretched” on a graph. </a:t>
            </a:r>
          </a:p>
          <a:p>
            <a:r>
              <a:rPr lang="en-US" dirty="0"/>
              <a:t>KURTOSIS is an indication of the “concentration” of the data around the mean. </a:t>
            </a:r>
          </a:p>
          <a:p>
            <a:pPr lvl="1"/>
            <a:r>
              <a:rPr lang="en-US" dirty="0"/>
              <a:t>Can also be thought of as “steepness”. </a:t>
            </a:r>
          </a:p>
          <a:p>
            <a:pPr lvl="1"/>
            <a:r>
              <a:rPr lang="en-US" dirty="0"/>
              <a:t>High kurtosis means most values are tightly clustered around the mean. </a:t>
            </a:r>
          </a:p>
          <a:p>
            <a:endParaRPr lang="en-US" dirty="0"/>
          </a:p>
        </p:txBody>
      </p:sp>
    </p:spTree>
    <p:extLst>
      <p:ext uri="{BB962C8B-B14F-4D97-AF65-F5344CB8AC3E}">
        <p14:creationId xmlns:p14="http://schemas.microsoft.com/office/powerpoint/2010/main" val="2481692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639B5-BAF1-26AB-1CD6-2FDF1F8788C6}"/>
              </a:ext>
            </a:extLst>
          </p:cNvPr>
          <p:cNvSpPr>
            <a:spLocks noGrp="1"/>
          </p:cNvSpPr>
          <p:nvPr>
            <p:ph type="title"/>
          </p:nvPr>
        </p:nvSpPr>
        <p:spPr/>
        <p:txBody>
          <a:bodyPr/>
          <a:lstStyle/>
          <a:p>
            <a:r>
              <a:rPr lang="en-US" dirty="0"/>
              <a:t>Skew and Kurtosis in Tableau</a:t>
            </a:r>
          </a:p>
        </p:txBody>
      </p:sp>
      <p:sp>
        <p:nvSpPr>
          <p:cNvPr id="3" name="Content Placeholder 2">
            <a:extLst>
              <a:ext uri="{FF2B5EF4-FFF2-40B4-BE49-F238E27FC236}">
                <a16:creationId xmlns:a16="http://schemas.microsoft.com/office/drawing/2014/main" id="{CC4FB29B-EA91-4D7D-73BC-7D12FD01CAE9}"/>
              </a:ext>
            </a:extLst>
          </p:cNvPr>
          <p:cNvSpPr>
            <a:spLocks noGrp="1"/>
          </p:cNvSpPr>
          <p:nvPr>
            <p:ph idx="1"/>
          </p:nvPr>
        </p:nvSpPr>
        <p:spPr>
          <a:xfrm>
            <a:off x="1451579" y="1853755"/>
            <a:ext cx="9603275" cy="2565846"/>
          </a:xfrm>
        </p:spPr>
        <p:txBody>
          <a:bodyPr>
            <a:normAutofit/>
          </a:bodyPr>
          <a:lstStyle/>
          <a:p>
            <a:r>
              <a:rPr lang="en-US" dirty="0"/>
              <a:t>Skew and kurtosis are things that we largely detect by eye. </a:t>
            </a:r>
          </a:p>
          <a:p>
            <a:pPr lvl="1"/>
            <a:r>
              <a:rPr lang="en-US" dirty="0"/>
              <a:t>There are calculations, but they are well beyond our scope. </a:t>
            </a:r>
          </a:p>
          <a:p>
            <a:r>
              <a:rPr lang="en-US" dirty="0"/>
              <a:t>A histogram is the easiest way to see the skew and kurtosis. </a:t>
            </a:r>
          </a:p>
          <a:p>
            <a:pPr lvl="1"/>
            <a:r>
              <a:rPr lang="en-US" dirty="0"/>
              <a:t>We need to be attentive to the bin size. </a:t>
            </a:r>
          </a:p>
          <a:p>
            <a:r>
              <a:rPr lang="en-US" dirty="0"/>
              <a:t>These two are descriptors that we can use to talk about data, we won’t use them in any calculations. </a:t>
            </a:r>
          </a:p>
        </p:txBody>
      </p:sp>
      <p:pic>
        <p:nvPicPr>
          <p:cNvPr id="6146" name="Picture 2" descr="Data Distributions">
            <a:extLst>
              <a:ext uri="{FF2B5EF4-FFF2-40B4-BE49-F238E27FC236}">
                <a16:creationId xmlns:a16="http://schemas.microsoft.com/office/drawing/2014/main" id="{BAA09650-3F70-A738-802F-833B82D11549}"/>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225550" y="4419601"/>
            <a:ext cx="97409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831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8B1E5-D727-C70F-E387-2EB29A2BD5E0}"/>
              </a:ext>
            </a:extLst>
          </p:cNvPr>
          <p:cNvSpPr>
            <a:spLocks noGrp="1"/>
          </p:cNvSpPr>
          <p:nvPr>
            <p:ph type="title"/>
          </p:nvPr>
        </p:nvSpPr>
        <p:spPr/>
        <p:txBody>
          <a:bodyPr/>
          <a:lstStyle/>
          <a:p>
            <a:r>
              <a:rPr lang="en-US" dirty="0"/>
              <a:t>Outliers</a:t>
            </a:r>
          </a:p>
        </p:txBody>
      </p:sp>
      <p:sp>
        <p:nvSpPr>
          <p:cNvPr id="3" name="Content Placeholder 2">
            <a:extLst>
              <a:ext uri="{FF2B5EF4-FFF2-40B4-BE49-F238E27FC236}">
                <a16:creationId xmlns:a16="http://schemas.microsoft.com/office/drawing/2014/main" id="{8D3C06E8-D448-16E9-CA86-8D5A9B68A1ED}"/>
              </a:ext>
            </a:extLst>
          </p:cNvPr>
          <p:cNvSpPr>
            <a:spLocks noGrp="1"/>
          </p:cNvSpPr>
          <p:nvPr>
            <p:ph idx="1"/>
          </p:nvPr>
        </p:nvSpPr>
        <p:spPr>
          <a:xfrm>
            <a:off x="1451579" y="1905582"/>
            <a:ext cx="9603275" cy="4147899"/>
          </a:xfrm>
        </p:spPr>
        <p:txBody>
          <a:bodyPr/>
          <a:lstStyle/>
          <a:p>
            <a:r>
              <a:rPr lang="en-US" dirty="0"/>
              <a:t>OUTLIERS are values that are too high or too low, that we may want to remove. </a:t>
            </a:r>
          </a:p>
          <a:p>
            <a:r>
              <a:rPr lang="en-US" dirty="0"/>
              <a:t>Outliers are things that can throw off our analysis. </a:t>
            </a:r>
          </a:p>
          <a:p>
            <a:pPr lvl="1"/>
            <a:r>
              <a:rPr lang="en-US" dirty="0"/>
              <a:t>E.g. if we are predicting if someone will repay a loan, and one value is “net worth”, having Bill Gates be part of the dataset probably doesn’t help us – he’s so rich he has nothing to do with “regular” folks. </a:t>
            </a:r>
          </a:p>
          <a:p>
            <a:r>
              <a:rPr lang="en-US" dirty="0"/>
              <a:t>Removing outliers always depends on DOMAIN KNOWLEDGE – knowing about the actual topic of the data. </a:t>
            </a:r>
          </a:p>
          <a:p>
            <a:pPr lvl="1"/>
            <a:r>
              <a:rPr lang="en-US" dirty="0"/>
              <a:t>Keeping or removing outliers depends on what we are doing. </a:t>
            </a:r>
          </a:p>
          <a:p>
            <a:r>
              <a:rPr lang="en-US" dirty="0"/>
              <a:t>For us, we probably want to remove things that are clearly outside of the pattern. </a:t>
            </a:r>
          </a:p>
        </p:txBody>
      </p:sp>
    </p:spTree>
    <p:extLst>
      <p:ext uri="{BB962C8B-B14F-4D97-AF65-F5344CB8AC3E}">
        <p14:creationId xmlns:p14="http://schemas.microsoft.com/office/powerpoint/2010/main" val="2212260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87964-3A3F-2BE8-E4AF-DCFEC1174BB1}"/>
              </a:ext>
            </a:extLst>
          </p:cNvPr>
          <p:cNvSpPr>
            <a:spLocks noGrp="1"/>
          </p:cNvSpPr>
          <p:nvPr>
            <p:ph type="title"/>
          </p:nvPr>
        </p:nvSpPr>
        <p:spPr/>
        <p:txBody>
          <a:bodyPr/>
          <a:lstStyle/>
          <a:p>
            <a:r>
              <a:rPr lang="en-US" dirty="0"/>
              <a:t>Variable Scaling</a:t>
            </a:r>
          </a:p>
        </p:txBody>
      </p:sp>
      <p:sp>
        <p:nvSpPr>
          <p:cNvPr id="3" name="Content Placeholder 2">
            <a:extLst>
              <a:ext uri="{FF2B5EF4-FFF2-40B4-BE49-F238E27FC236}">
                <a16:creationId xmlns:a16="http://schemas.microsoft.com/office/drawing/2014/main" id="{BAC472C4-6CF0-6403-D0D6-F34DDAFDFCB5}"/>
              </a:ext>
            </a:extLst>
          </p:cNvPr>
          <p:cNvSpPr>
            <a:spLocks noGrp="1"/>
          </p:cNvSpPr>
          <p:nvPr>
            <p:ph idx="1"/>
          </p:nvPr>
        </p:nvSpPr>
        <p:spPr>
          <a:xfrm>
            <a:off x="1451579" y="2015732"/>
            <a:ext cx="9603275" cy="4119822"/>
          </a:xfrm>
        </p:spPr>
        <p:txBody>
          <a:bodyPr/>
          <a:lstStyle/>
          <a:p>
            <a:r>
              <a:rPr lang="en-US" dirty="0"/>
              <a:t>This is a bit of a side note, relating more to other analysis, but we should be aware. </a:t>
            </a:r>
          </a:p>
          <a:p>
            <a:r>
              <a:rPr lang="en-US" dirty="0"/>
              <a:t>One common technique in data analysis is to RESCALE data. </a:t>
            </a:r>
          </a:p>
          <a:p>
            <a:pPr lvl="1"/>
            <a:r>
              <a:rPr lang="en-US" dirty="0"/>
              <a:t>Take data from its original range, and remap it to a new range. </a:t>
            </a:r>
          </a:p>
          <a:p>
            <a:r>
              <a:rPr lang="en-US" dirty="0"/>
              <a:t>Normalization – map data to a range between 0 and 1. </a:t>
            </a:r>
          </a:p>
          <a:p>
            <a:r>
              <a:rPr lang="en-US" dirty="0"/>
              <a:t>Standardization – map data so the mean is 0, and the std is 1. </a:t>
            </a:r>
          </a:p>
          <a:p>
            <a:r>
              <a:rPr lang="en-US" dirty="0"/>
              <a:t>This can often make data easier (or better suited) to analyze. </a:t>
            </a:r>
          </a:p>
          <a:p>
            <a:pPr lvl="1"/>
            <a:r>
              <a:rPr lang="en-US" dirty="0"/>
              <a:t>E.g. when making predictions, values that are large (e.g. net worth) may “overpower” values that are small (e.g. age). Rescaling all variables eliminates that. </a:t>
            </a:r>
          </a:p>
        </p:txBody>
      </p:sp>
    </p:spTree>
    <p:extLst>
      <p:ext uri="{BB962C8B-B14F-4D97-AF65-F5344CB8AC3E}">
        <p14:creationId xmlns:p14="http://schemas.microsoft.com/office/powerpoint/2010/main" val="2343752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BAC-115F-EF3D-336B-BCE60A1A6D29}"/>
              </a:ext>
            </a:extLst>
          </p:cNvPr>
          <p:cNvSpPr>
            <a:spLocks noGrp="1"/>
          </p:cNvSpPr>
          <p:nvPr>
            <p:ph type="title"/>
          </p:nvPr>
        </p:nvSpPr>
        <p:spPr>
          <a:xfrm>
            <a:off x="1451579" y="804519"/>
            <a:ext cx="9603275" cy="1049235"/>
          </a:xfrm>
        </p:spPr>
        <p:txBody>
          <a:bodyPr>
            <a:normAutofit/>
          </a:bodyPr>
          <a:lstStyle/>
          <a:p>
            <a:r>
              <a:rPr lang="en-US" dirty="0"/>
              <a:t>Normal Data Outlier Filters</a:t>
            </a:r>
          </a:p>
        </p:txBody>
      </p:sp>
      <p:pic>
        <p:nvPicPr>
          <p:cNvPr id="1026" name="Picture 2" descr="How does removing outliers affect standard deviation? - Quora">
            <a:extLst>
              <a:ext uri="{FF2B5EF4-FFF2-40B4-BE49-F238E27FC236}">
                <a16:creationId xmlns:a16="http://schemas.microsoft.com/office/drawing/2014/main" id="{A1F1ADBB-21D0-EF27-16E3-459A6B1D9E8E}"/>
              </a:ext>
            </a:extLst>
          </p:cNvPr>
          <p:cNvPicPr>
            <a:picLocks noChangeAspect="1" noChangeArrowheads="1"/>
          </p:cNvPicPr>
          <p:nvPr/>
        </p:nvPicPr>
        <p:blipFill>
          <a:blip>
            <a:extLst>
              <a:ext uri="{28A0092B-C50C-407E-A947-70E740481C1C}">
                <a14:useLocalDpi xmlns:a14="http://schemas.microsoft.com/office/drawing/2010/main" val="0"/>
              </a:ext>
            </a:extLst>
          </a:blip>
          <a:stretch>
            <a:fillRect/>
          </a:stretch>
        </p:blipFill>
        <p:spPr bwMode="auto">
          <a:xfrm>
            <a:off x="0" y="2015734"/>
            <a:ext cx="6015263" cy="332343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F879F3F-F6C8-98E2-A132-4BE2E6ABE177}"/>
              </a:ext>
            </a:extLst>
          </p:cNvPr>
          <p:cNvSpPr>
            <a:spLocks noGrp="1"/>
          </p:cNvSpPr>
          <p:nvPr>
            <p:ph idx="1"/>
          </p:nvPr>
        </p:nvSpPr>
        <p:spPr>
          <a:xfrm>
            <a:off x="6096001" y="2015734"/>
            <a:ext cx="6015262" cy="4037747"/>
          </a:xfrm>
        </p:spPr>
        <p:txBody>
          <a:bodyPr>
            <a:normAutofit/>
          </a:bodyPr>
          <a:lstStyle/>
          <a:p>
            <a:r>
              <a:rPr lang="en-US" dirty="0"/>
              <a:t>One common way to find outliers is to filter by z-score, or standard deviations from the mean. </a:t>
            </a:r>
          </a:p>
          <a:p>
            <a:r>
              <a:rPr lang="en-US" dirty="0"/>
              <a:t>We can set a limit of X standard deviations for acceptable values. </a:t>
            </a:r>
          </a:p>
          <a:p>
            <a:pPr lvl="1"/>
            <a:r>
              <a:rPr lang="en-US" dirty="0"/>
              <a:t>3 is a common limit, ~.02% of data. </a:t>
            </a:r>
          </a:p>
          <a:p>
            <a:pPr lvl="1"/>
            <a:r>
              <a:rPr lang="en-US" dirty="0"/>
              <a:t>Limit is highly scenario dependent. </a:t>
            </a:r>
          </a:p>
          <a:p>
            <a:r>
              <a:rPr lang="en-US" dirty="0"/>
              <a:t>This can be automated, if processing large amounts of data. </a:t>
            </a:r>
          </a:p>
        </p:txBody>
      </p:sp>
    </p:spTree>
    <p:extLst>
      <p:ext uri="{BB962C8B-B14F-4D97-AF65-F5344CB8AC3E}">
        <p14:creationId xmlns:p14="http://schemas.microsoft.com/office/powerpoint/2010/main" val="1322439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B0F8-45E1-2D25-91FF-0A0EE6E2091C}"/>
              </a:ext>
            </a:extLst>
          </p:cNvPr>
          <p:cNvSpPr>
            <a:spLocks noGrp="1"/>
          </p:cNvSpPr>
          <p:nvPr>
            <p:ph type="title"/>
          </p:nvPr>
        </p:nvSpPr>
        <p:spPr/>
        <p:txBody>
          <a:bodyPr/>
          <a:lstStyle/>
          <a:p>
            <a:r>
              <a:rPr lang="en-US" dirty="0"/>
              <a:t>Outliers in Tableau</a:t>
            </a:r>
          </a:p>
        </p:txBody>
      </p:sp>
      <p:sp>
        <p:nvSpPr>
          <p:cNvPr id="3" name="Content Placeholder 2">
            <a:extLst>
              <a:ext uri="{FF2B5EF4-FFF2-40B4-BE49-F238E27FC236}">
                <a16:creationId xmlns:a16="http://schemas.microsoft.com/office/drawing/2014/main" id="{8072D5ED-BD68-52D3-2E15-6AAB9A2E8F36}"/>
              </a:ext>
            </a:extLst>
          </p:cNvPr>
          <p:cNvSpPr>
            <a:spLocks noGrp="1"/>
          </p:cNvSpPr>
          <p:nvPr>
            <p:ph idx="1"/>
          </p:nvPr>
        </p:nvSpPr>
        <p:spPr/>
        <p:txBody>
          <a:bodyPr/>
          <a:lstStyle/>
          <a:p>
            <a:r>
              <a:rPr lang="en-US" dirty="0"/>
              <a:t>Outliers in Tableau can be detected in many ways, histograms and box-and-whisker plots among them. </a:t>
            </a:r>
          </a:p>
          <a:p>
            <a:r>
              <a:rPr lang="en-US" dirty="0"/>
              <a:t>Outliers can be removed with a filter. </a:t>
            </a:r>
          </a:p>
          <a:p>
            <a:pPr lvl="1"/>
            <a:r>
              <a:rPr lang="en-US" dirty="0"/>
              <a:t>Can use “apply to” to share an outlier filter over many sheets. </a:t>
            </a:r>
          </a:p>
          <a:p>
            <a:r>
              <a:rPr lang="en-US" dirty="0"/>
              <a:t>What to do with outliers, and what qualifies as an outlier, is always a judgment call. </a:t>
            </a:r>
          </a:p>
        </p:txBody>
      </p:sp>
    </p:spTree>
    <p:extLst>
      <p:ext uri="{BB962C8B-B14F-4D97-AF65-F5344CB8AC3E}">
        <p14:creationId xmlns:p14="http://schemas.microsoft.com/office/powerpoint/2010/main" val="3319523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FC1E0-D59C-0B9C-3E55-A20F75778866}"/>
              </a:ext>
            </a:extLst>
          </p:cNvPr>
          <p:cNvSpPr>
            <a:spLocks noGrp="1"/>
          </p:cNvSpPr>
          <p:nvPr>
            <p:ph type="title"/>
          </p:nvPr>
        </p:nvSpPr>
        <p:spPr/>
        <p:txBody>
          <a:bodyPr/>
          <a:lstStyle/>
          <a:p>
            <a:r>
              <a:rPr lang="en-US" dirty="0"/>
              <a:t>Relationships in Data</a:t>
            </a:r>
          </a:p>
        </p:txBody>
      </p:sp>
      <p:sp>
        <p:nvSpPr>
          <p:cNvPr id="3" name="Content Placeholder 2">
            <a:extLst>
              <a:ext uri="{FF2B5EF4-FFF2-40B4-BE49-F238E27FC236}">
                <a16:creationId xmlns:a16="http://schemas.microsoft.com/office/drawing/2014/main" id="{5F885481-6123-C37C-CAE8-D9CBDA0F3EA4}"/>
              </a:ext>
            </a:extLst>
          </p:cNvPr>
          <p:cNvSpPr>
            <a:spLocks noGrp="1"/>
          </p:cNvSpPr>
          <p:nvPr>
            <p:ph idx="1"/>
          </p:nvPr>
        </p:nvSpPr>
        <p:spPr>
          <a:xfrm>
            <a:off x="1451579" y="2015732"/>
            <a:ext cx="9603275" cy="3882497"/>
          </a:xfrm>
        </p:spPr>
        <p:txBody>
          <a:bodyPr/>
          <a:lstStyle/>
          <a:p>
            <a:r>
              <a:rPr lang="en-US" dirty="0"/>
              <a:t>All the previous looks at data are describing one variable at a time. </a:t>
            </a:r>
          </a:p>
          <a:p>
            <a:r>
              <a:rPr lang="en-US" dirty="0"/>
              <a:t>We can also look at the relationships between variables. </a:t>
            </a:r>
          </a:p>
          <a:p>
            <a:pPr lvl="1"/>
            <a:r>
              <a:rPr lang="en-US" dirty="0"/>
              <a:t>We’ll spend more time looking at relationships soon. </a:t>
            </a:r>
          </a:p>
          <a:p>
            <a:pPr lvl="1"/>
            <a:r>
              <a:rPr lang="en-US" dirty="0"/>
              <a:t>Think about height vs. weight, those two things have some relationship to each other. </a:t>
            </a:r>
          </a:p>
          <a:p>
            <a:r>
              <a:rPr lang="en-US" dirty="0"/>
              <a:t>One variable can also inform our expectations on another variable. </a:t>
            </a:r>
          </a:p>
          <a:p>
            <a:pPr lvl="1"/>
            <a:r>
              <a:rPr lang="en-US" dirty="0"/>
              <a:t>Basis of some predictive analytics. </a:t>
            </a:r>
          </a:p>
        </p:txBody>
      </p:sp>
    </p:spTree>
    <p:extLst>
      <p:ext uri="{BB962C8B-B14F-4D97-AF65-F5344CB8AC3E}">
        <p14:creationId xmlns:p14="http://schemas.microsoft.com/office/powerpoint/2010/main" val="3364175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1FA0F-1073-F849-DB03-A4339A54A8D0}"/>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3773A37F-7CC2-50F8-C2E1-4A146C2439A7}"/>
              </a:ext>
            </a:extLst>
          </p:cNvPr>
          <p:cNvSpPr>
            <a:spLocks noGrp="1"/>
          </p:cNvSpPr>
          <p:nvPr>
            <p:ph idx="1"/>
          </p:nvPr>
        </p:nvSpPr>
        <p:spPr>
          <a:xfrm>
            <a:off x="1" y="1853754"/>
            <a:ext cx="5676900" cy="4260327"/>
          </a:xfrm>
        </p:spPr>
        <p:txBody>
          <a:bodyPr>
            <a:normAutofit lnSpcReduction="10000"/>
          </a:bodyPr>
          <a:lstStyle/>
          <a:p>
            <a:r>
              <a:rPr lang="en-US" dirty="0"/>
              <a:t>The main way we can examine the relationship between variables is by looking at their CORRELATION. </a:t>
            </a:r>
          </a:p>
          <a:p>
            <a:pPr lvl="1"/>
            <a:r>
              <a:rPr lang="en-US" dirty="0"/>
              <a:t>Correlation tells us ”how much X tells us about Y”. </a:t>
            </a:r>
          </a:p>
          <a:p>
            <a:r>
              <a:rPr lang="en-US" dirty="0"/>
              <a:t>Correlation is between -1 and 1, the farther from 1, the stronger the correlation. </a:t>
            </a:r>
          </a:p>
          <a:p>
            <a:pPr lvl="1"/>
            <a:r>
              <a:rPr lang="en-US" dirty="0"/>
              <a:t>Unit/scale independent. </a:t>
            </a:r>
          </a:p>
          <a:p>
            <a:r>
              <a:rPr lang="en-US" dirty="0"/>
              <a:t>R2, a measure commonly used in predictive analytics, is the correlation squared. </a:t>
            </a:r>
          </a:p>
          <a:p>
            <a:pPr lvl="1"/>
            <a:r>
              <a:rPr lang="en-US" dirty="0"/>
              <a:t>Range of 0 to 1, higher is more correlated. </a:t>
            </a:r>
          </a:p>
          <a:p>
            <a:pPr lvl="1"/>
            <a:r>
              <a:rPr lang="en-US" dirty="0"/>
              <a:t>“How much of Y is explained by X?”</a:t>
            </a:r>
          </a:p>
        </p:txBody>
      </p:sp>
      <p:pic>
        <p:nvPicPr>
          <p:cNvPr id="10242" name="Picture 2" descr="Linear correlation | Definition, examples, explanations">
            <a:extLst>
              <a:ext uri="{FF2B5EF4-FFF2-40B4-BE49-F238E27FC236}">
                <a16:creationId xmlns:a16="http://schemas.microsoft.com/office/drawing/2014/main" id="{FA24AB33-11B8-DA06-134D-BDCB88D31977}"/>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5676900" y="0"/>
            <a:ext cx="65151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866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0B84-B079-FC39-2435-F4097724477E}"/>
              </a:ext>
            </a:extLst>
          </p:cNvPr>
          <p:cNvSpPr>
            <a:spLocks noGrp="1"/>
          </p:cNvSpPr>
          <p:nvPr>
            <p:ph type="title"/>
          </p:nvPr>
        </p:nvSpPr>
        <p:spPr>
          <a:xfrm>
            <a:off x="1451579" y="804519"/>
            <a:ext cx="9603275" cy="1049235"/>
          </a:xfrm>
        </p:spPr>
        <p:txBody>
          <a:bodyPr>
            <a:normAutofit/>
          </a:bodyPr>
          <a:lstStyle/>
          <a:p>
            <a:r>
              <a:rPr lang="en-US" dirty="0"/>
              <a:t>Correlation in Tableau</a:t>
            </a:r>
          </a:p>
        </p:txBody>
      </p:sp>
      <p:pic>
        <p:nvPicPr>
          <p:cNvPr id="9218" name="Picture 2" descr="Tableau Essentials: Chart Types - Scatter Plot - InterWorks">
            <a:extLst>
              <a:ext uri="{FF2B5EF4-FFF2-40B4-BE49-F238E27FC236}">
                <a16:creationId xmlns:a16="http://schemas.microsoft.com/office/drawing/2014/main" id="{8E37F6C3-7BB6-B93D-0DBF-E03F7A9F5845}"/>
              </a:ext>
            </a:extLst>
          </p:cNvPr>
          <p:cNvPicPr>
            <a:picLocks noChangeAspect="1" noChangeArrowheads="1"/>
          </p:cNvPicPr>
          <p:nvPr/>
        </p:nvPicPr>
        <p:blipFill>
          <a:blip>
            <a:extLst>
              <a:ext uri="{28A0092B-C50C-407E-A947-70E740481C1C}">
                <a14:useLocalDpi xmlns:a14="http://schemas.microsoft.com/office/drawing/2010/main" val="0"/>
              </a:ext>
            </a:extLst>
          </a:blip>
          <a:stretch>
            <a:fillRect/>
          </a:stretch>
        </p:blipFill>
        <p:spPr bwMode="auto">
          <a:xfrm>
            <a:off x="55841" y="2370713"/>
            <a:ext cx="5881607" cy="307313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C711760-87FE-F1FB-9FD0-43FB32EFBED7}"/>
              </a:ext>
            </a:extLst>
          </p:cNvPr>
          <p:cNvSpPr>
            <a:spLocks noGrp="1"/>
          </p:cNvSpPr>
          <p:nvPr>
            <p:ph idx="1"/>
          </p:nvPr>
        </p:nvSpPr>
        <p:spPr>
          <a:xfrm>
            <a:off x="5990095" y="2015734"/>
            <a:ext cx="5881607" cy="3982110"/>
          </a:xfrm>
        </p:spPr>
        <p:txBody>
          <a:bodyPr>
            <a:normAutofit/>
          </a:bodyPr>
          <a:lstStyle/>
          <a:p>
            <a:r>
              <a:rPr lang="en-US" dirty="0"/>
              <a:t>The easiest way to look at correlation is a scatter plot. </a:t>
            </a:r>
          </a:p>
          <a:p>
            <a:pPr lvl="1"/>
            <a:r>
              <a:rPr lang="en-US" dirty="0"/>
              <a:t>One variable on each axis, one point per record. </a:t>
            </a:r>
          </a:p>
          <a:p>
            <a:pPr lvl="1"/>
            <a:r>
              <a:rPr lang="en-US" dirty="0"/>
              <a:t>Trend lines will give us R2. </a:t>
            </a:r>
          </a:p>
          <a:p>
            <a:r>
              <a:rPr lang="en-US" dirty="0"/>
              <a:t>The “tightness” of the points inform us about the correlation. </a:t>
            </a:r>
          </a:p>
          <a:p>
            <a:r>
              <a:rPr lang="en-US" dirty="0"/>
              <a:t>Extends to linear regression (best fit) and predictive analytics – using X to predict Y. </a:t>
            </a:r>
          </a:p>
          <a:p>
            <a:pPr lvl="1"/>
            <a:endParaRPr lang="en-US" dirty="0"/>
          </a:p>
        </p:txBody>
      </p:sp>
    </p:spTree>
    <p:extLst>
      <p:ext uri="{BB962C8B-B14F-4D97-AF65-F5344CB8AC3E}">
        <p14:creationId xmlns:p14="http://schemas.microsoft.com/office/powerpoint/2010/main" val="388196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3024-BAC3-93F0-3260-41B49410B1D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96D99C4-FF90-A4CA-0350-A00EB9A8762D}"/>
              </a:ext>
            </a:extLst>
          </p:cNvPr>
          <p:cNvSpPr>
            <a:spLocks noGrp="1"/>
          </p:cNvSpPr>
          <p:nvPr>
            <p:ph idx="1"/>
          </p:nvPr>
        </p:nvSpPr>
        <p:spPr>
          <a:xfrm>
            <a:off x="830639" y="1926522"/>
            <a:ext cx="10224216" cy="4126959"/>
          </a:xfrm>
        </p:spPr>
        <p:txBody>
          <a:bodyPr>
            <a:normAutofit/>
          </a:bodyPr>
          <a:lstStyle/>
          <a:p>
            <a:r>
              <a:rPr lang="en-US" dirty="0"/>
              <a:t>Understanding what our data looks like, and how to describe it, helps substantially in using data, especially when sharing with others. </a:t>
            </a:r>
          </a:p>
          <a:p>
            <a:r>
              <a:rPr lang="en-US" dirty="0"/>
              <a:t>Knowing things like distributions can also give us a tool set of things we can use on our data. </a:t>
            </a:r>
          </a:p>
          <a:p>
            <a:pPr lvl="1"/>
            <a:r>
              <a:rPr lang="en-US" dirty="0"/>
              <a:t>Statistical patterns in the data are the building blocks of making predictions from the data. </a:t>
            </a:r>
          </a:p>
          <a:p>
            <a:r>
              <a:rPr lang="en-US" dirty="0"/>
              <a:t>These statistical descriptions aren’t things that we constantly need to “use”, but they are important. </a:t>
            </a:r>
          </a:p>
          <a:p>
            <a:pPr lvl="1"/>
            <a:r>
              <a:rPr lang="en-US" dirty="0"/>
              <a:t>When making projections, knowing distributions is key. </a:t>
            </a:r>
          </a:p>
          <a:p>
            <a:pPr lvl="1"/>
            <a:r>
              <a:rPr lang="en-US" dirty="0"/>
              <a:t>When preparing data for other analysis, the other measures can help us. </a:t>
            </a:r>
          </a:p>
          <a:p>
            <a:pPr lvl="1"/>
            <a:r>
              <a:rPr lang="en-US" dirty="0"/>
              <a:t>Communicating with others about data is easier with shared language. </a:t>
            </a:r>
          </a:p>
          <a:p>
            <a:pPr lvl="1"/>
            <a:r>
              <a:rPr lang="en-US" dirty="0" err="1"/>
              <a:t>Tl;dr</a:t>
            </a:r>
            <a:r>
              <a:rPr lang="en-US" dirty="0"/>
              <a:t> this stuff matters and is useful, but it isn’t always obvious why/where – it expands the toolkit. </a:t>
            </a:r>
          </a:p>
        </p:txBody>
      </p:sp>
    </p:spTree>
    <p:extLst>
      <p:ext uri="{BB962C8B-B14F-4D97-AF65-F5344CB8AC3E}">
        <p14:creationId xmlns:p14="http://schemas.microsoft.com/office/powerpoint/2010/main" val="233603628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20792</TotalTime>
  <Words>2371</Words>
  <Application>Microsoft Macintosh PowerPoint</Application>
  <PresentationFormat>Widescreen</PresentationFormat>
  <Paragraphs>196</Paragraphs>
  <Slides>34</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Gill Sans MT</vt:lpstr>
      <vt:lpstr>Gallery</vt:lpstr>
      <vt:lpstr>Housekeeping</vt:lpstr>
      <vt:lpstr>Summary Measures</vt:lpstr>
      <vt:lpstr>Populations and Samples</vt:lpstr>
      <vt:lpstr>Samples</vt:lpstr>
      <vt:lpstr>Describing one Variable</vt:lpstr>
      <vt:lpstr>Measures of Location</vt:lpstr>
      <vt:lpstr>Mean</vt:lpstr>
      <vt:lpstr>Median</vt:lpstr>
      <vt:lpstr>Mode</vt:lpstr>
      <vt:lpstr>Locations in tableau</vt:lpstr>
      <vt:lpstr>Distributions</vt:lpstr>
      <vt:lpstr>Normal Distribution</vt:lpstr>
      <vt:lpstr>PowerPoint Presentation</vt:lpstr>
      <vt:lpstr>PowerPoint Presentation</vt:lpstr>
      <vt:lpstr>Distributions in Tableau</vt:lpstr>
      <vt:lpstr>Percentiles</vt:lpstr>
      <vt:lpstr>Percentiles in Tableau</vt:lpstr>
      <vt:lpstr>Measures of Dispersion</vt:lpstr>
      <vt:lpstr>Standard Deviation and  Variance</vt:lpstr>
      <vt:lpstr>Dispersion in Tableau</vt:lpstr>
      <vt:lpstr>Housekeeping</vt:lpstr>
      <vt:lpstr>Location and Range</vt:lpstr>
      <vt:lpstr>Dispersion</vt:lpstr>
      <vt:lpstr>Distributions</vt:lpstr>
      <vt:lpstr>Skewness and Kurtosis</vt:lpstr>
      <vt:lpstr>Skew and Kurtosis in Tableau</vt:lpstr>
      <vt:lpstr>Outliers</vt:lpstr>
      <vt:lpstr>Variable Scaling</vt:lpstr>
      <vt:lpstr>Normal Data Outlier Filters</vt:lpstr>
      <vt:lpstr>Outliers in Tableau</vt:lpstr>
      <vt:lpstr>Relationships in Data</vt:lpstr>
      <vt:lpstr>Correlation</vt:lpstr>
      <vt:lpstr>Correlation in Tableau</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Describing Data</dc:title>
  <dc:creator>Akeem Semper</dc:creator>
  <cp:lastModifiedBy>Akeem Semper</cp:lastModifiedBy>
  <cp:revision>37</cp:revision>
  <dcterms:created xsi:type="dcterms:W3CDTF">2023-03-05T19:58:56Z</dcterms:created>
  <dcterms:modified xsi:type="dcterms:W3CDTF">2025-08-28T16:31:33Z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2025-08-28T16:31:14Z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870d113b-3474-4022-9a89-9f59c0ed7fe4</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