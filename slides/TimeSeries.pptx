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96" r:id="rId2"/>
    <p:sldId id="315" r:id="rId3"/>
    <p:sldId id="316" r:id="rId4"/>
    <p:sldId id="256" r:id="rId5"/>
    <p:sldId id="270" r:id="rId6"/>
    <p:sldId id="319" r:id="rId7"/>
    <p:sldId id="297" r:id="rId8"/>
    <p:sldId id="288" r:id="rId9"/>
    <p:sldId id="271" r:id="rId10"/>
    <p:sldId id="272" r:id="rId11"/>
    <p:sldId id="258" r:id="rId12"/>
    <p:sldId id="261" r:id="rId13"/>
    <p:sldId id="298" r:id="rId14"/>
    <p:sldId id="299" r:id="rId15"/>
    <p:sldId id="294" r:id="rId16"/>
    <p:sldId id="262" r:id="rId17"/>
    <p:sldId id="284" r:id="rId18"/>
    <p:sldId id="300" r:id="rId19"/>
    <p:sldId id="257" r:id="rId20"/>
    <p:sldId id="290" r:id="rId21"/>
    <p:sldId id="273" r:id="rId22"/>
    <p:sldId id="274" r:id="rId23"/>
    <p:sldId id="267" r:id="rId24"/>
    <p:sldId id="301" r:id="rId25"/>
    <p:sldId id="276" r:id="rId26"/>
    <p:sldId id="278" r:id="rId27"/>
    <p:sldId id="269" r:id="rId28"/>
    <p:sldId id="302" r:id="rId29"/>
    <p:sldId id="308" r:id="rId30"/>
    <p:sldId id="303" r:id="rId31"/>
    <p:sldId id="305" r:id="rId32"/>
    <p:sldId id="306" r:id="rId33"/>
    <p:sldId id="307" r:id="rId34"/>
    <p:sldId id="309" r:id="rId35"/>
    <p:sldId id="318" r:id="rId36"/>
    <p:sldId id="310" r:id="rId37"/>
    <p:sldId id="311" r:id="rId38"/>
    <p:sldId id="312" r:id="rId39"/>
    <p:sldId id="313" r:id="rId40"/>
    <p:sldId id="314" r:id="rId41"/>
    <p:sldId id="317" r:id="rId42"/>
    <p:sldId id="304" r:id="rId4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2414"/>
    <p:restoredTop sz="95897"/>
  </p:normalViewPr>
  <p:slideViewPr>
    <p:cSldViewPr snapToGrid="0" snapToObjects="1">
      <p:cViewPr varScale="1">
        <p:scale>
          <a:sx n="148" d="100"/>
          <a:sy n="148" d="100"/>
        </p:scale>
        <p:origin x="216" y="4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417779" y="802298"/>
            <a:ext cx="8637073" cy="2541431"/>
          </a:xfrm>
        </p:spPr>
        <p:txBody>
          <a:bodyPr bIns="0" anchor="b">
            <a:normAutofit/>
          </a:bodyPr>
          <a:lstStyle>
            <a:lvl1pPr algn="l">
              <a:defRPr sz="6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417780" y="3531204"/>
            <a:ext cx="8637072" cy="977621"/>
          </a:xfrm>
        </p:spPr>
        <p:txBody>
          <a:bodyPr tIns="91440" bIns="91440">
            <a:normAutofit/>
          </a:bodyPr>
          <a:lstStyle>
            <a:lvl1pPr marL="0" indent="0" algn="l">
              <a:buNone/>
              <a:defRPr sz="1800" b="0" cap="all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AF7FD4-E345-3B4F-B408-1EAACE559263}" type="datetimeFigureOut">
              <a:rPr lang="en-US" smtClean="0"/>
              <a:t>11/18/25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416500" y="329307"/>
            <a:ext cx="4973915" cy="309201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437664" y="798973"/>
            <a:ext cx="811019" cy="503578"/>
          </a:xfrm>
        </p:spPr>
        <p:txBody>
          <a:bodyPr/>
          <a:lstStyle/>
          <a:p>
            <a:fld id="{9B808F05-96DB-5D45-A719-6E326C3513F2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2417780" y="3528542"/>
            <a:ext cx="863707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49690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AF7FD4-E345-3B4F-B408-1EAACE559263}" type="datetimeFigureOut">
              <a:rPr lang="en-US" smtClean="0"/>
              <a:t>11/18/25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808F05-96DB-5D45-A719-6E326C3513F2}" type="slidenum">
              <a:rPr lang="en-US" smtClean="0"/>
              <a:t>‹#›</a:t>
            </a:fld>
            <a:endParaRPr lang="en-US"/>
          </a:p>
        </p:txBody>
      </p:sp>
      <p:cxnSp>
        <p:nvCxnSpPr>
          <p:cNvPr id="33" name="Straight Connector 32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736579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4239" y="1756130"/>
            <a:ext cx="8643154" cy="1887950"/>
          </a:xfrm>
        </p:spPr>
        <p:txBody>
          <a:bodyPr anchor="b">
            <a:normAutofit/>
          </a:bodyPr>
          <a:lstStyle>
            <a:lvl1pPr algn="l"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4239" y="3806195"/>
            <a:ext cx="8630446" cy="1012929"/>
          </a:xfrm>
        </p:spPr>
        <p:txBody>
          <a:bodyPr tIns="91440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AF7FD4-E345-3B4F-B408-1EAACE559263}" type="datetimeFigureOut">
              <a:rPr lang="en-US" smtClean="0"/>
              <a:t>11/18/25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808F05-96DB-5D45-A719-6E326C3513F2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1454239" y="3804985"/>
            <a:ext cx="8630446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382036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9217" y="804889"/>
            <a:ext cx="9605635" cy="105930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47331" y="2010878"/>
            <a:ext cx="4645152" cy="344859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3771" y="2017343"/>
            <a:ext cx="4645152" cy="344152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AF7FD4-E345-3B4F-B408-1EAACE559263}" type="datetimeFigureOut">
              <a:rPr lang="en-US" smtClean="0"/>
              <a:t>11/18/25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808F05-96DB-5D45-A719-6E326C3513F2}" type="slidenum">
              <a:rPr lang="en-US" smtClean="0"/>
              <a:t>‹#›</a:t>
            </a:fld>
            <a:endParaRPr lang="en-US"/>
          </a:p>
        </p:txBody>
      </p:sp>
      <p:cxnSp>
        <p:nvCxnSpPr>
          <p:cNvPr id="35" name="Straight Connector 3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134956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7191" y="804163"/>
            <a:ext cx="9607661" cy="10563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47191" y="2019549"/>
            <a:ext cx="4645152" cy="801943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47191" y="2824269"/>
            <a:ext cx="4645152" cy="26444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12362" y="2023003"/>
            <a:ext cx="4645152" cy="802237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12362" y="2821491"/>
            <a:ext cx="4645152" cy="263737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AF7FD4-E345-3B4F-B408-1EAACE559263}" type="datetimeFigureOut">
              <a:rPr lang="en-US" smtClean="0"/>
              <a:t>11/18/25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808F05-96DB-5D45-A719-6E326C3513F2}" type="slidenum">
              <a:rPr lang="en-US" smtClean="0"/>
              <a:t>‹#›</a:t>
            </a:fld>
            <a:endParaRPr lang="en-US"/>
          </a:p>
        </p:txBody>
      </p:sp>
      <p:cxnSp>
        <p:nvCxnSpPr>
          <p:cNvPr id="29" name="Straight Connector 28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005535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AF7FD4-E345-3B4F-B408-1EAACE559263}" type="datetimeFigureOut">
              <a:rPr lang="en-US" smtClean="0"/>
              <a:t>11/18/25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808F05-96DB-5D45-A719-6E326C3513F2}" type="slidenum">
              <a:rPr lang="en-US" smtClean="0"/>
              <a:t>‹#›</a:t>
            </a:fld>
            <a:endParaRPr lang="en-US"/>
          </a:p>
        </p:txBody>
      </p:sp>
      <p:cxnSp>
        <p:nvCxnSpPr>
          <p:cNvPr id="25" name="Straight Connector 2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081170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AF7FD4-E345-3B4F-B408-1EAACE559263}" type="datetimeFigureOut">
              <a:rPr lang="en-US" smtClean="0"/>
              <a:t>11/18/25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808F05-96DB-5D45-A719-6E326C3513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04647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4671" y="798973"/>
            <a:ext cx="3273099" cy="2247117"/>
          </a:xfrm>
        </p:spPr>
        <p:txBody>
          <a:bodyPr anchor="b">
            <a:normAutofit/>
          </a:bodyPr>
          <a:lstStyle>
            <a:lvl1pPr algn="l"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43714" y="798974"/>
            <a:ext cx="6012470" cy="4658826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44671" y="3205491"/>
            <a:ext cx="3275013" cy="2248181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AF7FD4-E345-3B4F-B408-1EAACE559263}" type="datetimeFigureOut">
              <a:rPr lang="en-US" smtClean="0"/>
              <a:t>11/18/25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808F05-96DB-5D45-A719-6E326C3513F2}" type="slidenum">
              <a:rPr lang="en-US" smtClean="0"/>
              <a:t>‹#›</a:t>
            </a:fld>
            <a:endParaRPr lang="en-US"/>
          </a:p>
        </p:txBody>
      </p:sp>
      <p:cxnSp>
        <p:nvCxnSpPr>
          <p:cNvPr id="17" name="Straight Connector 16"/>
          <p:cNvCxnSpPr/>
          <p:nvPr/>
        </p:nvCxnSpPr>
        <p:spPr>
          <a:xfrm>
            <a:off x="1448280" y="3205491"/>
            <a:ext cx="3269490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055252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7477387" y="482170"/>
            <a:ext cx="4074533" cy="5149101"/>
            <a:chOff x="7477387" y="482170"/>
            <a:chExt cx="4074533" cy="5149101"/>
          </a:xfrm>
        </p:grpSpPr>
        <p:sp>
          <p:nvSpPr>
            <p:cNvPr id="18" name="Rectangle 17"/>
            <p:cNvSpPr/>
            <p:nvPr/>
          </p:nvSpPr>
          <p:spPr bwMode="black">
            <a:xfrm>
              <a:off x="7477387" y="482170"/>
              <a:ext cx="4074533" cy="5149101"/>
            </a:xfrm>
            <a:prstGeom prst="rect">
              <a:avLst/>
            </a:prstGeom>
            <a:gradFill>
              <a:gsLst>
                <a:gs pos="0">
                  <a:srgbClr val="000001"/>
                </a:gs>
                <a:gs pos="100000">
                  <a:srgbClr val="191919"/>
                </a:gs>
              </a:gsLst>
            </a:gradFill>
            <a:ln w="76200" cmpd="sng">
              <a:noFill/>
              <a:miter lim="800000"/>
            </a:ln>
            <a:effectLst>
              <a:outerShdw blurRad="127000" dist="228600" dir="4740000" sx="98000" sy="98000" algn="tl" rotWithShape="0">
                <a:srgbClr val="000000">
                  <a:alpha val="34000"/>
                </a:srgbClr>
              </a:outerShdw>
            </a:effectLst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Rectangle 18"/>
            <p:cNvSpPr/>
            <p:nvPr/>
          </p:nvSpPr>
          <p:spPr bwMode="blackWhite">
            <a:xfrm>
              <a:off x="7790446" y="812506"/>
              <a:ext cx="3450289" cy="4466452"/>
            </a:xfrm>
            <a:prstGeom prst="rect">
              <a:avLst/>
            </a:prstGeom>
            <a:gradFill>
              <a:gsLst>
                <a:gs pos="0">
                  <a:srgbClr val="DADADA"/>
                </a:gs>
                <a:gs pos="100000">
                  <a:srgbClr val="FFFFFE"/>
                </a:gs>
              </a:gsLst>
              <a:lin ang="16200000" scaled="0"/>
            </a:gradFill>
            <a:ln w="50800" cmpd="sng">
              <a:solidFill>
                <a:srgbClr val="191919"/>
              </a:solidFill>
              <a:miter lim="800000"/>
            </a:ln>
            <a:effectLst>
              <a:innerShdw blurRad="63500" dist="88900" dir="14100000">
                <a:srgbClr val="000000">
                  <a:alpha val="30000"/>
                </a:srgbClr>
              </a:innerShdw>
            </a:effectLst>
            <a:scene3d>
              <a:camera prst="orthographicFront"/>
              <a:lightRig rig="threePt" dir="t"/>
            </a:scene3d>
            <a:sp3d>
              <a:bevelT prst="relaxedInse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1206" y="1129513"/>
            <a:ext cx="5532328" cy="1830584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124389" y="1122542"/>
            <a:ext cx="2791171" cy="3866327"/>
          </a:xfrm>
          <a:solidFill>
            <a:schemeClr val="bg1">
              <a:lumMod val="85000"/>
            </a:schemeClr>
          </a:solidFill>
          <a:ln w="9525" cap="sq">
            <a:noFill/>
            <a:miter lim="800000"/>
          </a:ln>
          <a:effectLst/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50329" y="3145992"/>
            <a:ext cx="5524404" cy="2003742"/>
          </a:xfrm>
        </p:spPr>
        <p:txBody>
          <a:bodyPr>
            <a:normAutofit/>
          </a:bodyPr>
          <a:lstStyle>
            <a:lvl1pPr marL="0" indent="0" algn="l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447382" y="5469856"/>
            <a:ext cx="5527351" cy="320123"/>
          </a:xfrm>
        </p:spPr>
        <p:txBody>
          <a:bodyPr/>
          <a:lstStyle>
            <a:lvl1pPr algn="l">
              <a:defRPr/>
            </a:lvl1pPr>
          </a:lstStyle>
          <a:p>
            <a:fld id="{7CAF7FD4-E345-3B4F-B408-1EAACE559263}" type="datetimeFigureOut">
              <a:rPr lang="en-US" smtClean="0"/>
              <a:t>11/18/25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447382" y="318640"/>
            <a:ext cx="5541004" cy="320931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808F05-96DB-5D45-A719-6E326C3513F2}" type="slidenum">
              <a:rPr lang="en-US" smtClean="0"/>
              <a:t>‹#›</a:t>
            </a:fld>
            <a:endParaRPr lang="en-US"/>
          </a:p>
        </p:txBody>
      </p:sp>
      <p:cxnSp>
        <p:nvCxnSpPr>
          <p:cNvPr id="31" name="Straight Connector 30"/>
          <p:cNvCxnSpPr/>
          <p:nvPr/>
        </p:nvCxnSpPr>
        <p:spPr>
          <a:xfrm>
            <a:off x="1447382" y="3143605"/>
            <a:ext cx="5527351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789423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AF7FD4-E345-3B4F-B408-1EAACE559263}" type="datetimeFigureOut">
              <a:rPr lang="en-US" smtClean="0"/>
              <a:t>11/18/25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808F05-96DB-5D45-A719-6E326C3513F2}" type="slidenum">
              <a:rPr lang="en-US" smtClean="0"/>
              <a:t>‹#›</a:t>
            </a:fld>
            <a:endParaRPr lang="en-US"/>
          </a:p>
        </p:txBody>
      </p:sp>
      <p:cxnSp>
        <p:nvCxnSpPr>
          <p:cNvPr id="26" name="Straight Connector 25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266321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39111" y="798973"/>
            <a:ext cx="1615742" cy="465988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44672" y="798973"/>
            <a:ext cx="7828830" cy="465988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AF7FD4-E345-3B4F-B408-1EAACE559263}" type="datetimeFigureOut">
              <a:rPr lang="en-US" smtClean="0"/>
              <a:t>11/18/25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808F05-96DB-5D45-A719-6E326C3513F2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9439111" y="798973"/>
            <a:ext cx="0" cy="4659889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387397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1579" y="2015732"/>
            <a:ext cx="9603275" cy="34506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4138" y="330370"/>
            <a:ext cx="3500715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CAF7FD4-E345-3B4F-B408-1EAACE559263}" type="datetimeFigureOut">
              <a:rPr lang="en-US" smtClean="0"/>
              <a:t>11/18/25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51579" y="329307"/>
            <a:ext cx="5938836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0060" y="798973"/>
            <a:ext cx="811019" cy="503578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2800">
                <a:solidFill>
                  <a:schemeClr val="accent1"/>
                </a:solidFill>
              </a:defRPr>
            </a:lvl1pPr>
          </a:lstStyle>
          <a:p>
            <a:fld id="{9B808F05-96DB-5D45-A719-6E326C3513F2}" type="slidenum">
              <a:rPr lang="en-US" smtClean="0"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5218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0" i="0" kern="1200" cap="all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20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8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6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4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eg"/><Relationship Id="rId2" Type="http://schemas.openxmlformats.org/officeDocument/2006/relationships/slideLayout" Target="../slideLayouts/slideLayout2.xml"/><Relationship Id="rId1" Type="http://schemas.openxmlformats.org/officeDocument/2006/relationships/video" Target="https://www.youtube.com/embed/CxjZ7Ikjaqc?feature=oembed" TargetMode="Externa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BD86A9-0202-350E-3A45-FB4925440C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Housekeeping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7A2034-D711-6164-B302-1718F8CB8D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938130"/>
            <a:ext cx="9603275" cy="3886200"/>
          </a:xfrm>
        </p:spPr>
        <p:txBody>
          <a:bodyPr/>
          <a:lstStyle/>
          <a:p>
            <a:r>
              <a:rPr lang="en-US" dirty="0"/>
              <a:t>You guys seemed to do much better on the quiz than version 1. </a:t>
            </a:r>
          </a:p>
          <a:p>
            <a:r>
              <a:rPr lang="en-US" dirty="0"/>
              <a:t>Predictive modelling in Tableau. </a:t>
            </a:r>
          </a:p>
          <a:p>
            <a:pPr lvl="1"/>
            <a:r>
              <a:rPr lang="en-US" dirty="0"/>
              <a:t>Some details on some predictive modelling applications we can use in Tableau. </a:t>
            </a:r>
          </a:p>
          <a:p>
            <a:pPr lvl="1"/>
            <a:r>
              <a:rPr lang="en-US" dirty="0"/>
              <a:t>Time series forecast, regression models. </a:t>
            </a:r>
          </a:p>
          <a:p>
            <a:pPr lvl="1"/>
            <a:r>
              <a:rPr lang="en-US" dirty="0"/>
              <a:t>Depending on time, market baskets. </a:t>
            </a:r>
          </a:p>
          <a:p>
            <a:pPr lvl="1"/>
            <a:r>
              <a:rPr lang="en-US" dirty="0"/>
              <a:t>Data – from </a:t>
            </a:r>
            <a:r>
              <a:rPr lang="en-US" dirty="0" err="1"/>
              <a:t>repositotory</a:t>
            </a:r>
            <a:r>
              <a:rPr lang="en-US" dirty="0"/>
              <a:t>: </a:t>
            </a:r>
            <a:r>
              <a:rPr lang="en-US" dirty="0" err="1"/>
              <a:t>stock_data.csv</a:t>
            </a:r>
            <a:r>
              <a:rPr lang="en-US" dirty="0"/>
              <a:t>, </a:t>
            </a:r>
            <a:r>
              <a:rPr lang="en-US" dirty="0" err="1"/>
              <a:t>bodyfat.csv</a:t>
            </a:r>
            <a:endParaRPr lang="en-US" dirty="0"/>
          </a:p>
          <a:p>
            <a:r>
              <a:rPr lang="en-US" dirty="0"/>
              <a:t>Predictive modelling knowledge needs:</a:t>
            </a:r>
          </a:p>
          <a:p>
            <a:pPr lvl="1"/>
            <a:r>
              <a:rPr lang="en-US" dirty="0"/>
              <a:t>Theory – this is one of the branches of analytics, and we need to understand basics. </a:t>
            </a:r>
          </a:p>
          <a:p>
            <a:pPr lvl="1"/>
            <a:r>
              <a:rPr lang="en-US" dirty="0"/>
              <a:t>Practice – Tableau has some limited predictive tools, if one makes sense, we can use. </a:t>
            </a:r>
          </a:p>
        </p:txBody>
      </p:sp>
    </p:spTree>
    <p:extLst>
      <p:ext uri="{BB962C8B-B14F-4D97-AF65-F5344CB8AC3E}">
        <p14:creationId xmlns:p14="http://schemas.microsoft.com/office/powerpoint/2010/main" val="22928078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B2EAB8-6A98-25C7-636D-951FD7BDA6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Proposal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8ADB35-727C-FA84-D081-FB1BC3236E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/>
          <a:lstStyle/>
          <a:p>
            <a:r>
              <a:rPr lang="en-US" dirty="0"/>
              <a:t>The project proposal is simple, almost free marks, and important. </a:t>
            </a:r>
          </a:p>
          <a:p>
            <a:r>
              <a:rPr lang="en-US" dirty="0"/>
              <a:t>You need to write your plan to do the project. </a:t>
            </a:r>
          </a:p>
          <a:p>
            <a:pPr lvl="1"/>
            <a:r>
              <a:rPr lang="en-US" dirty="0"/>
              <a:t>I’ll look at it to see if it sounds reasonable and doable – I’m mostly checking to raise concerns on what might not work out going forward.</a:t>
            </a:r>
          </a:p>
          <a:p>
            <a:pPr lvl="1"/>
            <a:r>
              <a:rPr lang="en-US" dirty="0"/>
              <a:t>Much more importantly, you all need to sketch out and agree on a plan. </a:t>
            </a:r>
          </a:p>
          <a:p>
            <a:r>
              <a:rPr lang="en-US" dirty="0"/>
              <a:t>Consider backup for anything you don’t know works. </a:t>
            </a:r>
          </a:p>
          <a:p>
            <a:pPr lvl="1"/>
            <a:r>
              <a:rPr lang="en-US" dirty="0"/>
              <a:t>If you plan on making/showing X, make sure you can with the data before settling. </a:t>
            </a:r>
          </a:p>
          <a:p>
            <a:pPr lvl="1"/>
            <a:r>
              <a:rPr lang="en-US" dirty="0"/>
              <a:t>There may be issues with granularity, data types, etc.. That may require work to solve. </a:t>
            </a:r>
          </a:p>
          <a:p>
            <a:r>
              <a:rPr lang="en-US" dirty="0"/>
              <a:t>Better to start with something that’s a bit too broad and trim if everything works. </a:t>
            </a:r>
          </a:p>
        </p:txBody>
      </p:sp>
    </p:spTree>
    <p:extLst>
      <p:ext uri="{BB962C8B-B14F-4D97-AF65-F5344CB8AC3E}">
        <p14:creationId xmlns:p14="http://schemas.microsoft.com/office/powerpoint/2010/main" val="33253670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1403F0-2E6F-69D3-4864-A86EF4E423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Project Details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2E0A1A-65EE-AC03-68D1-349619DDCB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272726"/>
          </a:xfrm>
        </p:spPr>
        <p:txBody>
          <a:bodyPr>
            <a:normAutofit lnSpcReduction="10000"/>
          </a:bodyPr>
          <a:lstStyle/>
          <a:p>
            <a:r>
              <a:rPr lang="en-US" dirty="0"/>
              <a:t>There’s a document on Brightspace with some tips on sharing work. </a:t>
            </a:r>
          </a:p>
          <a:p>
            <a:pPr lvl="1"/>
            <a:r>
              <a:rPr lang="en-US" dirty="0"/>
              <a:t>It isn’t as simple as a google doc or something. </a:t>
            </a:r>
          </a:p>
          <a:p>
            <a:pPr lvl="1"/>
            <a:r>
              <a:rPr lang="en-US" dirty="0"/>
              <a:t>Easiest is to setup a starting point with all data added, then each person builds their own sheets from that shared starting point. </a:t>
            </a:r>
          </a:p>
          <a:p>
            <a:pPr lvl="1"/>
            <a:r>
              <a:rPr lang="en-US" dirty="0"/>
              <a:t>At the end someone will need to manually combine the workbooks into one, not super hard, but takes a bit of time as you’ll need to do final layout and such. </a:t>
            </a:r>
          </a:p>
          <a:p>
            <a:r>
              <a:rPr lang="en-US" dirty="0"/>
              <a:t>I can’t ever emphasize how much easier this is if you do stuff early. </a:t>
            </a:r>
          </a:p>
          <a:p>
            <a:r>
              <a:rPr lang="en-US" dirty="0"/>
              <a:t>Remember, you need to communicate something with this visualization. </a:t>
            </a:r>
          </a:p>
          <a:p>
            <a:pPr lvl="1"/>
            <a:r>
              <a:rPr lang="en-US" dirty="0"/>
              <a:t>There should be some thesis like statement – this story shows/explains this stuff….</a:t>
            </a:r>
          </a:p>
          <a:p>
            <a:pPr lvl="1"/>
            <a:r>
              <a:rPr lang="en-US" dirty="0"/>
              <a:t>There are multiple aspects that you’ll need to cover, that takes time to organize. </a:t>
            </a:r>
          </a:p>
          <a:p>
            <a:pPr lvl="1"/>
            <a:r>
              <a:rPr lang="en-US" dirty="0"/>
              <a:t>Refer to the storytelling techniques and visual vocabulary for starting points. </a:t>
            </a:r>
          </a:p>
        </p:txBody>
      </p:sp>
    </p:spTree>
    <p:extLst>
      <p:ext uri="{BB962C8B-B14F-4D97-AF65-F5344CB8AC3E}">
        <p14:creationId xmlns:p14="http://schemas.microsoft.com/office/powerpoint/2010/main" val="23343460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0A358F-3029-3B46-8F88-5B7AAD9B2E7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Regression Models and Time Series Forecasting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A00FEBA-B494-5046-9CD2-12082358FE9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49491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BBB493-8DF2-7D9B-AAF8-D6D0AE1F57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Time Series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74E27E-E260-95A4-E84F-4952B8D9FF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>
            <a:normAutofit lnSpcReduction="10000"/>
          </a:bodyPr>
          <a:lstStyle/>
          <a:p>
            <a:r>
              <a:rPr lang="en-US" dirty="0"/>
              <a:t>Time-series data is data that progresses over time. </a:t>
            </a:r>
          </a:p>
          <a:p>
            <a:pPr lvl="1"/>
            <a:r>
              <a:rPr lang="en-US" dirty="0"/>
              <a:t>E.g. gas prices, stock prices, temperature, </a:t>
            </a:r>
            <a:r>
              <a:rPr lang="en-US" dirty="0" err="1"/>
              <a:t>etc</a:t>
            </a:r>
            <a:r>
              <a:rPr lang="en-US" dirty="0"/>
              <a:t>…</a:t>
            </a:r>
          </a:p>
          <a:p>
            <a:r>
              <a:rPr lang="en-US" dirty="0"/>
              <a:t>The basis of predictions, or forecasts, is by looking at patterns in the data. </a:t>
            </a:r>
          </a:p>
          <a:p>
            <a:r>
              <a:rPr lang="en-US" dirty="0"/>
              <a:t>Time-series data has a few parts that our forecasts try to separate:</a:t>
            </a:r>
          </a:p>
          <a:p>
            <a:pPr lvl="1"/>
            <a:r>
              <a:rPr lang="en-US" dirty="0"/>
              <a:t>Trend – are we going up or down as time progresses. </a:t>
            </a:r>
          </a:p>
          <a:p>
            <a:pPr lvl="1"/>
            <a:r>
              <a:rPr lang="en-US" dirty="0"/>
              <a:t>Seasonality – do we have regular waves, such as seasonal sales. </a:t>
            </a:r>
          </a:p>
          <a:p>
            <a:pPr lvl="1"/>
            <a:r>
              <a:rPr lang="en-US" dirty="0"/>
              <a:t>Cyclicality – do we have larger waves, spanning several seasons. </a:t>
            </a:r>
          </a:p>
          <a:p>
            <a:pPr lvl="1"/>
            <a:r>
              <a:rPr lang="en-US" dirty="0"/>
              <a:t>Irregularity – how much variation is there that doesn’t fit into the above. </a:t>
            </a:r>
          </a:p>
          <a:p>
            <a:r>
              <a:rPr lang="en-US" dirty="0"/>
              <a:t>The models generally try to decompose each of these, measure each, and recombine them to create projections. </a:t>
            </a:r>
          </a:p>
        </p:txBody>
      </p:sp>
    </p:spTree>
    <p:extLst>
      <p:ext uri="{BB962C8B-B14F-4D97-AF65-F5344CB8AC3E}">
        <p14:creationId xmlns:p14="http://schemas.microsoft.com/office/powerpoint/2010/main" val="13510100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CC8B26-7F85-3A49-4071-D42121716A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AA9270-5840-85DF-C290-3F3ED66E28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8194" name="Picture 2" descr="Time Series Analysis in R: How to Read and Understand Time Series Data">
            <a:extLst>
              <a:ext uri="{FF2B5EF4-FFF2-40B4-BE49-F238E27FC236}">
                <a16:creationId xmlns:a16="http://schemas.microsoft.com/office/drawing/2014/main" id="{84956C65-7D21-5D7F-5DEE-1936C634C10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5300"/>
          <a:stretch>
            <a:fillRect/>
          </a:stretch>
        </p:blipFill>
        <p:spPr bwMode="auto">
          <a:xfrm>
            <a:off x="777421" y="0"/>
            <a:ext cx="4774293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196" name="Picture 4" descr="The air passengers time series data | Download Scientific Diagram">
            <a:extLst>
              <a:ext uri="{FF2B5EF4-FFF2-40B4-BE49-F238E27FC236}">
                <a16:creationId xmlns:a16="http://schemas.microsoft.com/office/drawing/2014/main" id="{EFD17C5A-5E3F-9914-5EF0-82B0EA2A11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51714" y="1730829"/>
            <a:ext cx="6531505" cy="43570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8537351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A4B965-0900-8D0A-A311-386B3B1358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 Tableau…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51C864-4A36-A8B3-5C3A-301DE5CD50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80" y="2015732"/>
            <a:ext cx="3862938" cy="3450613"/>
          </a:xfrm>
        </p:spPr>
        <p:txBody>
          <a:bodyPr/>
          <a:lstStyle/>
          <a:p>
            <a:r>
              <a:rPr lang="en-US" dirty="0"/>
              <a:t>Our ability to forecast in Tableau is useful but limited. </a:t>
            </a:r>
          </a:p>
          <a:p>
            <a:r>
              <a:rPr lang="en-US" dirty="0"/>
              <a:t>We can do basic moving average forecasts. </a:t>
            </a:r>
          </a:p>
          <a:p>
            <a:pPr lvl="1"/>
            <a:r>
              <a:rPr lang="en-US" dirty="0"/>
              <a:t>Use the average* of the last several* values as a prediction for the next* value.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CE1AC70-58DF-E0D4-1B41-786423580E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4517" y="0"/>
            <a:ext cx="687748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977042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C186F9-CCA3-A78A-EDFD-4A7F4C556F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Time Series Predictions Are Hard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B003D7-46ED-A783-E3C5-892743296E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4037749"/>
          </a:xfrm>
        </p:spPr>
        <p:txBody>
          <a:bodyPr/>
          <a:lstStyle/>
          <a:p>
            <a:r>
              <a:rPr lang="en-US" dirty="0"/>
              <a:t>It is hard to make accurate time series predictions into the future. </a:t>
            </a:r>
          </a:p>
          <a:p>
            <a:pPr lvl="1"/>
            <a:r>
              <a:rPr lang="en-US" dirty="0"/>
              <a:t>If it wasn’t, we’d all have massive stock portfolios. </a:t>
            </a:r>
          </a:p>
          <a:p>
            <a:r>
              <a:rPr lang="en-US" dirty="0"/>
              <a:t>Simple statistical models (moving average, </a:t>
            </a:r>
            <a:r>
              <a:rPr lang="en-US" dirty="0" err="1"/>
              <a:t>etc</a:t>
            </a:r>
            <a:r>
              <a:rPr lang="en-US" dirty="0"/>
              <a:t>…) can often win out even compared to super sophisticated models (e.g. neural networks). </a:t>
            </a:r>
          </a:p>
          <a:p>
            <a:pPr lvl="1"/>
            <a:r>
              <a:rPr lang="en-US" dirty="0"/>
              <a:t>The large and powerful neural networks have higher ceilings, but more variance. </a:t>
            </a:r>
          </a:p>
          <a:p>
            <a:pPr lvl="1"/>
            <a:r>
              <a:rPr lang="en-US" dirty="0"/>
              <a:t>Relying on a model that is less adaptive to details often works well. </a:t>
            </a:r>
          </a:p>
          <a:p>
            <a:pPr lvl="1"/>
            <a:r>
              <a:rPr lang="en-US" dirty="0"/>
              <a:t>Build up – start with simple, then modify if that works poorly. </a:t>
            </a:r>
          </a:p>
        </p:txBody>
      </p:sp>
    </p:spTree>
    <p:extLst>
      <p:ext uri="{BB962C8B-B14F-4D97-AF65-F5344CB8AC3E}">
        <p14:creationId xmlns:p14="http://schemas.microsoft.com/office/powerpoint/2010/main" val="277466947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DE62D4-F857-5AED-E111-D7EE88B6EB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2C4AFB-0AAA-2049-EFDA-DD84630340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26" name="Picture 2" descr="Basic of Time Series . | Data Science and Machine Learning | Kaggle">
            <a:extLst>
              <a:ext uri="{FF2B5EF4-FFF2-40B4-BE49-F238E27FC236}">
                <a16:creationId xmlns:a16="http://schemas.microsoft.com/office/drawing/2014/main" id="{8FDD07D8-3681-916C-2EBA-ACD2E0C1B5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419100"/>
            <a:ext cx="12192000" cy="6019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4946617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AE3AE3-61AA-C5C4-4A48-DBE9FABF82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43" y="804519"/>
            <a:ext cx="4845957" cy="1049235"/>
          </a:xfrm>
        </p:spPr>
        <p:txBody>
          <a:bodyPr/>
          <a:lstStyle/>
          <a:p>
            <a:r>
              <a:rPr lang="en-US" dirty="0"/>
              <a:t>Time Series Components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3CBDEA-9B52-1B56-8C54-684D056D58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43" y="1853754"/>
            <a:ext cx="4845957" cy="4199727"/>
          </a:xfrm>
        </p:spPr>
        <p:txBody>
          <a:bodyPr/>
          <a:lstStyle/>
          <a:p>
            <a:r>
              <a:rPr lang="en-US" dirty="0"/>
              <a:t>The basic idea is that if we can extract each component of the time series’ variation, our model can more easily project each. </a:t>
            </a:r>
          </a:p>
          <a:p>
            <a:r>
              <a:rPr lang="en-US" dirty="0"/>
              <a:t>Example plots:</a:t>
            </a:r>
          </a:p>
          <a:p>
            <a:pPr lvl="1"/>
            <a:r>
              <a:rPr lang="en-US" dirty="0"/>
              <a:t>Trend – linear increase. </a:t>
            </a:r>
          </a:p>
          <a:p>
            <a:pPr lvl="1"/>
            <a:r>
              <a:rPr lang="en-US" dirty="0"/>
              <a:t>Seasonality – predictable waves. </a:t>
            </a:r>
          </a:p>
          <a:p>
            <a:pPr lvl="1"/>
            <a:r>
              <a:rPr lang="en-US" dirty="0"/>
              <a:t>Random – “other” variation. </a:t>
            </a:r>
          </a:p>
          <a:p>
            <a:r>
              <a:rPr lang="en-US" dirty="0"/>
              <a:t>Note: different models may capture slightly different components. </a:t>
            </a:r>
          </a:p>
        </p:txBody>
      </p:sp>
      <p:pic>
        <p:nvPicPr>
          <p:cNvPr id="2050" name="Picture 2" descr="Time series graphs with random, seasonal and trend components in cluster 1  | Download Scientific Diagram">
            <a:extLst>
              <a:ext uri="{FF2B5EF4-FFF2-40B4-BE49-F238E27FC236}">
                <a16:creationId xmlns:a16="http://schemas.microsoft.com/office/drawing/2014/main" id="{245F8238-6B60-6A10-C7A0-A1CBA8A267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91100" y="196850"/>
            <a:ext cx="7200900" cy="6464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0304423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47E6BB-1E1D-AF4C-8CE0-6495F0739A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Exponential Smoothing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510E4B-B5AE-7445-AA7F-16491623F1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4037749"/>
          </a:xfrm>
        </p:spPr>
        <p:txBody>
          <a:bodyPr>
            <a:normAutofit/>
          </a:bodyPr>
          <a:lstStyle/>
          <a:p>
            <a:r>
              <a:rPr lang="en-US" dirty="0"/>
              <a:t>Exponential smoothing is one of the simplest forms of time series forecasts. </a:t>
            </a:r>
          </a:p>
          <a:p>
            <a:r>
              <a:rPr lang="en-US" dirty="0"/>
              <a:t>Weighted averaging with a smoothing term. </a:t>
            </a:r>
          </a:p>
          <a:p>
            <a:r>
              <a:rPr lang="en-US" dirty="0"/>
              <a:t>Can also incorporate:</a:t>
            </a:r>
          </a:p>
          <a:p>
            <a:pPr lvl="1"/>
            <a:r>
              <a:rPr lang="en-US" dirty="0"/>
              <a:t>Trends – are we moving up or down over time. </a:t>
            </a:r>
          </a:p>
          <a:p>
            <a:pPr lvl="1"/>
            <a:r>
              <a:rPr lang="en-US" dirty="0"/>
              <a:t>Cyclicality – are there seasonal patterns. </a:t>
            </a:r>
          </a:p>
          <a:p>
            <a:r>
              <a:rPr lang="en-US" dirty="0"/>
              <a:t>Trends and seasonality can be either Additive or Multiplicative:</a:t>
            </a:r>
          </a:p>
          <a:p>
            <a:pPr lvl="1"/>
            <a:r>
              <a:rPr lang="en-CA" dirty="0"/>
              <a:t>If every December we sell 10,000 more apartments than we do in November, the seasonality is </a:t>
            </a:r>
            <a:r>
              <a:rPr lang="en-CA" i="1" dirty="0"/>
              <a:t>additive</a:t>
            </a:r>
            <a:r>
              <a:rPr lang="en-CA" dirty="0"/>
              <a:t> in nature. However, if we sell 10% more apartments in the summer months than we do in the winter months the seasonality is </a:t>
            </a:r>
            <a:r>
              <a:rPr lang="en-CA" i="1" dirty="0"/>
              <a:t>multiplicative</a:t>
            </a:r>
            <a:r>
              <a:rPr lang="en-CA" dirty="0"/>
              <a:t> in nature.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7822152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C00E31-AF1D-2147-A243-C6D0E066B0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474FC8-4E41-6541-BD02-76EBFABE63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26" name="Picture 2" descr="Trend, Seasonality, Moving Average, Auto Regressive Model : My Journey to  Time Series Data with Interactive Code | by Jae Duk Seo | Towards Data  Science">
            <a:extLst>
              <a:ext uri="{FF2B5EF4-FFF2-40B4-BE49-F238E27FC236}">
                <a16:creationId xmlns:a16="http://schemas.microsoft.com/office/drawing/2014/main" id="{81836D80-3AD8-7448-BD2F-386344D8638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73325" y="0"/>
            <a:ext cx="724535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414426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A56D47-500B-563F-3954-DD705ACAA2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Confidence Intervals and Uncertainty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6370B4-8EF1-0052-B0DC-ED30D6C8A9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4037749"/>
          </a:xfrm>
        </p:spPr>
        <p:txBody>
          <a:bodyPr/>
          <a:lstStyle/>
          <a:p>
            <a:r>
              <a:rPr lang="en-US" dirty="0"/>
              <a:t>We predicting the next value in a time series, there’s uncertainty. </a:t>
            </a:r>
          </a:p>
          <a:p>
            <a:pPr lvl="1"/>
            <a:r>
              <a:rPr lang="en-US" dirty="0"/>
              <a:t>E.g. tomorrow’s gas price per </a:t>
            </a:r>
            <a:r>
              <a:rPr lang="en-US" dirty="0" err="1"/>
              <a:t>litre</a:t>
            </a:r>
            <a:r>
              <a:rPr lang="en-US" dirty="0"/>
              <a:t> obviously can’t really be known exactly.  </a:t>
            </a:r>
          </a:p>
          <a:p>
            <a:r>
              <a:rPr lang="en-US" dirty="0"/>
              <a:t>A good model, and certain data, will have predictions that are more reliable. </a:t>
            </a:r>
          </a:p>
          <a:p>
            <a:pPr lvl="1"/>
            <a:r>
              <a:rPr lang="en-US" dirty="0"/>
              <a:t>The model “fits” – the predictions made by a model are similar to the real values. </a:t>
            </a:r>
          </a:p>
          <a:p>
            <a:pPr lvl="2"/>
            <a:r>
              <a:rPr lang="en-US" dirty="0"/>
              <a:t>In data science we call the real values the empirical values/data. </a:t>
            </a:r>
          </a:p>
          <a:p>
            <a:pPr lvl="1"/>
            <a:r>
              <a:rPr lang="en-US" dirty="0"/>
              <a:t>The data is more stable and predictable in its pattern. </a:t>
            </a:r>
          </a:p>
          <a:p>
            <a:pPr lvl="1"/>
            <a:r>
              <a:rPr lang="en-US" dirty="0"/>
              <a:t>We have more data. </a:t>
            </a:r>
          </a:p>
          <a:p>
            <a:r>
              <a:rPr lang="en-US" dirty="0"/>
              <a:t>A confidence interval tells us how much uncertainty we have…</a:t>
            </a:r>
          </a:p>
        </p:txBody>
      </p:sp>
    </p:spTree>
    <p:extLst>
      <p:ext uri="{BB962C8B-B14F-4D97-AF65-F5344CB8AC3E}">
        <p14:creationId xmlns:p14="http://schemas.microsoft.com/office/powerpoint/2010/main" val="191734701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F0E456-4C1D-7FF1-918F-1AE8912CD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Confidence Intervals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8DB244-62CB-DE57-AAEA-44E1D9FFA7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" y="1853754"/>
            <a:ext cx="7704956" cy="4268372"/>
          </a:xfrm>
        </p:spPr>
        <p:txBody>
          <a:bodyPr/>
          <a:lstStyle/>
          <a:p>
            <a:r>
              <a:rPr lang="en-US" dirty="0"/>
              <a:t>CI is simple – we are X% confident the value will be within Y limits. </a:t>
            </a:r>
          </a:p>
          <a:p>
            <a:pPr lvl="1"/>
            <a:r>
              <a:rPr lang="en-US" dirty="0"/>
              <a:t>95% CI means there is 95% chance the real value happens in range.</a:t>
            </a:r>
          </a:p>
          <a:p>
            <a:pPr lvl="1"/>
            <a:r>
              <a:rPr lang="en-US" dirty="0"/>
              <a:t>The wider this range is the more uncertainty. </a:t>
            </a:r>
          </a:p>
          <a:p>
            <a:r>
              <a:rPr lang="en-US" dirty="0"/>
              <a:t>Calculated through Monte Carlo simulation (just for context). </a:t>
            </a:r>
          </a:p>
          <a:p>
            <a:pPr lvl="1"/>
            <a:r>
              <a:rPr lang="en-US" dirty="0"/>
              <a:t>Create a model that can predict a value (ml model are probabilistic)</a:t>
            </a:r>
          </a:p>
          <a:p>
            <a:pPr lvl="1"/>
            <a:r>
              <a:rPr lang="en-US" dirty="0"/>
              <a:t>Run a bunch (e.g. 1000) trial runs of making predictions. </a:t>
            </a:r>
          </a:p>
          <a:p>
            <a:pPr lvl="1"/>
            <a:r>
              <a:rPr lang="en-US" dirty="0"/>
              <a:t>Track all the predicted values. </a:t>
            </a:r>
          </a:p>
          <a:p>
            <a:pPr lvl="1"/>
            <a:r>
              <a:rPr lang="en-US" dirty="0"/>
              <a:t>Measure the values where 90/95/99/CI? fall in. </a:t>
            </a:r>
          </a:p>
          <a:p>
            <a:r>
              <a:rPr lang="en-US" dirty="0"/>
              <a:t>In the image, each 12-month prediction is a line. </a:t>
            </a:r>
          </a:p>
          <a:p>
            <a:pPr lvl="1"/>
            <a:r>
              <a:rPr lang="en-US" dirty="0"/>
              <a:t>95% of those predictions are within blue shading.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52B2808-5A27-7367-5EE2-67DDFC1C2E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65915" y="0"/>
            <a:ext cx="4426085" cy="6858000"/>
          </a:xfrm>
          <a:prstGeom prst="rect">
            <a:avLst/>
          </a:prstGeom>
        </p:spPr>
      </p:pic>
      <p:pic>
        <p:nvPicPr>
          <p:cNvPr id="1026" name="Picture 2" descr="Application of Monte Carlo Simulation in Financial Forecasting | by Tony  Tsoi | Medium">
            <a:extLst>
              <a:ext uri="{FF2B5EF4-FFF2-40B4-BE49-F238E27FC236}">
                <a16:creationId xmlns:a16="http://schemas.microsoft.com/office/drawing/2014/main" id="{F25F978C-8633-263C-4E50-A254DB65D92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86653" y="4907461"/>
            <a:ext cx="2364548" cy="19505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8136943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D5A8FA-D6CA-F632-C45A-6369437693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Moving Average Predictions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2A515F-EED5-7C3C-45DC-B6718A9C47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3612591"/>
          </a:xfrm>
        </p:spPr>
        <p:txBody>
          <a:bodyPr/>
          <a:lstStyle/>
          <a:p>
            <a:r>
              <a:rPr lang="en-US" dirty="0"/>
              <a:t>These moving average models are the most simple we can do. </a:t>
            </a:r>
          </a:p>
          <a:p>
            <a:r>
              <a:rPr lang="en-US" dirty="0"/>
              <a:t>Need to spot period and add/</a:t>
            </a:r>
            <a:r>
              <a:rPr lang="en-US" dirty="0" err="1"/>
              <a:t>mult</a:t>
            </a:r>
            <a:r>
              <a:rPr lang="en-US" dirty="0"/>
              <a:t>, but very simple to create. </a:t>
            </a:r>
          </a:p>
          <a:p>
            <a:r>
              <a:rPr lang="en-US" dirty="0"/>
              <a:t>Not really able to handle complex things.</a:t>
            </a:r>
          </a:p>
          <a:p>
            <a:pPr lvl="1"/>
            <a:r>
              <a:rPr lang="en-US" dirty="0"/>
              <a:t>Weird patterns of seasons – e.g. a crop may harvest in June and Sept, and odd yearly pattern. </a:t>
            </a:r>
          </a:p>
          <a:p>
            <a:pPr lvl="1"/>
            <a:r>
              <a:rPr lang="en-US" dirty="0"/>
              <a:t>Weird change patterns – additive and multiplicative are simple patterns. </a:t>
            </a:r>
          </a:p>
          <a:p>
            <a:pPr lvl="1"/>
            <a:r>
              <a:rPr lang="en-US" dirty="0"/>
              <a:t>More complex patterns in data – image is from neural network model that is thousands to millions of times more complex and adaptable than a moving average. </a:t>
            </a:r>
          </a:p>
        </p:txBody>
      </p:sp>
      <p:pic>
        <p:nvPicPr>
          <p:cNvPr id="2050" name="Picture 2" descr="Time Series Deep Learning: Forecasting Sunspots With Keras Stateful LSTM In  R | R-bloggers">
            <a:extLst>
              <a:ext uri="{FF2B5EF4-FFF2-40B4-BE49-F238E27FC236}">
                <a16:creationId xmlns:a16="http://schemas.microsoft.com/office/drawing/2014/main" id="{60B16F11-CE4E-42E7-A07C-CA76F9E4658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19" t="9284" r="4895" b="24199"/>
          <a:stretch>
            <a:fillRect/>
          </a:stretch>
        </p:blipFill>
        <p:spPr bwMode="auto">
          <a:xfrm>
            <a:off x="2987039" y="4778602"/>
            <a:ext cx="6217921" cy="19705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3047685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1" name="Rectangle 70">
            <a:extLst>
              <a:ext uri="{FF2B5EF4-FFF2-40B4-BE49-F238E27FC236}">
                <a16:creationId xmlns:a16="http://schemas.microsoft.com/office/drawing/2014/main" id="{1C2A4B30-77D7-4FFB-8B53-A88BD68CAB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3FAC60B-7F32-F642-BD1A-77F116133B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580" y="804519"/>
            <a:ext cx="4325112" cy="1049235"/>
          </a:xfrm>
        </p:spPr>
        <p:txBody>
          <a:bodyPr>
            <a:normAutofit/>
          </a:bodyPr>
          <a:lstStyle/>
          <a:p>
            <a:r>
              <a:rPr lang="en-US" sz="2800" dirty="0"/>
              <a:t>Stationary in Time</a:t>
            </a:r>
          </a:p>
        </p:txBody>
      </p: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373AAE2E-5D6B-4952-A4BB-546C49F8DE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451579" y="1853754"/>
            <a:ext cx="432511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75" name="Rectangle 74">
            <a:extLst>
              <a:ext uri="{FF2B5EF4-FFF2-40B4-BE49-F238E27FC236}">
                <a16:creationId xmlns:a16="http://schemas.microsoft.com/office/drawing/2014/main" id="{01E4D783-AD45-49E7-B6C7-BBACB82906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019476"/>
            <a:ext cx="12192000" cy="4838524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367F9E-CA23-2649-A11D-BB828F5731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853754"/>
            <a:ext cx="6949440" cy="5004243"/>
          </a:xfrm>
        </p:spPr>
        <p:txBody>
          <a:bodyPr>
            <a:normAutofit/>
          </a:bodyPr>
          <a:lstStyle/>
          <a:p>
            <a:pPr>
              <a:lnSpc>
                <a:spcPct val="110000"/>
              </a:lnSpc>
            </a:pPr>
            <a:r>
              <a:rPr lang="en-US" sz="2400" dirty="0"/>
              <a:t>A time series being stationary means that its major stats (mean, std) are not changing over time. </a:t>
            </a:r>
          </a:p>
          <a:p>
            <a:pPr>
              <a:lnSpc>
                <a:spcPct val="110000"/>
              </a:lnSpc>
            </a:pPr>
            <a:r>
              <a:rPr lang="en-US" sz="2400" dirty="0"/>
              <a:t>We can transform data to make it stationary:</a:t>
            </a:r>
          </a:p>
          <a:p>
            <a:pPr lvl="1">
              <a:lnSpc>
                <a:spcPct val="110000"/>
              </a:lnSpc>
            </a:pPr>
            <a:r>
              <a:rPr lang="en-US" sz="2000" dirty="0"/>
              <a:t>Differencing. </a:t>
            </a:r>
          </a:p>
          <a:p>
            <a:pPr lvl="2">
              <a:lnSpc>
                <a:spcPct val="110000"/>
              </a:lnSpc>
            </a:pPr>
            <a:r>
              <a:rPr lang="en-US" sz="1800" dirty="0"/>
              <a:t>difference(T) = observation(T) – observation(T-1)</a:t>
            </a:r>
          </a:p>
          <a:p>
            <a:pPr lvl="1">
              <a:lnSpc>
                <a:spcPct val="110000"/>
              </a:lnSpc>
            </a:pPr>
            <a:r>
              <a:rPr lang="en-US" sz="2000" dirty="0"/>
              <a:t>Other transformations (e.g. log). </a:t>
            </a:r>
          </a:p>
          <a:p>
            <a:pPr>
              <a:lnSpc>
                <a:spcPct val="110000"/>
              </a:lnSpc>
            </a:pPr>
            <a:r>
              <a:rPr lang="en-US" sz="2200" dirty="0"/>
              <a:t>More complex time series analysis generally aims for this. </a:t>
            </a:r>
          </a:p>
          <a:p>
            <a:pPr lvl="1">
              <a:lnSpc>
                <a:spcPct val="110000"/>
              </a:lnSpc>
            </a:pPr>
            <a:r>
              <a:rPr lang="en-US" sz="2000" dirty="0"/>
              <a:t>Make data follow a simple pattern through transformation.</a:t>
            </a:r>
          </a:p>
          <a:p>
            <a:pPr lvl="1">
              <a:lnSpc>
                <a:spcPct val="110000"/>
              </a:lnSpc>
            </a:pPr>
            <a:r>
              <a:rPr lang="en-US" sz="2000" dirty="0"/>
              <a:t>Use simple pattern to predict. </a:t>
            </a:r>
          </a:p>
          <a:p>
            <a:pPr lvl="1">
              <a:lnSpc>
                <a:spcPct val="110000"/>
              </a:lnSpc>
            </a:pPr>
            <a:r>
              <a:rPr lang="en-US" sz="2000" dirty="0"/>
              <a:t>As needed, reverse transformations to get real values. </a:t>
            </a:r>
          </a:p>
        </p:txBody>
      </p:sp>
      <p:pic>
        <p:nvPicPr>
          <p:cNvPr id="2050" name="Picture 2" descr="Time Series Analysis and Models | An Explorer of Things">
            <a:extLst>
              <a:ext uri="{FF2B5EF4-FFF2-40B4-BE49-F238E27FC236}">
                <a16:creationId xmlns:a16="http://schemas.microsoft.com/office/drawing/2014/main" id="{928CD29D-72B7-1148-BD34-5F79ED0D24E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68"/>
          <a:stretch/>
        </p:blipFill>
        <p:spPr bwMode="auto">
          <a:xfrm>
            <a:off x="6757988" y="1952"/>
            <a:ext cx="5433709" cy="68802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6661010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D0AAEE-18A3-7C0B-4DF5-690CE1FD98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Stationary stats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310B95-71F2-9150-0367-66FB75341A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5"/>
            <a:ext cx="9603275" cy="1321475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 If we can define some operation to make the data predictable, it’s easy to predict. </a:t>
            </a:r>
          </a:p>
          <a:p>
            <a:r>
              <a:rPr lang="en-US" dirty="0"/>
              <a:t>The preparation steps aim to remove the red stuff as much as possible. </a:t>
            </a:r>
          </a:p>
          <a:p>
            <a:r>
              <a:rPr lang="en-US" dirty="0"/>
              <a:t>The transformations (exp, log, differencing, etc..) can all be done/reversed for real/calc. values.</a:t>
            </a:r>
          </a:p>
        </p:txBody>
      </p:sp>
      <p:pic>
        <p:nvPicPr>
          <p:cNvPr id="4098" name="Picture 2" descr="Achieving Stationarity With Time Series Data | by Alex Mitrani | Towards  Data Science">
            <a:extLst>
              <a:ext uri="{FF2B5EF4-FFF2-40B4-BE49-F238E27FC236}">
                <a16:creationId xmlns:a16="http://schemas.microsoft.com/office/drawing/2014/main" id="{5E86B059-F8C7-8D0B-25BB-B82F5BDBC92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6902" y="3175230"/>
            <a:ext cx="10978195" cy="31776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2266083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57508E-ACC1-F5E3-385A-309AD7697D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Real Life Time-Series Examples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B3798E-220A-5F03-0558-93C0B0660E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don’t need to know these deeply, just the basic concept. </a:t>
            </a:r>
          </a:p>
        </p:txBody>
      </p:sp>
    </p:spTree>
    <p:extLst>
      <p:ext uri="{BB962C8B-B14F-4D97-AF65-F5344CB8AC3E}">
        <p14:creationId xmlns:p14="http://schemas.microsoft.com/office/powerpoint/2010/main" val="129332348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D6F2E3-C441-EA45-AFB0-16746E9DB1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ARIMA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91B933-66AE-EF4B-A480-3CF6E4F1BD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/>
          <a:lstStyle/>
          <a:p>
            <a:r>
              <a:rPr lang="en-US" dirty="0"/>
              <a:t>ARIMA is a common time series model, it has 3 parts:</a:t>
            </a:r>
          </a:p>
          <a:p>
            <a:pPr lvl="1"/>
            <a:r>
              <a:rPr lang="en-US" dirty="0"/>
              <a:t>AR (p) – Autoregressive. </a:t>
            </a:r>
            <a:r>
              <a:rPr lang="en-CA" dirty="0"/>
              <a:t>Regresses on its own prior or lagged values. </a:t>
            </a:r>
          </a:p>
          <a:p>
            <a:pPr lvl="2"/>
            <a:r>
              <a:rPr lang="en-CA" dirty="0"/>
              <a:t>AKA - it predicts future values based on past values. </a:t>
            </a:r>
            <a:endParaRPr lang="en-US" dirty="0"/>
          </a:p>
          <a:p>
            <a:pPr lvl="1"/>
            <a:r>
              <a:rPr lang="en-US" dirty="0"/>
              <a:t>I (d) – Integrated. </a:t>
            </a:r>
            <a:r>
              <a:rPr lang="en-CA" dirty="0"/>
              <a:t>Observes the difference between static data values and previous values. </a:t>
            </a:r>
          </a:p>
          <a:p>
            <a:pPr lvl="2"/>
            <a:r>
              <a:rPr lang="en-CA" dirty="0"/>
              <a:t>AKA – aims to achieve stationary data that is not subject to seasonality. </a:t>
            </a:r>
            <a:endParaRPr lang="en-US" dirty="0"/>
          </a:p>
          <a:p>
            <a:pPr lvl="1"/>
            <a:r>
              <a:rPr lang="en-US" dirty="0"/>
              <a:t>MA (q) – Moving Average. </a:t>
            </a:r>
          </a:p>
          <a:p>
            <a:pPr lvl="2"/>
            <a:r>
              <a:rPr lang="en-US" dirty="0"/>
              <a:t>AKA - A moving average. </a:t>
            </a:r>
          </a:p>
          <a:p>
            <a:r>
              <a:rPr lang="en-US" dirty="0"/>
              <a:t>ARIMA and similar models are a common approach that is simple, but more complex than averages. 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3854355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E2867E-3434-6EFB-4A4F-4F767C9278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7231" y="804519"/>
            <a:ext cx="3716779" cy="1049235"/>
          </a:xfrm>
        </p:spPr>
        <p:txBody>
          <a:bodyPr>
            <a:normAutofit/>
          </a:bodyPr>
          <a:lstStyle/>
          <a:p>
            <a:r>
              <a:rPr lang="en-US" dirty="0"/>
              <a:t>ARIMA Variants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EFCCBA-DEE4-0926-09CC-90E7D973BC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2015734"/>
            <a:ext cx="3834012" cy="3450613"/>
          </a:xfrm>
        </p:spPr>
        <p:txBody>
          <a:bodyPr>
            <a:normAutofit/>
          </a:bodyPr>
          <a:lstStyle/>
          <a:p>
            <a:r>
              <a:rPr lang="en-US" dirty="0"/>
              <a:t>There are several variants on ARIMA depending on the patterns in the data. </a:t>
            </a:r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8FD1E33D-4962-BAE7-7056-1CAD62CB55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3834011" y="1362622"/>
            <a:ext cx="8357989" cy="54953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5353009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18DD57-685F-9106-A246-52DA83E487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ARIMA-d Up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FC05F1-1780-38C0-3A3E-8D342C5F16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3"/>
            <a:ext cx="9603275" cy="4199727"/>
          </a:xfrm>
        </p:spPr>
        <p:txBody>
          <a:bodyPr>
            <a:normAutofit/>
          </a:bodyPr>
          <a:lstStyle/>
          <a:p>
            <a:r>
              <a:rPr lang="en-US" dirty="0"/>
              <a:t>The ARIMA model type is a ‘basic’ one – a more elaborate moving average. </a:t>
            </a:r>
          </a:p>
          <a:p>
            <a:r>
              <a:rPr lang="en-US" dirty="0"/>
              <a:t>Pros:</a:t>
            </a:r>
          </a:p>
          <a:p>
            <a:pPr lvl="1"/>
            <a:r>
              <a:rPr lang="en-US" dirty="0"/>
              <a:t>Simple, transparent.</a:t>
            </a:r>
          </a:p>
          <a:p>
            <a:r>
              <a:rPr lang="en-US" dirty="0"/>
              <a:t>Cons:</a:t>
            </a:r>
          </a:p>
          <a:p>
            <a:pPr lvl="1"/>
            <a:r>
              <a:rPr lang="en-US" dirty="0"/>
              <a:t>Potentially too simple, not adaptable to complicated scenarios. </a:t>
            </a:r>
          </a:p>
          <a:p>
            <a:r>
              <a:rPr lang="en-US" dirty="0"/>
              <a:t>Note – these simpler models with more bias error may perform best, the future is hard to predict accurately. Too much ability of the model to adjust predictions may harm us. </a:t>
            </a:r>
          </a:p>
        </p:txBody>
      </p:sp>
    </p:spTree>
    <p:extLst>
      <p:ext uri="{BB962C8B-B14F-4D97-AF65-F5344CB8AC3E}">
        <p14:creationId xmlns:p14="http://schemas.microsoft.com/office/powerpoint/2010/main" val="283073910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5678F7-635A-D40C-AD90-AAADEA13E9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Smarter Time Models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3B1FF3-C207-9615-B32A-D907854A0D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37146" y="1853754"/>
            <a:ext cx="10723927" cy="4199727"/>
          </a:xfrm>
        </p:spPr>
        <p:txBody>
          <a:bodyPr/>
          <a:lstStyle/>
          <a:p>
            <a:r>
              <a:rPr lang="en-US" dirty="0"/>
              <a:t>Modern models have much more capability than a simple ARIMA one. </a:t>
            </a:r>
          </a:p>
          <a:p>
            <a:r>
              <a:rPr lang="en-US" dirty="0"/>
              <a:t>Their capacity to learn is much larger - they have more parameters, can learn complex patterns. </a:t>
            </a:r>
          </a:p>
          <a:p>
            <a:pPr lvl="1"/>
            <a:r>
              <a:rPr lang="en-US" dirty="0"/>
              <a:t>In ds the number of parameters roughly tells us how complicated of a thing can be predicted. </a:t>
            </a:r>
          </a:p>
          <a:p>
            <a:pPr lvl="1"/>
            <a:r>
              <a:rPr lang="en-US" dirty="0"/>
              <a:t>E.g. image recognition is more complex than predicting the number of each shoe size needed for NIKE. </a:t>
            </a:r>
          </a:p>
          <a:p>
            <a:pPr lvl="1"/>
            <a:r>
              <a:rPr lang="en-US" dirty="0"/>
              <a:t>“Regular” simple machine learning models may have 5-100 parameters. </a:t>
            </a:r>
          </a:p>
          <a:p>
            <a:pPr lvl="1"/>
            <a:r>
              <a:rPr lang="en-US" dirty="0"/>
              <a:t>Neural networks (the models that are ‘AI’) will have millions or more. </a:t>
            </a:r>
          </a:p>
          <a:p>
            <a:pPr lvl="1"/>
            <a:r>
              <a:rPr lang="en-US" dirty="0"/>
              <a:t>Very smart models like ChatGPT have tens or hundreds of billions, rapidly growing. </a:t>
            </a:r>
          </a:p>
        </p:txBody>
      </p:sp>
    </p:spTree>
    <p:extLst>
      <p:ext uri="{BB962C8B-B14F-4D97-AF65-F5344CB8AC3E}">
        <p14:creationId xmlns:p14="http://schemas.microsoft.com/office/powerpoint/2010/main" val="296908621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192875-568E-E27F-EF8C-0E63853062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Facebook Prophet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D86F92-A329-D6B9-24F3-6095A7021D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4037749"/>
          </a:xfrm>
        </p:spPr>
        <p:txBody>
          <a:bodyPr>
            <a:normAutofit/>
          </a:bodyPr>
          <a:lstStyle/>
          <a:p>
            <a:r>
              <a:rPr lang="en-US" dirty="0"/>
              <a:t>Facebook Prophet is a library that is well setup to handle common time-series problems:</a:t>
            </a:r>
          </a:p>
          <a:p>
            <a:pPr lvl="1"/>
            <a:r>
              <a:rPr lang="en-US" dirty="0"/>
              <a:t>Handles events such as holidays, including custom lists. </a:t>
            </a:r>
          </a:p>
          <a:p>
            <a:pPr lvl="1"/>
            <a:r>
              <a:rPr lang="en-US" dirty="0"/>
              <a:t>Can be set to anticipate change points, e.g. product launches. </a:t>
            </a:r>
          </a:p>
          <a:p>
            <a:pPr lvl="1"/>
            <a:r>
              <a:rPr lang="en-US" dirty="0"/>
              <a:t>Provides useful things like plotting and cross validation. </a:t>
            </a:r>
          </a:p>
          <a:p>
            <a:pPr lvl="1"/>
            <a:r>
              <a:rPr lang="en-US" dirty="0"/>
              <a:t>Can handle additional regressors – more variables. </a:t>
            </a:r>
          </a:p>
          <a:p>
            <a:pPr lvl="2"/>
            <a:r>
              <a:rPr lang="en-US" dirty="0"/>
              <a:t>E.g. can we predict tomorrows gas price with the past prices, as well as temperature, economic metrics, trade numbers, </a:t>
            </a:r>
            <a:r>
              <a:rPr lang="en-US" dirty="0" err="1"/>
              <a:t>etc</a:t>
            </a:r>
            <a:r>
              <a:rPr lang="en-US" dirty="0"/>
              <a:t>…</a:t>
            </a:r>
          </a:p>
          <a:p>
            <a:r>
              <a:rPr lang="en-US" dirty="0"/>
              <a:t>Uses a neural network internally to be very smart and able to capture patterns. </a:t>
            </a:r>
          </a:p>
        </p:txBody>
      </p:sp>
    </p:spTree>
    <p:extLst>
      <p:ext uri="{BB962C8B-B14F-4D97-AF65-F5344CB8AC3E}">
        <p14:creationId xmlns:p14="http://schemas.microsoft.com/office/powerpoint/2010/main" val="91061676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F908CA-F618-69BD-549B-825B06113F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Checking if Time Series Models are Good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DCF182-81A2-A9AF-A6FD-3DE3AE16B9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can create a time series model to make predictions. </a:t>
            </a:r>
          </a:p>
          <a:p>
            <a:pPr lvl="1"/>
            <a:r>
              <a:rPr lang="en-US" dirty="0"/>
              <a:t>A simple moving average, some weighted moving average, </a:t>
            </a:r>
            <a:r>
              <a:rPr lang="en-US" dirty="0" err="1"/>
              <a:t>arima</a:t>
            </a:r>
            <a:r>
              <a:rPr lang="en-US" dirty="0"/>
              <a:t>, something more complex…</a:t>
            </a:r>
          </a:p>
        </p:txBody>
      </p:sp>
    </p:spTree>
    <p:extLst>
      <p:ext uri="{BB962C8B-B14F-4D97-AF65-F5344CB8AC3E}">
        <p14:creationId xmlns:p14="http://schemas.microsoft.com/office/powerpoint/2010/main" val="364000039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02F363-3042-4442-0A02-0FD28191AE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</p:spPr>
        <p:txBody>
          <a:bodyPr>
            <a:normAutofit/>
          </a:bodyPr>
          <a:lstStyle/>
          <a:p>
            <a:r>
              <a:rPr lang="en-US" dirty="0"/>
              <a:t>Error Calculations </a:t>
            </a:r>
          </a:p>
        </p:txBody>
      </p:sp>
      <p:pic>
        <p:nvPicPr>
          <p:cNvPr id="1026" name="Picture 2" descr="Train/Test Split and Cross Validation - A Python Tutorial - AlgoTrading101  Blog">
            <a:extLst>
              <a:ext uri="{FF2B5EF4-FFF2-40B4-BE49-F238E27FC236}">
                <a16:creationId xmlns:a16="http://schemas.microsoft.com/office/drawing/2014/main" id="{65D73C26-95D9-56F2-1592-B5B743E9D5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0" y="2262265"/>
            <a:ext cx="6419748" cy="34506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DE5F5A-C165-2E53-CDF1-432BADE9B2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19748" y="2015734"/>
            <a:ext cx="5772251" cy="3450613"/>
          </a:xfrm>
        </p:spPr>
        <p:txBody>
          <a:bodyPr>
            <a:normAutofit/>
          </a:bodyPr>
          <a:lstStyle/>
          <a:p>
            <a:r>
              <a:rPr lang="en-US" dirty="0"/>
              <a:t>When time series models are tested, we normally just use the last bunch of records to test. </a:t>
            </a:r>
          </a:p>
          <a:p>
            <a:pPr lvl="1"/>
            <a:r>
              <a:rPr lang="en-US" dirty="0"/>
              <a:t>We use the model as normal to predict these. </a:t>
            </a:r>
          </a:p>
          <a:p>
            <a:pPr lvl="2"/>
            <a:r>
              <a:rPr lang="en-US" dirty="0"/>
              <a:t>I.e. calculate moving average, </a:t>
            </a:r>
            <a:r>
              <a:rPr lang="en-US" dirty="0" err="1"/>
              <a:t>arima</a:t>
            </a:r>
            <a:r>
              <a:rPr lang="en-US" dirty="0"/>
              <a:t>, </a:t>
            </a:r>
            <a:r>
              <a:rPr lang="en-US" dirty="0" err="1"/>
              <a:t>etc</a:t>
            </a:r>
            <a:r>
              <a:rPr lang="en-US" dirty="0"/>
              <a:t>…</a:t>
            </a:r>
          </a:p>
          <a:p>
            <a:pPr lvl="1"/>
            <a:r>
              <a:rPr lang="en-US" dirty="0"/>
              <a:t>Since we know the value, we can compare to pred. </a:t>
            </a:r>
          </a:p>
          <a:p>
            <a:pPr lvl="1"/>
            <a:r>
              <a:rPr lang="en-US" dirty="0"/>
              <a:t>Value is the individual prediction error, a residual. </a:t>
            </a:r>
          </a:p>
          <a:p>
            <a:pPr lvl="1"/>
            <a:r>
              <a:rPr lang="en-US" dirty="0"/>
              <a:t>These are tallied into overall error (e.g. MSE/RMSE)</a:t>
            </a:r>
          </a:p>
          <a:p>
            <a:r>
              <a:rPr lang="en-US" dirty="0"/>
              <a:t>We’ll do more on error in detail soon. </a:t>
            </a:r>
          </a:p>
        </p:txBody>
      </p:sp>
    </p:spTree>
    <p:extLst>
      <p:ext uri="{BB962C8B-B14F-4D97-AF65-F5344CB8AC3E}">
        <p14:creationId xmlns:p14="http://schemas.microsoft.com/office/powerpoint/2010/main" val="307409810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4317FF-FD83-F6DC-2A65-97914BFB2C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723371-95C1-6DCD-7F38-C646E65BF0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3078" name="Picture 6" descr="An Introduction to Time Series Analysis with ARIMA | by Taha Binhuraib |  Towards Data Science">
            <a:extLst>
              <a:ext uri="{FF2B5EF4-FFF2-40B4-BE49-F238E27FC236}">
                <a16:creationId xmlns:a16="http://schemas.microsoft.com/office/drawing/2014/main" id="{80206A55-FE5D-DA58-FC63-500707A09D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5850" y="793750"/>
            <a:ext cx="10020300" cy="5270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6852285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65BD4C-1366-F7CE-BB72-33EBDC782A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Time Series Conclusion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023275-8696-EE31-2C2B-7B9C2E9A52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5252" y="1925904"/>
            <a:ext cx="10793895" cy="4127577"/>
          </a:xfrm>
        </p:spPr>
        <p:txBody>
          <a:bodyPr/>
          <a:lstStyle/>
          <a:p>
            <a:r>
              <a:rPr lang="en-US" dirty="0"/>
              <a:t>Time series forecasting is one of the most simple types of predictive models. </a:t>
            </a:r>
          </a:p>
          <a:p>
            <a:pPr lvl="1"/>
            <a:r>
              <a:rPr lang="en-US" dirty="0"/>
              <a:t>Simple ones are just a </a:t>
            </a:r>
            <a:r>
              <a:rPr lang="en-US"/>
              <a:t>moving average – and </a:t>
            </a:r>
            <a:r>
              <a:rPr lang="en-US" b="1"/>
              <a:t>we can do them in Tableau!!!!!!</a:t>
            </a:r>
            <a:endParaRPr lang="en-US" dirty="0"/>
          </a:p>
          <a:p>
            <a:pPr lvl="1"/>
            <a:r>
              <a:rPr lang="en-US" dirty="0"/>
              <a:t>More complexity can be added to handle more complex scenarios. </a:t>
            </a:r>
          </a:p>
          <a:p>
            <a:r>
              <a:rPr lang="en-US" dirty="0"/>
              <a:t>Models can be compared by calculating and totaling residuals – test error on old data. </a:t>
            </a:r>
          </a:p>
          <a:p>
            <a:pPr lvl="1"/>
            <a:r>
              <a:rPr lang="en-US" dirty="0"/>
              <a:t>This is generally true for all predictions. </a:t>
            </a:r>
          </a:p>
          <a:p>
            <a:r>
              <a:rPr lang="en-US" dirty="0"/>
              <a:t>We can show the accuracy of our predictions with a confidence interval. 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435706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1C2F85-D865-4762-C073-D95F5BD527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Regression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3ADF10-EA74-AC60-940E-2D988E9A43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438861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5F4B7F-83E0-B689-9BD9-2744E83CE4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Prelude – Predictive Model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63B125-9F59-36CD-4576-CEEBD2B88C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3013294"/>
          </a:xfrm>
        </p:spPr>
        <p:txBody>
          <a:bodyPr/>
          <a:lstStyle/>
          <a:p>
            <a:r>
              <a:rPr lang="en-US" dirty="0"/>
              <a:t>Prior to looking at regression models we much clarify a bit on model types. </a:t>
            </a:r>
          </a:p>
          <a:p>
            <a:r>
              <a:rPr lang="en-US" dirty="0"/>
              <a:t>There are several categories of predictive models, the most common are:</a:t>
            </a:r>
          </a:p>
          <a:p>
            <a:pPr lvl="1"/>
            <a:r>
              <a:rPr lang="en-US" dirty="0"/>
              <a:t>Regression – predicting a value. </a:t>
            </a:r>
          </a:p>
          <a:p>
            <a:pPr lvl="1"/>
            <a:r>
              <a:rPr lang="en-US" dirty="0"/>
              <a:t>Classification – predicting a class (like True/False). </a:t>
            </a:r>
          </a:p>
          <a:p>
            <a:r>
              <a:rPr lang="en-US" dirty="0"/>
              <a:t>Our tableau stuff does regression. </a:t>
            </a:r>
          </a:p>
          <a:p>
            <a:r>
              <a:rPr lang="en-US" dirty="0"/>
              <a:t>Classification is almost identical from our perspective, only result is different. </a:t>
            </a:r>
          </a:p>
        </p:txBody>
      </p:sp>
      <p:pic>
        <p:nvPicPr>
          <p:cNvPr id="3074" name="Picture 2" descr="Regression vs Classification in Machine Learning: What's the Difference? |  by TheDataScientistKiran | Python in Plain English">
            <a:extLst>
              <a:ext uri="{FF2B5EF4-FFF2-40B4-BE49-F238E27FC236}">
                <a16:creationId xmlns:a16="http://schemas.microsoft.com/office/drawing/2014/main" id="{6BA1CEAB-1C3A-5CAE-8D3E-01C30049A69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75734" y="4867048"/>
            <a:ext cx="5840531" cy="19909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7279633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6241CB-23C4-DD04-DAFB-6EA582DBDB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Regression Models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1DB32E-9528-38D5-7890-6A8EAC9B65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4543" y="1853754"/>
            <a:ext cx="5671457" cy="4199727"/>
          </a:xfrm>
        </p:spPr>
        <p:txBody>
          <a:bodyPr/>
          <a:lstStyle/>
          <a:p>
            <a:r>
              <a:rPr lang="en-US" dirty="0"/>
              <a:t>Regression models are something you’ve seen before – lines of best fit. </a:t>
            </a:r>
          </a:p>
          <a:p>
            <a:r>
              <a:rPr lang="en-US" dirty="0"/>
              <a:t>A regression model:</a:t>
            </a:r>
          </a:p>
          <a:p>
            <a:pPr lvl="1"/>
            <a:r>
              <a:rPr lang="en-US" dirty="0"/>
              <a:t>Allows us to predict Y given X(s). </a:t>
            </a:r>
          </a:p>
          <a:p>
            <a:pPr lvl="1"/>
            <a:r>
              <a:rPr lang="en-US" dirty="0"/>
              <a:t>Is a linear equation – y = </a:t>
            </a:r>
            <a:r>
              <a:rPr lang="en-US" dirty="0" err="1"/>
              <a:t>mx+b</a:t>
            </a:r>
            <a:r>
              <a:rPr lang="en-US" dirty="0"/>
              <a:t>. </a:t>
            </a:r>
          </a:p>
          <a:p>
            <a:pPr lvl="1"/>
            <a:r>
              <a:rPr lang="en-US" dirty="0"/>
              <a:t>The line is down the ‘middle’ of the data.</a:t>
            </a:r>
          </a:p>
          <a:p>
            <a:r>
              <a:rPr lang="en-US" dirty="0"/>
              <a:t>The ML model </a:t>
            </a:r>
            <a:r>
              <a:rPr lang="en-US" i="1" dirty="0"/>
              <a:t>is</a:t>
            </a:r>
            <a:r>
              <a:rPr lang="en-US" dirty="0"/>
              <a:t> the equation.  </a:t>
            </a:r>
          </a:p>
          <a:p>
            <a:pPr lvl="1"/>
            <a:r>
              <a:rPr lang="en-US" dirty="0"/>
              <a:t>M and b are learned by the algorithm.</a:t>
            </a:r>
          </a:p>
          <a:p>
            <a:pPr lvl="1"/>
            <a:r>
              <a:rPr lang="en-US" dirty="0"/>
              <a:t>We can insert any x ang get predicted y.</a:t>
            </a:r>
          </a:p>
          <a:p>
            <a:pPr lvl="1"/>
            <a:r>
              <a:rPr lang="en-US" dirty="0"/>
              <a:t>We can have many </a:t>
            </a:r>
            <a:r>
              <a:rPr lang="en-US" dirty="0" err="1"/>
              <a:t>Xs</a:t>
            </a:r>
            <a:r>
              <a:rPr lang="en-US" dirty="0"/>
              <a:t>, add more terms. </a:t>
            </a:r>
          </a:p>
          <a:p>
            <a:pPr lvl="1"/>
            <a:endParaRPr lang="en-US" dirty="0"/>
          </a:p>
        </p:txBody>
      </p:sp>
      <p:pic>
        <p:nvPicPr>
          <p:cNvPr id="1026" name="Picture 2" descr="What Is Linear Regression in Machine Learning? | Grammarly">
            <a:extLst>
              <a:ext uri="{FF2B5EF4-FFF2-40B4-BE49-F238E27FC236}">
                <a16:creationId xmlns:a16="http://schemas.microsoft.com/office/drawing/2014/main" id="{4A4EB581-5301-7555-FEBE-647AB305C09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036" t="13006" r="8482" b="12143"/>
          <a:stretch>
            <a:fillRect/>
          </a:stretch>
        </p:blipFill>
        <p:spPr bwMode="auto">
          <a:xfrm>
            <a:off x="6096000" y="2283866"/>
            <a:ext cx="6096000" cy="29143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2899892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6FDBFD-6657-3E66-0096-79B5810988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04519"/>
            <a:ext cx="11054854" cy="1049235"/>
          </a:xfrm>
        </p:spPr>
        <p:txBody>
          <a:bodyPr/>
          <a:lstStyle/>
          <a:p>
            <a:r>
              <a:rPr lang="en-US" dirty="0"/>
              <a:t>How is a Regression Model Made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6FE12C-7E1A-56DD-899E-0176F539C0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4037749"/>
          </a:xfrm>
        </p:spPr>
        <p:txBody>
          <a:bodyPr/>
          <a:lstStyle/>
          <a:p>
            <a:r>
              <a:rPr lang="en-US" dirty="0"/>
              <a:t>Regression models are computed for us by the machine. </a:t>
            </a:r>
          </a:p>
          <a:p>
            <a:pPr lvl="1"/>
            <a:r>
              <a:rPr lang="en-US" dirty="0"/>
              <a:t>We provide old data, the computer uses that to learn the pattern. </a:t>
            </a:r>
          </a:p>
          <a:p>
            <a:pPr lvl="1"/>
            <a:r>
              <a:rPr lang="en-US" dirty="0"/>
              <a:t>In linear regression, the slope and intercept are calculated. </a:t>
            </a:r>
          </a:p>
          <a:p>
            <a:pPr lvl="1"/>
            <a:r>
              <a:rPr lang="en-US" dirty="0"/>
              <a:t>Different types of models do the same thing, with different math. </a:t>
            </a:r>
          </a:p>
          <a:p>
            <a:r>
              <a:rPr lang="en-US" dirty="0"/>
              <a:t>The model is just a thing that transforms input to output. </a:t>
            </a:r>
          </a:p>
          <a:p>
            <a:pPr lvl="1"/>
            <a:r>
              <a:rPr lang="en-US" dirty="0"/>
              <a:t>We can make different models and compare them to decide which is best. </a:t>
            </a:r>
          </a:p>
          <a:p>
            <a:r>
              <a:rPr lang="en-US" dirty="0"/>
              <a:t>Key – we don’t tell the computer how to predict Y from X, it finds it. </a:t>
            </a:r>
          </a:p>
          <a:p>
            <a:pPr lvl="1"/>
            <a:r>
              <a:rPr lang="en-US" dirty="0"/>
              <a:t>Computers are able to pick up on very subtle patterns. </a:t>
            </a:r>
          </a:p>
          <a:p>
            <a:pPr lvl="1"/>
            <a:r>
              <a:rPr lang="en-US" dirty="0"/>
              <a:t>If we have lots of data, this can be quite smart and accurate. </a:t>
            </a:r>
          </a:p>
          <a:p>
            <a:pPr lvl="1"/>
            <a:endParaRPr lang="en-US" dirty="0"/>
          </a:p>
        </p:txBody>
      </p:sp>
      <p:pic>
        <p:nvPicPr>
          <p:cNvPr id="2050" name="Picture 2" descr="Black Box Testing - Software Engineering - GeeksforGeeks">
            <a:extLst>
              <a:ext uri="{FF2B5EF4-FFF2-40B4-BE49-F238E27FC236}">
                <a16:creationId xmlns:a16="http://schemas.microsoft.com/office/drawing/2014/main" id="{72929DF0-2B9F-1DD5-C17A-26C96D0A540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509" t="31410" r="6179" b="16960"/>
          <a:stretch>
            <a:fillRect/>
          </a:stretch>
        </p:blipFill>
        <p:spPr bwMode="auto">
          <a:xfrm>
            <a:off x="7039154" y="421481"/>
            <a:ext cx="5152845" cy="14322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121073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939436-0B9B-9E51-A316-C02EF3D3F4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Real Life example – Bank Loans.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A91243-65A2-B7DE-611F-D1E4249430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780013" cy="4271001"/>
          </a:xfrm>
        </p:spPr>
        <p:txBody>
          <a:bodyPr/>
          <a:lstStyle/>
          <a:p>
            <a:r>
              <a:rPr lang="en-US" dirty="0"/>
              <a:t>To get a loan at a bank you fill out information (income, age, job, loan amt </a:t>
            </a:r>
            <a:r>
              <a:rPr lang="en-US" dirty="0" err="1"/>
              <a:t>etc</a:t>
            </a:r>
            <a:r>
              <a:rPr lang="en-US" dirty="0"/>
              <a:t>…), more info (e.g. credit score) is gathered by the bank, and these are the inputs to decide. </a:t>
            </a:r>
          </a:p>
          <a:p>
            <a:r>
              <a:rPr lang="en-US" dirty="0"/>
              <a:t>Traditionally, this goes to an underwriter (person who evaluates loan risk). </a:t>
            </a:r>
          </a:p>
          <a:p>
            <a:pPr lvl="1"/>
            <a:r>
              <a:rPr lang="en-US" dirty="0"/>
              <a:t>They make a decision on approval and/or interest rate based on many rules. </a:t>
            </a:r>
          </a:p>
          <a:p>
            <a:pPr lvl="1"/>
            <a:r>
              <a:rPr lang="en-US" dirty="0"/>
              <a:t>If income is +/-, credit score is +/-, savings amounts….</a:t>
            </a:r>
          </a:p>
          <a:p>
            <a:pPr lvl="1"/>
            <a:r>
              <a:rPr lang="en-US" dirty="0"/>
              <a:t>It is basically a flow chart of decisions to slot you into a category – how risky are you. </a:t>
            </a:r>
          </a:p>
          <a:p>
            <a:r>
              <a:rPr lang="en-US" dirty="0"/>
              <a:t>The rules used to decide are made by experts, based on experience. </a:t>
            </a:r>
          </a:p>
          <a:p>
            <a:pPr lvl="1"/>
            <a:r>
              <a:rPr lang="en-US" dirty="0"/>
              <a:t>From all the past loans we gave, what happened? Who paid, who defaulted, what are their stats.</a:t>
            </a:r>
          </a:p>
          <a:p>
            <a:pPr lvl="1"/>
            <a:r>
              <a:rPr lang="en-US" dirty="0"/>
              <a:t>Experts basically translate history and expectations into a model – inputs to output. </a:t>
            </a:r>
          </a:p>
          <a:p>
            <a:pPr lvl="1"/>
            <a:r>
              <a:rPr lang="en-US" dirty="0"/>
              <a:t>They need to know/identify what’s associated with good/bad loans. </a:t>
            </a:r>
          </a:p>
        </p:txBody>
      </p:sp>
    </p:spTree>
    <p:extLst>
      <p:ext uri="{BB962C8B-B14F-4D97-AF65-F5344CB8AC3E}">
        <p14:creationId xmlns:p14="http://schemas.microsoft.com/office/powerpoint/2010/main" val="148558960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B6481B-7DAE-6FF7-16A5-4FEB89D47E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But What if A machine Could do that?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C26969-26CE-A982-54F2-C5633C7F1F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>
            <a:normAutofit lnSpcReduction="10000"/>
          </a:bodyPr>
          <a:lstStyle/>
          <a:p>
            <a:r>
              <a:rPr lang="en-US" dirty="0"/>
              <a:t>I was part of a project to replace the banking system with one that (can) automate that. </a:t>
            </a:r>
          </a:p>
          <a:p>
            <a:pPr lvl="1"/>
            <a:r>
              <a:rPr lang="en-US" dirty="0"/>
              <a:t>Overall decision is identical – take in financial inputs, predict if we loan. </a:t>
            </a:r>
          </a:p>
          <a:p>
            <a:r>
              <a:rPr lang="en-US" dirty="0"/>
              <a:t>Start with same inputs (or more similar ones) – financial info, loan details, </a:t>
            </a:r>
            <a:r>
              <a:rPr lang="en-US" dirty="0" err="1"/>
              <a:t>etc</a:t>
            </a:r>
            <a:r>
              <a:rPr lang="en-US" dirty="0"/>
              <a:t>…</a:t>
            </a:r>
          </a:p>
          <a:p>
            <a:r>
              <a:rPr lang="en-US" dirty="0"/>
              <a:t>Instead of people making rules, the machine makes a model. </a:t>
            </a:r>
          </a:p>
          <a:p>
            <a:pPr lvl="1"/>
            <a:r>
              <a:rPr lang="en-US" dirty="0"/>
              <a:t>Provide old loan data: target of did they pay it back, inputs of the financials. </a:t>
            </a:r>
          </a:p>
          <a:p>
            <a:pPr lvl="1"/>
            <a:r>
              <a:rPr lang="en-US" dirty="0"/>
              <a:t>We don’t provide how to predict target from inputs, just give examples. </a:t>
            </a:r>
          </a:p>
          <a:p>
            <a:r>
              <a:rPr lang="en-US" dirty="0"/>
              <a:t>The learning process (where m and b are calculated) will find an optimal solution. </a:t>
            </a:r>
          </a:p>
          <a:p>
            <a:pPr lvl="1"/>
            <a:r>
              <a:rPr lang="en-US" dirty="0"/>
              <a:t>Machine can spot patterns and trends in what indicates loan quality far better than us. </a:t>
            </a:r>
          </a:p>
          <a:p>
            <a:pPr lvl="1"/>
            <a:r>
              <a:rPr lang="en-US" dirty="0"/>
              <a:t>If we have lots of data, this can be quite accurate. </a:t>
            </a:r>
          </a:p>
          <a:p>
            <a:pPr lvl="1"/>
            <a:r>
              <a:rPr lang="en-US" dirty="0"/>
              <a:t>Real banks sometimes use this (with large amounts most/all involve human approval). </a:t>
            </a:r>
          </a:p>
        </p:txBody>
      </p:sp>
    </p:spTree>
    <p:extLst>
      <p:ext uri="{BB962C8B-B14F-4D97-AF65-F5344CB8AC3E}">
        <p14:creationId xmlns:p14="http://schemas.microsoft.com/office/powerpoint/2010/main" val="279257343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BFBDE1-AEEB-6AEC-27CD-3DFF7A95A2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 of Multiple regression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024F14-839B-5499-98DD-0C59C79246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12047" y="2015732"/>
            <a:ext cx="6371096" cy="4037749"/>
          </a:xfrm>
        </p:spPr>
        <p:txBody>
          <a:bodyPr/>
          <a:lstStyle/>
          <a:p>
            <a:r>
              <a:rPr lang="en-US" dirty="0"/>
              <a:t>The output of the training process is a model – something that predicts output given input. </a:t>
            </a:r>
          </a:p>
          <a:p>
            <a:r>
              <a:rPr lang="en-US" dirty="0"/>
              <a:t>Model can predict Y if we give a set of inputs, </a:t>
            </a:r>
            <a:r>
              <a:rPr lang="en-US" dirty="0" err="1"/>
              <a:t>Xs</a:t>
            </a:r>
            <a:r>
              <a:rPr lang="en-US" dirty="0"/>
              <a:t>. </a:t>
            </a:r>
          </a:p>
          <a:p>
            <a:r>
              <a:rPr lang="en-US" dirty="0"/>
              <a:t>Prediction is effectively a weighted average of the inputs:</a:t>
            </a:r>
          </a:p>
          <a:p>
            <a:pPr lvl="1"/>
            <a:r>
              <a:rPr lang="en-US" dirty="0"/>
              <a:t>Each x is a real metric (income, age, job, </a:t>
            </a:r>
            <a:r>
              <a:rPr lang="en-US" dirty="0" err="1"/>
              <a:t>etc</a:t>
            </a:r>
            <a:r>
              <a:rPr lang="en-US" dirty="0"/>
              <a:t>…)</a:t>
            </a:r>
          </a:p>
          <a:p>
            <a:pPr lvl="1"/>
            <a:r>
              <a:rPr lang="en-US" dirty="0"/>
              <a:t>Each coefficient (m, slope) weights it’s importance. </a:t>
            </a:r>
          </a:p>
          <a:p>
            <a:r>
              <a:rPr lang="en-US" dirty="0"/>
              <a:t>Each new prediction takes new </a:t>
            </a:r>
            <a:r>
              <a:rPr lang="en-US" dirty="0" err="1"/>
              <a:t>xs</a:t>
            </a:r>
            <a:r>
              <a:rPr lang="en-US" dirty="0"/>
              <a:t>, balances them by their weight, combines them all, that’s the predicted y. </a:t>
            </a:r>
          </a:p>
        </p:txBody>
      </p:sp>
      <p:pic>
        <p:nvPicPr>
          <p:cNvPr id="4098" name="Picture 2" descr="What Is Multiple Linear Regression (MLR)?">
            <a:extLst>
              <a:ext uri="{FF2B5EF4-FFF2-40B4-BE49-F238E27FC236}">
                <a16:creationId xmlns:a16="http://schemas.microsoft.com/office/drawing/2014/main" id="{D5CFC21F-B76C-9054-7389-6AF2CA95FC4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1312"/>
          <a:stretch>
            <a:fillRect/>
          </a:stretch>
        </p:blipFill>
        <p:spPr bwMode="auto">
          <a:xfrm>
            <a:off x="0" y="2286226"/>
            <a:ext cx="5712047" cy="30695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0688473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C84442-0D43-4784-E74A-C5F169762C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 Tableau…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4DFFB8-8162-6FB5-E375-D8D7E345BB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/>
          <a:lstStyle/>
          <a:p>
            <a:r>
              <a:rPr lang="en-US" dirty="0"/>
              <a:t>In Tableau we can make some simple models. </a:t>
            </a:r>
          </a:p>
          <a:p>
            <a:r>
              <a:rPr lang="en-US" dirty="0"/>
              <a:t>Model quintile:</a:t>
            </a:r>
          </a:p>
          <a:p>
            <a:pPr lvl="1"/>
            <a:r>
              <a:rPr lang="en-US" dirty="0"/>
              <a:t>Can use to predict the expected value of K percentile, e.g. .5 predicts median. </a:t>
            </a:r>
          </a:p>
          <a:p>
            <a:r>
              <a:rPr lang="en-US" dirty="0"/>
              <a:t>Model percentile:</a:t>
            </a:r>
          </a:p>
          <a:p>
            <a:pPr lvl="1"/>
            <a:r>
              <a:rPr lang="en-US" dirty="0"/>
              <a:t>Based on the expected distribution, where does this value lie.</a:t>
            </a:r>
          </a:p>
          <a:p>
            <a:pPr lvl="1"/>
            <a:r>
              <a:rPr lang="en-US" dirty="0"/>
              <a:t>I.e. is it at the top end of what we’d expect, the bottom, or in line with expectations. </a:t>
            </a:r>
          </a:p>
          <a:p>
            <a:r>
              <a:rPr lang="en-US" dirty="0"/>
              <a:t>Both of these are with respect to some inputs (features, x values):</a:t>
            </a:r>
          </a:p>
          <a:p>
            <a:pPr lvl="1"/>
            <a:r>
              <a:rPr lang="en-US" dirty="0"/>
              <a:t>We provide what we want to predict (target) as well as what data to use to do it. </a:t>
            </a:r>
          </a:p>
          <a:p>
            <a:pPr lvl="1"/>
            <a:r>
              <a:rPr lang="en-US" dirty="0"/>
              <a:t>Machine figures out how to translate from in-&gt;out by doing some math.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F15AD2D-81EE-232F-2F10-AA82B702D9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2286" y="0"/>
            <a:ext cx="4789714" cy="27181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750585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C31E3B-E8CE-158B-01F7-95DDDB8BB2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accurate are those Predictions?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23F1F9-826B-A284-AE34-3D89F59536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6755" y="2015732"/>
            <a:ext cx="7107646" cy="4084622"/>
          </a:xfrm>
        </p:spPr>
        <p:txBody>
          <a:bodyPr>
            <a:normAutofit lnSpcReduction="10000"/>
          </a:bodyPr>
          <a:lstStyle/>
          <a:p>
            <a:r>
              <a:rPr lang="en-US" dirty="0"/>
              <a:t>The predicted values for the target are just that, predictions. </a:t>
            </a:r>
          </a:p>
          <a:p>
            <a:pPr lvl="1"/>
            <a:r>
              <a:rPr lang="en-US" dirty="0"/>
              <a:t>These predictions aren’t perfect, we hope that they are close. </a:t>
            </a:r>
          </a:p>
          <a:p>
            <a:r>
              <a:rPr lang="en-US" dirty="0"/>
              <a:t>We can evaluate a model for its quality in a few ways, based on the residuals. </a:t>
            </a:r>
          </a:p>
          <a:p>
            <a:r>
              <a:rPr lang="en-US" dirty="0"/>
              <a:t>The residual is the error for an individual prediction. </a:t>
            </a:r>
          </a:p>
          <a:p>
            <a:pPr lvl="1"/>
            <a:r>
              <a:rPr lang="en-US" dirty="0"/>
              <a:t>We can make a prediction from our model, compare to real value. </a:t>
            </a:r>
          </a:p>
          <a:p>
            <a:pPr lvl="1"/>
            <a:r>
              <a:rPr lang="en-US" dirty="0"/>
              <a:t>E.g. the stock price in reality is $37.45, our prediction is $37.50, the residual is .05. </a:t>
            </a:r>
          </a:p>
          <a:p>
            <a:r>
              <a:rPr lang="en-US" dirty="0"/>
              <a:t>We usually square and average these – the MSE. </a:t>
            </a:r>
          </a:p>
          <a:p>
            <a:r>
              <a:rPr lang="en-US" dirty="0"/>
              <a:t>The root of that is RMSE, on the same scale as our original data.</a:t>
            </a:r>
          </a:p>
        </p:txBody>
      </p:sp>
      <p:pic>
        <p:nvPicPr>
          <p:cNvPr id="5122" name="Picture 2" descr="Statistics from A to Z -- Confusing Concepts Clarified Blog - STATISTICS  FROM A TO Z-- CONFUSING CONCEPTS CLARIFIED">
            <a:extLst>
              <a:ext uri="{FF2B5EF4-FFF2-40B4-BE49-F238E27FC236}">
                <a16:creationId xmlns:a16="http://schemas.microsoft.com/office/drawing/2014/main" id="{8526C99D-8BD3-353B-C71D-4A4F23B6B8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64400" y="2155553"/>
            <a:ext cx="4927600" cy="2298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8208205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E7BB36-81AA-6380-D596-4E7A47C5F1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Association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F8DE03-5F1A-A941-95BF-B22FD5D64A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4037749"/>
          </a:xfrm>
        </p:spPr>
        <p:txBody>
          <a:bodyPr/>
          <a:lstStyle/>
          <a:p>
            <a:r>
              <a:rPr lang="en-US" dirty="0"/>
              <a:t>One other type of analysis we can do is association analysis. </a:t>
            </a:r>
          </a:p>
          <a:p>
            <a:pPr lvl="1"/>
            <a:r>
              <a:rPr lang="en-US" dirty="0"/>
              <a:t>Which things are tied/connected to each other? </a:t>
            </a:r>
          </a:p>
          <a:p>
            <a:r>
              <a:rPr lang="en-US" dirty="0"/>
              <a:t>Commonly used to find preferences. </a:t>
            </a:r>
          </a:p>
          <a:p>
            <a:pPr lvl="1"/>
            <a:r>
              <a:rPr lang="en-US" dirty="0"/>
              <a:t>If people who listen to artists A or B usually listen to both, suggest one to the rest. </a:t>
            </a:r>
          </a:p>
          <a:p>
            <a:pPr lvl="1"/>
            <a:r>
              <a:rPr lang="en-US" dirty="0"/>
              <a:t>If someone buys certain products, what else are they likely to buy. </a:t>
            </a:r>
          </a:p>
          <a:p>
            <a:r>
              <a:rPr lang="en-US" dirty="0"/>
              <a:t>Market basket analysis – look at patterns in a purchase to target actions. </a:t>
            </a:r>
          </a:p>
          <a:p>
            <a:pPr lvl="1"/>
            <a:r>
              <a:rPr lang="en-US" dirty="0"/>
              <a:t>Measure how ‘connected’ certain items are – if someone buys one, do they get the other. </a:t>
            </a:r>
          </a:p>
          <a:p>
            <a:pPr lvl="1"/>
            <a:r>
              <a:rPr lang="en-US" dirty="0"/>
              <a:t>E.g. how many laptop buyers get a new mouse or extra power adapter. </a:t>
            </a:r>
          </a:p>
          <a:p>
            <a:pPr lvl="1"/>
            <a:r>
              <a:rPr lang="en-US" dirty="0"/>
              <a:t>If someone fits the patten that they’re likely to get something else, target them. </a:t>
            </a:r>
          </a:p>
        </p:txBody>
      </p:sp>
    </p:spTree>
    <p:extLst>
      <p:ext uri="{BB962C8B-B14F-4D97-AF65-F5344CB8AC3E}">
        <p14:creationId xmlns:p14="http://schemas.microsoft.com/office/powerpoint/2010/main" val="392025985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CF0EDD-C409-0AC4-1E22-8E0ED1CC67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Famously… Target</a:t>
            </a:r>
          </a:p>
        </p:txBody>
      </p:sp>
      <p:pic>
        <p:nvPicPr>
          <p:cNvPr id="4" name="Online Media 3" descr="&quot;Target knew teen was pregnant before her dad&quot; - Fox News">
            <a:hlinkClick r:id="" action="ppaction://media"/>
            <a:extLst>
              <a:ext uri="{FF2B5EF4-FFF2-40B4-BE49-F238E27FC236}">
                <a16:creationId xmlns:a16="http://schemas.microsoft.com/office/drawing/2014/main" id="{642D49F8-06F5-88AD-DBB8-E071EF323CD9}"/>
              </a:ext>
            </a:extLst>
          </p:cNvPr>
          <p:cNvPicPr>
            <a:picLocks noGrp="1" noRot="1" noChangeAspect="1"/>
          </p:cNvPicPr>
          <p:nvPr>
            <p:ph idx="1"/>
            <a:videoFile r:link="rId1"/>
          </p:nvPr>
        </p:nvPicPr>
        <p:blipFill>
          <a:blip r:embed="rId3"/>
          <a:stretch>
            <a:fillRect/>
          </a:stretch>
        </p:blipFill>
        <p:spPr>
          <a:xfrm>
            <a:off x="1524527" y="0"/>
            <a:ext cx="914294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45714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D1E654-CA14-5013-4B39-6B8353A6F7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Target was too Targeted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5F910F-BF85-A251-73BC-62DC7BF4C6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7097" y="1853754"/>
            <a:ext cx="9787757" cy="4259663"/>
          </a:xfrm>
        </p:spPr>
        <p:txBody>
          <a:bodyPr>
            <a:normAutofit/>
          </a:bodyPr>
          <a:lstStyle/>
          <a:p>
            <a:r>
              <a:rPr lang="en-US" dirty="0"/>
              <a:t>Target made a system to score customers for ‘pregnancy score’. </a:t>
            </a:r>
          </a:p>
          <a:p>
            <a:r>
              <a:rPr lang="en-US" dirty="0"/>
              <a:t>Patterns were found by looking at people on the baby registry. </a:t>
            </a:r>
          </a:p>
          <a:p>
            <a:pPr lvl="1"/>
            <a:r>
              <a:rPr lang="en-US" dirty="0"/>
              <a:t>Females on baby registry can be assumed to be pregnant. </a:t>
            </a:r>
          </a:p>
          <a:p>
            <a:pPr lvl="1"/>
            <a:r>
              <a:rPr lang="en-US" dirty="0"/>
              <a:t>Due to loyalty cards (or cc, or other ways) we can identify this person always. </a:t>
            </a:r>
          </a:p>
          <a:p>
            <a:pPr lvl="1"/>
            <a:r>
              <a:rPr lang="en-US" dirty="0"/>
              <a:t>People on the baby registry changed their shopping patterns somewhat. </a:t>
            </a:r>
          </a:p>
          <a:p>
            <a:pPr lvl="2"/>
            <a:r>
              <a:rPr lang="en-US" dirty="0"/>
              <a:t>E.g. more lotion, vitamins, less smokes, </a:t>
            </a:r>
            <a:r>
              <a:rPr lang="en-US" dirty="0" err="1"/>
              <a:t>etc</a:t>
            </a:r>
            <a:r>
              <a:rPr lang="en-US" dirty="0"/>
              <a:t>…</a:t>
            </a:r>
          </a:p>
          <a:p>
            <a:r>
              <a:rPr lang="en-US" dirty="0"/>
              <a:t>Pregnancy score looks at each person’s purchases, and measures similarity to </a:t>
            </a:r>
            <a:r>
              <a:rPr lang="en-US" dirty="0" err="1"/>
              <a:t>preggos</a:t>
            </a:r>
            <a:r>
              <a:rPr lang="en-US" dirty="0"/>
              <a:t>.</a:t>
            </a:r>
          </a:p>
          <a:p>
            <a:pPr lvl="1"/>
            <a:r>
              <a:rPr lang="en-US" dirty="0"/>
              <a:t>If what you buy is very similar to registry people, you are likely pregnant. </a:t>
            </a:r>
          </a:p>
          <a:p>
            <a:pPr lvl="1"/>
            <a:r>
              <a:rPr lang="en-US" dirty="0"/>
              <a:t>Target targeted adds for strollers, cribs, </a:t>
            </a:r>
            <a:r>
              <a:rPr lang="en-US" dirty="0" err="1"/>
              <a:t>etc</a:t>
            </a:r>
            <a:r>
              <a:rPr lang="en-US" dirty="0"/>
              <a:t>… to these people as </a:t>
            </a:r>
            <a:r>
              <a:rPr lang="en-US" dirty="0" err="1"/>
              <a:t>valuabe</a:t>
            </a:r>
            <a:r>
              <a:rPr lang="en-US" dirty="0"/>
              <a:t> customers. </a:t>
            </a:r>
          </a:p>
          <a:p>
            <a:r>
              <a:rPr lang="en-US" dirty="0"/>
              <a:t>Some data got really mad, yelled at the manager for them calling his kid pregnant – she was. </a:t>
            </a:r>
          </a:p>
        </p:txBody>
      </p:sp>
    </p:spTree>
    <p:extLst>
      <p:ext uri="{BB962C8B-B14F-4D97-AF65-F5344CB8AC3E}">
        <p14:creationId xmlns:p14="http://schemas.microsoft.com/office/powerpoint/2010/main" val="137691572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7590C7-89BD-D743-33A4-95166838F7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 Tableau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DEC56E-8A37-394C-1D2E-973FB6F384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62920" y="2015732"/>
            <a:ext cx="4906714" cy="3740649"/>
          </a:xfrm>
        </p:spPr>
        <p:txBody>
          <a:bodyPr/>
          <a:lstStyle/>
          <a:p>
            <a:r>
              <a:rPr lang="en-US" dirty="0"/>
              <a:t>We can do market basket analysis. </a:t>
            </a:r>
          </a:p>
          <a:p>
            <a:r>
              <a:rPr lang="en-US" dirty="0"/>
              <a:t>The values measure how frequently these items are bought together. </a:t>
            </a:r>
          </a:p>
          <a:p>
            <a:r>
              <a:rPr lang="en-US" dirty="0"/>
              <a:t>For many associations, this works. </a:t>
            </a:r>
          </a:p>
          <a:p>
            <a:pPr lvl="1"/>
            <a:r>
              <a:rPr lang="en-US" dirty="0"/>
              <a:t>Often need longitudinal tracking – e.g. a customer over several transactions. </a:t>
            </a:r>
          </a:p>
          <a:p>
            <a:r>
              <a:rPr lang="en-US" dirty="0"/>
              <a:t>Not causation, only correlation. </a:t>
            </a:r>
          </a:p>
        </p:txBody>
      </p:sp>
      <p:pic>
        <p:nvPicPr>
          <p:cNvPr id="6146" name="Picture 2" descr="TableauTipTuesday Week 41 – Market Basket Matrix – missdataviz">
            <a:extLst>
              <a:ext uri="{FF2B5EF4-FFF2-40B4-BE49-F238E27FC236}">
                <a16:creationId xmlns:a16="http://schemas.microsoft.com/office/drawing/2014/main" id="{025BBD61-37D1-6503-BB84-D1943E20DE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2015732"/>
            <a:ext cx="6862920" cy="37406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5141718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34AA3B-F008-C419-6F35-9D84A51E3D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 want To Speak to Your Supervisor!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557D79-3534-C0D4-BD0D-20CBDE7B52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6203" y="1913710"/>
            <a:ext cx="5669797" cy="4139772"/>
          </a:xfrm>
        </p:spPr>
        <p:txBody>
          <a:bodyPr/>
          <a:lstStyle/>
          <a:p>
            <a:r>
              <a:rPr lang="en-US" dirty="0"/>
              <a:t>Regression vs association highlights a split.</a:t>
            </a:r>
          </a:p>
          <a:p>
            <a:r>
              <a:rPr lang="en-US" dirty="0"/>
              <a:t>Supervised learning models:</a:t>
            </a:r>
          </a:p>
          <a:p>
            <a:pPr lvl="1"/>
            <a:r>
              <a:rPr lang="en-US" dirty="0"/>
              <a:t>We know the specific outcomes just not count. </a:t>
            </a:r>
          </a:p>
          <a:p>
            <a:pPr lvl="1"/>
            <a:r>
              <a:rPr lang="en-US" dirty="0"/>
              <a:t>Customer yes/no, stock price, temperature. </a:t>
            </a:r>
          </a:p>
          <a:p>
            <a:pPr lvl="1"/>
            <a:r>
              <a:rPr lang="en-US" dirty="0"/>
              <a:t>Regression and classification fall here. </a:t>
            </a:r>
          </a:p>
          <a:p>
            <a:r>
              <a:rPr lang="en-US" dirty="0"/>
              <a:t>Unsupervised learning models:</a:t>
            </a:r>
          </a:p>
          <a:p>
            <a:pPr lvl="1"/>
            <a:r>
              <a:rPr lang="en-US" dirty="0"/>
              <a:t>We don’t know the specific outcomes. </a:t>
            </a:r>
          </a:p>
          <a:p>
            <a:pPr lvl="1"/>
            <a:r>
              <a:rPr lang="en-US" dirty="0"/>
              <a:t>Finds relationships within data. </a:t>
            </a:r>
          </a:p>
          <a:p>
            <a:pPr lvl="1"/>
            <a:r>
              <a:rPr lang="en-US" dirty="0"/>
              <a:t>Clustering and association fall here. </a:t>
            </a:r>
          </a:p>
          <a:p>
            <a:endParaRPr lang="en-US" dirty="0"/>
          </a:p>
        </p:txBody>
      </p:sp>
      <p:pic>
        <p:nvPicPr>
          <p:cNvPr id="7170" name="Picture 2" descr="Supervised vs Unsupervised Learning">
            <a:extLst>
              <a:ext uri="{FF2B5EF4-FFF2-40B4-BE49-F238E27FC236}">
                <a16:creationId xmlns:a16="http://schemas.microsoft.com/office/drawing/2014/main" id="{7CE8A57C-17CC-9C80-9B97-6E17FD5186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06332" y="1557025"/>
            <a:ext cx="6085668" cy="48902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8890547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005B41-7F8D-2201-118B-2BBEE65A9A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Predict?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35FC50-4793-56D1-34D2-881050DDA0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913710"/>
            <a:ext cx="9603275" cy="4139772"/>
          </a:xfrm>
        </p:spPr>
        <p:txBody>
          <a:bodyPr/>
          <a:lstStyle/>
          <a:p>
            <a:r>
              <a:rPr lang="en-US" dirty="0"/>
              <a:t>Prediction models are very common. </a:t>
            </a:r>
          </a:p>
          <a:p>
            <a:pPr lvl="1"/>
            <a:r>
              <a:rPr lang="en-US" dirty="0"/>
              <a:t>Most common use of machine learning, we want to predict some unknown. </a:t>
            </a:r>
          </a:p>
          <a:p>
            <a:r>
              <a:rPr lang="en-US" dirty="0"/>
              <a:t>We can predict what we need from what we have. </a:t>
            </a:r>
          </a:p>
          <a:p>
            <a:pPr lvl="1"/>
            <a:r>
              <a:rPr lang="en-US" dirty="0"/>
              <a:t>Loan – have applicant info, want to know if they’ll pay. </a:t>
            </a:r>
          </a:p>
          <a:p>
            <a:pPr lvl="1"/>
            <a:r>
              <a:rPr lang="en-US" dirty="0"/>
              <a:t>Stock levels – we have past sales info, how many jars of pickles will we sell? </a:t>
            </a:r>
          </a:p>
          <a:p>
            <a:r>
              <a:rPr lang="en-US" dirty="0"/>
              <a:t>Since modern business generates data on everything, this can be quite powerful. </a:t>
            </a:r>
          </a:p>
          <a:p>
            <a:r>
              <a:rPr lang="en-US" dirty="0"/>
              <a:t>Many/most AI/ML related things are based on this concept. </a:t>
            </a:r>
          </a:p>
          <a:p>
            <a:pPr lvl="1"/>
            <a:r>
              <a:rPr lang="en-US" dirty="0"/>
              <a:t>E.g. ChatGPT is (roughly) a stack of a billion linear regressions (kind of, not literally). </a:t>
            </a:r>
          </a:p>
        </p:txBody>
      </p:sp>
    </p:spTree>
    <p:extLst>
      <p:ext uri="{BB962C8B-B14F-4D97-AF65-F5344CB8AC3E}">
        <p14:creationId xmlns:p14="http://schemas.microsoft.com/office/powerpoint/2010/main" val="1624478135"/>
      </p:ext>
    </p:extLst>
  </p:cSld>
  <p:clrMapOvr>
    <a:masterClrMapping/>
  </p:clrMapOvr>
</p:sld>
</file>

<file path=ppt/theme/theme1.xml><?xml version="1.0" encoding="utf-8"?>
<a:theme xmlns:a="http://schemas.openxmlformats.org/drawingml/2006/main" name="Gallery">
  <a:themeElements>
    <a:clrScheme name="Gallery">
      <a:dk1>
        <a:sysClr val="windowText" lastClr="000000"/>
      </a:dk1>
      <a:lt1>
        <a:sysClr val="window" lastClr="FFFFFF"/>
      </a:lt1>
      <a:dk2>
        <a:srgbClr val="454545"/>
      </a:dk2>
      <a:lt2>
        <a:srgbClr val="DFDBD5"/>
      </a:lt2>
      <a:accent1>
        <a:srgbClr val="B71E42"/>
      </a:accent1>
      <a:accent2>
        <a:srgbClr val="DE478E"/>
      </a:accent2>
      <a:accent3>
        <a:srgbClr val="BC72F0"/>
      </a:accent3>
      <a:accent4>
        <a:srgbClr val="795FAF"/>
      </a:accent4>
      <a:accent5>
        <a:srgbClr val="586EA6"/>
      </a:accent5>
      <a:accent6>
        <a:srgbClr val="6892A0"/>
      </a:accent6>
      <a:hlink>
        <a:srgbClr val="FA2B5C"/>
      </a:hlink>
      <a:folHlink>
        <a:srgbClr val="BC658E"/>
      </a:folHlink>
    </a:clrScheme>
    <a:fontScheme name="Gallery">
      <a:majorFont>
        <a:latin typeface="Gill Sans MT" panose="020B0502020104020203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Gallery">
      <a:fillStyleLst>
        <a:solidFill>
          <a:schemeClr val="phClr"/>
        </a:solidFill>
        <a:gradFill rotWithShape="1">
          <a:gsLst>
            <a:gs pos="0">
              <a:schemeClr val="phClr">
                <a:tint val="54000"/>
                <a:alpha val="100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8000"/>
                <a:satMod val="130000"/>
                <a:lumMod val="92000"/>
              </a:schemeClr>
            </a:gs>
            <a:gs pos="100000">
              <a:schemeClr val="phClr">
                <a:shade val="78000"/>
                <a:satMod val="130000"/>
                <a:lumMod val="92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0800" dist="50800" dir="5400000" sx="96000" sy="96000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080000"/>
            </a:lightRig>
          </a:scene3d>
          <a:sp3d>
            <a:bevelT w="38100" h="12700" prst="softRound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0">
              <a:schemeClr val="phClr">
                <a:tint val="94000"/>
                <a:satMod val="80000"/>
                <a:lumMod val="106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allery" id="{BBFCD31E-59A1-489D-B089-A3EAD7CAE12E}" vid="{F5E91637-A7B6-4E27-B710-77DA7014EE1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{2C098A6B-0D6A-6740-AB07-6AAE29A34FE3}tf10001119</Template>
  <TotalTime>8035</TotalTime>
  <Words>3418</Words>
  <Application>Microsoft Macintosh PowerPoint</Application>
  <PresentationFormat>Widescreen</PresentationFormat>
  <Paragraphs>283</Paragraphs>
  <Slides>42</Slides>
  <Notes>0</Notes>
  <HiddenSlides>3</HiddenSlides>
  <MMClips>1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42</vt:i4>
      </vt:variant>
    </vt:vector>
  </HeadingPairs>
  <TitlesOfParts>
    <vt:vector size="45" baseType="lpstr">
      <vt:lpstr>Arial</vt:lpstr>
      <vt:lpstr>Gill Sans MT</vt:lpstr>
      <vt:lpstr>Gallery</vt:lpstr>
      <vt:lpstr>Housekeeping</vt:lpstr>
      <vt:lpstr>Proposal</vt:lpstr>
      <vt:lpstr>More Project Details</vt:lpstr>
      <vt:lpstr>Regression Models and Time Series Forecasting</vt:lpstr>
      <vt:lpstr>Time Series Data</vt:lpstr>
      <vt:lpstr>PowerPoint Presentation</vt:lpstr>
      <vt:lpstr>In Tableau…</vt:lpstr>
      <vt:lpstr>Time Series Predictions Are Hard</vt:lpstr>
      <vt:lpstr>PowerPoint Presentation</vt:lpstr>
      <vt:lpstr>Time Series Components</vt:lpstr>
      <vt:lpstr>Exponential Smoothing</vt:lpstr>
      <vt:lpstr>PowerPoint Presentation</vt:lpstr>
      <vt:lpstr>Confidence Intervals and Uncertainty</vt:lpstr>
      <vt:lpstr>Confidence Intervals</vt:lpstr>
      <vt:lpstr>Moving Average Predictions</vt:lpstr>
      <vt:lpstr>Stationary in Time</vt:lpstr>
      <vt:lpstr>Stationary stats</vt:lpstr>
      <vt:lpstr>Some Real Life Time-Series Examples</vt:lpstr>
      <vt:lpstr>ARIMA</vt:lpstr>
      <vt:lpstr>ARIMA Variants</vt:lpstr>
      <vt:lpstr>ARIMA-d Up</vt:lpstr>
      <vt:lpstr>Smarter Time Models</vt:lpstr>
      <vt:lpstr>Facebook Prophet</vt:lpstr>
      <vt:lpstr>Checking if Time Series Models are Good</vt:lpstr>
      <vt:lpstr>Error Calculations </vt:lpstr>
      <vt:lpstr>PowerPoint Presentation</vt:lpstr>
      <vt:lpstr>Time Series Conclusion</vt:lpstr>
      <vt:lpstr>Regression</vt:lpstr>
      <vt:lpstr>Prelude – Predictive Model Types</vt:lpstr>
      <vt:lpstr>Regression Models</vt:lpstr>
      <vt:lpstr>How is a Regression Model Made</vt:lpstr>
      <vt:lpstr>Real Life example – Bank Loans. </vt:lpstr>
      <vt:lpstr>But What if A machine Could do that? </vt:lpstr>
      <vt:lpstr>Result of Multiple regression</vt:lpstr>
      <vt:lpstr>In Tableau…</vt:lpstr>
      <vt:lpstr>How accurate are those Predictions?</vt:lpstr>
      <vt:lpstr>Association</vt:lpstr>
      <vt:lpstr>Famously… Target</vt:lpstr>
      <vt:lpstr>Target was too Targeted</vt:lpstr>
      <vt:lpstr>In Tableau</vt:lpstr>
      <vt:lpstr>I want To Speak to Your Supervisor!</vt:lpstr>
      <vt:lpstr>Why Predict?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Akeem Semper</dc:creator>
  <cp:keywords/>
  <dc:description/>
  <cp:lastModifiedBy>Akeem Semper</cp:lastModifiedBy>
  <cp:revision>56</cp:revision>
  <dcterms:created xsi:type="dcterms:W3CDTF">2022-03-03T03:04:13Z</dcterms:created>
  <dcterms:modified xsi:type="dcterms:W3CDTF">2025-11-18T22:21:00Z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0877899-02b0-462c-b2a9-b7d15c4f96fe_Enabled">
    <vt:lpwstr>true</vt:lpwstr>
  </property>
  <property fmtid="{D5CDD505-2E9C-101B-9397-08002B2CF9AE}" pid="3" name="MSIP_Label_10877899-02b0-462c-b2a9-b7d15c4f96fe_SetDate">
    <vt:lpwstr>2025-03-11T16:59:05Z</vt:lpwstr>
  </property>
  <property fmtid="{D5CDD505-2E9C-101B-9397-08002B2CF9AE}" pid="4" name="MSIP_Label_10877899-02b0-462c-b2a9-b7d15c4f96fe_Method">
    <vt:lpwstr>Standard</vt:lpwstr>
  </property>
  <property fmtid="{D5CDD505-2E9C-101B-9397-08002B2CF9AE}" pid="5" name="MSIP_Label_10877899-02b0-462c-b2a9-b7d15c4f96fe_Name">
    <vt:lpwstr>Protected [Protected A]</vt:lpwstr>
  </property>
  <property fmtid="{D5CDD505-2E9C-101B-9397-08002B2CF9AE}" pid="6" name="MSIP_Label_10877899-02b0-462c-b2a9-b7d15c4f96fe_SiteId">
    <vt:lpwstr>5c98fb47-d3b9-4649-9d94-f88cbdd9729c</vt:lpwstr>
  </property>
  <property fmtid="{D5CDD505-2E9C-101B-9397-08002B2CF9AE}" pid="7" name="MSIP_Label_10877899-02b0-462c-b2a9-b7d15c4f96fe_ActionId">
    <vt:lpwstr>972ff472-74cb-4be2-97b5-600b9297ca3f</vt:lpwstr>
  </property>
  <property fmtid="{D5CDD505-2E9C-101B-9397-08002B2CF9AE}" pid="8" name="MSIP_Label_10877899-02b0-462c-b2a9-b7d15c4f96fe_ContentBits">
    <vt:lpwstr>0</vt:lpwstr>
  </property>
</Properties>
</file>