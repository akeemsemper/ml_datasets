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96" r:id="rId2"/>
    <p:sldId id="315" r:id="rId3"/>
    <p:sldId id="316" r:id="rId4"/>
    <p:sldId id="256" r:id="rId5"/>
    <p:sldId id="270" r:id="rId6"/>
    <p:sldId id="297" r:id="rId7"/>
    <p:sldId id="288" r:id="rId8"/>
    <p:sldId id="271" r:id="rId9"/>
    <p:sldId id="272" r:id="rId10"/>
    <p:sldId id="258" r:id="rId11"/>
    <p:sldId id="261" r:id="rId12"/>
    <p:sldId id="298" r:id="rId13"/>
    <p:sldId id="299" r:id="rId14"/>
    <p:sldId id="294" r:id="rId15"/>
    <p:sldId id="262" r:id="rId16"/>
    <p:sldId id="284" r:id="rId17"/>
    <p:sldId id="300" r:id="rId18"/>
    <p:sldId id="257" r:id="rId19"/>
    <p:sldId id="290" r:id="rId20"/>
    <p:sldId id="273" r:id="rId21"/>
    <p:sldId id="274" r:id="rId22"/>
    <p:sldId id="267" r:id="rId23"/>
    <p:sldId id="301" r:id="rId24"/>
    <p:sldId id="276" r:id="rId25"/>
    <p:sldId id="278" r:id="rId26"/>
    <p:sldId id="269" r:id="rId27"/>
    <p:sldId id="302" r:id="rId28"/>
    <p:sldId id="308" r:id="rId29"/>
    <p:sldId id="303" r:id="rId30"/>
    <p:sldId id="305" r:id="rId31"/>
    <p:sldId id="306" r:id="rId32"/>
    <p:sldId id="307" r:id="rId33"/>
    <p:sldId id="309" r:id="rId34"/>
    <p:sldId id="310" r:id="rId35"/>
    <p:sldId id="311" r:id="rId36"/>
    <p:sldId id="312" r:id="rId37"/>
    <p:sldId id="313" r:id="rId38"/>
    <p:sldId id="314" r:id="rId39"/>
    <p:sldId id="317" r:id="rId40"/>
    <p:sldId id="304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7"/>
    <p:restoredTop sz="95897"/>
  </p:normalViewPr>
  <p:slideViewPr>
    <p:cSldViewPr snapToGrid="0" snapToObjects="1">
      <p:cViewPr varScale="1">
        <p:scale>
          <a:sx n="195" d="100"/>
          <a:sy n="195" d="100"/>
        </p:scale>
        <p:origin x="208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6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3657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203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495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5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117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464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525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942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632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73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2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CxjZ7Ikjaqc?feature=oembed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D86A9-0202-350E-3A45-FB4925440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034-D711-6164-B302-1718F8CB8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8130"/>
            <a:ext cx="9603275" cy="3886200"/>
          </a:xfrm>
        </p:spPr>
        <p:txBody>
          <a:bodyPr/>
          <a:lstStyle/>
          <a:p>
            <a:r>
              <a:rPr lang="en-US" dirty="0"/>
              <a:t>Predictive modelling in Tableau. </a:t>
            </a:r>
          </a:p>
          <a:p>
            <a:pPr lvl="1"/>
            <a:r>
              <a:rPr lang="en-US" dirty="0"/>
              <a:t>Some details on some predictive modelling applications we can use in Tableau. </a:t>
            </a:r>
          </a:p>
          <a:p>
            <a:pPr lvl="1"/>
            <a:r>
              <a:rPr lang="en-US" dirty="0"/>
              <a:t>Time series forecast, regression models. </a:t>
            </a:r>
          </a:p>
          <a:p>
            <a:pPr lvl="1"/>
            <a:r>
              <a:rPr lang="en-US" dirty="0"/>
              <a:t>Depending on time, market baskets. </a:t>
            </a:r>
          </a:p>
          <a:p>
            <a:r>
              <a:rPr lang="en-US" dirty="0"/>
              <a:t>Predictive modelling knowledge needs:</a:t>
            </a:r>
          </a:p>
          <a:p>
            <a:pPr lvl="1"/>
            <a:r>
              <a:rPr lang="en-US" dirty="0"/>
              <a:t>Theory – this is one of the branches of analytics, and we need to understand basics. </a:t>
            </a:r>
          </a:p>
        </p:txBody>
      </p:sp>
    </p:spTree>
    <p:extLst>
      <p:ext uri="{BB962C8B-B14F-4D97-AF65-F5344CB8AC3E}">
        <p14:creationId xmlns:p14="http://schemas.microsoft.com/office/powerpoint/2010/main" val="2292807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2EAB8-6A98-25C7-636D-951FD7BDA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ADB35-727C-FA84-D081-FB1BC3236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project proposal is simple, almost free marks, and important. </a:t>
            </a:r>
          </a:p>
          <a:p>
            <a:r>
              <a:rPr lang="en-US" dirty="0"/>
              <a:t>You need to write your plan to do the project. </a:t>
            </a:r>
          </a:p>
          <a:p>
            <a:pPr lvl="1"/>
            <a:r>
              <a:rPr lang="en-US" dirty="0"/>
              <a:t>I’ll look at it to see if it sounds reasonable and doable – I’m mostly checking to raise concerns on what might not work out going forward.</a:t>
            </a:r>
          </a:p>
          <a:p>
            <a:pPr lvl="1"/>
            <a:r>
              <a:rPr lang="en-US" dirty="0"/>
              <a:t>Much more importantly, you all need to sketch out and agree on a plan. </a:t>
            </a:r>
          </a:p>
          <a:p>
            <a:r>
              <a:rPr lang="en-US" dirty="0"/>
              <a:t>Consider backup for anything you don’t know works. </a:t>
            </a:r>
          </a:p>
          <a:p>
            <a:pPr lvl="1"/>
            <a:r>
              <a:rPr lang="en-US" dirty="0"/>
              <a:t>If you plan on making/showing X, make sure you can with the data before settling. </a:t>
            </a:r>
          </a:p>
          <a:p>
            <a:pPr lvl="1"/>
            <a:r>
              <a:rPr lang="en-US" dirty="0"/>
              <a:t>There may be issues with granularity, data types, etc.. That may require work to solve. </a:t>
            </a:r>
          </a:p>
          <a:p>
            <a:r>
              <a:rPr lang="en-US" dirty="0"/>
              <a:t>Better to start with something that’s a bit too broad and trim if everything works. </a:t>
            </a:r>
          </a:p>
        </p:txBody>
      </p:sp>
    </p:spTree>
    <p:extLst>
      <p:ext uri="{BB962C8B-B14F-4D97-AF65-F5344CB8AC3E}">
        <p14:creationId xmlns:p14="http://schemas.microsoft.com/office/powerpoint/2010/main" val="3325367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03F0-2E6F-69D3-4864-A86EF4E42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Project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E0A1A-65EE-AC03-68D1-349619DD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2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There’s a document on Brightspace with some tips on sharing work. </a:t>
            </a:r>
          </a:p>
          <a:p>
            <a:pPr lvl="1"/>
            <a:r>
              <a:rPr lang="en-US" dirty="0"/>
              <a:t>It isn’t as simple as a google doc or something. </a:t>
            </a:r>
          </a:p>
          <a:p>
            <a:pPr lvl="1"/>
            <a:r>
              <a:rPr lang="en-US" dirty="0"/>
              <a:t>Easiest is to setup a starting point with all data added, then each person builds their own sheets from that shared starting point. </a:t>
            </a:r>
          </a:p>
          <a:p>
            <a:pPr lvl="1"/>
            <a:r>
              <a:rPr lang="en-US" dirty="0"/>
              <a:t>At the end someone will need to manually combine the workbooks into one, not super hard, but takes a bit of time as you’ll need to do final layout and such. </a:t>
            </a:r>
          </a:p>
          <a:p>
            <a:r>
              <a:rPr lang="en-US" dirty="0"/>
              <a:t>I can’t ever emphasize how much easier this is if you do stuff early. </a:t>
            </a:r>
          </a:p>
          <a:p>
            <a:r>
              <a:rPr lang="en-US" dirty="0"/>
              <a:t>Remember, you need to communicate something with this visualization. </a:t>
            </a:r>
          </a:p>
          <a:p>
            <a:pPr lvl="1"/>
            <a:r>
              <a:rPr lang="en-US" dirty="0"/>
              <a:t>There should be some thesis like statement – this story shows/explains this stuff….</a:t>
            </a:r>
          </a:p>
          <a:p>
            <a:pPr lvl="1"/>
            <a:r>
              <a:rPr lang="en-US" dirty="0"/>
              <a:t>There are multiple aspects that you’ll need to cover, that takes time to organize. </a:t>
            </a:r>
          </a:p>
          <a:p>
            <a:pPr lvl="1"/>
            <a:r>
              <a:rPr lang="en-US" dirty="0"/>
              <a:t>Refer to the storytelling techniques and visual vocabulary for starting points. </a:t>
            </a:r>
          </a:p>
        </p:txBody>
      </p:sp>
    </p:spTree>
    <p:extLst>
      <p:ext uri="{BB962C8B-B14F-4D97-AF65-F5344CB8AC3E}">
        <p14:creationId xmlns:p14="http://schemas.microsoft.com/office/powerpoint/2010/main" val="2334346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A358F-3029-3B46-8F88-5B7AAD9B2E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Regression Models and Time Series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00FEBA-B494-5046-9CD2-12082358FE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4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B493-8DF2-7D9B-AAF8-D6D0AE1F5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4E27E-E260-95A4-E84F-4952B8D9F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Time-series data is data that progresses over time. </a:t>
            </a:r>
          </a:p>
          <a:p>
            <a:pPr lvl="1"/>
            <a:r>
              <a:rPr lang="en-US" dirty="0"/>
              <a:t>E.g. gas prices, stock prices, temperature,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basis of predictions, or forecasts, is by looking at patterns in the data. </a:t>
            </a:r>
          </a:p>
          <a:p>
            <a:r>
              <a:rPr lang="en-US" dirty="0"/>
              <a:t>Time-series data has a few parts that our forecasts try to separate:</a:t>
            </a:r>
          </a:p>
          <a:p>
            <a:pPr lvl="1"/>
            <a:r>
              <a:rPr lang="en-US" dirty="0"/>
              <a:t>Trend – are we going up or down as time progresses. </a:t>
            </a:r>
          </a:p>
          <a:p>
            <a:pPr lvl="1"/>
            <a:r>
              <a:rPr lang="en-US" dirty="0"/>
              <a:t>Seasonality – do we have regular waves, such as seasonal sales. </a:t>
            </a:r>
          </a:p>
          <a:p>
            <a:pPr lvl="1"/>
            <a:r>
              <a:rPr lang="en-US" dirty="0"/>
              <a:t>Cyclicality – do we have larger waves, spanning several seasons. </a:t>
            </a:r>
          </a:p>
          <a:p>
            <a:pPr lvl="1"/>
            <a:r>
              <a:rPr lang="en-US" dirty="0"/>
              <a:t>Irregularity – how much variation is there that doesn’t fit into the above. </a:t>
            </a:r>
          </a:p>
          <a:p>
            <a:r>
              <a:rPr lang="en-US" dirty="0"/>
              <a:t>The models generally try to decompose each of these, measure each, and recombine them to create projections. </a:t>
            </a:r>
          </a:p>
        </p:txBody>
      </p:sp>
    </p:spTree>
    <p:extLst>
      <p:ext uri="{BB962C8B-B14F-4D97-AF65-F5344CB8AC3E}">
        <p14:creationId xmlns:p14="http://schemas.microsoft.com/office/powerpoint/2010/main" val="1351010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4B965-0900-8D0A-A311-386B3B135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1C864-4A36-A8B3-5C3A-301DE5CD5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3862938" cy="3450613"/>
          </a:xfrm>
        </p:spPr>
        <p:txBody>
          <a:bodyPr/>
          <a:lstStyle/>
          <a:p>
            <a:r>
              <a:rPr lang="en-US" dirty="0"/>
              <a:t>Our ability to forecast in Tableau is useful but limited. </a:t>
            </a:r>
          </a:p>
          <a:p>
            <a:r>
              <a:rPr lang="en-US" dirty="0"/>
              <a:t>We can do basic moving average forecasts. </a:t>
            </a:r>
          </a:p>
          <a:p>
            <a:pPr lvl="1"/>
            <a:r>
              <a:rPr lang="en-US" dirty="0"/>
              <a:t>Use the average* of the last several* values as a prediction for the next* value.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E1AC70-58DF-E0D4-1B41-786423580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517" y="0"/>
            <a:ext cx="68774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770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186F9-CCA3-A78A-EDFD-4A7F4C556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Predictions Are Hard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003D7-46ED-A783-E3C5-89274329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It is hard to make accurate time series predictions into the future. </a:t>
            </a:r>
          </a:p>
          <a:p>
            <a:pPr lvl="1"/>
            <a:r>
              <a:rPr lang="en-US" dirty="0"/>
              <a:t>If it wasn’t, we’d all have massive stock portfolios. </a:t>
            </a:r>
          </a:p>
          <a:p>
            <a:r>
              <a:rPr lang="en-US" dirty="0"/>
              <a:t>Simple statistical models (moving average, </a:t>
            </a:r>
            <a:r>
              <a:rPr lang="en-US" dirty="0" err="1"/>
              <a:t>etc</a:t>
            </a:r>
            <a:r>
              <a:rPr lang="en-US" dirty="0"/>
              <a:t>…) can often win out even compared to super sophisticated models (e.g. neural networks). </a:t>
            </a:r>
          </a:p>
          <a:p>
            <a:pPr lvl="1"/>
            <a:r>
              <a:rPr lang="en-US" dirty="0"/>
              <a:t>The large and powerful neural networks have higher ceilings, but more variance. </a:t>
            </a:r>
          </a:p>
          <a:p>
            <a:pPr lvl="1"/>
            <a:r>
              <a:rPr lang="en-US" dirty="0"/>
              <a:t>Relying on a model that is less adaptive to details often works well. </a:t>
            </a:r>
          </a:p>
          <a:p>
            <a:pPr lvl="1"/>
            <a:r>
              <a:rPr lang="en-US" dirty="0"/>
              <a:t>Build up – start with simple, then modify if that works poorly. </a:t>
            </a:r>
          </a:p>
        </p:txBody>
      </p:sp>
    </p:spTree>
    <p:extLst>
      <p:ext uri="{BB962C8B-B14F-4D97-AF65-F5344CB8AC3E}">
        <p14:creationId xmlns:p14="http://schemas.microsoft.com/office/powerpoint/2010/main" val="2774669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62D4-F857-5AED-E111-D7EE88B6E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C4AFB-0AAA-2049-EFDA-DD8463034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Basic of Time Series . | Data Science and Machine Learning | Kaggle">
            <a:extLst>
              <a:ext uri="{FF2B5EF4-FFF2-40B4-BE49-F238E27FC236}">
                <a16:creationId xmlns:a16="http://schemas.microsoft.com/office/drawing/2014/main" id="{8FDD07D8-3681-916C-2EBA-ACD2E0C1B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9100"/>
            <a:ext cx="12192000" cy="601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466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3AE3-61AA-C5C4-4A48-DBE9FABF8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43" y="804519"/>
            <a:ext cx="4845957" cy="1049235"/>
          </a:xfrm>
        </p:spPr>
        <p:txBody>
          <a:bodyPr/>
          <a:lstStyle/>
          <a:p>
            <a:r>
              <a:rPr lang="en-US" dirty="0"/>
              <a:t>Time Series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CBDEA-9B52-1B56-8C54-684D056D5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43" y="1853754"/>
            <a:ext cx="4845957" cy="4199727"/>
          </a:xfrm>
        </p:spPr>
        <p:txBody>
          <a:bodyPr/>
          <a:lstStyle/>
          <a:p>
            <a:r>
              <a:rPr lang="en-US" dirty="0"/>
              <a:t>The basic idea is that if we can extract each component of the time series’ variation, our model can more easily project each. </a:t>
            </a:r>
          </a:p>
          <a:p>
            <a:r>
              <a:rPr lang="en-US" dirty="0"/>
              <a:t>Example plots:</a:t>
            </a:r>
          </a:p>
          <a:p>
            <a:pPr lvl="1"/>
            <a:r>
              <a:rPr lang="en-US" dirty="0"/>
              <a:t>Trend – linear increase. </a:t>
            </a:r>
          </a:p>
          <a:p>
            <a:pPr lvl="1"/>
            <a:r>
              <a:rPr lang="en-US" dirty="0"/>
              <a:t>Seasonality – predictable waves. </a:t>
            </a:r>
          </a:p>
          <a:p>
            <a:pPr lvl="1"/>
            <a:r>
              <a:rPr lang="en-US" dirty="0"/>
              <a:t>Random – “other” variation. </a:t>
            </a:r>
          </a:p>
          <a:p>
            <a:r>
              <a:rPr lang="en-US" dirty="0"/>
              <a:t>Note: different models may capture slightly different components. </a:t>
            </a:r>
          </a:p>
        </p:txBody>
      </p:sp>
      <p:pic>
        <p:nvPicPr>
          <p:cNvPr id="2050" name="Picture 2" descr="Time series graphs with random, seasonal and trend components in cluster 1  | Download Scientific Diagram">
            <a:extLst>
              <a:ext uri="{FF2B5EF4-FFF2-40B4-BE49-F238E27FC236}">
                <a16:creationId xmlns:a16="http://schemas.microsoft.com/office/drawing/2014/main" id="{245F8238-6B60-6A10-C7A0-A1CBA8A26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00" y="196850"/>
            <a:ext cx="7200900" cy="64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044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E6BB-1E1D-AF4C-8CE0-6495F073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10E4B-B5AE-7445-AA7F-16491623F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Exponential smoothing is one of the simplest forms of time series forecasts. </a:t>
            </a:r>
          </a:p>
          <a:p>
            <a:r>
              <a:rPr lang="en-US" dirty="0"/>
              <a:t>Weighted averaging with a smoothing term. </a:t>
            </a:r>
          </a:p>
          <a:p>
            <a:r>
              <a:rPr lang="en-US" dirty="0"/>
              <a:t>Can also incorporate:</a:t>
            </a:r>
          </a:p>
          <a:p>
            <a:pPr lvl="1"/>
            <a:r>
              <a:rPr lang="en-US" dirty="0"/>
              <a:t>Trends – are we moving up or down over time. </a:t>
            </a:r>
          </a:p>
          <a:p>
            <a:pPr lvl="1"/>
            <a:r>
              <a:rPr lang="en-US" dirty="0"/>
              <a:t>Cyclicality – are there seasonal patterns. </a:t>
            </a:r>
          </a:p>
          <a:p>
            <a:r>
              <a:rPr lang="en-US" dirty="0"/>
              <a:t>Trends and seasonality can be either Additive or Multiplicative:</a:t>
            </a:r>
          </a:p>
          <a:p>
            <a:pPr lvl="1"/>
            <a:r>
              <a:rPr lang="en-CA" dirty="0"/>
              <a:t>If every December we sell 10,000 more apartments than we do in November, the seasonality is </a:t>
            </a:r>
            <a:r>
              <a:rPr lang="en-CA" i="1" dirty="0"/>
              <a:t>additive</a:t>
            </a:r>
            <a:r>
              <a:rPr lang="en-CA" dirty="0"/>
              <a:t> in nature. However, if we sell 10% more apartments in the summer months than we do in the winter months the seasonality is </a:t>
            </a:r>
            <a:r>
              <a:rPr lang="en-CA" i="1" dirty="0"/>
              <a:t>multiplicative</a:t>
            </a:r>
            <a:r>
              <a:rPr lang="en-CA" dirty="0"/>
              <a:t> in nature.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22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00E31-AF1D-2147-A243-C6D0E066B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74FC8-4E41-6541-BD02-76EBFABE6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rend, Seasonality, Moving Average, Auto Regressive Model : My Journey to  Time Series Data with Interactive Code | by Jae Duk Seo | Towards Data  Science">
            <a:extLst>
              <a:ext uri="{FF2B5EF4-FFF2-40B4-BE49-F238E27FC236}">
                <a16:creationId xmlns:a16="http://schemas.microsoft.com/office/drawing/2014/main" id="{81836D80-3AD8-7448-BD2F-386344D86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3325" y="0"/>
            <a:ext cx="7245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44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56D47-500B-563F-3954-DD705ACAA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 and Uncertainty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370B4-8EF1-0052-B0DC-ED30D6C8A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predicting the next value in a time series, there’s uncertainty. </a:t>
            </a:r>
          </a:p>
          <a:p>
            <a:pPr lvl="1"/>
            <a:r>
              <a:rPr lang="en-US" dirty="0"/>
              <a:t>E.g. tomorrow’s gas price per </a:t>
            </a:r>
            <a:r>
              <a:rPr lang="en-US" dirty="0" err="1"/>
              <a:t>litre</a:t>
            </a:r>
            <a:r>
              <a:rPr lang="en-US" dirty="0"/>
              <a:t> obviously can’t really be known exactly.  </a:t>
            </a:r>
          </a:p>
          <a:p>
            <a:r>
              <a:rPr lang="en-US" dirty="0"/>
              <a:t>A good model, and certain data, will have predictions that are more reliable. </a:t>
            </a:r>
          </a:p>
          <a:p>
            <a:pPr lvl="1"/>
            <a:r>
              <a:rPr lang="en-US" dirty="0"/>
              <a:t>The model “fits” – the predictions made by a model are similar to the real values. </a:t>
            </a:r>
          </a:p>
          <a:p>
            <a:pPr lvl="2"/>
            <a:r>
              <a:rPr lang="en-US" dirty="0"/>
              <a:t>In data science we call the real values the empirical values/data. </a:t>
            </a:r>
          </a:p>
          <a:p>
            <a:pPr lvl="1"/>
            <a:r>
              <a:rPr lang="en-US" dirty="0"/>
              <a:t>The data is more stable and predictable in its pattern. </a:t>
            </a:r>
          </a:p>
          <a:p>
            <a:pPr lvl="1"/>
            <a:r>
              <a:rPr lang="en-US" dirty="0"/>
              <a:t>We have more data. </a:t>
            </a:r>
          </a:p>
          <a:p>
            <a:r>
              <a:rPr lang="en-US" dirty="0"/>
              <a:t>A confidence interval tells us how much uncertainty we have…</a:t>
            </a:r>
          </a:p>
        </p:txBody>
      </p:sp>
    </p:spTree>
    <p:extLst>
      <p:ext uri="{BB962C8B-B14F-4D97-AF65-F5344CB8AC3E}">
        <p14:creationId xmlns:p14="http://schemas.microsoft.com/office/powerpoint/2010/main" val="1917347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E456-4C1D-7FF1-918F-1AE8912C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DB244-62CB-DE57-AAEA-44E1D9FFA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" y="1853754"/>
            <a:ext cx="7704956" cy="4268372"/>
          </a:xfrm>
        </p:spPr>
        <p:txBody>
          <a:bodyPr/>
          <a:lstStyle/>
          <a:p>
            <a:r>
              <a:rPr lang="en-US" dirty="0"/>
              <a:t>CI is simple – we are X% confident the value will be within Y limits. </a:t>
            </a:r>
          </a:p>
          <a:p>
            <a:pPr lvl="1"/>
            <a:r>
              <a:rPr lang="en-US" dirty="0"/>
              <a:t>95% CI means there is 95% chance the real value happens in range.</a:t>
            </a:r>
          </a:p>
          <a:p>
            <a:pPr lvl="1"/>
            <a:r>
              <a:rPr lang="en-US" dirty="0"/>
              <a:t>The wider this range is the more uncertainty. </a:t>
            </a:r>
          </a:p>
          <a:p>
            <a:r>
              <a:rPr lang="en-US" dirty="0"/>
              <a:t>Calculated through Monte Carlo simulation (just for context). </a:t>
            </a:r>
          </a:p>
          <a:p>
            <a:pPr lvl="1"/>
            <a:r>
              <a:rPr lang="en-US" dirty="0"/>
              <a:t>Create a model that can predict a value (ml model are probabilistic)</a:t>
            </a:r>
          </a:p>
          <a:p>
            <a:pPr lvl="1"/>
            <a:r>
              <a:rPr lang="en-US" dirty="0"/>
              <a:t>Run a bunch (e.g. 1000) trial runs of making predictions. </a:t>
            </a:r>
          </a:p>
          <a:p>
            <a:pPr lvl="1"/>
            <a:r>
              <a:rPr lang="en-US" dirty="0"/>
              <a:t>Track all the predicted values. </a:t>
            </a:r>
          </a:p>
          <a:p>
            <a:pPr lvl="1"/>
            <a:r>
              <a:rPr lang="en-US" dirty="0"/>
              <a:t>Measure the values where 90/95/99/CI? fall in. </a:t>
            </a:r>
          </a:p>
          <a:p>
            <a:r>
              <a:rPr lang="en-US" dirty="0"/>
              <a:t>In the image, each 12-month prediction is a line. </a:t>
            </a:r>
          </a:p>
          <a:p>
            <a:pPr lvl="1"/>
            <a:r>
              <a:rPr lang="en-US" dirty="0"/>
              <a:t>95% of those predictions are within blue shading.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2B2808-5A27-7367-5EE2-67DDFC1C2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15" y="0"/>
            <a:ext cx="4426085" cy="6858000"/>
          </a:xfrm>
          <a:prstGeom prst="rect">
            <a:avLst/>
          </a:prstGeom>
        </p:spPr>
      </p:pic>
      <p:pic>
        <p:nvPicPr>
          <p:cNvPr id="1026" name="Picture 2" descr="Application of Monte Carlo Simulation in Financial Forecasting | by Tony  Tsoi | Medium">
            <a:extLst>
              <a:ext uri="{FF2B5EF4-FFF2-40B4-BE49-F238E27FC236}">
                <a16:creationId xmlns:a16="http://schemas.microsoft.com/office/drawing/2014/main" id="{F25F978C-8633-263C-4E50-A254DB65D9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653" y="4907461"/>
            <a:ext cx="2364548" cy="1950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1369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A8FA-D6CA-F632-C45A-636943769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Average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515F-EED5-7C3C-45DC-B6718A9C4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612591"/>
          </a:xfrm>
        </p:spPr>
        <p:txBody>
          <a:bodyPr/>
          <a:lstStyle/>
          <a:p>
            <a:r>
              <a:rPr lang="en-US" dirty="0"/>
              <a:t>These moving average models are the most simple we can do. </a:t>
            </a:r>
          </a:p>
          <a:p>
            <a:r>
              <a:rPr lang="en-US" dirty="0"/>
              <a:t>Need to spot period and add/</a:t>
            </a:r>
            <a:r>
              <a:rPr lang="en-US" dirty="0" err="1"/>
              <a:t>mult</a:t>
            </a:r>
            <a:r>
              <a:rPr lang="en-US" dirty="0"/>
              <a:t>, but very simple to create. </a:t>
            </a:r>
          </a:p>
          <a:p>
            <a:r>
              <a:rPr lang="en-US" dirty="0"/>
              <a:t>Not really able to handle complex things.</a:t>
            </a:r>
          </a:p>
          <a:p>
            <a:pPr lvl="1"/>
            <a:r>
              <a:rPr lang="en-US" dirty="0"/>
              <a:t>Weird patterns of seasons – e.g. a crop may harvest in June and Sept, and odd yearly pattern. </a:t>
            </a:r>
          </a:p>
          <a:p>
            <a:pPr lvl="1"/>
            <a:r>
              <a:rPr lang="en-US" dirty="0"/>
              <a:t>Weird change patterns – additive and multiplicative are simple patterns. </a:t>
            </a:r>
          </a:p>
          <a:p>
            <a:pPr lvl="1"/>
            <a:r>
              <a:rPr lang="en-US" dirty="0"/>
              <a:t>More complex patterns in data – image is from neural network model that is thousands to millions of times more complex and adaptable than a moving average. </a:t>
            </a:r>
          </a:p>
        </p:txBody>
      </p:sp>
      <p:pic>
        <p:nvPicPr>
          <p:cNvPr id="2050" name="Picture 2" descr="Time Series Deep Learning: Forecasting Sunspots With Keras Stateful LSTM In  R | R-bloggers">
            <a:extLst>
              <a:ext uri="{FF2B5EF4-FFF2-40B4-BE49-F238E27FC236}">
                <a16:creationId xmlns:a16="http://schemas.microsoft.com/office/drawing/2014/main" id="{60B16F11-CE4E-42E7-A07C-CA76F9E465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9" t="9284" r="4895" b="24199"/>
          <a:stretch>
            <a:fillRect/>
          </a:stretch>
        </p:blipFill>
        <p:spPr bwMode="auto">
          <a:xfrm>
            <a:off x="2987039" y="4778602"/>
            <a:ext cx="6217921" cy="197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0476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1C2A4B30-77D7-4FFB-8B53-A88BD68CA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FAC60B-7F32-F642-BD1A-77F116133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325112" cy="1049235"/>
          </a:xfrm>
        </p:spPr>
        <p:txBody>
          <a:bodyPr>
            <a:normAutofit/>
          </a:bodyPr>
          <a:lstStyle/>
          <a:p>
            <a:r>
              <a:rPr lang="en-US" sz="2800" dirty="0"/>
              <a:t>Stationary in Time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73AAE2E-5D6B-4952-A4BB-546C49F8D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1853754"/>
            <a:ext cx="432511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01E4D783-AD45-49E7-B6C7-BBACB829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83852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67F9E-CA23-2649-A11D-BB828F573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949440" cy="500424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A time series being stationary means that its major stats (mean, std) are not changing over time.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We can transform data to make it stationary: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Differencing. 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difference(T) = observation(T) – observation(T-1)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Other transformations (e.g. log). 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More complex time series analysis generally aims for this.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Make data follow a simple pattern through transformation.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Use simple pattern to predict.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As needed, reverse transformations to get real values. </a:t>
            </a:r>
          </a:p>
        </p:txBody>
      </p:sp>
      <p:pic>
        <p:nvPicPr>
          <p:cNvPr id="2050" name="Picture 2" descr="Time Series Analysis and Models | An Explorer of Things">
            <a:extLst>
              <a:ext uri="{FF2B5EF4-FFF2-40B4-BE49-F238E27FC236}">
                <a16:creationId xmlns:a16="http://schemas.microsoft.com/office/drawing/2014/main" id="{928CD29D-72B7-1148-BD34-5F79ED0D2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8"/>
          <a:stretch/>
        </p:blipFill>
        <p:spPr bwMode="auto">
          <a:xfrm>
            <a:off x="6757988" y="1952"/>
            <a:ext cx="5433709" cy="6880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610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AAEE-18A3-7C0B-4DF5-690CE1FD9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Stationary stats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10B95-71F2-9150-0367-66FB75341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3214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 If we can define some operation to make the data predictable, it’s easy to predict. </a:t>
            </a:r>
          </a:p>
          <a:p>
            <a:r>
              <a:rPr lang="en-US" dirty="0"/>
              <a:t>The preparation steps aim to remove the red stuff as much as possible. </a:t>
            </a:r>
          </a:p>
          <a:p>
            <a:r>
              <a:rPr lang="en-US" dirty="0"/>
              <a:t>The transformations (exp, log, differencing, etc..) can all be done/reversed for real/calc. values.</a:t>
            </a:r>
          </a:p>
        </p:txBody>
      </p:sp>
      <p:pic>
        <p:nvPicPr>
          <p:cNvPr id="4098" name="Picture 2" descr="Achieving Stationarity With Time Series Data | by Alex Mitrani | Towards  Data Science">
            <a:extLst>
              <a:ext uri="{FF2B5EF4-FFF2-40B4-BE49-F238E27FC236}">
                <a16:creationId xmlns:a16="http://schemas.microsoft.com/office/drawing/2014/main" id="{5E86B059-F8C7-8D0B-25BB-B82F5BDB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902" y="3175230"/>
            <a:ext cx="10978195" cy="31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6608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7508E-ACC1-F5E3-385A-309AD7697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Real Life Time-Series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3798E-220A-5F03-0558-93C0B0660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need to know these deeply, just the basic concept. </a:t>
            </a:r>
          </a:p>
        </p:txBody>
      </p:sp>
    </p:spTree>
    <p:extLst>
      <p:ext uri="{BB962C8B-B14F-4D97-AF65-F5344CB8AC3E}">
        <p14:creationId xmlns:p14="http://schemas.microsoft.com/office/powerpoint/2010/main" val="1293323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6F2E3-C441-EA45-AFB0-16746E9D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1B933-66AE-EF4B-A480-3CF6E4F1B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ARIMA is a common time series model, it has 3 parts:</a:t>
            </a:r>
          </a:p>
          <a:p>
            <a:pPr lvl="1"/>
            <a:r>
              <a:rPr lang="en-US" dirty="0"/>
              <a:t>AR (p) – Autoregressive. </a:t>
            </a:r>
            <a:r>
              <a:rPr lang="en-CA" dirty="0"/>
              <a:t>Regresses on its own prior or lagged values. </a:t>
            </a:r>
          </a:p>
          <a:p>
            <a:pPr lvl="2"/>
            <a:r>
              <a:rPr lang="en-CA" dirty="0"/>
              <a:t>AKA - it predicts future values based on past values. </a:t>
            </a:r>
            <a:endParaRPr lang="en-US" dirty="0"/>
          </a:p>
          <a:p>
            <a:pPr lvl="1"/>
            <a:r>
              <a:rPr lang="en-US" dirty="0"/>
              <a:t>I (d) – Integrated. </a:t>
            </a:r>
            <a:r>
              <a:rPr lang="en-CA" dirty="0"/>
              <a:t>Observes the difference between static data values and previous values. </a:t>
            </a:r>
          </a:p>
          <a:p>
            <a:pPr lvl="2"/>
            <a:r>
              <a:rPr lang="en-CA" dirty="0"/>
              <a:t>AKA – aims to achieve stationary data that is not subject to seasonality. </a:t>
            </a:r>
            <a:endParaRPr lang="en-US" dirty="0"/>
          </a:p>
          <a:p>
            <a:pPr lvl="1"/>
            <a:r>
              <a:rPr lang="en-US" dirty="0"/>
              <a:t>MA (q) – Moving Average. </a:t>
            </a:r>
          </a:p>
          <a:p>
            <a:pPr lvl="2"/>
            <a:r>
              <a:rPr lang="en-US" dirty="0"/>
              <a:t>AKA - A moving average. </a:t>
            </a:r>
          </a:p>
          <a:p>
            <a:r>
              <a:rPr lang="en-US" dirty="0"/>
              <a:t>ARIMA and similar models are a common approach that is simple, but more complex than averages.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543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2867E-3434-6EFB-4A4F-4F767C927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31" y="804519"/>
            <a:ext cx="3716779" cy="1049235"/>
          </a:xfrm>
        </p:spPr>
        <p:txBody>
          <a:bodyPr>
            <a:normAutofit/>
          </a:bodyPr>
          <a:lstStyle/>
          <a:p>
            <a:r>
              <a:rPr lang="en-US" dirty="0"/>
              <a:t>ARIMA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FCCBA-DEE4-0926-09CC-90E7D973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4"/>
            <a:ext cx="3834012" cy="3450613"/>
          </a:xfrm>
        </p:spPr>
        <p:txBody>
          <a:bodyPr>
            <a:normAutofit/>
          </a:bodyPr>
          <a:lstStyle/>
          <a:p>
            <a:r>
              <a:rPr lang="en-US" dirty="0"/>
              <a:t>There are several variants on ARIMA depending on the patterns in the data.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FD1E33D-4962-BAE7-7056-1CAD62CB5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34011" y="1362622"/>
            <a:ext cx="8357989" cy="5495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3530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DD57-685F-9106-A246-52DA83E4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ARIMA-d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C05F1-1780-38C0-3A3E-8D342C5F1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The ARIMA model type is a ‘basic’ one – a more elaborate moving average. </a:t>
            </a:r>
          </a:p>
          <a:p>
            <a:r>
              <a:rPr lang="en-US" dirty="0"/>
              <a:t>Pros:</a:t>
            </a:r>
          </a:p>
          <a:p>
            <a:pPr lvl="1"/>
            <a:r>
              <a:rPr lang="en-US" dirty="0"/>
              <a:t>Simple, transparent.</a:t>
            </a:r>
          </a:p>
          <a:p>
            <a:r>
              <a:rPr lang="en-US" dirty="0"/>
              <a:t>Cons:</a:t>
            </a:r>
          </a:p>
          <a:p>
            <a:pPr lvl="1"/>
            <a:r>
              <a:rPr lang="en-US" dirty="0"/>
              <a:t>Potentially too simple, not adaptable to complicated scenarios. </a:t>
            </a:r>
          </a:p>
          <a:p>
            <a:r>
              <a:rPr lang="en-US" dirty="0"/>
              <a:t>Note – these simpler models with more bias error may perform best, the future is hard to predict accurately. Too much ability of the model to adjust predictions may harm us. </a:t>
            </a:r>
          </a:p>
        </p:txBody>
      </p:sp>
    </p:spTree>
    <p:extLst>
      <p:ext uri="{BB962C8B-B14F-4D97-AF65-F5344CB8AC3E}">
        <p14:creationId xmlns:p14="http://schemas.microsoft.com/office/powerpoint/2010/main" val="2830739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678F7-635A-D40C-AD90-AAADEA13E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Smarter Time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B1FF3-C207-9615-B32A-D907854A0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723927" cy="4199727"/>
          </a:xfrm>
        </p:spPr>
        <p:txBody>
          <a:bodyPr/>
          <a:lstStyle/>
          <a:p>
            <a:r>
              <a:rPr lang="en-US" dirty="0"/>
              <a:t>Modern models have much more capability than a simple ARIMA one. </a:t>
            </a:r>
          </a:p>
          <a:p>
            <a:r>
              <a:rPr lang="en-US" dirty="0"/>
              <a:t>Their capacity to learn is much larger - they have more parameters, can learn complex patterns. </a:t>
            </a:r>
          </a:p>
          <a:p>
            <a:pPr lvl="1"/>
            <a:r>
              <a:rPr lang="en-US" dirty="0"/>
              <a:t>In ds the number of parameters roughly tells us how complicated of a thing can be predicted. </a:t>
            </a:r>
          </a:p>
          <a:p>
            <a:pPr lvl="1"/>
            <a:r>
              <a:rPr lang="en-US" dirty="0"/>
              <a:t>E.g. image recognition is more complex than predicting the number of each shoe size needed for NIKE. </a:t>
            </a:r>
          </a:p>
          <a:p>
            <a:pPr lvl="1"/>
            <a:r>
              <a:rPr lang="en-US" dirty="0"/>
              <a:t>“Regular” simple machine learning models may have 5-100 parameters. </a:t>
            </a:r>
          </a:p>
          <a:p>
            <a:pPr lvl="1"/>
            <a:r>
              <a:rPr lang="en-US" dirty="0"/>
              <a:t>Neural networks (the models that are ‘AI’) will have millions or more. </a:t>
            </a:r>
          </a:p>
          <a:p>
            <a:pPr lvl="1"/>
            <a:r>
              <a:rPr lang="en-US" dirty="0"/>
              <a:t>Very smart models like ChatGPT have tens or hundreds of billions, rapidly growing. </a:t>
            </a:r>
          </a:p>
        </p:txBody>
      </p:sp>
    </p:spTree>
    <p:extLst>
      <p:ext uri="{BB962C8B-B14F-4D97-AF65-F5344CB8AC3E}">
        <p14:creationId xmlns:p14="http://schemas.microsoft.com/office/powerpoint/2010/main" val="29690862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2875-568E-E27F-EF8C-0E6385306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Facebook Prophet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6F92-A329-D6B9-24F3-6095A702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Facebook Prophet is a library that is well setup to handle common time-series problems:</a:t>
            </a:r>
          </a:p>
          <a:p>
            <a:pPr lvl="1"/>
            <a:r>
              <a:rPr lang="en-US" dirty="0"/>
              <a:t>Handles events such as holidays, including custom lists. </a:t>
            </a:r>
          </a:p>
          <a:p>
            <a:pPr lvl="1"/>
            <a:r>
              <a:rPr lang="en-US" dirty="0"/>
              <a:t>Can be set to anticipate change points, e.g. product launches. </a:t>
            </a:r>
          </a:p>
          <a:p>
            <a:pPr lvl="1"/>
            <a:r>
              <a:rPr lang="en-US" dirty="0"/>
              <a:t>Provides useful things like plotting and cross validation. </a:t>
            </a:r>
          </a:p>
          <a:p>
            <a:pPr lvl="1"/>
            <a:r>
              <a:rPr lang="en-US" dirty="0"/>
              <a:t>Can handle additional regressors – more variables. </a:t>
            </a:r>
          </a:p>
          <a:p>
            <a:pPr lvl="2"/>
            <a:r>
              <a:rPr lang="en-US" dirty="0"/>
              <a:t>E.g. can we predict tomorrows gas price with the past prices, as well as temperature, economic metrics, trade numbers,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Uses a neural network internally to be very smart and able to capture patterns. </a:t>
            </a:r>
          </a:p>
        </p:txBody>
      </p:sp>
    </p:spTree>
    <p:extLst>
      <p:ext uri="{BB962C8B-B14F-4D97-AF65-F5344CB8AC3E}">
        <p14:creationId xmlns:p14="http://schemas.microsoft.com/office/powerpoint/2010/main" val="9106167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908CA-F618-69BD-549B-825B06113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if Time Series Models are Good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CF182-81A2-A9AF-A6FD-3DE3AE16B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create a time series model to make predictions. </a:t>
            </a:r>
          </a:p>
          <a:p>
            <a:pPr lvl="1"/>
            <a:r>
              <a:rPr lang="en-US" dirty="0"/>
              <a:t>A simple moving average, some weighted moving average, </a:t>
            </a:r>
            <a:r>
              <a:rPr lang="en-US" dirty="0" err="1"/>
              <a:t>arima</a:t>
            </a:r>
            <a:r>
              <a:rPr lang="en-US" dirty="0"/>
              <a:t>, something more complex…</a:t>
            </a:r>
          </a:p>
        </p:txBody>
      </p:sp>
    </p:spTree>
    <p:extLst>
      <p:ext uri="{BB962C8B-B14F-4D97-AF65-F5344CB8AC3E}">
        <p14:creationId xmlns:p14="http://schemas.microsoft.com/office/powerpoint/2010/main" val="36400003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F363-3042-4442-0A02-0FD2819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Error Calculations </a:t>
            </a:r>
          </a:p>
        </p:txBody>
      </p:sp>
      <p:pic>
        <p:nvPicPr>
          <p:cNvPr id="1026" name="Picture 2" descr="Train/Test Split and Cross Validation - A Python Tutorial - AlgoTrading101  Blog">
            <a:extLst>
              <a:ext uri="{FF2B5EF4-FFF2-40B4-BE49-F238E27FC236}">
                <a16:creationId xmlns:a16="http://schemas.microsoft.com/office/drawing/2014/main" id="{65D73C26-95D9-56F2-1592-B5B743E9D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2262265"/>
            <a:ext cx="6419748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E5F5A-C165-2E53-CDF1-432BADE9B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748" y="2015734"/>
            <a:ext cx="5772251" cy="3450613"/>
          </a:xfrm>
        </p:spPr>
        <p:txBody>
          <a:bodyPr>
            <a:normAutofit/>
          </a:bodyPr>
          <a:lstStyle/>
          <a:p>
            <a:r>
              <a:rPr lang="en-US" dirty="0"/>
              <a:t>When time series models are tested, we normally just use the last bunch of records to test. </a:t>
            </a:r>
          </a:p>
          <a:p>
            <a:pPr lvl="1"/>
            <a:r>
              <a:rPr lang="en-US" dirty="0"/>
              <a:t>We use the model as normal to predict these. </a:t>
            </a:r>
          </a:p>
          <a:p>
            <a:pPr lvl="2"/>
            <a:r>
              <a:rPr lang="en-US" dirty="0"/>
              <a:t>I.e. calculate moving average, </a:t>
            </a:r>
            <a:r>
              <a:rPr lang="en-US" dirty="0" err="1"/>
              <a:t>arima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Since we know the value, we can compare to pred. </a:t>
            </a:r>
          </a:p>
          <a:p>
            <a:pPr lvl="1"/>
            <a:r>
              <a:rPr lang="en-US" dirty="0"/>
              <a:t>Value is the individual prediction error, a residual. </a:t>
            </a:r>
          </a:p>
          <a:p>
            <a:pPr lvl="1"/>
            <a:r>
              <a:rPr lang="en-US" dirty="0"/>
              <a:t>These are tallied into overall error (e.g. MSE/RMSE)</a:t>
            </a:r>
          </a:p>
          <a:p>
            <a:r>
              <a:rPr lang="en-US" dirty="0"/>
              <a:t>We’ll do more on error in detail soon. </a:t>
            </a:r>
          </a:p>
        </p:txBody>
      </p:sp>
    </p:spTree>
    <p:extLst>
      <p:ext uri="{BB962C8B-B14F-4D97-AF65-F5344CB8AC3E}">
        <p14:creationId xmlns:p14="http://schemas.microsoft.com/office/powerpoint/2010/main" val="3074098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317FF-FD83-F6DC-2A65-97914BFB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23371-95C1-6DCD-7F38-C646E65BF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8" name="Picture 6" descr="An Introduction to Time Series Analysis with ARIMA | by Taha Binhuraib |  Towards Data Science">
            <a:extLst>
              <a:ext uri="{FF2B5EF4-FFF2-40B4-BE49-F238E27FC236}">
                <a16:creationId xmlns:a16="http://schemas.microsoft.com/office/drawing/2014/main" id="{80206A55-FE5D-DA58-FC63-500707A09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850" y="793750"/>
            <a:ext cx="10020300" cy="527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2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5BD4C-1366-F7CE-BB72-33EBDC78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3275-8696-EE31-2C2B-7B9C2E9A5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252" y="1925904"/>
            <a:ext cx="10793895" cy="4127577"/>
          </a:xfrm>
        </p:spPr>
        <p:txBody>
          <a:bodyPr/>
          <a:lstStyle/>
          <a:p>
            <a:r>
              <a:rPr lang="en-US" dirty="0"/>
              <a:t>Time series forecasting is one of the most simple types of predictive models. </a:t>
            </a:r>
          </a:p>
          <a:p>
            <a:pPr lvl="1"/>
            <a:r>
              <a:rPr lang="en-US" dirty="0"/>
              <a:t>Simple ones are just a </a:t>
            </a:r>
            <a:r>
              <a:rPr lang="en-US"/>
              <a:t>moving average – and </a:t>
            </a:r>
            <a:r>
              <a:rPr lang="en-US" b="1"/>
              <a:t>we can do them in Tableau!!!!!!</a:t>
            </a:r>
            <a:endParaRPr lang="en-US" dirty="0"/>
          </a:p>
          <a:p>
            <a:pPr lvl="1"/>
            <a:r>
              <a:rPr lang="en-US" dirty="0"/>
              <a:t>More complexity can be added to handle more complex scenarios. </a:t>
            </a:r>
          </a:p>
          <a:p>
            <a:r>
              <a:rPr lang="en-US" dirty="0"/>
              <a:t>Models can be compared by calculating and totaling residuals – test error on old data. </a:t>
            </a:r>
          </a:p>
          <a:p>
            <a:pPr lvl="1"/>
            <a:r>
              <a:rPr lang="en-US" dirty="0"/>
              <a:t>This is generally true for all predictions. </a:t>
            </a:r>
          </a:p>
          <a:p>
            <a:r>
              <a:rPr lang="en-US" dirty="0"/>
              <a:t>We can show the accuracy of our predictions with a confidence interval.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57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C2F85-D865-4762-C073-D95F5BD52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ADF10-EA74-AC60-940E-2D988E9A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88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F4B7F-83E0-B689-9BD9-2744E83CE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Prelude – Predictive Model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B125-9F59-36CD-4576-CEEBD2B88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013294"/>
          </a:xfrm>
        </p:spPr>
        <p:txBody>
          <a:bodyPr/>
          <a:lstStyle/>
          <a:p>
            <a:r>
              <a:rPr lang="en-US" dirty="0"/>
              <a:t>Prior to looking at regression models we much clarify a bit on model types. </a:t>
            </a:r>
          </a:p>
          <a:p>
            <a:r>
              <a:rPr lang="en-US" dirty="0"/>
              <a:t>There are several categories of predictive models, the most common are:</a:t>
            </a:r>
          </a:p>
          <a:p>
            <a:pPr lvl="1"/>
            <a:r>
              <a:rPr lang="en-US" dirty="0"/>
              <a:t>Regression – predicting a value. </a:t>
            </a:r>
          </a:p>
          <a:p>
            <a:pPr lvl="1"/>
            <a:r>
              <a:rPr lang="en-US" dirty="0"/>
              <a:t>Classification – predicting a class (like True/False). </a:t>
            </a:r>
          </a:p>
          <a:p>
            <a:r>
              <a:rPr lang="en-US" dirty="0"/>
              <a:t>Our tableau stuff does regression. </a:t>
            </a:r>
          </a:p>
          <a:p>
            <a:r>
              <a:rPr lang="en-US" dirty="0"/>
              <a:t>Classification is almost identical from our perspective, only result is different. </a:t>
            </a:r>
          </a:p>
        </p:txBody>
      </p:sp>
      <p:pic>
        <p:nvPicPr>
          <p:cNvPr id="3074" name="Picture 2" descr="Regression vs Classification in Machine Learning: What's the Difference? |  by TheDataScientistKiran | Python in Plain English">
            <a:extLst>
              <a:ext uri="{FF2B5EF4-FFF2-40B4-BE49-F238E27FC236}">
                <a16:creationId xmlns:a16="http://schemas.microsoft.com/office/drawing/2014/main" id="{6BA1CEAB-1C3A-5CAE-8D3E-01C30049A6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734" y="4867048"/>
            <a:ext cx="5840531" cy="1990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2796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241CB-23C4-DD04-DAFB-6EA582DBD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DB32E-9528-38D5-7890-6A8EAC9B6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543" y="1853754"/>
            <a:ext cx="5671457" cy="4199727"/>
          </a:xfrm>
        </p:spPr>
        <p:txBody>
          <a:bodyPr/>
          <a:lstStyle/>
          <a:p>
            <a:r>
              <a:rPr lang="en-US" dirty="0"/>
              <a:t>Regression models are something you’ve seen before – lines of best fit. </a:t>
            </a:r>
          </a:p>
          <a:p>
            <a:r>
              <a:rPr lang="en-US" dirty="0"/>
              <a:t>A regression model:</a:t>
            </a:r>
          </a:p>
          <a:p>
            <a:pPr lvl="1"/>
            <a:r>
              <a:rPr lang="en-US" dirty="0"/>
              <a:t>Allows us to predict Y given X(s). </a:t>
            </a:r>
          </a:p>
          <a:p>
            <a:pPr lvl="1"/>
            <a:r>
              <a:rPr lang="en-US" dirty="0"/>
              <a:t>Is a linear equation – y = </a:t>
            </a:r>
            <a:r>
              <a:rPr lang="en-US" dirty="0" err="1"/>
              <a:t>mx+b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line is down the ‘middle’ of the data.</a:t>
            </a:r>
          </a:p>
          <a:p>
            <a:r>
              <a:rPr lang="en-US" dirty="0"/>
              <a:t>The ML model </a:t>
            </a:r>
            <a:r>
              <a:rPr lang="en-US" i="1" dirty="0"/>
              <a:t>is</a:t>
            </a:r>
            <a:r>
              <a:rPr lang="en-US" dirty="0"/>
              <a:t> the equation.  </a:t>
            </a:r>
          </a:p>
          <a:p>
            <a:pPr lvl="1"/>
            <a:r>
              <a:rPr lang="en-US" dirty="0"/>
              <a:t>M and b are learned by the algorithm.</a:t>
            </a:r>
          </a:p>
          <a:p>
            <a:pPr lvl="1"/>
            <a:r>
              <a:rPr lang="en-US" dirty="0"/>
              <a:t>We can insert any x ang get predicted y.</a:t>
            </a:r>
          </a:p>
          <a:p>
            <a:pPr lvl="1"/>
            <a:r>
              <a:rPr lang="en-US" dirty="0"/>
              <a:t>We can have many </a:t>
            </a:r>
            <a:r>
              <a:rPr lang="en-US" dirty="0" err="1"/>
              <a:t>Xs</a:t>
            </a:r>
            <a:r>
              <a:rPr lang="en-US" dirty="0"/>
              <a:t>, add more terms. </a:t>
            </a:r>
          </a:p>
          <a:p>
            <a:pPr lvl="1"/>
            <a:endParaRPr lang="en-US" dirty="0"/>
          </a:p>
        </p:txBody>
      </p:sp>
      <p:pic>
        <p:nvPicPr>
          <p:cNvPr id="1026" name="Picture 2" descr="What Is Linear Regression in Machine Learning? | Grammarly">
            <a:extLst>
              <a:ext uri="{FF2B5EF4-FFF2-40B4-BE49-F238E27FC236}">
                <a16:creationId xmlns:a16="http://schemas.microsoft.com/office/drawing/2014/main" id="{4A4EB581-5301-7555-FEBE-647AB305C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6" t="13006" r="8482" b="12143"/>
          <a:stretch>
            <a:fillRect/>
          </a:stretch>
        </p:blipFill>
        <p:spPr bwMode="auto">
          <a:xfrm>
            <a:off x="6096000" y="2283866"/>
            <a:ext cx="6096000" cy="2914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8998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DBFD-6657-3E66-0096-79B58109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How is a Regression Model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FE12C-7E1A-56DD-899E-0176F539C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Regression models are computed for us by the machine. </a:t>
            </a:r>
          </a:p>
          <a:p>
            <a:pPr lvl="1"/>
            <a:r>
              <a:rPr lang="en-US" dirty="0"/>
              <a:t>We provide old data, the computer uses that to learn the pattern. </a:t>
            </a:r>
          </a:p>
          <a:p>
            <a:pPr lvl="1"/>
            <a:r>
              <a:rPr lang="en-US" dirty="0"/>
              <a:t>In linear regression, the slope and intercept are calculated. </a:t>
            </a:r>
          </a:p>
          <a:p>
            <a:pPr lvl="1"/>
            <a:r>
              <a:rPr lang="en-US" dirty="0"/>
              <a:t>Different types of models do the same thing, with different math. </a:t>
            </a:r>
          </a:p>
          <a:p>
            <a:r>
              <a:rPr lang="en-US" dirty="0"/>
              <a:t>The model is just a thing that transforms input to output. </a:t>
            </a:r>
          </a:p>
          <a:p>
            <a:pPr lvl="1"/>
            <a:r>
              <a:rPr lang="en-US" dirty="0"/>
              <a:t>We can make different models and compare them to decide which is best. </a:t>
            </a:r>
          </a:p>
          <a:p>
            <a:r>
              <a:rPr lang="en-US" dirty="0"/>
              <a:t>Key – we don’t tell the computer how to predict Y from X, it finds it. </a:t>
            </a:r>
          </a:p>
          <a:p>
            <a:pPr lvl="1"/>
            <a:r>
              <a:rPr lang="en-US" dirty="0"/>
              <a:t>Computers are able to pick up on very subtle patterns. </a:t>
            </a:r>
          </a:p>
          <a:p>
            <a:pPr lvl="1"/>
            <a:r>
              <a:rPr lang="en-US" dirty="0"/>
              <a:t>If we have lots of data, this can be quite smart and accurate. </a:t>
            </a:r>
          </a:p>
          <a:p>
            <a:pPr lvl="1"/>
            <a:endParaRPr lang="en-US" dirty="0"/>
          </a:p>
        </p:txBody>
      </p:sp>
      <p:pic>
        <p:nvPicPr>
          <p:cNvPr id="2050" name="Picture 2" descr="Black Box Testing - Software Engineering - GeeksforGeeks">
            <a:extLst>
              <a:ext uri="{FF2B5EF4-FFF2-40B4-BE49-F238E27FC236}">
                <a16:creationId xmlns:a16="http://schemas.microsoft.com/office/drawing/2014/main" id="{72929DF0-2B9F-1DD5-C17A-26C96D0A54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09" t="31410" r="6179" b="16960"/>
          <a:stretch>
            <a:fillRect/>
          </a:stretch>
        </p:blipFill>
        <p:spPr bwMode="auto">
          <a:xfrm>
            <a:off x="7039154" y="421481"/>
            <a:ext cx="5152845" cy="1432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210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9436-0B9B-9E51-A316-C02EF3D3F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example – Bank Loans.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91243-65A2-B7DE-611F-D1E424943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780013" cy="4271001"/>
          </a:xfrm>
        </p:spPr>
        <p:txBody>
          <a:bodyPr/>
          <a:lstStyle/>
          <a:p>
            <a:r>
              <a:rPr lang="en-US" dirty="0"/>
              <a:t>To get a loan at a bank you fill out information (income, age, job, loan amt </a:t>
            </a:r>
            <a:r>
              <a:rPr lang="en-US" dirty="0" err="1"/>
              <a:t>etc</a:t>
            </a:r>
            <a:r>
              <a:rPr lang="en-US" dirty="0"/>
              <a:t>…), more info (e.g. credit score) is gathered by the bank, and these are the inputs to decide. </a:t>
            </a:r>
          </a:p>
          <a:p>
            <a:r>
              <a:rPr lang="en-US" dirty="0"/>
              <a:t>Traditionally, this goes to an underwriter (person who evaluates loan risk). </a:t>
            </a:r>
          </a:p>
          <a:p>
            <a:pPr lvl="1"/>
            <a:r>
              <a:rPr lang="en-US" dirty="0"/>
              <a:t>They make a decision on approval and/or interest rate based on many rules. </a:t>
            </a:r>
          </a:p>
          <a:p>
            <a:pPr lvl="1"/>
            <a:r>
              <a:rPr lang="en-US" dirty="0"/>
              <a:t>If income is +/-, credit score is +/-, savings amounts….</a:t>
            </a:r>
          </a:p>
          <a:p>
            <a:pPr lvl="1"/>
            <a:r>
              <a:rPr lang="en-US" dirty="0"/>
              <a:t>It is basically a flow chart of decisions to slot you into a category – how risky are you. </a:t>
            </a:r>
          </a:p>
          <a:p>
            <a:r>
              <a:rPr lang="en-US" dirty="0"/>
              <a:t>The rules used to decide are made by experts, based on experience. </a:t>
            </a:r>
          </a:p>
          <a:p>
            <a:pPr lvl="1"/>
            <a:r>
              <a:rPr lang="en-US" dirty="0"/>
              <a:t>From all the past loans we gave, what happened? Who paid, who defaulted, what are their stats.</a:t>
            </a:r>
          </a:p>
          <a:p>
            <a:pPr lvl="1"/>
            <a:r>
              <a:rPr lang="en-US" dirty="0"/>
              <a:t>Experts basically translate history and expectations into a model – inputs to output. </a:t>
            </a:r>
          </a:p>
          <a:p>
            <a:pPr lvl="1"/>
            <a:r>
              <a:rPr lang="en-US" dirty="0"/>
              <a:t>They need to know/identify what’s associated with good/bad loans. </a:t>
            </a:r>
          </a:p>
        </p:txBody>
      </p:sp>
    </p:spTree>
    <p:extLst>
      <p:ext uri="{BB962C8B-B14F-4D97-AF65-F5344CB8AC3E}">
        <p14:creationId xmlns:p14="http://schemas.microsoft.com/office/powerpoint/2010/main" val="1485589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6481B-7DAE-6FF7-16A5-4FEB89D47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What if A machine Could do that?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26969-26CE-A982-54F2-C5633C7F1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 was part of a project to replace the banking system with one that (can) automate that. </a:t>
            </a:r>
          </a:p>
          <a:p>
            <a:pPr lvl="1"/>
            <a:r>
              <a:rPr lang="en-US" dirty="0"/>
              <a:t>Overall decision is identical – take in financial inputs, predict if we loan. </a:t>
            </a:r>
          </a:p>
          <a:p>
            <a:r>
              <a:rPr lang="en-US" dirty="0"/>
              <a:t>Start with same inputs (or more similar ones) – financial info, loan details,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Instead of people making rules, the machine makes a model. </a:t>
            </a:r>
          </a:p>
          <a:p>
            <a:pPr lvl="1"/>
            <a:r>
              <a:rPr lang="en-US" dirty="0"/>
              <a:t>Provide old loan data: target of did they pay it back, inputs of the financials. </a:t>
            </a:r>
          </a:p>
          <a:p>
            <a:pPr lvl="1"/>
            <a:r>
              <a:rPr lang="en-US" dirty="0"/>
              <a:t>We don’t provide how to predict target from inputs, just give examples. </a:t>
            </a:r>
          </a:p>
          <a:p>
            <a:r>
              <a:rPr lang="en-US" dirty="0"/>
              <a:t>The learning process (where m and b are calculated) will find an optimal solution. </a:t>
            </a:r>
          </a:p>
          <a:p>
            <a:pPr lvl="1"/>
            <a:r>
              <a:rPr lang="en-US" dirty="0"/>
              <a:t>Machine can spot patterns and trends in what indicates loan quality far better than us. </a:t>
            </a:r>
          </a:p>
          <a:p>
            <a:pPr lvl="1"/>
            <a:r>
              <a:rPr lang="en-US" dirty="0"/>
              <a:t>If we have lots of data, this can be quite accurate. </a:t>
            </a:r>
          </a:p>
          <a:p>
            <a:pPr lvl="1"/>
            <a:r>
              <a:rPr lang="en-US" dirty="0"/>
              <a:t>Real banks sometimes use this (with large amounts most/all involve human approval). </a:t>
            </a:r>
          </a:p>
        </p:txBody>
      </p:sp>
    </p:spTree>
    <p:extLst>
      <p:ext uri="{BB962C8B-B14F-4D97-AF65-F5344CB8AC3E}">
        <p14:creationId xmlns:p14="http://schemas.microsoft.com/office/powerpoint/2010/main" val="27925734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BDE1-AEEB-6AEC-27CD-3DFF7A95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of Multiple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24F14-839B-5499-98DD-0C59C7924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2047" y="2015732"/>
            <a:ext cx="6371096" cy="4037749"/>
          </a:xfrm>
        </p:spPr>
        <p:txBody>
          <a:bodyPr/>
          <a:lstStyle/>
          <a:p>
            <a:r>
              <a:rPr lang="en-US" dirty="0"/>
              <a:t>The output of the training process is a model – something that predicts output given input. </a:t>
            </a:r>
          </a:p>
          <a:p>
            <a:r>
              <a:rPr lang="en-US" dirty="0"/>
              <a:t>Model can predict Y if we give a set of inputs, </a:t>
            </a:r>
            <a:r>
              <a:rPr lang="en-US" dirty="0" err="1"/>
              <a:t>Xs</a:t>
            </a:r>
            <a:r>
              <a:rPr lang="en-US" dirty="0"/>
              <a:t>. </a:t>
            </a:r>
          </a:p>
          <a:p>
            <a:r>
              <a:rPr lang="en-US" dirty="0"/>
              <a:t>Prediction is effectively a weighted average of the inputs:</a:t>
            </a:r>
          </a:p>
          <a:p>
            <a:pPr lvl="1"/>
            <a:r>
              <a:rPr lang="en-US" dirty="0"/>
              <a:t>Each x is a real metric (income, age, job,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Each coefficient (m, slope) weights it’s importance. </a:t>
            </a:r>
          </a:p>
          <a:p>
            <a:r>
              <a:rPr lang="en-US" dirty="0"/>
              <a:t>Each new prediction takes new </a:t>
            </a:r>
            <a:r>
              <a:rPr lang="en-US" dirty="0" err="1"/>
              <a:t>xs</a:t>
            </a:r>
            <a:r>
              <a:rPr lang="en-US" dirty="0"/>
              <a:t>, balances them by their weight, combines them all, that’s the predicted y. </a:t>
            </a:r>
          </a:p>
        </p:txBody>
      </p:sp>
      <p:pic>
        <p:nvPicPr>
          <p:cNvPr id="4098" name="Picture 2" descr="What Is Multiple Linear Regression (MLR)?">
            <a:extLst>
              <a:ext uri="{FF2B5EF4-FFF2-40B4-BE49-F238E27FC236}">
                <a16:creationId xmlns:a16="http://schemas.microsoft.com/office/drawing/2014/main" id="{D5CFC21F-B76C-9054-7389-6AF2CA95FC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312"/>
          <a:stretch>
            <a:fillRect/>
          </a:stretch>
        </p:blipFill>
        <p:spPr bwMode="auto">
          <a:xfrm>
            <a:off x="0" y="2286226"/>
            <a:ext cx="5712047" cy="306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6884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31E3B-E8CE-158B-01F7-95DDDB8BB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accurate are those Predictions?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3F1F9-826B-A284-AE34-3D89F5953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755" y="2015732"/>
            <a:ext cx="7107646" cy="40846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predicted values for the target are just that, predictions. </a:t>
            </a:r>
          </a:p>
          <a:p>
            <a:pPr lvl="1"/>
            <a:r>
              <a:rPr lang="en-US" dirty="0"/>
              <a:t>These predictions aren’t perfect, we hope that they are close. </a:t>
            </a:r>
          </a:p>
          <a:p>
            <a:r>
              <a:rPr lang="en-US" dirty="0"/>
              <a:t>We can evaluate a model for its quality in a few ways, based on the residuals. </a:t>
            </a:r>
          </a:p>
          <a:p>
            <a:r>
              <a:rPr lang="en-US" dirty="0"/>
              <a:t>The residual is the error for an individual prediction. </a:t>
            </a:r>
          </a:p>
          <a:p>
            <a:pPr lvl="1"/>
            <a:r>
              <a:rPr lang="en-US" dirty="0"/>
              <a:t>We can make a prediction from our model, compare to real value. </a:t>
            </a:r>
          </a:p>
          <a:p>
            <a:pPr lvl="1"/>
            <a:r>
              <a:rPr lang="en-US" dirty="0"/>
              <a:t>E.g. the stock price in reality is $37.45, our prediction is $37.50, the residual is .05. </a:t>
            </a:r>
          </a:p>
          <a:p>
            <a:r>
              <a:rPr lang="en-US" dirty="0"/>
              <a:t>We usually square and average these – the MSE. </a:t>
            </a:r>
          </a:p>
          <a:p>
            <a:r>
              <a:rPr lang="en-US" dirty="0"/>
              <a:t>The root of that is RMSE, on the same scale as our original data.</a:t>
            </a:r>
          </a:p>
        </p:txBody>
      </p:sp>
      <p:pic>
        <p:nvPicPr>
          <p:cNvPr id="5122" name="Picture 2" descr="Statistics from A to Z -- Confusing Concepts Clarified Blog - STATISTICS  FROM A TO Z-- CONFUSING CONCEPTS CLARIFIED">
            <a:extLst>
              <a:ext uri="{FF2B5EF4-FFF2-40B4-BE49-F238E27FC236}">
                <a16:creationId xmlns:a16="http://schemas.microsoft.com/office/drawing/2014/main" id="{8526C99D-8BD3-353B-C71D-4A4F23B6B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2155553"/>
            <a:ext cx="4927600" cy="229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20820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BB36-81AA-6380-D596-4E7A47C5F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8DE03-5F1A-A941-95BF-B22FD5D64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One other type of analysis we can do is association analysis. </a:t>
            </a:r>
          </a:p>
          <a:p>
            <a:pPr lvl="1"/>
            <a:r>
              <a:rPr lang="en-US" dirty="0"/>
              <a:t>Which things are tied/connected to each other? </a:t>
            </a:r>
          </a:p>
          <a:p>
            <a:r>
              <a:rPr lang="en-US" dirty="0"/>
              <a:t>Commonly used to find preferences. </a:t>
            </a:r>
          </a:p>
          <a:p>
            <a:pPr lvl="1"/>
            <a:r>
              <a:rPr lang="en-US" dirty="0"/>
              <a:t>If people who listen to artists A or B usually listen to both, suggest one to the rest. </a:t>
            </a:r>
          </a:p>
          <a:p>
            <a:pPr lvl="1"/>
            <a:r>
              <a:rPr lang="en-US" dirty="0"/>
              <a:t>If someone buys certain products, what else are they likely to buy. </a:t>
            </a:r>
          </a:p>
          <a:p>
            <a:r>
              <a:rPr lang="en-US" dirty="0"/>
              <a:t>Market basket analysis – look at patterns in a purchase to target actions. </a:t>
            </a:r>
          </a:p>
          <a:p>
            <a:pPr lvl="1"/>
            <a:r>
              <a:rPr lang="en-US" dirty="0"/>
              <a:t>Measure how ‘connected’ certain items are – if someone buys one, do they get the other. </a:t>
            </a:r>
          </a:p>
          <a:p>
            <a:pPr lvl="1"/>
            <a:r>
              <a:rPr lang="en-US" dirty="0"/>
              <a:t>E.g. how many laptop buyers get a new mouse or extra power adapter. </a:t>
            </a:r>
          </a:p>
          <a:p>
            <a:pPr lvl="1"/>
            <a:r>
              <a:rPr lang="en-US" dirty="0"/>
              <a:t>If someone fits the patten that they’re likely to get something else, target them. </a:t>
            </a:r>
          </a:p>
        </p:txBody>
      </p:sp>
    </p:spTree>
    <p:extLst>
      <p:ext uri="{BB962C8B-B14F-4D97-AF65-F5344CB8AC3E}">
        <p14:creationId xmlns:p14="http://schemas.microsoft.com/office/powerpoint/2010/main" val="3920259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F0EDD-C409-0AC4-1E22-8E0ED1CC6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Famously… Target</a:t>
            </a:r>
          </a:p>
        </p:txBody>
      </p:sp>
      <p:pic>
        <p:nvPicPr>
          <p:cNvPr id="4" name="Online Media 3" descr="&quot;Target knew teen was pregnant before her dad&quot; - Fox News">
            <a:hlinkClick r:id="" action="ppaction://media"/>
            <a:extLst>
              <a:ext uri="{FF2B5EF4-FFF2-40B4-BE49-F238E27FC236}">
                <a16:creationId xmlns:a16="http://schemas.microsoft.com/office/drawing/2014/main" id="{642D49F8-06F5-88AD-DBB8-E071EF323CD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524527" y="0"/>
            <a:ext cx="91429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571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1E654-CA14-5013-4B39-6B8353A6F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was too Targeted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F910F-BF85-A251-73BC-62DC7BF4C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7097" y="1853754"/>
            <a:ext cx="9787757" cy="4259663"/>
          </a:xfrm>
        </p:spPr>
        <p:txBody>
          <a:bodyPr>
            <a:normAutofit/>
          </a:bodyPr>
          <a:lstStyle/>
          <a:p>
            <a:r>
              <a:rPr lang="en-US" dirty="0"/>
              <a:t>Target made a system to score customers for ‘pregnancy score’. </a:t>
            </a:r>
          </a:p>
          <a:p>
            <a:r>
              <a:rPr lang="en-US" dirty="0"/>
              <a:t>Patterns were found by looking at people on the baby registry. </a:t>
            </a:r>
          </a:p>
          <a:p>
            <a:pPr lvl="1"/>
            <a:r>
              <a:rPr lang="en-US" dirty="0"/>
              <a:t>Females on baby registry can be assumed to be pregnant. </a:t>
            </a:r>
          </a:p>
          <a:p>
            <a:pPr lvl="1"/>
            <a:r>
              <a:rPr lang="en-US" dirty="0"/>
              <a:t>Due to loyalty cards (or cc, or other ways) we can identify this person always. </a:t>
            </a:r>
          </a:p>
          <a:p>
            <a:pPr lvl="1"/>
            <a:r>
              <a:rPr lang="en-US" dirty="0"/>
              <a:t>People on the baby registry changed their shopping patterns somewhat. </a:t>
            </a:r>
          </a:p>
          <a:p>
            <a:pPr lvl="2"/>
            <a:r>
              <a:rPr lang="en-US" dirty="0"/>
              <a:t>E.g. more lotion, vitamins, less smokes,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Pregnancy score looks at each person’s purchases, and measures similarity to </a:t>
            </a:r>
            <a:r>
              <a:rPr lang="en-US" dirty="0" err="1"/>
              <a:t>preggos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what you buy is very similar to registry people, you are likely pregnant. </a:t>
            </a:r>
          </a:p>
          <a:p>
            <a:pPr lvl="1"/>
            <a:r>
              <a:rPr lang="en-US" dirty="0"/>
              <a:t>Target targeted adds for strollers, cribs, </a:t>
            </a:r>
            <a:r>
              <a:rPr lang="en-US" dirty="0" err="1"/>
              <a:t>etc</a:t>
            </a:r>
            <a:r>
              <a:rPr lang="en-US" dirty="0"/>
              <a:t>… to these people as </a:t>
            </a:r>
            <a:r>
              <a:rPr lang="en-US" dirty="0" err="1"/>
              <a:t>valuabe</a:t>
            </a:r>
            <a:r>
              <a:rPr lang="en-US" dirty="0"/>
              <a:t> customers. </a:t>
            </a:r>
          </a:p>
          <a:p>
            <a:r>
              <a:rPr lang="en-US" dirty="0"/>
              <a:t>Some data got really mad, yelled at the manager for them calling his kid pregnant – she was. </a:t>
            </a:r>
          </a:p>
        </p:txBody>
      </p:sp>
    </p:spTree>
    <p:extLst>
      <p:ext uri="{BB962C8B-B14F-4D97-AF65-F5344CB8AC3E}">
        <p14:creationId xmlns:p14="http://schemas.microsoft.com/office/powerpoint/2010/main" val="13769157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90C7-89BD-D743-33A4-95166838F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EC56E-8A37-394C-1D2E-973FB6F38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2920" y="2015732"/>
            <a:ext cx="4906714" cy="3740649"/>
          </a:xfrm>
        </p:spPr>
        <p:txBody>
          <a:bodyPr/>
          <a:lstStyle/>
          <a:p>
            <a:r>
              <a:rPr lang="en-US" dirty="0"/>
              <a:t>We can do market basket analysis. </a:t>
            </a:r>
          </a:p>
          <a:p>
            <a:r>
              <a:rPr lang="en-US" dirty="0"/>
              <a:t>The values measure how frequently these items are bought together. </a:t>
            </a:r>
          </a:p>
          <a:p>
            <a:r>
              <a:rPr lang="en-US" dirty="0"/>
              <a:t>For many associations, this works. </a:t>
            </a:r>
          </a:p>
          <a:p>
            <a:pPr lvl="1"/>
            <a:r>
              <a:rPr lang="en-US" dirty="0"/>
              <a:t>Often need longitudinal tracking – e.g. a customer over several transactions. </a:t>
            </a:r>
          </a:p>
          <a:p>
            <a:r>
              <a:rPr lang="en-US" dirty="0"/>
              <a:t>Not causation, only correlation. </a:t>
            </a:r>
          </a:p>
        </p:txBody>
      </p:sp>
      <p:pic>
        <p:nvPicPr>
          <p:cNvPr id="6146" name="Picture 2" descr="TableauTipTuesday Week 41 – Market Basket Matrix – missdataviz">
            <a:extLst>
              <a:ext uri="{FF2B5EF4-FFF2-40B4-BE49-F238E27FC236}">
                <a16:creationId xmlns:a16="http://schemas.microsoft.com/office/drawing/2014/main" id="{025BBD61-37D1-6503-BB84-D1943E20D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15732"/>
            <a:ext cx="6862920" cy="374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1417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4AA3B-F008-C419-6F35-9D84A51E3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want To Speak to Your Supervisor!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57D79-3534-C0D4-BD0D-20CBDE7B52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6203" y="2015732"/>
            <a:ext cx="5669797" cy="4037749"/>
          </a:xfrm>
        </p:spPr>
        <p:txBody>
          <a:bodyPr/>
          <a:lstStyle/>
          <a:p>
            <a:r>
              <a:rPr lang="en-US" dirty="0"/>
              <a:t>Regression vs association highlights a split.</a:t>
            </a:r>
          </a:p>
          <a:p>
            <a:r>
              <a:rPr lang="en-US" dirty="0"/>
              <a:t>Supervised:</a:t>
            </a:r>
          </a:p>
          <a:p>
            <a:pPr lvl="1"/>
            <a:r>
              <a:rPr lang="en-US" dirty="0"/>
              <a:t>We know the specific outcomes just not count. </a:t>
            </a:r>
          </a:p>
          <a:p>
            <a:pPr lvl="1"/>
            <a:r>
              <a:rPr lang="en-US" dirty="0"/>
              <a:t>Customer yes/no, stock price, temperature. </a:t>
            </a:r>
          </a:p>
          <a:p>
            <a:pPr lvl="1"/>
            <a:r>
              <a:rPr lang="en-US" dirty="0"/>
              <a:t>Regression and classification fall here. </a:t>
            </a:r>
          </a:p>
          <a:p>
            <a:r>
              <a:rPr lang="en-US" dirty="0"/>
              <a:t>Unsupervised:</a:t>
            </a:r>
          </a:p>
          <a:p>
            <a:pPr lvl="1"/>
            <a:r>
              <a:rPr lang="en-US" dirty="0"/>
              <a:t>We don’t know the specific outcomes. </a:t>
            </a:r>
          </a:p>
          <a:p>
            <a:pPr lvl="1"/>
            <a:r>
              <a:rPr lang="en-US" dirty="0"/>
              <a:t>We input data and get results, its exploratory. </a:t>
            </a:r>
          </a:p>
          <a:p>
            <a:pPr lvl="1"/>
            <a:r>
              <a:rPr lang="en-US" dirty="0"/>
              <a:t>Clustering </a:t>
            </a:r>
            <a:r>
              <a:rPr lang="en-US"/>
              <a:t>and association fall here. </a:t>
            </a:r>
            <a:endParaRPr lang="en-US" dirty="0"/>
          </a:p>
          <a:p>
            <a:endParaRPr lang="en-US" dirty="0"/>
          </a:p>
        </p:txBody>
      </p:sp>
      <p:pic>
        <p:nvPicPr>
          <p:cNvPr id="7170" name="Picture 2" descr="Supervised vs Unsupervised Learning">
            <a:extLst>
              <a:ext uri="{FF2B5EF4-FFF2-40B4-BE49-F238E27FC236}">
                <a16:creationId xmlns:a16="http://schemas.microsoft.com/office/drawing/2014/main" id="{7CE8A57C-17CC-9C80-9B97-6E17FD518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6332" y="1557025"/>
            <a:ext cx="6085668" cy="489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890547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5B41-7F8D-2201-118B-2BBEE65A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Predict?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5FC50-4793-56D1-34D2-881050DDA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13710"/>
            <a:ext cx="9603275" cy="4139772"/>
          </a:xfrm>
        </p:spPr>
        <p:txBody>
          <a:bodyPr/>
          <a:lstStyle/>
          <a:p>
            <a:r>
              <a:rPr lang="en-US" dirty="0"/>
              <a:t>Prediction models are very common. </a:t>
            </a:r>
          </a:p>
          <a:p>
            <a:pPr lvl="1"/>
            <a:r>
              <a:rPr lang="en-US" dirty="0"/>
              <a:t>Most common use of machine learning, we want to predict some unknown. </a:t>
            </a:r>
          </a:p>
          <a:p>
            <a:r>
              <a:rPr lang="en-US" dirty="0"/>
              <a:t>We can predict what we need from what we have. </a:t>
            </a:r>
          </a:p>
          <a:p>
            <a:pPr lvl="1"/>
            <a:r>
              <a:rPr lang="en-US" dirty="0"/>
              <a:t>Loan – have applicant info, want to know if they’ll pay. </a:t>
            </a:r>
          </a:p>
          <a:p>
            <a:pPr lvl="1"/>
            <a:r>
              <a:rPr lang="en-US" dirty="0"/>
              <a:t>Stock levels – we have past sales info, how many jars of pickles will we sell? </a:t>
            </a:r>
          </a:p>
          <a:p>
            <a:r>
              <a:rPr lang="en-US" dirty="0"/>
              <a:t>Since modern business generates data on everything, this can be quite powerful. </a:t>
            </a:r>
          </a:p>
          <a:p>
            <a:r>
              <a:rPr lang="en-US" dirty="0"/>
              <a:t>Many/most AI/ML related things are based on this concept. </a:t>
            </a:r>
          </a:p>
          <a:p>
            <a:pPr lvl="1"/>
            <a:r>
              <a:rPr lang="en-US" dirty="0"/>
              <a:t>E.g. ChatGPT is (roughly) a stack of a billion linear regressions (kind of, not literally). </a:t>
            </a:r>
          </a:p>
        </p:txBody>
      </p:sp>
    </p:spTree>
    <p:extLst>
      <p:ext uri="{BB962C8B-B14F-4D97-AF65-F5344CB8AC3E}">
        <p14:creationId xmlns:p14="http://schemas.microsoft.com/office/powerpoint/2010/main" val="162447813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7708</TotalTime>
  <Words>3248</Words>
  <Application>Microsoft Macintosh PowerPoint</Application>
  <PresentationFormat>Widescreen</PresentationFormat>
  <Paragraphs>270</Paragraphs>
  <Slides>40</Slides>
  <Notes>0</Notes>
  <HiddenSlides>1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Gill Sans MT</vt:lpstr>
      <vt:lpstr>Gallery</vt:lpstr>
      <vt:lpstr>Housekeeping</vt:lpstr>
      <vt:lpstr>Proposal</vt:lpstr>
      <vt:lpstr>More Project Details</vt:lpstr>
      <vt:lpstr>Regression Models and Time Series Forecasting</vt:lpstr>
      <vt:lpstr>Time Series Data</vt:lpstr>
      <vt:lpstr>In Tableau…</vt:lpstr>
      <vt:lpstr>Time Series Predictions Are Hard</vt:lpstr>
      <vt:lpstr>PowerPoint Presentation</vt:lpstr>
      <vt:lpstr>Time Series Components</vt:lpstr>
      <vt:lpstr>Exponential Smoothing</vt:lpstr>
      <vt:lpstr>PowerPoint Presentation</vt:lpstr>
      <vt:lpstr>Confidence Intervals and Uncertainty</vt:lpstr>
      <vt:lpstr>Confidence Intervals</vt:lpstr>
      <vt:lpstr>Moving Average Predictions</vt:lpstr>
      <vt:lpstr>Stationary in Time</vt:lpstr>
      <vt:lpstr>Stationary stats</vt:lpstr>
      <vt:lpstr>Some Real Life Time-Series Examples</vt:lpstr>
      <vt:lpstr>ARIMA</vt:lpstr>
      <vt:lpstr>ARIMA Variants</vt:lpstr>
      <vt:lpstr>ARIMA-d Up</vt:lpstr>
      <vt:lpstr>Smarter Time Models</vt:lpstr>
      <vt:lpstr>Facebook Prophet</vt:lpstr>
      <vt:lpstr>Checking if Time Series Models are Good</vt:lpstr>
      <vt:lpstr>Error Calculations </vt:lpstr>
      <vt:lpstr>PowerPoint Presentation</vt:lpstr>
      <vt:lpstr>Time Series Conclusion</vt:lpstr>
      <vt:lpstr>Regression</vt:lpstr>
      <vt:lpstr>Prelude – Predictive Model Types</vt:lpstr>
      <vt:lpstr>Regression Models</vt:lpstr>
      <vt:lpstr>How is a Regression Model Made</vt:lpstr>
      <vt:lpstr>Real Life example – Bank Loans. </vt:lpstr>
      <vt:lpstr>But What if A machine Could do that? </vt:lpstr>
      <vt:lpstr>Result of Multiple regression</vt:lpstr>
      <vt:lpstr>How accurate are those Predictions?</vt:lpstr>
      <vt:lpstr>Association</vt:lpstr>
      <vt:lpstr>Famously… Target</vt:lpstr>
      <vt:lpstr>Target was too Targeted</vt:lpstr>
      <vt:lpstr>In Tableau</vt:lpstr>
      <vt:lpstr>I want To Speak to Your Supervisor!</vt:lpstr>
      <vt:lpstr>Why Predict?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Akeem Semper</dc:creator>
  <cp:keywords/>
  <dc:description/>
  <cp:lastModifiedBy>Akeem Semper</cp:lastModifiedBy>
  <cp:revision>50</cp:revision>
  <dcterms:created xsi:type="dcterms:W3CDTF">2022-03-03T03:04:13Z</dcterms:created>
  <dcterms:modified xsi:type="dcterms:W3CDTF">2025-11-18T16:54:09Z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2025-03-11T16:59:05Z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972ff472-74cb-4be2-97b5-600b9297ca3f</vt:lpwstr>
  </property>
  <property fmtid="{D5CDD505-2E9C-101B-9397-08002B2CF9AE}" pid="8" name="MSIP_Label_10877899-02b0-462c-b2a9-b7d15c4f96fe_ContentBits">
    <vt:lpwstr>0</vt:lpwstr>
  </property>
</Properties>
</file>