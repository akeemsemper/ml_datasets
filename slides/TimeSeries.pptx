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6" r:id="rId2"/>
    <p:sldId id="256" r:id="rId3"/>
    <p:sldId id="270" r:id="rId4"/>
    <p:sldId id="297" r:id="rId5"/>
    <p:sldId id="288" r:id="rId6"/>
    <p:sldId id="271" r:id="rId7"/>
    <p:sldId id="272" r:id="rId8"/>
    <p:sldId id="258" r:id="rId9"/>
    <p:sldId id="261" r:id="rId10"/>
    <p:sldId id="298" r:id="rId11"/>
    <p:sldId id="299" r:id="rId12"/>
    <p:sldId id="294" r:id="rId13"/>
    <p:sldId id="262" r:id="rId14"/>
    <p:sldId id="284" r:id="rId15"/>
    <p:sldId id="300" r:id="rId16"/>
    <p:sldId id="257" r:id="rId17"/>
    <p:sldId id="290" r:id="rId18"/>
    <p:sldId id="273" r:id="rId19"/>
    <p:sldId id="274" r:id="rId20"/>
    <p:sldId id="267" r:id="rId21"/>
    <p:sldId id="301" r:id="rId22"/>
    <p:sldId id="276" r:id="rId23"/>
    <p:sldId id="27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7"/>
    <p:restoredTop sz="95897"/>
  </p:normalViewPr>
  <p:slideViewPr>
    <p:cSldViewPr snapToGrid="0" snapToObjects="1">
      <p:cViewPr varScale="1">
        <p:scale>
          <a:sx n="147" d="100"/>
          <a:sy n="147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6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65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20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49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5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11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6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52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94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73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F7FD4-E345-3B4F-B408-1EAACE55926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B808F05-96DB-5D45-A719-6E326C3513F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2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D86A9-0202-350E-3A45-FB492544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2034-D711-6164-B302-1718F8CB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8130"/>
            <a:ext cx="9603275" cy="38862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80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358F-3029-3B46-8F88-5B7AAD9B2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Series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0FEBA-B494-5046-9CD2-12082358F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4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B493-8DF2-7D9B-AAF8-D6D0AE1F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E27E-E260-95A4-E84F-4952B8D9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Time-series data is data that progresses over time. </a:t>
            </a:r>
          </a:p>
          <a:p>
            <a:pPr lvl="1"/>
            <a:r>
              <a:rPr lang="en-US" dirty="0"/>
              <a:t>E.g. gas prices, stock prices, temperature,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 basis of predictions, or forecasts, is by looking at patterns in the data. </a:t>
            </a:r>
          </a:p>
          <a:p>
            <a:r>
              <a:rPr lang="en-US" dirty="0"/>
              <a:t>Time-series data has a few parts that our forecasts try to separate:</a:t>
            </a:r>
          </a:p>
          <a:p>
            <a:pPr lvl="1"/>
            <a:r>
              <a:rPr lang="en-US" dirty="0"/>
              <a:t>Trend – are we going up or down as time progresses. </a:t>
            </a:r>
          </a:p>
          <a:p>
            <a:pPr lvl="1"/>
            <a:r>
              <a:rPr lang="en-US" dirty="0"/>
              <a:t>Seasonality – do we have regular waves, such as seasonal sales. </a:t>
            </a:r>
          </a:p>
          <a:p>
            <a:pPr lvl="1"/>
            <a:r>
              <a:rPr lang="en-US" dirty="0"/>
              <a:t>Cyclicality – do we have larger waves, spanning several seasons. </a:t>
            </a:r>
          </a:p>
          <a:p>
            <a:pPr lvl="1"/>
            <a:r>
              <a:rPr lang="en-US" dirty="0"/>
              <a:t>Irregularity – how much variation is there that doesn’t fit into the above. </a:t>
            </a:r>
          </a:p>
          <a:p>
            <a:r>
              <a:rPr lang="en-US" dirty="0"/>
              <a:t>The models generally try to decompose each of these, measure each, and recombine them to create projections. </a:t>
            </a:r>
          </a:p>
        </p:txBody>
      </p:sp>
    </p:spTree>
    <p:extLst>
      <p:ext uri="{BB962C8B-B14F-4D97-AF65-F5344CB8AC3E}">
        <p14:creationId xmlns:p14="http://schemas.microsoft.com/office/powerpoint/2010/main" val="135101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B965-0900-8D0A-A311-386B3B13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Tableau…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C864-4A36-A8B3-5C3A-301DE5CD5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3862938" cy="3450613"/>
          </a:xfrm>
        </p:spPr>
        <p:txBody>
          <a:bodyPr/>
          <a:lstStyle/>
          <a:p>
            <a:r>
              <a:rPr lang="en-US" dirty="0"/>
              <a:t>Our ability to forecast in Tableau is useful but limited. </a:t>
            </a:r>
          </a:p>
          <a:p>
            <a:r>
              <a:rPr lang="en-US" dirty="0"/>
              <a:t>We can do basic moving average forecasts. </a:t>
            </a:r>
          </a:p>
          <a:p>
            <a:pPr lvl="1"/>
            <a:r>
              <a:rPr lang="en-US" dirty="0"/>
              <a:t>Use the average* of the last several* values as a prediction for the next* value.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1AC70-58DF-E0D4-1B41-786423580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517" y="0"/>
            <a:ext cx="6877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7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86F9-CCA3-A78A-EDFD-4A7F4C55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Predictions Are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03D7-46ED-A783-E3C5-89274329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It is hard to make accurate time series predictions into the future. </a:t>
            </a:r>
          </a:p>
          <a:p>
            <a:pPr lvl="1"/>
            <a:r>
              <a:rPr lang="en-US" dirty="0"/>
              <a:t>If it wasn’t, we’d all have massive stock portfolios. </a:t>
            </a:r>
          </a:p>
          <a:p>
            <a:r>
              <a:rPr lang="en-US" dirty="0"/>
              <a:t>Simple statistical models (moving average, </a:t>
            </a:r>
            <a:r>
              <a:rPr lang="en-US" dirty="0" err="1"/>
              <a:t>etc</a:t>
            </a:r>
            <a:r>
              <a:rPr lang="en-US" dirty="0"/>
              <a:t>…) can often win out even compared to super sophisticated models (e.g. neural networks). </a:t>
            </a:r>
          </a:p>
          <a:p>
            <a:pPr lvl="1"/>
            <a:r>
              <a:rPr lang="en-US" dirty="0"/>
              <a:t>The large and powerful neural networks have higher ceilings, but more variance. </a:t>
            </a:r>
          </a:p>
          <a:p>
            <a:pPr lvl="1"/>
            <a:r>
              <a:rPr lang="en-US" dirty="0"/>
              <a:t>Relying on a model that is less adaptive to details often works well. </a:t>
            </a:r>
          </a:p>
          <a:p>
            <a:pPr lvl="1"/>
            <a:r>
              <a:rPr lang="en-US" dirty="0"/>
              <a:t>Build up – start with simple, then modify if that works poorly. </a:t>
            </a:r>
          </a:p>
        </p:txBody>
      </p:sp>
    </p:spTree>
    <p:extLst>
      <p:ext uri="{BB962C8B-B14F-4D97-AF65-F5344CB8AC3E}">
        <p14:creationId xmlns:p14="http://schemas.microsoft.com/office/powerpoint/2010/main" val="277466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62D4-F857-5AED-E111-D7EE88B6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C4AFB-0AAA-2049-EFDA-DD8463034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asic of Time Series . | Data Science and Machine Learning | Kaggle">
            <a:extLst>
              <a:ext uri="{FF2B5EF4-FFF2-40B4-BE49-F238E27FC236}">
                <a16:creationId xmlns:a16="http://schemas.microsoft.com/office/drawing/2014/main" id="{8FDD07D8-3681-916C-2EBA-ACD2E0C1B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100"/>
            <a:ext cx="121920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46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3AE3-61AA-C5C4-4A48-DBE9FABF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43" y="804519"/>
            <a:ext cx="4845957" cy="1049235"/>
          </a:xfrm>
        </p:spPr>
        <p:txBody>
          <a:bodyPr/>
          <a:lstStyle/>
          <a:p>
            <a:r>
              <a:rPr lang="en-US" dirty="0"/>
              <a:t>Time Series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BDEA-9B52-1B56-8C54-684D056D5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43" y="1853754"/>
            <a:ext cx="4845957" cy="4199727"/>
          </a:xfrm>
        </p:spPr>
        <p:txBody>
          <a:bodyPr/>
          <a:lstStyle/>
          <a:p>
            <a:r>
              <a:rPr lang="en-US" dirty="0"/>
              <a:t>The basic idea is that if we can extract each component of the time series’ variation, our model can more easily project each. </a:t>
            </a:r>
          </a:p>
          <a:p>
            <a:r>
              <a:rPr lang="en-US" dirty="0"/>
              <a:t>Example plots:</a:t>
            </a:r>
          </a:p>
          <a:p>
            <a:pPr lvl="1"/>
            <a:r>
              <a:rPr lang="en-US" dirty="0"/>
              <a:t>Trend – linear increase. </a:t>
            </a:r>
          </a:p>
          <a:p>
            <a:pPr lvl="1"/>
            <a:r>
              <a:rPr lang="en-US" dirty="0"/>
              <a:t>Seasonality – predictable waves. </a:t>
            </a:r>
          </a:p>
          <a:p>
            <a:pPr lvl="1"/>
            <a:r>
              <a:rPr lang="en-US" dirty="0"/>
              <a:t>Random – “other” variation. </a:t>
            </a:r>
          </a:p>
          <a:p>
            <a:r>
              <a:rPr lang="en-US" dirty="0"/>
              <a:t>Note: different models may capture slightly different components. </a:t>
            </a:r>
          </a:p>
        </p:txBody>
      </p:sp>
      <p:pic>
        <p:nvPicPr>
          <p:cNvPr id="2050" name="Picture 2" descr="Time series graphs with random, seasonal and trend components in cluster 1  | Download Scientific Diagram">
            <a:extLst>
              <a:ext uri="{FF2B5EF4-FFF2-40B4-BE49-F238E27FC236}">
                <a16:creationId xmlns:a16="http://schemas.microsoft.com/office/drawing/2014/main" id="{245F8238-6B60-6A10-C7A0-A1CBA8A26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196850"/>
            <a:ext cx="7200900" cy="646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04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E6BB-1E1D-AF4C-8CE0-6495F073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10E4B-B5AE-7445-AA7F-16491623F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Exponential smoothing is one of the simplest forms of time series forecasts. </a:t>
            </a:r>
          </a:p>
          <a:p>
            <a:r>
              <a:rPr lang="en-US" dirty="0"/>
              <a:t>Weighted averaging with a smoothing term. </a:t>
            </a:r>
          </a:p>
          <a:p>
            <a:r>
              <a:rPr lang="en-US" dirty="0"/>
              <a:t>Can also incorporate:</a:t>
            </a:r>
          </a:p>
          <a:p>
            <a:pPr lvl="1"/>
            <a:r>
              <a:rPr lang="en-US" dirty="0"/>
              <a:t>Trends – are we moving up or down over time. </a:t>
            </a:r>
          </a:p>
          <a:p>
            <a:pPr lvl="1"/>
            <a:r>
              <a:rPr lang="en-US" dirty="0"/>
              <a:t>Cyclicality – are there seasonal patterns. </a:t>
            </a:r>
          </a:p>
          <a:p>
            <a:r>
              <a:rPr lang="en-US" dirty="0"/>
              <a:t>Trends and seasonality can be either Additive or Multiplicative:</a:t>
            </a:r>
          </a:p>
          <a:p>
            <a:pPr lvl="1"/>
            <a:r>
              <a:rPr lang="en-CA" dirty="0"/>
              <a:t>If every December we sell 10,000 more apartments than we do in November, the seasonality is </a:t>
            </a:r>
            <a:r>
              <a:rPr lang="en-CA" i="1" dirty="0"/>
              <a:t>additive</a:t>
            </a:r>
            <a:r>
              <a:rPr lang="en-CA" dirty="0"/>
              <a:t> in nature. However, if we sell 10% more apartments in the summer months than we do in the winter months the seasonality is </a:t>
            </a:r>
            <a:r>
              <a:rPr lang="en-CA" i="1" dirty="0"/>
              <a:t>multiplicative</a:t>
            </a:r>
            <a:r>
              <a:rPr lang="en-CA" dirty="0"/>
              <a:t> in nature.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2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0E31-AF1D-2147-A243-C6D0E066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4FC8-4E41-6541-BD02-76EBFABE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rend, Seasonality, Moving Average, Auto Regressive Model : My Journey to  Time Series Data with Interactive Code | by Jae Duk Seo | Towards Data  Science">
            <a:extLst>
              <a:ext uri="{FF2B5EF4-FFF2-40B4-BE49-F238E27FC236}">
                <a16:creationId xmlns:a16="http://schemas.microsoft.com/office/drawing/2014/main" id="{81836D80-3AD8-7448-BD2F-386344D86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0"/>
            <a:ext cx="7245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4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6D47-500B-563F-3954-DD705ACA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and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370B4-8EF1-0052-B0DC-ED30D6C8A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predicting the next value in a time series, there’s uncertainty. </a:t>
            </a:r>
          </a:p>
          <a:p>
            <a:pPr lvl="1"/>
            <a:r>
              <a:rPr lang="en-US" dirty="0"/>
              <a:t>E.g. tomorrow’s gas price per </a:t>
            </a:r>
            <a:r>
              <a:rPr lang="en-US" dirty="0" err="1"/>
              <a:t>litre</a:t>
            </a:r>
            <a:r>
              <a:rPr lang="en-US" dirty="0"/>
              <a:t> obviously can’t really be known exactly.  </a:t>
            </a:r>
          </a:p>
          <a:p>
            <a:r>
              <a:rPr lang="en-US" dirty="0"/>
              <a:t>A good model, and certain data, will have predictions that are more reliable. </a:t>
            </a:r>
          </a:p>
          <a:p>
            <a:pPr lvl="1"/>
            <a:r>
              <a:rPr lang="en-US" dirty="0"/>
              <a:t>The model “fits” – the predictions made by a model are similar to the real values. </a:t>
            </a:r>
          </a:p>
          <a:p>
            <a:pPr lvl="2"/>
            <a:r>
              <a:rPr lang="en-US" dirty="0"/>
              <a:t>In data science we call the real values the empirical values/data. </a:t>
            </a:r>
          </a:p>
          <a:p>
            <a:pPr lvl="1"/>
            <a:r>
              <a:rPr lang="en-US" dirty="0"/>
              <a:t>The data is more stable and predictable in its pattern. </a:t>
            </a:r>
          </a:p>
          <a:p>
            <a:pPr lvl="1"/>
            <a:r>
              <a:rPr lang="en-US" dirty="0"/>
              <a:t>We have more data. </a:t>
            </a:r>
          </a:p>
          <a:p>
            <a:r>
              <a:rPr lang="en-US" dirty="0"/>
              <a:t>A confidence interval tells us how much uncertainty we have…</a:t>
            </a:r>
          </a:p>
        </p:txBody>
      </p:sp>
    </p:spTree>
    <p:extLst>
      <p:ext uri="{BB962C8B-B14F-4D97-AF65-F5344CB8AC3E}">
        <p14:creationId xmlns:p14="http://schemas.microsoft.com/office/powerpoint/2010/main" val="191734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E456-4C1D-7FF1-918F-1AE8912C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B244-62CB-DE57-AAEA-44E1D9FF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" y="1853754"/>
            <a:ext cx="7704956" cy="4268372"/>
          </a:xfrm>
        </p:spPr>
        <p:txBody>
          <a:bodyPr/>
          <a:lstStyle/>
          <a:p>
            <a:r>
              <a:rPr lang="en-US" dirty="0"/>
              <a:t>CI is simple – we are X% confident the value will be within Y limits. </a:t>
            </a:r>
          </a:p>
          <a:p>
            <a:pPr lvl="1"/>
            <a:r>
              <a:rPr lang="en-US" dirty="0"/>
              <a:t>95% CI means there is 95% chance the real value happens in range.</a:t>
            </a:r>
          </a:p>
          <a:p>
            <a:pPr lvl="1"/>
            <a:r>
              <a:rPr lang="en-US" dirty="0"/>
              <a:t>The wider this range is the more uncertainty. </a:t>
            </a:r>
          </a:p>
          <a:p>
            <a:r>
              <a:rPr lang="en-US" dirty="0"/>
              <a:t>Calculated through Monte Carlo simulation (just for context). </a:t>
            </a:r>
          </a:p>
          <a:p>
            <a:pPr lvl="1"/>
            <a:r>
              <a:rPr lang="en-US" dirty="0"/>
              <a:t>Create a model that can predict a value (ml model are probabilistic)</a:t>
            </a:r>
          </a:p>
          <a:p>
            <a:pPr lvl="1"/>
            <a:r>
              <a:rPr lang="en-US" dirty="0"/>
              <a:t>Run a bunch (e.g. 1000) trial runs of making predictions. </a:t>
            </a:r>
          </a:p>
          <a:p>
            <a:pPr lvl="1"/>
            <a:r>
              <a:rPr lang="en-US" dirty="0"/>
              <a:t>Track all the predicted values. </a:t>
            </a:r>
          </a:p>
          <a:p>
            <a:pPr lvl="1"/>
            <a:r>
              <a:rPr lang="en-US" dirty="0"/>
              <a:t>Measure the values where 90/95/99/CI? fall in. </a:t>
            </a:r>
          </a:p>
          <a:p>
            <a:r>
              <a:rPr lang="en-US" dirty="0"/>
              <a:t>In the image, each 12-month prediction is a line. </a:t>
            </a:r>
          </a:p>
          <a:p>
            <a:pPr lvl="1"/>
            <a:r>
              <a:rPr lang="en-US" dirty="0"/>
              <a:t>95% of those predictions are within blue shading.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B2808-5A27-7367-5EE2-67DDFC1C2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915" y="0"/>
            <a:ext cx="4426085" cy="6858000"/>
          </a:xfrm>
          <a:prstGeom prst="rect">
            <a:avLst/>
          </a:prstGeom>
        </p:spPr>
      </p:pic>
      <p:pic>
        <p:nvPicPr>
          <p:cNvPr id="1026" name="Picture 2" descr="Application of Monte Carlo Simulation in Financial Forecasting | by Tony  Tsoi | Medium">
            <a:extLst>
              <a:ext uri="{FF2B5EF4-FFF2-40B4-BE49-F238E27FC236}">
                <a16:creationId xmlns:a16="http://schemas.microsoft.com/office/drawing/2014/main" id="{F25F978C-8633-263C-4E50-A254DB65D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653" y="4907461"/>
            <a:ext cx="2364548" cy="195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36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A8FA-D6CA-F632-C45A-63694376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515F-EED5-7C3C-45DC-B6718A9C4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/>
          <a:lstStyle/>
          <a:p>
            <a:r>
              <a:rPr lang="en-US" dirty="0"/>
              <a:t>These moving average models are the most simple we can do. </a:t>
            </a:r>
          </a:p>
          <a:p>
            <a:r>
              <a:rPr lang="en-US" dirty="0"/>
              <a:t>Need to spot period and add/</a:t>
            </a:r>
            <a:r>
              <a:rPr lang="en-US" dirty="0" err="1"/>
              <a:t>mult</a:t>
            </a:r>
            <a:r>
              <a:rPr lang="en-US" dirty="0"/>
              <a:t>, but very simple to create. </a:t>
            </a:r>
          </a:p>
          <a:p>
            <a:r>
              <a:rPr lang="en-US" dirty="0"/>
              <a:t>Not really able to handle complex things.</a:t>
            </a:r>
          </a:p>
          <a:p>
            <a:pPr lvl="1"/>
            <a:r>
              <a:rPr lang="en-US" dirty="0"/>
              <a:t>Weird patterns of seasons – e.g. a crop may harvest in June and Sept, and odd yearly pattern. </a:t>
            </a:r>
          </a:p>
          <a:p>
            <a:pPr lvl="1"/>
            <a:r>
              <a:rPr lang="en-US" dirty="0"/>
              <a:t>Weird change patterns – additive and multiplicative are simple patterns. </a:t>
            </a:r>
          </a:p>
          <a:p>
            <a:pPr lvl="1"/>
            <a:r>
              <a:rPr lang="en-US" dirty="0"/>
              <a:t>More complex patterns in data – image is from neural network model that is thousands to millions of times more complex and adaptable than a moving average. </a:t>
            </a:r>
          </a:p>
        </p:txBody>
      </p:sp>
      <p:pic>
        <p:nvPicPr>
          <p:cNvPr id="2050" name="Picture 2" descr="Time Series Deep Learning: Forecasting Sunspots With Keras Stateful LSTM In  R | R-bloggers">
            <a:extLst>
              <a:ext uri="{FF2B5EF4-FFF2-40B4-BE49-F238E27FC236}">
                <a16:creationId xmlns:a16="http://schemas.microsoft.com/office/drawing/2014/main" id="{60B16F11-CE4E-42E7-A07C-CA76F9E465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9" t="9284" r="4895" b="24199"/>
          <a:stretch>
            <a:fillRect/>
          </a:stretch>
        </p:blipFill>
        <p:spPr bwMode="auto">
          <a:xfrm>
            <a:off x="2987039" y="4778602"/>
            <a:ext cx="6217921" cy="197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47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C60B-7F32-F642-BD1A-77F116133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US" sz="2800" dirty="0"/>
              <a:t>Stationary in Time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67F9E-CA23-2649-A11D-BB828F573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949440" cy="50042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 time series being stationary means that its major stats (mean, std) are not changing over time.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We can transform data to make it stationary: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Differencing. </a:t>
            </a:r>
          </a:p>
          <a:p>
            <a:pPr lvl="2">
              <a:lnSpc>
                <a:spcPct val="110000"/>
              </a:lnSpc>
            </a:pPr>
            <a:r>
              <a:rPr lang="en-US" sz="1800" dirty="0"/>
              <a:t>difference(T) = observation(T) – observation(T-1)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Other transformations (e.g. log). 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More complex time series analysis generally aims for this.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Make data follow a simple pattern through transformation.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Use simple pattern to predict.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As needed, reverse transformations to get real values. </a:t>
            </a:r>
          </a:p>
        </p:txBody>
      </p:sp>
      <p:pic>
        <p:nvPicPr>
          <p:cNvPr id="2050" name="Picture 2" descr="Time Series Analysis and Models | An Explorer of Things">
            <a:extLst>
              <a:ext uri="{FF2B5EF4-FFF2-40B4-BE49-F238E27FC236}">
                <a16:creationId xmlns:a16="http://schemas.microsoft.com/office/drawing/2014/main" id="{928CD29D-72B7-1148-BD34-5F79ED0D2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"/>
          <a:stretch/>
        </p:blipFill>
        <p:spPr bwMode="auto">
          <a:xfrm>
            <a:off x="6757988" y="1952"/>
            <a:ext cx="5433709" cy="68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61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AAEE-18A3-7C0B-4DF5-690CE1FD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0B95-71F2-9150-0367-66FB75341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13214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If we can define some operation to make the data predictable, it’s easy to predict. </a:t>
            </a:r>
          </a:p>
          <a:p>
            <a:r>
              <a:rPr lang="en-US" dirty="0"/>
              <a:t>The preparation steps aim to remove the red stuff as much as possible. </a:t>
            </a:r>
          </a:p>
          <a:p>
            <a:r>
              <a:rPr lang="en-US" dirty="0"/>
              <a:t>The transformations (exp, log, differencing, etc..) can all be done/reversed for real/calc. values.</a:t>
            </a:r>
          </a:p>
        </p:txBody>
      </p:sp>
      <p:pic>
        <p:nvPicPr>
          <p:cNvPr id="4098" name="Picture 2" descr="Achieving Stationarity With Time Series Data | by Alex Mitrani | Towards  Data Science">
            <a:extLst>
              <a:ext uri="{FF2B5EF4-FFF2-40B4-BE49-F238E27FC236}">
                <a16:creationId xmlns:a16="http://schemas.microsoft.com/office/drawing/2014/main" id="{5E86B059-F8C7-8D0B-25BB-B82F5BDBC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2" y="3175230"/>
            <a:ext cx="10978195" cy="317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660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508E-ACC1-F5E3-385A-309AD769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Real Life Time-Series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3798E-220A-5F03-0558-93C0B066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need to know these deeply, just the basic concept. </a:t>
            </a:r>
          </a:p>
        </p:txBody>
      </p:sp>
    </p:spTree>
    <p:extLst>
      <p:ext uri="{BB962C8B-B14F-4D97-AF65-F5344CB8AC3E}">
        <p14:creationId xmlns:p14="http://schemas.microsoft.com/office/powerpoint/2010/main" val="1293323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F2E3-C441-EA45-AFB0-16746E9D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B933-66AE-EF4B-A480-3CF6E4F1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ARIMA is a common time series model, it has 3 parts:</a:t>
            </a:r>
          </a:p>
          <a:p>
            <a:pPr lvl="1"/>
            <a:r>
              <a:rPr lang="en-US" dirty="0"/>
              <a:t>AR (p) – Autoregressive. </a:t>
            </a:r>
            <a:r>
              <a:rPr lang="en-CA" dirty="0"/>
              <a:t>Regresses on its own prior or lagged values. </a:t>
            </a:r>
          </a:p>
          <a:p>
            <a:pPr lvl="2"/>
            <a:r>
              <a:rPr lang="en-CA" dirty="0"/>
              <a:t>AKA - it predicts future values based on past values. </a:t>
            </a:r>
            <a:endParaRPr lang="en-US" dirty="0"/>
          </a:p>
          <a:p>
            <a:pPr lvl="1"/>
            <a:r>
              <a:rPr lang="en-US" dirty="0"/>
              <a:t>I (d) – Integrated. </a:t>
            </a:r>
            <a:r>
              <a:rPr lang="en-CA" dirty="0"/>
              <a:t>Observes the difference between static data values and previous values. </a:t>
            </a:r>
          </a:p>
          <a:p>
            <a:pPr lvl="2"/>
            <a:r>
              <a:rPr lang="en-CA" dirty="0"/>
              <a:t>AKA – aims to achieve stationary data that is not subject to seasonality. </a:t>
            </a:r>
            <a:endParaRPr lang="en-US" dirty="0"/>
          </a:p>
          <a:p>
            <a:pPr lvl="1"/>
            <a:r>
              <a:rPr lang="en-US" dirty="0"/>
              <a:t>MA (q) – Moving Average. </a:t>
            </a:r>
          </a:p>
          <a:p>
            <a:pPr lvl="2"/>
            <a:r>
              <a:rPr lang="en-US" dirty="0"/>
              <a:t>AKA - A moving average. </a:t>
            </a:r>
          </a:p>
          <a:p>
            <a:r>
              <a:rPr lang="en-US" dirty="0"/>
              <a:t>ARIMA and similar models are a common approach that is simple, but more complex than averages.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3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867E-3434-6EFB-4A4F-4F767C927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1" y="804519"/>
            <a:ext cx="3716779" cy="1049235"/>
          </a:xfrm>
        </p:spPr>
        <p:txBody>
          <a:bodyPr>
            <a:normAutofit/>
          </a:bodyPr>
          <a:lstStyle/>
          <a:p>
            <a:r>
              <a:rPr lang="en-US" dirty="0"/>
              <a:t>ARIMA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FCCBA-DEE4-0926-09CC-90E7D973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4"/>
            <a:ext cx="3834012" cy="3450613"/>
          </a:xfrm>
        </p:spPr>
        <p:txBody>
          <a:bodyPr>
            <a:normAutofit/>
          </a:bodyPr>
          <a:lstStyle/>
          <a:p>
            <a:r>
              <a:rPr lang="en-US" dirty="0"/>
              <a:t>There are several variants on ARIMA depending on the patterns in the data.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FD1E33D-4962-BAE7-7056-1CAD62CB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34011" y="1362622"/>
            <a:ext cx="8357989" cy="549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53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DD57-685F-9106-A246-52DA83E4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ARIMA-d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C05F1-1780-38C0-3A3E-8D342C5F1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The ARIMA model type is a ‘basic’ one – a more elaborate moving average. 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Simple, transparent.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Potentially too simple, not adaptable to complicated scenarios. </a:t>
            </a:r>
          </a:p>
          <a:p>
            <a:r>
              <a:rPr lang="en-US" dirty="0"/>
              <a:t>Note – these simpler models with more bias error may perform best, the future is hard to predict accurately. Too much ability of the model to adjust predictions may harm us. </a:t>
            </a:r>
          </a:p>
        </p:txBody>
      </p:sp>
    </p:spTree>
    <p:extLst>
      <p:ext uri="{BB962C8B-B14F-4D97-AF65-F5344CB8AC3E}">
        <p14:creationId xmlns:p14="http://schemas.microsoft.com/office/powerpoint/2010/main" val="2830739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78F7-635A-D40C-AD90-AAADEA13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Smarter Time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1FF3-C207-9615-B32A-D907854A0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53754"/>
            <a:ext cx="10723927" cy="4199727"/>
          </a:xfrm>
        </p:spPr>
        <p:txBody>
          <a:bodyPr/>
          <a:lstStyle/>
          <a:p>
            <a:r>
              <a:rPr lang="en-US" dirty="0"/>
              <a:t>Modern models have much more capability than a simple ARIMA one. </a:t>
            </a:r>
          </a:p>
          <a:p>
            <a:r>
              <a:rPr lang="en-US" dirty="0"/>
              <a:t>Their capacity to learn is much larger - they have more parameters, can learn complex patterns. </a:t>
            </a:r>
          </a:p>
          <a:p>
            <a:pPr lvl="1"/>
            <a:r>
              <a:rPr lang="en-US" dirty="0"/>
              <a:t>In ds the number of parameters roughly tells us how complicated of a thing can be predicted. </a:t>
            </a:r>
          </a:p>
          <a:p>
            <a:pPr lvl="1"/>
            <a:r>
              <a:rPr lang="en-US" dirty="0"/>
              <a:t>E.g. image recognition is more complex than predicting the number of each shoe size needed for NIKE. </a:t>
            </a:r>
          </a:p>
          <a:p>
            <a:pPr lvl="1"/>
            <a:r>
              <a:rPr lang="en-US" dirty="0"/>
              <a:t>“Regular” simple machine learning models may have 5-100 parameters. </a:t>
            </a:r>
          </a:p>
          <a:p>
            <a:pPr lvl="1"/>
            <a:r>
              <a:rPr lang="en-US" dirty="0"/>
              <a:t>Neural networks (the models that are ‘AI’) will have millions or more. </a:t>
            </a:r>
          </a:p>
          <a:p>
            <a:pPr lvl="1"/>
            <a:r>
              <a:rPr lang="en-US" dirty="0"/>
              <a:t>Very smart models like ChatGPT have tens or hundreds of billions, rapidly growing. </a:t>
            </a:r>
          </a:p>
        </p:txBody>
      </p:sp>
    </p:spTree>
    <p:extLst>
      <p:ext uri="{BB962C8B-B14F-4D97-AF65-F5344CB8AC3E}">
        <p14:creationId xmlns:p14="http://schemas.microsoft.com/office/powerpoint/2010/main" val="2969086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2875-568E-E27F-EF8C-0E638530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Facebook Prophet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86F92-A329-D6B9-24F3-6095A7021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Facebook Prophet is a library that is well setup to handle common time-series problems:</a:t>
            </a:r>
          </a:p>
          <a:p>
            <a:pPr lvl="1"/>
            <a:r>
              <a:rPr lang="en-US" dirty="0"/>
              <a:t>Handles events such as holidays, including custom lists. </a:t>
            </a:r>
          </a:p>
          <a:p>
            <a:pPr lvl="1"/>
            <a:r>
              <a:rPr lang="en-US" dirty="0"/>
              <a:t>Can be set to anticipate change points, e.g. product launches. </a:t>
            </a:r>
          </a:p>
          <a:p>
            <a:pPr lvl="1"/>
            <a:r>
              <a:rPr lang="en-US" dirty="0"/>
              <a:t>Provides useful things like plotting and cross validation. </a:t>
            </a:r>
          </a:p>
          <a:p>
            <a:pPr lvl="1"/>
            <a:r>
              <a:rPr lang="en-US" dirty="0"/>
              <a:t>Can handle additional regressors – more variables. </a:t>
            </a:r>
          </a:p>
          <a:p>
            <a:pPr lvl="2"/>
            <a:r>
              <a:rPr lang="en-US" dirty="0"/>
              <a:t>E.g. can we predict tomorrows gas price with the past prices, as well as temperature, economic metrics, trade numbers,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Uses a neural network internally to be very smart and able to capture patterns. </a:t>
            </a:r>
          </a:p>
        </p:txBody>
      </p:sp>
    </p:spTree>
    <p:extLst>
      <p:ext uri="{BB962C8B-B14F-4D97-AF65-F5344CB8AC3E}">
        <p14:creationId xmlns:p14="http://schemas.microsoft.com/office/powerpoint/2010/main" val="910616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08CA-F618-69BD-549B-825B0611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if Time Series Models are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F182-81A2-A9AF-A6FD-3DE3AE16B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a time series model to make predictions. </a:t>
            </a:r>
          </a:p>
          <a:p>
            <a:pPr lvl="1"/>
            <a:r>
              <a:rPr lang="en-US" dirty="0"/>
              <a:t>A simple moving average, some weighted moving average, </a:t>
            </a:r>
            <a:r>
              <a:rPr lang="en-US" dirty="0" err="1"/>
              <a:t>arima</a:t>
            </a:r>
            <a:r>
              <a:rPr lang="en-US" dirty="0"/>
              <a:t>, something more complex…</a:t>
            </a:r>
          </a:p>
        </p:txBody>
      </p:sp>
    </p:spTree>
    <p:extLst>
      <p:ext uri="{BB962C8B-B14F-4D97-AF65-F5344CB8AC3E}">
        <p14:creationId xmlns:p14="http://schemas.microsoft.com/office/powerpoint/2010/main" val="3640000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F363-3042-4442-0A02-0FD28191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Error Calculations </a:t>
            </a:r>
          </a:p>
        </p:txBody>
      </p:sp>
      <p:pic>
        <p:nvPicPr>
          <p:cNvPr id="1026" name="Picture 2" descr="Train/Test Split and Cross Validation - A Python Tutorial - AlgoTrading101  Blog">
            <a:extLst>
              <a:ext uri="{FF2B5EF4-FFF2-40B4-BE49-F238E27FC236}">
                <a16:creationId xmlns:a16="http://schemas.microsoft.com/office/drawing/2014/main" id="{65D73C26-95D9-56F2-1592-B5B743E9D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262265"/>
            <a:ext cx="6419748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E5F5A-C165-2E53-CDF1-432BADE9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748" y="2015734"/>
            <a:ext cx="5772251" cy="3450613"/>
          </a:xfrm>
        </p:spPr>
        <p:txBody>
          <a:bodyPr>
            <a:normAutofit/>
          </a:bodyPr>
          <a:lstStyle/>
          <a:p>
            <a:r>
              <a:rPr lang="en-US" dirty="0"/>
              <a:t>When time series models are tested, we normally just use the last bunch of records to test. </a:t>
            </a:r>
          </a:p>
          <a:p>
            <a:pPr lvl="1"/>
            <a:r>
              <a:rPr lang="en-US" dirty="0"/>
              <a:t>We use the model as normal to predict these. </a:t>
            </a:r>
          </a:p>
          <a:p>
            <a:pPr lvl="2"/>
            <a:r>
              <a:rPr lang="en-US" dirty="0"/>
              <a:t>I.e. calculate moving average, </a:t>
            </a:r>
            <a:r>
              <a:rPr lang="en-US" dirty="0" err="1"/>
              <a:t>arima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Since we know the value, we can compare to pred. </a:t>
            </a:r>
          </a:p>
          <a:p>
            <a:pPr lvl="1"/>
            <a:r>
              <a:rPr lang="en-US" dirty="0"/>
              <a:t>Value is the individual prediction error, a residual. </a:t>
            </a:r>
          </a:p>
          <a:p>
            <a:pPr lvl="1"/>
            <a:r>
              <a:rPr lang="en-US" dirty="0"/>
              <a:t>These are tallied into overall error (e.g. MSE/RMSE)</a:t>
            </a:r>
          </a:p>
          <a:p>
            <a:r>
              <a:rPr lang="en-US" dirty="0"/>
              <a:t>We’ll do more on error in detail soon. </a:t>
            </a:r>
          </a:p>
        </p:txBody>
      </p:sp>
    </p:spTree>
    <p:extLst>
      <p:ext uri="{BB962C8B-B14F-4D97-AF65-F5344CB8AC3E}">
        <p14:creationId xmlns:p14="http://schemas.microsoft.com/office/powerpoint/2010/main" val="3074098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17FF-FD83-F6DC-2A65-97914BFB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3371-95C1-6DCD-7F38-C646E65B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8" name="Picture 6" descr="An Introduction to Time Series Analysis with ARIMA | by Taha Binhuraib |  Towards Data Science">
            <a:extLst>
              <a:ext uri="{FF2B5EF4-FFF2-40B4-BE49-F238E27FC236}">
                <a16:creationId xmlns:a16="http://schemas.microsoft.com/office/drawing/2014/main" id="{80206A55-FE5D-DA58-FC63-500707A0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793750"/>
            <a:ext cx="10020300" cy="527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22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BD4C-1366-F7CE-BB72-33EBDC78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3275-8696-EE31-2C2B-7B9C2E9A5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252" y="1925904"/>
            <a:ext cx="10793895" cy="4127577"/>
          </a:xfrm>
        </p:spPr>
        <p:txBody>
          <a:bodyPr/>
          <a:lstStyle/>
          <a:p>
            <a:r>
              <a:rPr lang="en-US" dirty="0"/>
              <a:t>Time series forecasting is one of the most simple types of predictive models. </a:t>
            </a:r>
          </a:p>
          <a:p>
            <a:pPr lvl="1"/>
            <a:r>
              <a:rPr lang="en-US" dirty="0"/>
              <a:t>Simple ones are just a </a:t>
            </a:r>
            <a:r>
              <a:rPr lang="en-US"/>
              <a:t>moving average – and </a:t>
            </a:r>
            <a:r>
              <a:rPr lang="en-US" b="1"/>
              <a:t>we can do them in Tableau!!!!!!</a:t>
            </a:r>
            <a:endParaRPr lang="en-US" dirty="0"/>
          </a:p>
          <a:p>
            <a:pPr lvl="1"/>
            <a:r>
              <a:rPr lang="en-US" dirty="0"/>
              <a:t>More complexity can be added to handle more complex scenarios. </a:t>
            </a:r>
          </a:p>
          <a:p>
            <a:r>
              <a:rPr lang="en-US" dirty="0"/>
              <a:t>Models can be compared by calculating and totaling residuals – test error on old data. </a:t>
            </a:r>
          </a:p>
          <a:p>
            <a:pPr lvl="1"/>
            <a:r>
              <a:rPr lang="en-US" dirty="0"/>
              <a:t>This is generally true for all predictions. </a:t>
            </a:r>
          </a:p>
          <a:p>
            <a:r>
              <a:rPr lang="en-US" dirty="0"/>
              <a:t>We can show the accuracy of our predictions with a confidence interval.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706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7629</TotalTime>
  <Words>1544</Words>
  <Application>Microsoft Macintosh PowerPoint</Application>
  <PresentationFormat>Widescreen</PresentationFormat>
  <Paragraphs>133</Paragraphs>
  <Slides>24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Gill Sans MT</vt:lpstr>
      <vt:lpstr>Gallery</vt:lpstr>
      <vt:lpstr>Housekeeping</vt:lpstr>
      <vt:lpstr>Time Series Forecasting</vt:lpstr>
      <vt:lpstr>Time Series Data</vt:lpstr>
      <vt:lpstr>In Tableau…</vt:lpstr>
      <vt:lpstr>Time Series Predictions Are Hard</vt:lpstr>
      <vt:lpstr>PowerPoint Presentation</vt:lpstr>
      <vt:lpstr>Time Series Components</vt:lpstr>
      <vt:lpstr>Exponential Smoothing</vt:lpstr>
      <vt:lpstr>PowerPoint Presentation</vt:lpstr>
      <vt:lpstr>Confidence Intervals and Uncertainty</vt:lpstr>
      <vt:lpstr>Confidence Intervals</vt:lpstr>
      <vt:lpstr>Moving Average Predictions</vt:lpstr>
      <vt:lpstr>Stationary in Time</vt:lpstr>
      <vt:lpstr>Stationary stats</vt:lpstr>
      <vt:lpstr>Some Real Life Time-Series Examples</vt:lpstr>
      <vt:lpstr>ARIMA</vt:lpstr>
      <vt:lpstr>ARIMA Variants</vt:lpstr>
      <vt:lpstr>ARIMA-d Up</vt:lpstr>
      <vt:lpstr>Smarter Time Models</vt:lpstr>
      <vt:lpstr>Facebook Prophet</vt:lpstr>
      <vt:lpstr>Checking if Time Series Models are Good</vt:lpstr>
      <vt:lpstr>Error Calculations </vt:lpstr>
      <vt:lpstr>PowerPoint Presentation</vt:lpstr>
      <vt:lpstr>Time Series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Akeem Semper</dc:creator>
  <cp:keywords/>
  <dc:description/>
  <cp:lastModifiedBy>Akeem Semper</cp:lastModifiedBy>
  <cp:revision>42</cp:revision>
  <dcterms:created xsi:type="dcterms:W3CDTF">2022-03-03T03:04:13Z</dcterms:created>
  <dcterms:modified xsi:type="dcterms:W3CDTF">2025-11-05T04:49:02Z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2025-03-11T16:59:05Z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972ff472-74cb-4be2-97b5-600b9297ca3f</vt:lpwstr>
  </property>
  <property fmtid="{D5CDD505-2E9C-101B-9397-08002B2CF9AE}" pid="8" name="MSIP_Label_10877899-02b0-462c-b2a9-b7d15c4f96fe_ContentBits">
    <vt:lpwstr>0</vt:lpwstr>
  </property>
</Properties>
</file>