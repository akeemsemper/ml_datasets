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00" r:id="rId2"/>
    <p:sldId id="256" r:id="rId3"/>
    <p:sldId id="257" r:id="rId4"/>
    <p:sldId id="259" r:id="rId5"/>
    <p:sldId id="258" r:id="rId6"/>
    <p:sldId id="260" r:id="rId7"/>
    <p:sldId id="261" r:id="rId8"/>
    <p:sldId id="262" r:id="rId9"/>
    <p:sldId id="263" r:id="rId10"/>
    <p:sldId id="301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4" r:id="rId19"/>
    <p:sldId id="297" r:id="rId20"/>
    <p:sldId id="298" r:id="rId21"/>
    <p:sldId id="299" r:id="rId22"/>
    <p:sldId id="283" r:id="rId23"/>
    <p:sldId id="285" r:id="rId24"/>
    <p:sldId id="286" r:id="rId25"/>
    <p:sldId id="287" r:id="rId26"/>
    <p:sldId id="288" r:id="rId27"/>
    <p:sldId id="289" r:id="rId28"/>
    <p:sldId id="292" r:id="rId29"/>
    <p:sldId id="295" r:id="rId30"/>
    <p:sldId id="296" r:id="rId31"/>
    <p:sldId id="293" r:id="rId32"/>
    <p:sldId id="290" r:id="rId33"/>
    <p:sldId id="291" r:id="rId34"/>
    <p:sldId id="294" r:id="rId35"/>
    <p:sldId id="264" r:id="rId36"/>
    <p:sldId id="265" r:id="rId37"/>
    <p:sldId id="266" r:id="rId38"/>
    <p:sldId id="267" r:id="rId39"/>
    <p:sldId id="268" r:id="rId40"/>
    <p:sldId id="269" r:id="rId41"/>
    <p:sldId id="270" r:id="rId42"/>
    <p:sldId id="271" r:id="rId43"/>
    <p:sldId id="272" r:id="rId44"/>
    <p:sldId id="273" r:id="rId45"/>
    <p:sldId id="274" r:id="rId46"/>
    <p:sldId id="275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7889C1-F476-4B46-883C-F37F5AEC453B}" v="13" dt="2021-03-25T17:13:26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6"/>
    <p:restoredTop sz="96327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E401F2-D545-45E9-BF95-54EFEF362C7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EE6B366-3067-4B4C-BAE2-93EE7A47BD14}">
      <dgm:prSet/>
      <dgm:spPr/>
      <dgm:t>
        <a:bodyPr/>
        <a:lstStyle/>
        <a:p>
          <a:r>
            <a:rPr lang="en-US"/>
            <a:t>Mean of X – 9 for all sets.</a:t>
          </a:r>
        </a:p>
      </dgm:t>
    </dgm:pt>
    <dgm:pt modelId="{0B32A30A-4FCC-4831-BE0D-24334F675548}" type="parTrans" cxnId="{6767733A-AEF1-455F-9CAC-866F1D48F005}">
      <dgm:prSet/>
      <dgm:spPr/>
      <dgm:t>
        <a:bodyPr/>
        <a:lstStyle/>
        <a:p>
          <a:endParaRPr lang="en-US"/>
        </a:p>
      </dgm:t>
    </dgm:pt>
    <dgm:pt modelId="{E825A9AF-4A1A-4E7E-A3F3-7528FA93B2D5}" type="sibTrans" cxnId="{6767733A-AEF1-455F-9CAC-866F1D48F005}">
      <dgm:prSet/>
      <dgm:spPr/>
      <dgm:t>
        <a:bodyPr/>
        <a:lstStyle/>
        <a:p>
          <a:endParaRPr lang="en-US"/>
        </a:p>
      </dgm:t>
    </dgm:pt>
    <dgm:pt modelId="{F7C787EC-569B-4E72-A015-01C75A54C544}">
      <dgm:prSet/>
      <dgm:spPr/>
      <dgm:t>
        <a:bodyPr/>
        <a:lstStyle/>
        <a:p>
          <a:r>
            <a:rPr lang="en-US"/>
            <a:t>Mean of Y – 7.5 for all sets.</a:t>
          </a:r>
        </a:p>
      </dgm:t>
    </dgm:pt>
    <dgm:pt modelId="{D18C09CA-645D-427E-AD27-A83F3A34C0B3}" type="parTrans" cxnId="{50309CAF-5A2E-44AA-A1F6-04D9D992803C}">
      <dgm:prSet/>
      <dgm:spPr/>
      <dgm:t>
        <a:bodyPr/>
        <a:lstStyle/>
        <a:p>
          <a:endParaRPr lang="en-US"/>
        </a:p>
      </dgm:t>
    </dgm:pt>
    <dgm:pt modelId="{459552CF-3BE2-4DC4-A93F-7967809A973F}" type="sibTrans" cxnId="{50309CAF-5A2E-44AA-A1F6-04D9D992803C}">
      <dgm:prSet/>
      <dgm:spPr/>
      <dgm:t>
        <a:bodyPr/>
        <a:lstStyle/>
        <a:p>
          <a:endParaRPr lang="en-US"/>
        </a:p>
      </dgm:t>
    </dgm:pt>
    <dgm:pt modelId="{45ADA0E8-48D5-43FD-ADA1-7D894710D18F}">
      <dgm:prSet/>
      <dgm:spPr/>
      <dgm:t>
        <a:bodyPr/>
        <a:lstStyle/>
        <a:p>
          <a:r>
            <a:rPr lang="en-US"/>
            <a:t>Variance of X – 11 for all sets.</a:t>
          </a:r>
        </a:p>
      </dgm:t>
    </dgm:pt>
    <dgm:pt modelId="{BE0360B8-CB57-4BD6-BA12-8BEEFC23591E}" type="parTrans" cxnId="{9B07F1C1-D5D0-40DF-AA8F-F60685A07939}">
      <dgm:prSet/>
      <dgm:spPr/>
      <dgm:t>
        <a:bodyPr/>
        <a:lstStyle/>
        <a:p>
          <a:endParaRPr lang="en-US"/>
        </a:p>
      </dgm:t>
    </dgm:pt>
    <dgm:pt modelId="{0AD2188E-8C5C-440A-BFC0-0298F855A78B}" type="sibTrans" cxnId="{9B07F1C1-D5D0-40DF-AA8F-F60685A07939}">
      <dgm:prSet/>
      <dgm:spPr/>
      <dgm:t>
        <a:bodyPr/>
        <a:lstStyle/>
        <a:p>
          <a:endParaRPr lang="en-US"/>
        </a:p>
      </dgm:t>
    </dgm:pt>
    <dgm:pt modelId="{C66B7DC8-1550-434C-B557-E4596846E035}">
      <dgm:prSet/>
      <dgm:spPr/>
      <dgm:t>
        <a:bodyPr/>
        <a:lstStyle/>
        <a:p>
          <a:r>
            <a:rPr lang="en-US"/>
            <a:t>Variance of Y – 4.1 for all sets.</a:t>
          </a:r>
        </a:p>
      </dgm:t>
    </dgm:pt>
    <dgm:pt modelId="{EED2AFD5-4D36-4CEE-BCFE-B3F5FDCB871F}" type="parTrans" cxnId="{DCA4BB13-528E-45ED-832F-F1FB1A117C42}">
      <dgm:prSet/>
      <dgm:spPr/>
      <dgm:t>
        <a:bodyPr/>
        <a:lstStyle/>
        <a:p>
          <a:endParaRPr lang="en-US"/>
        </a:p>
      </dgm:t>
    </dgm:pt>
    <dgm:pt modelId="{E17E967C-B467-4E11-8732-9432E1C27FD9}" type="sibTrans" cxnId="{DCA4BB13-528E-45ED-832F-F1FB1A117C42}">
      <dgm:prSet/>
      <dgm:spPr/>
      <dgm:t>
        <a:bodyPr/>
        <a:lstStyle/>
        <a:p>
          <a:endParaRPr lang="en-US"/>
        </a:p>
      </dgm:t>
    </dgm:pt>
    <dgm:pt modelId="{3E6D398B-4C8F-40B5-9626-F00F62FA7249}">
      <dgm:prSet/>
      <dgm:spPr/>
      <dgm:t>
        <a:bodyPr/>
        <a:lstStyle/>
        <a:p>
          <a:r>
            <a:rPr lang="en-US"/>
            <a:t>Correlation between X and Y - .8 for all sets.</a:t>
          </a:r>
        </a:p>
      </dgm:t>
    </dgm:pt>
    <dgm:pt modelId="{9DABD6C0-1DF0-41B8-8236-00181C8D5B33}" type="parTrans" cxnId="{363878CA-80A9-446C-BCCD-EE7363EFA877}">
      <dgm:prSet/>
      <dgm:spPr/>
      <dgm:t>
        <a:bodyPr/>
        <a:lstStyle/>
        <a:p>
          <a:endParaRPr lang="en-US"/>
        </a:p>
      </dgm:t>
    </dgm:pt>
    <dgm:pt modelId="{C5CD1B6A-A71A-4344-9E0B-A67CCFEBC65C}" type="sibTrans" cxnId="{363878CA-80A9-446C-BCCD-EE7363EFA877}">
      <dgm:prSet/>
      <dgm:spPr/>
      <dgm:t>
        <a:bodyPr/>
        <a:lstStyle/>
        <a:p>
          <a:endParaRPr lang="en-US"/>
        </a:p>
      </dgm:t>
    </dgm:pt>
    <dgm:pt modelId="{1AB9B3C2-22AD-4CE0-AAF8-38360FC482FF}">
      <dgm:prSet/>
      <dgm:spPr/>
      <dgm:t>
        <a:bodyPr/>
        <a:lstStyle/>
        <a:p>
          <a:r>
            <a:rPr lang="en-US" dirty="0"/>
            <a:t>Linear regression – y = .5x +3 for all sets.</a:t>
          </a:r>
        </a:p>
      </dgm:t>
    </dgm:pt>
    <dgm:pt modelId="{10B3615F-0D89-4ECE-B1D0-E5DF5405D3E6}" type="parTrans" cxnId="{CB83B568-319C-41A2-B29D-E1FD7088826C}">
      <dgm:prSet/>
      <dgm:spPr/>
      <dgm:t>
        <a:bodyPr/>
        <a:lstStyle/>
        <a:p>
          <a:endParaRPr lang="en-US"/>
        </a:p>
      </dgm:t>
    </dgm:pt>
    <dgm:pt modelId="{B41AACD2-83E7-4334-A3E6-5F6A7C93519B}" type="sibTrans" cxnId="{CB83B568-319C-41A2-B29D-E1FD7088826C}">
      <dgm:prSet/>
      <dgm:spPr/>
      <dgm:t>
        <a:bodyPr/>
        <a:lstStyle/>
        <a:p>
          <a:endParaRPr lang="en-US"/>
        </a:p>
      </dgm:t>
    </dgm:pt>
    <dgm:pt modelId="{F45947FA-60FA-4B9B-9624-3BC92CC3AE16}">
      <dgm:prSet/>
      <dgm:spPr/>
      <dgm:t>
        <a:bodyPr/>
        <a:lstStyle/>
        <a:p>
          <a:r>
            <a:rPr lang="en-US" dirty="0"/>
            <a:t>They’re the same!!!!!!!!!!!!!!!!!!!!!!!!!!!!!!!!!!!!!!!!!!!!!!!!!!!!!!!!!!!!!!!!</a:t>
          </a:r>
        </a:p>
      </dgm:t>
    </dgm:pt>
    <dgm:pt modelId="{3B654E13-9D7B-45EA-AD4D-92CB6F63D3D9}" type="parTrans" cxnId="{919262EE-EA91-4D46-BCBF-BFFC6CA7268D}">
      <dgm:prSet/>
      <dgm:spPr/>
      <dgm:t>
        <a:bodyPr/>
        <a:lstStyle/>
        <a:p>
          <a:endParaRPr lang="en-US"/>
        </a:p>
      </dgm:t>
    </dgm:pt>
    <dgm:pt modelId="{D3FCB036-1B96-4C8D-8167-E0B3FB857184}" type="sibTrans" cxnId="{919262EE-EA91-4D46-BCBF-BFFC6CA7268D}">
      <dgm:prSet/>
      <dgm:spPr/>
      <dgm:t>
        <a:bodyPr/>
        <a:lstStyle/>
        <a:p>
          <a:endParaRPr lang="en-US"/>
        </a:p>
      </dgm:t>
    </dgm:pt>
    <dgm:pt modelId="{64E063C6-66AB-8847-8D0D-86A164C73355}">
      <dgm:prSet/>
      <dgm:spPr/>
      <dgm:t>
        <a:bodyPr/>
        <a:lstStyle/>
        <a:p>
          <a:r>
            <a:rPr lang="en-US" dirty="0"/>
            <a:t>So......</a:t>
          </a:r>
        </a:p>
      </dgm:t>
    </dgm:pt>
    <dgm:pt modelId="{A4B7E3DA-05F6-0B4B-8136-C414D3E53F55}" type="parTrans" cxnId="{AB281DDF-C00C-B245-8491-0170248F2E52}">
      <dgm:prSet/>
      <dgm:spPr/>
      <dgm:t>
        <a:bodyPr/>
        <a:lstStyle/>
        <a:p>
          <a:endParaRPr lang="en-US"/>
        </a:p>
      </dgm:t>
    </dgm:pt>
    <dgm:pt modelId="{EACEAD3B-D439-EC48-B97C-8FC61340DCC5}" type="sibTrans" cxnId="{AB281DDF-C00C-B245-8491-0170248F2E52}">
      <dgm:prSet/>
      <dgm:spPr/>
      <dgm:t>
        <a:bodyPr/>
        <a:lstStyle/>
        <a:p>
          <a:endParaRPr lang="en-US"/>
        </a:p>
      </dgm:t>
    </dgm:pt>
    <dgm:pt modelId="{BE3C7B3F-DA55-9A4C-85AA-5423879B0C9A}" type="pres">
      <dgm:prSet presAssocID="{68E401F2-D545-45E9-BF95-54EFEF362C7B}" presName="linear" presStyleCnt="0">
        <dgm:presLayoutVars>
          <dgm:animLvl val="lvl"/>
          <dgm:resizeHandles val="exact"/>
        </dgm:presLayoutVars>
      </dgm:prSet>
      <dgm:spPr/>
    </dgm:pt>
    <dgm:pt modelId="{E874E38F-92DD-5D4A-AB9B-3F032ACCD080}" type="pres">
      <dgm:prSet presAssocID="{BEE6B366-3067-4B4C-BAE2-93EE7A47BD14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BB9CFDE1-5B42-8540-9307-30E2DCB67239}" type="pres">
      <dgm:prSet presAssocID="{E825A9AF-4A1A-4E7E-A3F3-7528FA93B2D5}" presName="spacer" presStyleCnt="0"/>
      <dgm:spPr/>
    </dgm:pt>
    <dgm:pt modelId="{36F3676A-A83A-BE45-A984-1AD59106BBCA}" type="pres">
      <dgm:prSet presAssocID="{F7C787EC-569B-4E72-A015-01C75A54C544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F8E8421D-937D-1148-9D71-F5B5F6610B7A}" type="pres">
      <dgm:prSet presAssocID="{459552CF-3BE2-4DC4-A93F-7967809A973F}" presName="spacer" presStyleCnt="0"/>
      <dgm:spPr/>
    </dgm:pt>
    <dgm:pt modelId="{EEAD994D-7AB7-BA42-BCF1-0F46D579ECCF}" type="pres">
      <dgm:prSet presAssocID="{45ADA0E8-48D5-43FD-ADA1-7D894710D18F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5F692356-EE7B-144F-95FB-C686622193E3}" type="pres">
      <dgm:prSet presAssocID="{0AD2188E-8C5C-440A-BFC0-0298F855A78B}" presName="spacer" presStyleCnt="0"/>
      <dgm:spPr/>
    </dgm:pt>
    <dgm:pt modelId="{AA78AC04-63D9-C141-8C64-5AB8741082DF}" type="pres">
      <dgm:prSet presAssocID="{C66B7DC8-1550-434C-B557-E4596846E03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5A3F28CD-7532-D444-8BF3-C19698F70453}" type="pres">
      <dgm:prSet presAssocID="{E17E967C-B467-4E11-8732-9432E1C27FD9}" presName="spacer" presStyleCnt="0"/>
      <dgm:spPr/>
    </dgm:pt>
    <dgm:pt modelId="{473C417E-DBA0-B84E-B2AD-E996A2C3BA57}" type="pres">
      <dgm:prSet presAssocID="{3E6D398B-4C8F-40B5-9626-F00F62FA7249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F42DDEAC-1661-484B-B945-8961385AED18}" type="pres">
      <dgm:prSet presAssocID="{C5CD1B6A-A71A-4344-9E0B-A67CCFEBC65C}" presName="spacer" presStyleCnt="0"/>
      <dgm:spPr/>
    </dgm:pt>
    <dgm:pt modelId="{EB143397-A591-4747-8E04-4FF0F60283DE}" type="pres">
      <dgm:prSet presAssocID="{1AB9B3C2-22AD-4CE0-AAF8-38360FC482FF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5A22F7FF-5E02-A648-B9DF-12217EF62420}" type="pres">
      <dgm:prSet presAssocID="{B41AACD2-83E7-4334-A3E6-5F6A7C93519B}" presName="spacer" presStyleCnt="0"/>
      <dgm:spPr/>
    </dgm:pt>
    <dgm:pt modelId="{479C0C3C-54F1-DC4C-B0F4-E7861C4728F7}" type="pres">
      <dgm:prSet presAssocID="{64E063C6-66AB-8847-8D0D-86A164C73355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8A9FA29D-4E10-D148-87BC-17825CE572BA}" type="pres">
      <dgm:prSet presAssocID="{EACEAD3B-D439-EC48-B97C-8FC61340DCC5}" presName="spacer" presStyleCnt="0"/>
      <dgm:spPr/>
    </dgm:pt>
    <dgm:pt modelId="{CE3DD0F6-616B-2544-90FC-0AECE1DA3964}" type="pres">
      <dgm:prSet presAssocID="{F45947FA-60FA-4B9B-9624-3BC92CC3AE16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57D85613-F6F8-0F4A-876D-8881DF69B061}" type="presOf" srcId="{F45947FA-60FA-4B9B-9624-3BC92CC3AE16}" destId="{CE3DD0F6-616B-2544-90FC-0AECE1DA3964}" srcOrd="0" destOrd="0" presId="urn:microsoft.com/office/officeart/2005/8/layout/vList2"/>
    <dgm:cxn modelId="{DCA4BB13-528E-45ED-832F-F1FB1A117C42}" srcId="{68E401F2-D545-45E9-BF95-54EFEF362C7B}" destId="{C66B7DC8-1550-434C-B557-E4596846E035}" srcOrd="3" destOrd="0" parTransId="{EED2AFD5-4D36-4CEE-BCFE-B3F5FDCB871F}" sibTransId="{E17E967C-B467-4E11-8732-9432E1C27FD9}"/>
    <dgm:cxn modelId="{FA6C231D-0D42-574F-B2D5-DB97F7FF96F7}" type="presOf" srcId="{1AB9B3C2-22AD-4CE0-AAF8-38360FC482FF}" destId="{EB143397-A591-4747-8E04-4FF0F60283DE}" srcOrd="0" destOrd="0" presId="urn:microsoft.com/office/officeart/2005/8/layout/vList2"/>
    <dgm:cxn modelId="{6767733A-AEF1-455F-9CAC-866F1D48F005}" srcId="{68E401F2-D545-45E9-BF95-54EFEF362C7B}" destId="{BEE6B366-3067-4B4C-BAE2-93EE7A47BD14}" srcOrd="0" destOrd="0" parTransId="{0B32A30A-4FCC-4831-BE0D-24334F675548}" sibTransId="{E825A9AF-4A1A-4E7E-A3F3-7528FA93B2D5}"/>
    <dgm:cxn modelId="{07CC1B46-CEE2-5942-B7F8-E887ED3B1E5D}" type="presOf" srcId="{64E063C6-66AB-8847-8D0D-86A164C73355}" destId="{479C0C3C-54F1-DC4C-B0F4-E7861C4728F7}" srcOrd="0" destOrd="0" presId="urn:microsoft.com/office/officeart/2005/8/layout/vList2"/>
    <dgm:cxn modelId="{53379749-10C9-8B48-942A-3283F679920D}" type="presOf" srcId="{45ADA0E8-48D5-43FD-ADA1-7D894710D18F}" destId="{EEAD994D-7AB7-BA42-BCF1-0F46D579ECCF}" srcOrd="0" destOrd="0" presId="urn:microsoft.com/office/officeart/2005/8/layout/vList2"/>
    <dgm:cxn modelId="{CB83B568-319C-41A2-B29D-E1FD7088826C}" srcId="{68E401F2-D545-45E9-BF95-54EFEF362C7B}" destId="{1AB9B3C2-22AD-4CE0-AAF8-38360FC482FF}" srcOrd="5" destOrd="0" parTransId="{10B3615F-0D89-4ECE-B1D0-E5DF5405D3E6}" sibTransId="{B41AACD2-83E7-4334-A3E6-5F6A7C93519B}"/>
    <dgm:cxn modelId="{32F1416B-C3FE-2B4B-9010-0851D5245C23}" type="presOf" srcId="{3E6D398B-4C8F-40B5-9626-F00F62FA7249}" destId="{473C417E-DBA0-B84E-B2AD-E996A2C3BA57}" srcOrd="0" destOrd="0" presId="urn:microsoft.com/office/officeart/2005/8/layout/vList2"/>
    <dgm:cxn modelId="{A7A8CC8E-99DB-4644-A1A8-AC0ABDA45D5F}" type="presOf" srcId="{F7C787EC-569B-4E72-A015-01C75A54C544}" destId="{36F3676A-A83A-BE45-A984-1AD59106BBCA}" srcOrd="0" destOrd="0" presId="urn:microsoft.com/office/officeart/2005/8/layout/vList2"/>
    <dgm:cxn modelId="{50309CAF-5A2E-44AA-A1F6-04D9D992803C}" srcId="{68E401F2-D545-45E9-BF95-54EFEF362C7B}" destId="{F7C787EC-569B-4E72-A015-01C75A54C544}" srcOrd="1" destOrd="0" parTransId="{D18C09CA-645D-427E-AD27-A83F3A34C0B3}" sibTransId="{459552CF-3BE2-4DC4-A93F-7967809A973F}"/>
    <dgm:cxn modelId="{9B07F1C1-D5D0-40DF-AA8F-F60685A07939}" srcId="{68E401F2-D545-45E9-BF95-54EFEF362C7B}" destId="{45ADA0E8-48D5-43FD-ADA1-7D894710D18F}" srcOrd="2" destOrd="0" parTransId="{BE0360B8-CB57-4BD6-BA12-8BEEFC23591E}" sibTransId="{0AD2188E-8C5C-440A-BFC0-0298F855A78B}"/>
    <dgm:cxn modelId="{AEF6B4C6-C32D-6549-96FE-B5AE8D5C92FF}" type="presOf" srcId="{68E401F2-D545-45E9-BF95-54EFEF362C7B}" destId="{BE3C7B3F-DA55-9A4C-85AA-5423879B0C9A}" srcOrd="0" destOrd="0" presId="urn:microsoft.com/office/officeart/2005/8/layout/vList2"/>
    <dgm:cxn modelId="{363878CA-80A9-446C-BCCD-EE7363EFA877}" srcId="{68E401F2-D545-45E9-BF95-54EFEF362C7B}" destId="{3E6D398B-4C8F-40B5-9626-F00F62FA7249}" srcOrd="4" destOrd="0" parTransId="{9DABD6C0-1DF0-41B8-8236-00181C8D5B33}" sibTransId="{C5CD1B6A-A71A-4344-9E0B-A67CCFEBC65C}"/>
    <dgm:cxn modelId="{7D8DB4CF-CEE6-AB40-8D24-73FB7BC8BF33}" type="presOf" srcId="{C66B7DC8-1550-434C-B557-E4596846E035}" destId="{AA78AC04-63D9-C141-8C64-5AB8741082DF}" srcOrd="0" destOrd="0" presId="urn:microsoft.com/office/officeart/2005/8/layout/vList2"/>
    <dgm:cxn modelId="{3E075ADE-4DAF-6A4F-BAE0-A1F77192C623}" type="presOf" srcId="{BEE6B366-3067-4B4C-BAE2-93EE7A47BD14}" destId="{E874E38F-92DD-5D4A-AB9B-3F032ACCD080}" srcOrd="0" destOrd="0" presId="urn:microsoft.com/office/officeart/2005/8/layout/vList2"/>
    <dgm:cxn modelId="{AB281DDF-C00C-B245-8491-0170248F2E52}" srcId="{68E401F2-D545-45E9-BF95-54EFEF362C7B}" destId="{64E063C6-66AB-8847-8D0D-86A164C73355}" srcOrd="6" destOrd="0" parTransId="{A4B7E3DA-05F6-0B4B-8136-C414D3E53F55}" sibTransId="{EACEAD3B-D439-EC48-B97C-8FC61340DCC5}"/>
    <dgm:cxn modelId="{919262EE-EA91-4D46-BCBF-BFFC6CA7268D}" srcId="{68E401F2-D545-45E9-BF95-54EFEF362C7B}" destId="{F45947FA-60FA-4B9B-9624-3BC92CC3AE16}" srcOrd="7" destOrd="0" parTransId="{3B654E13-9D7B-45EA-AD4D-92CB6F63D3D9}" sibTransId="{D3FCB036-1B96-4C8D-8167-E0B3FB857184}"/>
    <dgm:cxn modelId="{645C1975-D2AA-E24E-90F9-D235EA3308E0}" type="presParOf" srcId="{BE3C7B3F-DA55-9A4C-85AA-5423879B0C9A}" destId="{E874E38F-92DD-5D4A-AB9B-3F032ACCD080}" srcOrd="0" destOrd="0" presId="urn:microsoft.com/office/officeart/2005/8/layout/vList2"/>
    <dgm:cxn modelId="{D6B034D0-6CFF-F641-9C5E-00D1DE1D0B3E}" type="presParOf" srcId="{BE3C7B3F-DA55-9A4C-85AA-5423879B0C9A}" destId="{BB9CFDE1-5B42-8540-9307-30E2DCB67239}" srcOrd="1" destOrd="0" presId="urn:microsoft.com/office/officeart/2005/8/layout/vList2"/>
    <dgm:cxn modelId="{CC374F95-BB44-CE48-9FEF-D7EBFBF0B017}" type="presParOf" srcId="{BE3C7B3F-DA55-9A4C-85AA-5423879B0C9A}" destId="{36F3676A-A83A-BE45-A984-1AD59106BBCA}" srcOrd="2" destOrd="0" presId="urn:microsoft.com/office/officeart/2005/8/layout/vList2"/>
    <dgm:cxn modelId="{22269944-06FA-D448-83DE-CAEACAE74DE5}" type="presParOf" srcId="{BE3C7B3F-DA55-9A4C-85AA-5423879B0C9A}" destId="{F8E8421D-937D-1148-9D71-F5B5F6610B7A}" srcOrd="3" destOrd="0" presId="urn:microsoft.com/office/officeart/2005/8/layout/vList2"/>
    <dgm:cxn modelId="{52EE2123-F5F1-C24A-8CF0-0DC9AE5FE6F6}" type="presParOf" srcId="{BE3C7B3F-DA55-9A4C-85AA-5423879B0C9A}" destId="{EEAD994D-7AB7-BA42-BCF1-0F46D579ECCF}" srcOrd="4" destOrd="0" presId="urn:microsoft.com/office/officeart/2005/8/layout/vList2"/>
    <dgm:cxn modelId="{2A52E07B-6EBF-9E43-A11B-3E16E6181941}" type="presParOf" srcId="{BE3C7B3F-DA55-9A4C-85AA-5423879B0C9A}" destId="{5F692356-EE7B-144F-95FB-C686622193E3}" srcOrd="5" destOrd="0" presId="urn:microsoft.com/office/officeart/2005/8/layout/vList2"/>
    <dgm:cxn modelId="{F140B0E8-DBA3-014D-8D10-B17677C6CC2A}" type="presParOf" srcId="{BE3C7B3F-DA55-9A4C-85AA-5423879B0C9A}" destId="{AA78AC04-63D9-C141-8C64-5AB8741082DF}" srcOrd="6" destOrd="0" presId="urn:microsoft.com/office/officeart/2005/8/layout/vList2"/>
    <dgm:cxn modelId="{A2CE54FF-6A1E-E247-98C1-30D4724A9D6E}" type="presParOf" srcId="{BE3C7B3F-DA55-9A4C-85AA-5423879B0C9A}" destId="{5A3F28CD-7532-D444-8BF3-C19698F70453}" srcOrd="7" destOrd="0" presId="urn:microsoft.com/office/officeart/2005/8/layout/vList2"/>
    <dgm:cxn modelId="{3ED08193-B026-774D-BD53-0200131641D3}" type="presParOf" srcId="{BE3C7B3F-DA55-9A4C-85AA-5423879B0C9A}" destId="{473C417E-DBA0-B84E-B2AD-E996A2C3BA57}" srcOrd="8" destOrd="0" presId="urn:microsoft.com/office/officeart/2005/8/layout/vList2"/>
    <dgm:cxn modelId="{36D768AE-4FCD-1B47-B159-0380A32EB00F}" type="presParOf" srcId="{BE3C7B3F-DA55-9A4C-85AA-5423879B0C9A}" destId="{F42DDEAC-1661-484B-B945-8961385AED18}" srcOrd="9" destOrd="0" presId="urn:microsoft.com/office/officeart/2005/8/layout/vList2"/>
    <dgm:cxn modelId="{5E79A710-5BB5-7247-9C05-1922F4861CCC}" type="presParOf" srcId="{BE3C7B3F-DA55-9A4C-85AA-5423879B0C9A}" destId="{EB143397-A591-4747-8E04-4FF0F60283DE}" srcOrd="10" destOrd="0" presId="urn:microsoft.com/office/officeart/2005/8/layout/vList2"/>
    <dgm:cxn modelId="{EA69BFA9-98DF-9246-9200-01AA4A59441D}" type="presParOf" srcId="{BE3C7B3F-DA55-9A4C-85AA-5423879B0C9A}" destId="{5A22F7FF-5E02-A648-B9DF-12217EF62420}" srcOrd="11" destOrd="0" presId="urn:microsoft.com/office/officeart/2005/8/layout/vList2"/>
    <dgm:cxn modelId="{B211FA68-81A6-AB4A-96B7-99208327C6B3}" type="presParOf" srcId="{BE3C7B3F-DA55-9A4C-85AA-5423879B0C9A}" destId="{479C0C3C-54F1-DC4C-B0F4-E7861C4728F7}" srcOrd="12" destOrd="0" presId="urn:microsoft.com/office/officeart/2005/8/layout/vList2"/>
    <dgm:cxn modelId="{0A7DE511-972D-BD4A-98CF-A451C5B521F6}" type="presParOf" srcId="{BE3C7B3F-DA55-9A4C-85AA-5423879B0C9A}" destId="{8A9FA29D-4E10-D148-87BC-17825CE572BA}" srcOrd="13" destOrd="0" presId="urn:microsoft.com/office/officeart/2005/8/layout/vList2"/>
    <dgm:cxn modelId="{706B21FF-0F65-5944-871E-F28BC1D44DD6}" type="presParOf" srcId="{BE3C7B3F-DA55-9A4C-85AA-5423879B0C9A}" destId="{CE3DD0F6-616B-2544-90FC-0AECE1DA3964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74E38F-92DD-5D4A-AB9B-3F032ACCD080}">
      <dsp:nvSpPr>
        <dsp:cNvPr id="0" name=""/>
        <dsp:cNvSpPr/>
      </dsp:nvSpPr>
      <dsp:spPr>
        <a:xfrm>
          <a:off x="0" y="7398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Mean of X – 9 for all sets.</a:t>
          </a:r>
        </a:p>
      </dsp:txBody>
      <dsp:txXfrm>
        <a:off x="24502" y="98484"/>
        <a:ext cx="6634370" cy="452926"/>
      </dsp:txXfrm>
    </dsp:sp>
    <dsp:sp modelId="{36F3676A-A83A-BE45-A984-1AD59106BBCA}">
      <dsp:nvSpPr>
        <dsp:cNvPr id="0" name=""/>
        <dsp:cNvSpPr/>
      </dsp:nvSpPr>
      <dsp:spPr>
        <a:xfrm>
          <a:off x="0" y="63927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624885"/>
                <a:satOff val="-1203"/>
                <a:lumOff val="8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624885"/>
                <a:satOff val="-1203"/>
                <a:lumOff val="8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624885"/>
                <a:satOff val="-1203"/>
                <a:lumOff val="8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Mean of Y – 7.5 for all sets.</a:t>
          </a:r>
        </a:p>
      </dsp:txBody>
      <dsp:txXfrm>
        <a:off x="24502" y="663774"/>
        <a:ext cx="6634370" cy="452926"/>
      </dsp:txXfrm>
    </dsp:sp>
    <dsp:sp modelId="{EEAD994D-7AB7-BA42-BCF1-0F46D579ECCF}">
      <dsp:nvSpPr>
        <dsp:cNvPr id="0" name=""/>
        <dsp:cNvSpPr/>
      </dsp:nvSpPr>
      <dsp:spPr>
        <a:xfrm>
          <a:off x="0" y="120456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1249769"/>
                <a:satOff val="-2406"/>
                <a:lumOff val="16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249769"/>
                <a:satOff val="-2406"/>
                <a:lumOff val="16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249769"/>
                <a:satOff val="-2406"/>
                <a:lumOff val="16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Variance of X – 11 for all sets.</a:t>
          </a:r>
        </a:p>
      </dsp:txBody>
      <dsp:txXfrm>
        <a:off x="24502" y="1229064"/>
        <a:ext cx="6634370" cy="452926"/>
      </dsp:txXfrm>
    </dsp:sp>
    <dsp:sp modelId="{AA78AC04-63D9-C141-8C64-5AB8741082DF}">
      <dsp:nvSpPr>
        <dsp:cNvPr id="0" name=""/>
        <dsp:cNvSpPr/>
      </dsp:nvSpPr>
      <dsp:spPr>
        <a:xfrm>
          <a:off x="0" y="176985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1874654"/>
                <a:satOff val="-3609"/>
                <a:lumOff val="25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874654"/>
                <a:satOff val="-3609"/>
                <a:lumOff val="25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874654"/>
                <a:satOff val="-3609"/>
                <a:lumOff val="25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Variance of Y – 4.1 for all sets.</a:t>
          </a:r>
        </a:p>
      </dsp:txBody>
      <dsp:txXfrm>
        <a:off x="24502" y="1794354"/>
        <a:ext cx="6634370" cy="452926"/>
      </dsp:txXfrm>
    </dsp:sp>
    <dsp:sp modelId="{473C417E-DBA0-B84E-B2AD-E996A2C3BA57}">
      <dsp:nvSpPr>
        <dsp:cNvPr id="0" name=""/>
        <dsp:cNvSpPr/>
      </dsp:nvSpPr>
      <dsp:spPr>
        <a:xfrm>
          <a:off x="0" y="233514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2499539"/>
                <a:satOff val="-4811"/>
                <a:lumOff val="336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499539"/>
                <a:satOff val="-4811"/>
                <a:lumOff val="336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499539"/>
                <a:satOff val="-4811"/>
                <a:lumOff val="336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Correlation between X and Y - .8 for all sets.</a:t>
          </a:r>
        </a:p>
      </dsp:txBody>
      <dsp:txXfrm>
        <a:off x="24502" y="2359644"/>
        <a:ext cx="6634370" cy="452926"/>
      </dsp:txXfrm>
    </dsp:sp>
    <dsp:sp modelId="{EB143397-A591-4747-8E04-4FF0F60283DE}">
      <dsp:nvSpPr>
        <dsp:cNvPr id="0" name=""/>
        <dsp:cNvSpPr/>
      </dsp:nvSpPr>
      <dsp:spPr>
        <a:xfrm>
          <a:off x="0" y="290043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3124423"/>
                <a:satOff val="-6014"/>
                <a:lumOff val="42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124423"/>
                <a:satOff val="-6014"/>
                <a:lumOff val="42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124423"/>
                <a:satOff val="-6014"/>
                <a:lumOff val="42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Linear regression – y = .5x +3 for all sets.</a:t>
          </a:r>
        </a:p>
      </dsp:txBody>
      <dsp:txXfrm>
        <a:off x="24502" y="2924934"/>
        <a:ext cx="6634370" cy="452926"/>
      </dsp:txXfrm>
    </dsp:sp>
    <dsp:sp modelId="{479C0C3C-54F1-DC4C-B0F4-E7861C4728F7}">
      <dsp:nvSpPr>
        <dsp:cNvPr id="0" name=""/>
        <dsp:cNvSpPr/>
      </dsp:nvSpPr>
      <dsp:spPr>
        <a:xfrm>
          <a:off x="0" y="346572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3749308"/>
                <a:satOff val="-7217"/>
                <a:lumOff val="504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749308"/>
                <a:satOff val="-7217"/>
                <a:lumOff val="504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749308"/>
                <a:satOff val="-7217"/>
                <a:lumOff val="504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So......</a:t>
          </a:r>
        </a:p>
      </dsp:txBody>
      <dsp:txXfrm>
        <a:off x="24502" y="3490224"/>
        <a:ext cx="6634370" cy="452926"/>
      </dsp:txXfrm>
    </dsp:sp>
    <dsp:sp modelId="{CE3DD0F6-616B-2544-90FC-0AECE1DA3964}">
      <dsp:nvSpPr>
        <dsp:cNvPr id="0" name=""/>
        <dsp:cNvSpPr/>
      </dsp:nvSpPr>
      <dsp:spPr>
        <a:xfrm>
          <a:off x="0" y="4031012"/>
          <a:ext cx="6683374" cy="501930"/>
        </a:xfrm>
        <a:prstGeom prst="roundRect">
          <a:avLst/>
        </a:prstGeom>
        <a:gradFill rotWithShape="0">
          <a:gsLst>
            <a:gs pos="0">
              <a:schemeClr val="accent2">
                <a:hueOff val="-4374192"/>
                <a:satOff val="-8420"/>
                <a:lumOff val="588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4374192"/>
                <a:satOff val="-8420"/>
                <a:lumOff val="588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4374192"/>
                <a:satOff val="-8420"/>
                <a:lumOff val="588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They’re the same!!!!!!!!!!!!!!!!!!!!!!!!!!!!!!!!!!!!!!!!!!!!!!!!!!!!!!!!!!!!!!!!</a:t>
          </a:r>
        </a:p>
      </dsp:txBody>
      <dsp:txXfrm>
        <a:off x="24502" y="4055514"/>
        <a:ext cx="6634370" cy="4529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120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02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65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5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603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27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10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71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55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8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669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663013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921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643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35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834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83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5031-3B21-1F4A-B664-2BF72DD6F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193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5515E-8662-B249-BF44-D8BCF2E0A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14501"/>
            <a:ext cx="10364452" cy="4904960"/>
          </a:xfrm>
        </p:spPr>
        <p:txBody>
          <a:bodyPr/>
          <a:lstStyle>
            <a:lvl1pPr>
              <a:defRPr sz="2400" cap="none" baseline="0"/>
            </a:lvl1pPr>
            <a:lvl2pPr>
              <a:defRPr sz="2200" cap="none" baseline="0"/>
            </a:lvl2pPr>
            <a:lvl3pPr>
              <a:defRPr sz="2000" cap="none" baseline="0"/>
            </a:lvl3pPr>
            <a:lvl4pPr>
              <a:defRPr cap="none" baseline="0"/>
            </a:lvl4pPr>
            <a:lvl5pPr>
              <a:defRPr cap="none" baseline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052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B7ADFEC-4AB3-FE43-AF2A-83643572861E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031DA33-CEA6-0D49-A257-6BF8611D47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4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Zg-C8AAIGg" TargetMode="External"/><Relationship Id="rId2" Type="http://schemas.openxmlformats.org/officeDocument/2006/relationships/slideLayout" Target="../slideLayouts/slideLayout18.xml"/><Relationship Id="rId1" Type="http://schemas.openxmlformats.org/officeDocument/2006/relationships/video" Target="https://www.youtube.com/embed/5Zg-C8AAIGg?feature=oembed" TargetMode="Externa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tiff"/></Relationships>
</file>

<file path=ppt/slides/_rels/slide3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tiff"/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55F53-375C-43B7-6563-29611C38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84446-900B-9EB2-A887-184B056CE0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1818290"/>
            <a:ext cx="10363826" cy="3972909"/>
          </a:xfrm>
        </p:spPr>
        <p:txBody>
          <a:bodyPr/>
          <a:lstStyle/>
          <a:p>
            <a:r>
              <a:rPr lang="en-US" dirty="0"/>
              <a:t>More visualization intro stuff. </a:t>
            </a:r>
          </a:p>
          <a:p>
            <a:pPr lvl="1"/>
            <a:r>
              <a:rPr lang="en-US" dirty="0"/>
              <a:t>Review </a:t>
            </a:r>
            <a:r>
              <a:rPr lang="en-US" dirty="0" err="1"/>
              <a:t>preattentive</a:t>
            </a:r>
            <a:r>
              <a:rPr lang="en-US" dirty="0"/>
              <a:t> attributes. </a:t>
            </a:r>
          </a:p>
          <a:p>
            <a:pPr lvl="1"/>
            <a:r>
              <a:rPr lang="en-US" dirty="0"/>
              <a:t>Look at visual analytics being used. </a:t>
            </a:r>
          </a:p>
          <a:p>
            <a:pPr lvl="1"/>
            <a:r>
              <a:rPr lang="en-US" dirty="0"/>
              <a:t>Tableau Pubic and Visual Vocabulary. </a:t>
            </a:r>
          </a:p>
          <a:p>
            <a:pPr lvl="1"/>
            <a:r>
              <a:rPr lang="en-US" dirty="0"/>
              <a:t>Looking for Data. </a:t>
            </a:r>
          </a:p>
          <a:p>
            <a:pPr lvl="1"/>
            <a:r>
              <a:rPr lang="en-US" dirty="0"/>
              <a:t>Loading outside data to Tableau. </a:t>
            </a:r>
          </a:p>
          <a:p>
            <a:r>
              <a:rPr lang="en-US" dirty="0"/>
              <a:t>There are a couple of Documents to read. </a:t>
            </a:r>
          </a:p>
          <a:p>
            <a:r>
              <a:rPr lang="en-US" dirty="0"/>
              <a:t>Start doing the warm-up exercises soon if you haven’t, doing stuff without direction is a little different and you want to get used to that early.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7F3515-A654-7C1C-7B9D-A3C310911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289" y="1818290"/>
            <a:ext cx="4654208" cy="250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7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68CA-3DEA-D444-8EC7-FC7A5D7B0C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04BAC7-AB37-0D46-9167-3CB83C3F47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88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690FA-03C9-244E-B51F-36A68987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51338"/>
          </a:xfrm>
        </p:spPr>
        <p:txBody>
          <a:bodyPr/>
          <a:lstStyle/>
          <a:p>
            <a:r>
              <a:rPr lang="en-US" dirty="0"/>
              <a:t>A Picture is Worth a Thousand Words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Which of These Two is Easier to Understand?</a:t>
            </a:r>
          </a:p>
        </p:txBody>
      </p:sp>
    </p:spTree>
    <p:extLst>
      <p:ext uri="{BB962C8B-B14F-4D97-AF65-F5344CB8AC3E}">
        <p14:creationId xmlns:p14="http://schemas.microsoft.com/office/powerpoint/2010/main" val="3444659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4E691-B850-6743-8367-116BE826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62CD-9D99-4E41-A940-703472059D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E415B-347B-6E44-9A9C-E3EA2F23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05" y="0"/>
            <a:ext cx="11513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1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E1961-4C4C-7A4E-B15C-67D00D0BA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AD2DD-9924-0440-9AED-BC754986D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E94B5D-774E-6B43-AE35-B0351BE5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66" y="0"/>
            <a:ext cx="108010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48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2549D-D4BB-1447-90F5-5473BF02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Power of 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73D28-6E7D-FE4E-9DAD-0ABD5035F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Visualizations (charts, graphs, </a:t>
            </a:r>
            <a:r>
              <a:rPr lang="en-US" dirty="0" err="1"/>
              <a:t>etc</a:t>
            </a:r>
            <a:r>
              <a:rPr lang="en-US" dirty="0"/>
              <a:t>) can make data easier to consume.</a:t>
            </a:r>
          </a:p>
          <a:p>
            <a:pPr lvl="1"/>
            <a:r>
              <a:rPr lang="en-US" dirty="0"/>
              <a:t>Lower friction – the reader should have to expend as little effort as possible. </a:t>
            </a:r>
          </a:p>
          <a:p>
            <a:r>
              <a:rPr lang="en-US" dirty="0"/>
              <a:t>The amount of data, and its importance to business are skyrocketing.</a:t>
            </a:r>
          </a:p>
          <a:p>
            <a:endParaRPr lang="en-US" dirty="0"/>
          </a:p>
          <a:p>
            <a:r>
              <a:rPr lang="en-US" dirty="0"/>
              <a:t>Faster computers + Better software tools + Larger databases + Need to understand lots of data quickly = Modern visualization.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106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DA8C-4036-B24F-B825-F7EE5C9A6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FAAF-593D-424C-B728-BB666D67B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B232E7-56C8-BD4A-A76B-2FEFF71B4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810" y="0"/>
            <a:ext cx="687037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380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1401-9D7B-2248-BAB1-E5C7E4617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Visualize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73B33-2E06-7143-86A8-0B3DE0D8C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of visualization is to use graphical elements to make data more understandable. </a:t>
            </a:r>
          </a:p>
        </p:txBody>
      </p:sp>
    </p:spTree>
    <p:extLst>
      <p:ext uri="{BB962C8B-B14F-4D97-AF65-F5344CB8AC3E}">
        <p14:creationId xmlns:p14="http://schemas.microsoft.com/office/powerpoint/2010/main" val="513496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7671A-BCFD-1244-9F23-5CC47C1B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www.youtube.com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watch?v</a:t>
            </a:r>
            <a:r>
              <a:rPr lang="en-US" dirty="0">
                <a:hlinkClick r:id="rId3"/>
              </a:rPr>
              <a:t>=5Zg-C8AAIGg</a:t>
            </a:r>
            <a:endParaRPr lang="en-US" dirty="0"/>
          </a:p>
        </p:txBody>
      </p:sp>
      <p:pic>
        <p:nvPicPr>
          <p:cNvPr id="4" name="Online Media 3" descr="The beauty of data visualization - David McCandless">
            <a:hlinkClick r:id="" action="ppaction://media"/>
            <a:extLst>
              <a:ext uri="{FF2B5EF4-FFF2-40B4-BE49-F238E27FC236}">
                <a16:creationId xmlns:a16="http://schemas.microsoft.com/office/drawing/2014/main" id="{AE2D330A-4FB2-BA4E-9DB5-AED5B0A2351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755775" y="1714500"/>
            <a:ext cx="8682038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0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BF8F-7CFA-DF77-2D4F-22FC05558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 –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E3993-29F6-9304-A405-7DF2EDB26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714501"/>
            <a:ext cx="4894306" cy="4904960"/>
          </a:xfrm>
        </p:spPr>
        <p:txBody>
          <a:bodyPr/>
          <a:lstStyle/>
          <a:p>
            <a:r>
              <a:rPr lang="en-US" dirty="0"/>
              <a:t>Have data of two basic types. </a:t>
            </a:r>
          </a:p>
          <a:p>
            <a:pPr lvl="1"/>
            <a:r>
              <a:rPr lang="en-US" dirty="0"/>
              <a:t>Continuous. </a:t>
            </a:r>
          </a:p>
          <a:p>
            <a:pPr lvl="1"/>
            <a:r>
              <a:rPr lang="en-US" dirty="0"/>
              <a:t>Categorical. </a:t>
            </a:r>
          </a:p>
          <a:p>
            <a:r>
              <a:rPr lang="en-US" dirty="0"/>
              <a:t>If it makes sense on a number line, it is numerical. </a:t>
            </a:r>
          </a:p>
          <a:p>
            <a:r>
              <a:rPr lang="en-US" dirty="0"/>
              <a:t>How Tableau treats each differs. </a:t>
            </a:r>
          </a:p>
          <a:p>
            <a:pPr lvl="1"/>
            <a:r>
              <a:rPr lang="en-US" dirty="0"/>
              <a:t>Cat – group data for each value.</a:t>
            </a:r>
          </a:p>
          <a:p>
            <a:pPr lvl="1"/>
            <a:r>
              <a:rPr lang="en-US" dirty="0"/>
              <a:t>Num – calculate this for each group.</a:t>
            </a:r>
          </a:p>
          <a:p>
            <a:r>
              <a:rPr lang="en-US" dirty="0"/>
              <a:t>Othe division less important. </a:t>
            </a:r>
          </a:p>
        </p:txBody>
      </p:sp>
      <p:pic>
        <p:nvPicPr>
          <p:cNvPr id="1026" name="Picture 2" descr="8 Variables and data types">
            <a:extLst>
              <a:ext uri="{FF2B5EF4-FFF2-40B4-BE49-F238E27FC236}">
                <a16:creationId xmlns:a16="http://schemas.microsoft.com/office/drawing/2014/main" id="{1D555971-83F4-45EF-5215-B50068BE5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4306" y="1902941"/>
            <a:ext cx="7297694" cy="378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634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Why Visual Analytics? - Tableau">
            <a:extLst>
              <a:ext uri="{FF2B5EF4-FFF2-40B4-BE49-F238E27FC236}">
                <a16:creationId xmlns:a16="http://schemas.microsoft.com/office/drawing/2014/main" id="{F0AAFC0D-91ED-4942-8A19-7ECD8376BB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0478" y="1345324"/>
            <a:ext cx="9965796" cy="5431358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349623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05510E-FADD-B545-A4FE-5F0556235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276" y="0"/>
            <a:ext cx="10763300" cy="126400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Worth 1000 Words? Why?</a:t>
            </a:r>
            <a:br>
              <a:rPr lang="en-US" sz="4800" dirty="0"/>
            </a:br>
            <a:r>
              <a:rPr lang="en-US" sz="4800" dirty="0" err="1"/>
              <a:t>preattentive</a:t>
            </a:r>
            <a:r>
              <a:rPr lang="en-US" sz="4800" dirty="0"/>
              <a:t> Attributes</a:t>
            </a: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A73B520B-D7E7-436A-B263-0682940B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9600237" cy="261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398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D3DFF-0552-474D-B596-8C13B77C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preattentive</a:t>
            </a:r>
            <a:r>
              <a:rPr lang="en-US" dirty="0"/>
              <a:t>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CF18-C682-1843-BF85-2E211A021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Our brains evolved being able to process certain visual things almost automatically.</a:t>
            </a:r>
          </a:p>
          <a:p>
            <a:pPr lvl="1"/>
            <a:r>
              <a:rPr lang="en-US" dirty="0"/>
              <a:t>A caveman needs to see if a tiger is hiding in some leaves, or he’s dinner. </a:t>
            </a:r>
          </a:p>
          <a:p>
            <a:r>
              <a:rPr lang="en-US" dirty="0"/>
              <a:t>Pre-attentive attributes are things that we notice with a low cognitive load. </a:t>
            </a:r>
          </a:p>
          <a:p>
            <a:r>
              <a:rPr lang="en-US" dirty="0"/>
              <a:t>Understand more, think less. </a:t>
            </a:r>
          </a:p>
        </p:txBody>
      </p:sp>
    </p:spTree>
    <p:extLst>
      <p:ext uri="{BB962C8B-B14F-4D97-AF65-F5344CB8AC3E}">
        <p14:creationId xmlns:p14="http://schemas.microsoft.com/office/powerpoint/2010/main" val="2168697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5" name="Rectangle 134">
            <a:extLst>
              <a:ext uri="{FF2B5EF4-FFF2-40B4-BE49-F238E27FC236}">
                <a16:creationId xmlns:a16="http://schemas.microsoft.com/office/drawing/2014/main" id="{10D21FCB-56CB-4EFA-A79A-A9A8EC0F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7" name="Picture 136">
            <a:extLst>
              <a:ext uri="{FF2B5EF4-FFF2-40B4-BE49-F238E27FC236}">
                <a16:creationId xmlns:a16="http://schemas.microsoft.com/office/drawing/2014/main" id="{B1027BD9-272C-4CC4-9396-1708F8B1F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196" name="Picture 4" descr="The Case for Data Visualization | Viget">
            <a:extLst>
              <a:ext uri="{FF2B5EF4-FFF2-40B4-BE49-F238E27FC236}">
                <a16:creationId xmlns:a16="http://schemas.microsoft.com/office/drawing/2014/main" id="{A9D94245-2BAC-EE4E-9D23-4EBB3465A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450" y="1365250"/>
            <a:ext cx="9309100" cy="412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C2DCD4A-2DD4-4246-9EED-41714D0A3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8"/>
            <a:ext cx="10364451" cy="919338"/>
          </a:xfrm>
        </p:spPr>
        <p:txBody>
          <a:bodyPr/>
          <a:lstStyle/>
          <a:p>
            <a:r>
              <a:rPr lang="en-US" dirty="0"/>
              <a:t>Shading/Color Intensity</a:t>
            </a:r>
          </a:p>
        </p:txBody>
      </p:sp>
    </p:spTree>
    <p:extLst>
      <p:ext uri="{BB962C8B-B14F-4D97-AF65-F5344CB8AC3E}">
        <p14:creationId xmlns:p14="http://schemas.microsoft.com/office/powerpoint/2010/main" val="19144280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25D1-A705-A64A-96AA-B17813D77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and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2625D-7D28-2849-8A3F-6689EB641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218" name="Picture 2" descr="Perception in Visualization">
            <a:extLst>
              <a:ext uri="{FF2B5EF4-FFF2-40B4-BE49-F238E27FC236}">
                <a16:creationId xmlns:a16="http://schemas.microsoft.com/office/drawing/2014/main" id="{0CB4829A-29C5-F140-8D0C-E54F2689E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6595" y="1760673"/>
            <a:ext cx="4478809" cy="44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025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D86B8-AC42-BC42-9641-1994B70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 – We don’t even need English!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51283-DDD4-4340-88F4-CBF414F5F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縣市死亡率視覺化表格- VISUALIZING HEALTH DATA 看見健康數據">
            <a:extLst>
              <a:ext uri="{FF2B5EF4-FFF2-40B4-BE49-F238E27FC236}">
                <a16:creationId xmlns:a16="http://schemas.microsoft.com/office/drawing/2014/main" id="{26873549-BEAE-F54C-842B-E0E356CD4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735" y="1985208"/>
            <a:ext cx="6414530" cy="481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391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0A60D-5CF0-1B43-A49C-F9E420D2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Length and Color Intensity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641B0-E846-8242-8C03-7F54A439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MGMT 3125 - Introduction to Data Visualization - sokolj.com">
            <a:extLst>
              <a:ext uri="{FF2B5EF4-FFF2-40B4-BE49-F238E27FC236}">
                <a16:creationId xmlns:a16="http://schemas.microsoft.com/office/drawing/2014/main" id="{047F8CBE-EE1B-9541-A363-0F456CF2D2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98" y="1714501"/>
            <a:ext cx="8181803" cy="5092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215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FE165-05A0-CF4C-A58C-2E98B274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74365-A0DE-B24F-9D73-422D431D3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Animated Transitions in Tableau – datavis.blog">
            <a:extLst>
              <a:ext uri="{FF2B5EF4-FFF2-40B4-BE49-F238E27FC236}">
                <a16:creationId xmlns:a16="http://schemas.microsoft.com/office/drawing/2014/main" id="{DE1092F9-B104-3040-B5F5-51497EAAA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25" y="0"/>
            <a:ext cx="10494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5855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5ED0A-950A-0245-B18E-11093657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Wow, That one had a lot of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DB028-78ED-F641-AEFC-15253FF43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Pre-attentive attributes allow us to make visualizations denser.</a:t>
            </a:r>
          </a:p>
          <a:p>
            <a:pPr lvl="1"/>
            <a:r>
              <a:rPr lang="en-US" dirty="0"/>
              <a:t>Adding more data to one visualization.</a:t>
            </a:r>
          </a:p>
          <a:p>
            <a:r>
              <a:rPr lang="en-US" dirty="0"/>
              <a:t>Since we process them automatically, the thought required doesn’t increase.</a:t>
            </a:r>
          </a:p>
          <a:p>
            <a:pPr lvl="1"/>
            <a:r>
              <a:rPr lang="en-US" dirty="0"/>
              <a:t>It does, but less than if someone had to ‘fully’ think about it. </a:t>
            </a:r>
          </a:p>
          <a:p>
            <a:r>
              <a:rPr lang="en-US" dirty="0"/>
              <a:t>The previous visualization shows two metrics – life exp. and children/woman.</a:t>
            </a:r>
          </a:p>
          <a:p>
            <a:pPr lvl="1"/>
            <a:r>
              <a:rPr lang="en-US" dirty="0"/>
              <a:t>What does size show?</a:t>
            </a:r>
          </a:p>
          <a:p>
            <a:pPr lvl="1"/>
            <a:r>
              <a:rPr lang="en-US" dirty="0"/>
              <a:t>What does color show?</a:t>
            </a:r>
          </a:p>
          <a:p>
            <a:r>
              <a:rPr lang="en-US" dirty="0"/>
              <a:t>Both add more data, without adding more complexity.</a:t>
            </a:r>
          </a:p>
        </p:txBody>
      </p:sp>
    </p:spTree>
    <p:extLst>
      <p:ext uri="{BB962C8B-B14F-4D97-AF65-F5344CB8AC3E}">
        <p14:creationId xmlns:p14="http://schemas.microsoft.com/office/powerpoint/2010/main" val="3655213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2F90-7E85-55EB-2218-EAEAFCDB8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Density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68A8A-5324-5D35-AEE5-9A5DA5038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5458" y="1714501"/>
            <a:ext cx="4036541" cy="4904960"/>
          </a:xfrm>
        </p:spPr>
        <p:txBody>
          <a:bodyPr/>
          <a:lstStyle/>
          <a:p>
            <a:r>
              <a:rPr lang="en-US" dirty="0"/>
              <a:t>Visualization tools allow us to add density. </a:t>
            </a:r>
          </a:p>
          <a:p>
            <a:pPr lvl="1"/>
            <a:r>
              <a:rPr lang="en-US" dirty="0"/>
              <a:t>The same number of charts, more info communicated. </a:t>
            </a:r>
          </a:p>
          <a:p>
            <a:r>
              <a:rPr lang="en-US" dirty="0"/>
              <a:t>Position. </a:t>
            </a:r>
          </a:p>
          <a:p>
            <a:r>
              <a:rPr lang="en-US" dirty="0"/>
              <a:t>Size. </a:t>
            </a:r>
          </a:p>
          <a:p>
            <a:r>
              <a:rPr lang="en-US" dirty="0"/>
              <a:t>Color</a:t>
            </a:r>
          </a:p>
          <a:p>
            <a:r>
              <a:rPr lang="en-US" dirty="0"/>
              <a:t>Shape and pattern. </a:t>
            </a:r>
          </a:p>
          <a:p>
            <a:r>
              <a:rPr lang="en-US" dirty="0"/>
              <a:t>All convey meaning. </a:t>
            </a:r>
          </a:p>
        </p:txBody>
      </p:sp>
      <p:pic>
        <p:nvPicPr>
          <p:cNvPr id="1026" name="Picture 2" descr="How to create a simple 4-colour quadrant in Tableau - The Information Lab">
            <a:extLst>
              <a:ext uri="{FF2B5EF4-FFF2-40B4-BE49-F238E27FC236}">
                <a16:creationId xmlns:a16="http://schemas.microsoft.com/office/drawing/2014/main" id="{43C08E37-D0F6-4D39-08F5-559AE5298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445" y="1537856"/>
            <a:ext cx="7912482" cy="532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771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4E056-94EC-529A-4C87-2A96B623F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Dense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DD851-AAB2-2429-FD76-CFFB01FFDC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visualizations to be:</a:t>
            </a:r>
          </a:p>
          <a:p>
            <a:pPr lvl="1"/>
            <a:r>
              <a:rPr lang="en-US" dirty="0"/>
              <a:t>As dense as is practical (too much can be cluttered/confusing). </a:t>
            </a:r>
          </a:p>
          <a:p>
            <a:pPr lvl="1"/>
            <a:r>
              <a:rPr lang="en-US" dirty="0"/>
              <a:t>As clear as they can be. </a:t>
            </a:r>
          </a:p>
          <a:p>
            <a:r>
              <a:rPr lang="en-US" dirty="0"/>
              <a:t>This is a balancing act, depends on audience, data, charts,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Tableau allows for some helpers:</a:t>
            </a:r>
          </a:p>
          <a:p>
            <a:pPr lvl="1"/>
            <a:r>
              <a:rPr lang="en-US" dirty="0"/>
              <a:t>Use actions to hide/show data based on interactivity. </a:t>
            </a:r>
          </a:p>
          <a:p>
            <a:pPr lvl="1"/>
            <a:r>
              <a:rPr lang="en-US" dirty="0"/>
              <a:t>Use filters or parameters to customize view. </a:t>
            </a:r>
          </a:p>
          <a:p>
            <a:r>
              <a:rPr lang="en-US" dirty="0"/>
              <a:t>Dense visualizations can allow for fewer total needed…</a:t>
            </a:r>
          </a:p>
        </p:txBody>
      </p:sp>
    </p:spTree>
    <p:extLst>
      <p:ext uri="{BB962C8B-B14F-4D97-AF65-F5344CB8AC3E}">
        <p14:creationId xmlns:p14="http://schemas.microsoft.com/office/powerpoint/2010/main" val="5312568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D22C3-0437-10FE-FDDE-4FC6CA1D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Really, Really, Dense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BEF71-A61F-DEDA-3BCE-942D0F0EC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real life example is from when I used to work at ATB. </a:t>
            </a:r>
          </a:p>
          <a:p>
            <a:r>
              <a:rPr lang="en-US" dirty="0"/>
              <a:t>We made many reports on people in training. </a:t>
            </a:r>
          </a:p>
          <a:p>
            <a:pPr lvl="1"/>
            <a:r>
              <a:rPr lang="en-US" dirty="0"/>
              <a:t>Progress, marks, when they’ll be done, number of people,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Every region needed this data, but they wanted slightly different variations. </a:t>
            </a:r>
          </a:p>
          <a:p>
            <a:pPr lvl="1"/>
            <a:r>
              <a:rPr lang="en-US" dirty="0"/>
              <a:t>Different progress calculations, different info fields,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These differences were small, the all wanted “who is in training and progress”. </a:t>
            </a:r>
          </a:p>
          <a:p>
            <a:r>
              <a:rPr lang="en-US" dirty="0"/>
              <a:t>Solution – build one ‘everything’ report and show/hide parts based on user. </a:t>
            </a:r>
          </a:p>
          <a:p>
            <a:pPr lvl="1"/>
            <a:r>
              <a:rPr lang="en-US" dirty="0"/>
              <a:t>One report has all the data. </a:t>
            </a:r>
          </a:p>
          <a:p>
            <a:pPr lvl="1"/>
            <a:r>
              <a:rPr lang="en-US" dirty="0"/>
              <a:t>Different views serve different customers. </a:t>
            </a:r>
          </a:p>
        </p:txBody>
      </p:sp>
    </p:spTree>
    <p:extLst>
      <p:ext uri="{BB962C8B-B14F-4D97-AF65-F5344CB8AC3E}">
        <p14:creationId xmlns:p14="http://schemas.microsoft.com/office/powerpoint/2010/main" val="1507377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5B07E-C1A3-6E4C-A4BB-98696A6C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42CDC-4862-4C4D-82CA-E289EA721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is an open ended, creative field. </a:t>
            </a:r>
          </a:p>
          <a:p>
            <a:r>
              <a:rPr lang="en-US" dirty="0"/>
              <a:t>Designers are constantly experimenting on new ways to display data that are more clear, more interesting, more dense,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There are some types of classic visualization that are most common and are at the core of visualizing data. </a:t>
            </a:r>
          </a:p>
        </p:txBody>
      </p:sp>
    </p:spTree>
    <p:extLst>
      <p:ext uri="{BB962C8B-B14F-4D97-AF65-F5344CB8AC3E}">
        <p14:creationId xmlns:p14="http://schemas.microsoft.com/office/powerpoint/2010/main" val="41854171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Why Do Bar Charts Work?">
            <a:extLst>
              <a:ext uri="{FF2B5EF4-FFF2-40B4-BE49-F238E27FC236}">
                <a16:creationId xmlns:a16="http://schemas.microsoft.com/office/drawing/2014/main" id="{6D384624-44CE-E340-91A9-9E1206087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8643" y="772822"/>
            <a:ext cx="6299887" cy="519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00E374F5-52B2-4260-8B1C-54237931F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53F64-6379-C548-8367-98916F655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2367092"/>
            <a:ext cx="3740509" cy="3881309"/>
          </a:xfrm>
        </p:spPr>
        <p:txBody>
          <a:bodyPr>
            <a:normAutofit/>
          </a:bodyPr>
          <a:lstStyle/>
          <a:p>
            <a:r>
              <a:rPr lang="en-US" dirty="0"/>
              <a:t>Good for comparing quantities.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F949E-799A-AD4B-A7F5-A2D70E94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40831"/>
            <a:ext cx="3740515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Bar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4812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588279-D5D7-3945-8718-CB814F39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Line Chart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C43D-49CB-D342-923F-8455F5C8D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6408" y="2367092"/>
            <a:ext cx="3352128" cy="3881309"/>
          </a:xfrm>
        </p:spPr>
        <p:txBody>
          <a:bodyPr>
            <a:normAutofit/>
          </a:bodyPr>
          <a:lstStyle/>
          <a:p>
            <a:r>
              <a:rPr lang="en-US" dirty="0"/>
              <a:t>Good for showing trends over time. </a:t>
            </a:r>
          </a:p>
        </p:txBody>
      </p:sp>
      <p:pic>
        <p:nvPicPr>
          <p:cNvPr id="14340" name="Picture 4" descr="Free Line Graph Maker - Create a Line Chart Online | Visme">
            <a:extLst>
              <a:ext uri="{FF2B5EF4-FFF2-40B4-BE49-F238E27FC236}">
                <a16:creationId xmlns:a16="http://schemas.microsoft.com/office/drawing/2014/main" id="{2B765678-3A82-4F4C-AD58-2553EF273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04" y="1183675"/>
            <a:ext cx="762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1444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10D21FCB-56CB-4EFA-A79A-A9A8EC0F72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366" name="Picture 6" descr="3.5 - Relations between Multiple Variables">
            <a:extLst>
              <a:ext uri="{FF2B5EF4-FFF2-40B4-BE49-F238E27FC236}">
                <a16:creationId xmlns:a16="http://schemas.microsoft.com/office/drawing/2014/main" id="{BC51FF6E-1FDA-B147-B19A-CA8D027B5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8061" y="1115595"/>
            <a:ext cx="6780657" cy="4559991"/>
          </a:xfrm>
          <a:prstGeom prst="roundRect">
            <a:avLst>
              <a:gd name="adj" fmla="val 2392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B1027BD9-272C-4CC4-9396-1708F8B1F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295DB5A-C740-E04A-B3EB-F79B99A7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618517"/>
            <a:ext cx="3893976" cy="1596177"/>
          </a:xfrm>
        </p:spPr>
        <p:txBody>
          <a:bodyPr anchor="b">
            <a:normAutofit/>
          </a:bodyPr>
          <a:lstStyle/>
          <a:p>
            <a:pPr algn="l"/>
            <a:r>
              <a:rPr lang="en-US" sz="3200"/>
              <a:t>Scatter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CCE81-986C-144B-91DC-C1AF73719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4" y="2367092"/>
            <a:ext cx="3893978" cy="3424107"/>
          </a:xfrm>
        </p:spPr>
        <p:txBody>
          <a:bodyPr>
            <a:normAutofit/>
          </a:bodyPr>
          <a:lstStyle/>
          <a:p>
            <a:r>
              <a:rPr lang="en-US" dirty="0"/>
              <a:t>Good for showing relationships.</a:t>
            </a:r>
          </a:p>
          <a:p>
            <a:r>
              <a:rPr lang="en-US" dirty="0"/>
              <a:t>Easy to add more data (sex).</a:t>
            </a:r>
          </a:p>
        </p:txBody>
      </p:sp>
    </p:spTree>
    <p:extLst>
      <p:ext uri="{BB962C8B-B14F-4D97-AF65-F5344CB8AC3E}">
        <p14:creationId xmlns:p14="http://schemas.microsoft.com/office/powerpoint/2010/main" val="1534400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6" name="Picture 2" descr="When should you use a pie chart? According to experts, almost never — Quartz">
            <a:extLst>
              <a:ext uri="{FF2B5EF4-FFF2-40B4-BE49-F238E27FC236}">
                <a16:creationId xmlns:a16="http://schemas.microsoft.com/office/drawing/2014/main" id="{2301F90B-3314-784F-AFA8-1EB79BF747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52" r="18203"/>
          <a:stretch/>
        </p:blipFill>
        <p:spPr bwMode="auto">
          <a:xfrm>
            <a:off x="1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91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5DA38B-1EBF-9042-A986-69A90ECF7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Pie Chart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E461F-8A06-1444-BA71-3B0AB5E36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6408" y="2367092"/>
            <a:ext cx="3352128" cy="3881309"/>
          </a:xfrm>
        </p:spPr>
        <p:txBody>
          <a:bodyPr>
            <a:normAutofit/>
          </a:bodyPr>
          <a:lstStyle/>
          <a:p>
            <a:r>
              <a:rPr lang="en-US" dirty="0"/>
              <a:t>Just kidding! Don’t use a pie chart.</a:t>
            </a:r>
          </a:p>
          <a:p>
            <a:r>
              <a:rPr lang="en-US" dirty="0"/>
              <a:t>It is hard for humans to accurately compare the slices.</a:t>
            </a:r>
          </a:p>
          <a:p>
            <a:r>
              <a:rPr lang="en-US" dirty="0"/>
              <a:t>Use something else, like a bar chart, or….</a:t>
            </a:r>
          </a:p>
        </p:txBody>
      </p:sp>
    </p:spTree>
    <p:extLst>
      <p:ext uri="{BB962C8B-B14F-4D97-AF65-F5344CB8AC3E}">
        <p14:creationId xmlns:p14="http://schemas.microsoft.com/office/powerpoint/2010/main" val="6149114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2">
            <a:extLst>
              <a:ext uri="{FF2B5EF4-FFF2-40B4-BE49-F238E27FC236}">
                <a16:creationId xmlns:a16="http://schemas.microsoft.com/office/drawing/2014/main" id="{0917E639-5738-4605-929E-122219831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94B973-80A9-0247-AB75-30B3845C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3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 err="1"/>
              <a:t>Treemap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5DC34-A4F6-764D-B1D8-D15B0EE29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3" y="2367092"/>
            <a:ext cx="3352128" cy="3881309"/>
          </a:xfrm>
        </p:spPr>
        <p:txBody>
          <a:bodyPr>
            <a:normAutofit/>
          </a:bodyPr>
          <a:lstStyle/>
          <a:p>
            <a:r>
              <a:rPr lang="en-US" dirty="0"/>
              <a:t>Does a pie chart’s job, but it is easier for people to compare rectangle sizes. 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525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 descr="TreeMap Chart: A Data Visualization Technique : A Unique Web">
            <a:extLst>
              <a:ext uri="{FF2B5EF4-FFF2-40B4-BE49-F238E27FC236}">
                <a16:creationId xmlns:a16="http://schemas.microsoft.com/office/drawing/2014/main" id="{C6D0B294-00E0-7944-A467-A6FCDC5BD4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64" b="2"/>
          <a:stretch/>
        </p:blipFill>
        <p:spPr bwMode="auto">
          <a:xfrm>
            <a:off x="4712842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0"/>
          <a:stretch/>
        </p:blipFill>
        <p:spPr>
          <a:xfrm>
            <a:off x="4651242" y="0"/>
            <a:ext cx="7540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849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482" name="Picture 2" descr="Heat Map | FlexChart for WinForms | ComponentOne">
            <a:extLst>
              <a:ext uri="{FF2B5EF4-FFF2-40B4-BE49-F238E27FC236}">
                <a16:creationId xmlns:a16="http://schemas.microsoft.com/office/drawing/2014/main" id="{F1B176CE-492E-5043-8694-5EFE10E29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5" y="1173177"/>
            <a:ext cx="6909479" cy="4520563"/>
          </a:xfrm>
          <a:prstGeom prst="roundRect">
            <a:avLst>
              <a:gd name="adj" fmla="val 298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F7F453-4847-5440-95FE-AE8604F0A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Heatmap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27A42-C4C7-6D42-AD9D-2F3D30C30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6408" y="2367092"/>
            <a:ext cx="3352128" cy="3881309"/>
          </a:xfrm>
        </p:spPr>
        <p:txBody>
          <a:bodyPr>
            <a:normAutofit/>
          </a:bodyPr>
          <a:lstStyle/>
          <a:p>
            <a:r>
              <a:rPr lang="en-US" dirty="0"/>
              <a:t>Good for showing values at an intersection.</a:t>
            </a:r>
          </a:p>
        </p:txBody>
      </p:sp>
    </p:spTree>
    <p:extLst>
      <p:ext uri="{BB962C8B-B14F-4D97-AF65-F5344CB8AC3E}">
        <p14:creationId xmlns:p14="http://schemas.microsoft.com/office/powerpoint/2010/main" val="2375742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3" name="Picture 2">
            <a:extLst>
              <a:ext uri="{FF2B5EF4-FFF2-40B4-BE49-F238E27FC236}">
                <a16:creationId xmlns:a16="http://schemas.microsoft.com/office/drawing/2014/main" id="{0917E639-5738-4605-929E-122219831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B8F48A-CCCE-6E41-9AA7-6D15FF72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3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Filled 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484C-646B-4347-BC95-8B00FD146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3" y="2367092"/>
            <a:ext cx="3352128" cy="3881309"/>
          </a:xfrm>
        </p:spPr>
        <p:txBody>
          <a:bodyPr>
            <a:normAutofit/>
          </a:bodyPr>
          <a:lstStyle/>
          <a:p>
            <a:r>
              <a:rPr lang="en-US" dirty="0"/>
              <a:t>Good for showing one value in a region/area.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1525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506" name="Picture 2" descr="3 Power BI Map Visuals to Bring Your Data to Life | Key2 Consulting">
            <a:extLst>
              <a:ext uri="{FF2B5EF4-FFF2-40B4-BE49-F238E27FC236}">
                <a16:creationId xmlns:a16="http://schemas.microsoft.com/office/drawing/2014/main" id="{CCEADFE2-3CEC-6C48-885A-12F4BC99F8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6" r="28501"/>
          <a:stretch/>
        </p:blipFill>
        <p:spPr bwMode="auto">
          <a:xfrm>
            <a:off x="4712842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0"/>
          <a:stretch/>
        </p:blipFill>
        <p:spPr>
          <a:xfrm>
            <a:off x="4651242" y="0"/>
            <a:ext cx="7540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710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530" name="Picture 2" descr="Minimo: data visualization map. By: Nat Slaughter | by Mapbox | maps for  developers">
            <a:extLst>
              <a:ext uri="{FF2B5EF4-FFF2-40B4-BE49-F238E27FC236}">
                <a16:creationId xmlns:a16="http://schemas.microsoft.com/office/drawing/2014/main" id="{1BB69750-1ADE-6B4A-95C9-EABB9739A4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0" r="13949"/>
          <a:stretch/>
        </p:blipFill>
        <p:spPr bwMode="auto">
          <a:xfrm>
            <a:off x="1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91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3357DC-2160-964E-8AE1-44AED9D01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Point Map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9B15F-4A5E-A54F-AD52-82830B61D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6408" y="2367092"/>
            <a:ext cx="3352128" cy="3881309"/>
          </a:xfrm>
        </p:spPr>
        <p:txBody>
          <a:bodyPr>
            <a:normAutofit/>
          </a:bodyPr>
          <a:lstStyle/>
          <a:p>
            <a:r>
              <a:rPr lang="en-US" dirty="0"/>
              <a:t>Good for showing </a:t>
            </a:r>
            <a:r>
              <a:rPr lang="en-US"/>
              <a:t>geographical locations. </a:t>
            </a:r>
          </a:p>
        </p:txBody>
      </p:sp>
    </p:spTree>
    <p:extLst>
      <p:ext uri="{BB962C8B-B14F-4D97-AF65-F5344CB8AC3E}">
        <p14:creationId xmlns:p14="http://schemas.microsoft.com/office/powerpoint/2010/main" val="2472182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11DC-994C-484E-9EC1-BAFAD1D77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many charts…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6E85D-C190-6F43-9FC0-EBED26FE1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a nearly unlimited number of charts, variations, and derivatives. </a:t>
            </a:r>
          </a:p>
          <a:p>
            <a:r>
              <a:rPr lang="en-US" dirty="0"/>
              <a:t>Choosing the correct chart makes your data understandable.</a:t>
            </a:r>
          </a:p>
          <a:p>
            <a:r>
              <a:rPr lang="en-US" dirty="0"/>
              <a:t>Choosing a bad chart makes things more confusing.</a:t>
            </a:r>
          </a:p>
          <a:p>
            <a:endParaRPr lang="en-US" dirty="0"/>
          </a:p>
          <a:p>
            <a:r>
              <a:rPr lang="en-US" dirty="0"/>
              <a:t>The internet has many guides to help….</a:t>
            </a:r>
          </a:p>
          <a:p>
            <a:r>
              <a:rPr lang="en-US" dirty="0"/>
              <a:t>Simple rule – if someone new is looking at my chart, does it make sense?</a:t>
            </a:r>
          </a:p>
        </p:txBody>
      </p:sp>
    </p:spTree>
    <p:extLst>
      <p:ext uri="{BB962C8B-B14F-4D97-AF65-F5344CB8AC3E}">
        <p14:creationId xmlns:p14="http://schemas.microsoft.com/office/powerpoint/2010/main" val="3466141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58651-69C2-7040-A46C-BFCC5AEE2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18993-15EE-524B-873C-AD6303505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How to Choose the Right Chart Type - KDnuggets">
            <a:extLst>
              <a:ext uri="{FF2B5EF4-FFF2-40B4-BE49-F238E27FC236}">
                <a16:creationId xmlns:a16="http://schemas.microsoft.com/office/drawing/2014/main" id="{6E64EF97-415E-CF40-9DF6-263DCA50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213" y="0"/>
            <a:ext cx="90439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42484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6512-68F3-A444-8083-B28DAB3E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9DB5E-35B0-3E48-8FAE-5964A253A9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How to Choose the Best Chart or Graph for your Data | Looker">
            <a:extLst>
              <a:ext uri="{FF2B5EF4-FFF2-40B4-BE49-F238E27FC236}">
                <a16:creationId xmlns:a16="http://schemas.microsoft.com/office/drawing/2014/main" id="{8C2071B2-9911-0444-A83F-F33C9329B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8347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18AE-95A1-EB49-AFC9-B2D3B1FA5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8E0B7-42F6-2441-A935-3E62E1128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Brightspace has a link to a visual vocabulary. </a:t>
            </a:r>
          </a:p>
          <a:p>
            <a:r>
              <a:rPr lang="en-US" dirty="0"/>
              <a:t>This is a good reference to check for chart styles to try. </a:t>
            </a:r>
          </a:p>
        </p:txBody>
      </p:sp>
    </p:spTree>
    <p:extLst>
      <p:ext uri="{BB962C8B-B14F-4D97-AF65-F5344CB8AC3E}">
        <p14:creationId xmlns:p14="http://schemas.microsoft.com/office/powerpoint/2010/main" val="793171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F6C5F-904C-164E-BB91-4FA5D487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Different!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C85D6-4717-0F41-B61B-54838D021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 isn’t just to see data better, it also allows us to see data differently!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4877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B1981535-B5AA-4E0C-ACE5-925CC19B2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F97D060-AA7E-4411-BA62-28BD1EBD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DDE267B-E820-4910-868D-BA40CFB9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-9523"/>
            <a:ext cx="10058400" cy="6867522"/>
          </a:xfrm>
          <a:custGeom>
            <a:avLst/>
            <a:gdLst>
              <a:gd name="connsiteX0" fmla="*/ 1263465 w 10058400"/>
              <a:gd name="connsiteY0" fmla="*/ 0 h 6867522"/>
              <a:gd name="connsiteX1" fmla="*/ 8794935 w 10058400"/>
              <a:gd name="connsiteY1" fmla="*/ 0 h 6867522"/>
              <a:gd name="connsiteX2" fmla="*/ 8909975 w 10058400"/>
              <a:gd name="connsiteY2" fmla="*/ 132807 h 6867522"/>
              <a:gd name="connsiteX3" fmla="*/ 10058400 w 10058400"/>
              <a:gd name="connsiteY3" fmla="*/ 3331845 h 6867522"/>
              <a:gd name="connsiteX4" fmla="*/ 8751905 w 10058400"/>
              <a:gd name="connsiteY4" fmla="*/ 6713366 h 6867522"/>
              <a:gd name="connsiteX5" fmla="*/ 8604930 w 10058400"/>
              <a:gd name="connsiteY5" fmla="*/ 6867522 h 6867522"/>
              <a:gd name="connsiteX6" fmla="*/ 1453470 w 10058400"/>
              <a:gd name="connsiteY6" fmla="*/ 6867522 h 6867522"/>
              <a:gd name="connsiteX7" fmla="*/ 1306495 w 10058400"/>
              <a:gd name="connsiteY7" fmla="*/ 6713366 h 6867522"/>
              <a:gd name="connsiteX8" fmla="*/ 0 w 10058400"/>
              <a:gd name="connsiteY8" fmla="*/ 3331845 h 6867522"/>
              <a:gd name="connsiteX9" fmla="*/ 1148425 w 10058400"/>
              <a:gd name="connsiteY9" fmla="*/ 132807 h 686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58400" h="6867522">
                <a:moveTo>
                  <a:pt x="1263465" y="0"/>
                </a:moveTo>
                <a:lnTo>
                  <a:pt x="8794935" y="0"/>
                </a:lnTo>
                <a:lnTo>
                  <a:pt x="8909975" y="132807"/>
                </a:lnTo>
                <a:cubicBezTo>
                  <a:pt x="9627420" y="1002149"/>
                  <a:pt x="10058400" y="2116667"/>
                  <a:pt x="10058400" y="3331845"/>
                </a:cubicBezTo>
                <a:cubicBezTo>
                  <a:pt x="10058400" y="4633822"/>
                  <a:pt x="9563653" y="5820244"/>
                  <a:pt x="8751905" y="6713366"/>
                </a:cubicBezTo>
                <a:lnTo>
                  <a:pt x="8604930" y="6867522"/>
                </a:lnTo>
                <a:lnTo>
                  <a:pt x="1453470" y="6867522"/>
                </a:lnTo>
                <a:lnTo>
                  <a:pt x="1306495" y="6713366"/>
                </a:lnTo>
                <a:cubicBezTo>
                  <a:pt x="494747" y="5820244"/>
                  <a:pt x="0" y="4633822"/>
                  <a:pt x="0" y="3331845"/>
                </a:cubicBezTo>
                <a:cubicBezTo>
                  <a:pt x="0" y="2116667"/>
                  <a:pt x="430980" y="1002149"/>
                  <a:pt x="1148425" y="13280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F3E25D7-C2F8-445D-AA42-C1163028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2930B9-756D-A444-9035-AB1E78DFDF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58957" y="965201"/>
            <a:ext cx="6274086" cy="491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861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10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CED8F-7285-9745-AA66-E415644C3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WE know Stats!!!! Let’s Analyze!</a:t>
            </a:r>
          </a:p>
        </p:txBody>
      </p:sp>
      <p:pic>
        <p:nvPicPr>
          <p:cNvPr id="23" name="Picture 12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24" name="Picture 14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AB660E77-5FBF-4DEE-B027-9A0B6BF844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0861187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8083610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B1981535-B5AA-4E0C-ACE5-925CC19B2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BF97D060-AA7E-4411-BA62-28BD1EBD5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DDDE267B-E820-4910-868D-BA40CFB93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-9523"/>
            <a:ext cx="10058400" cy="6867522"/>
          </a:xfrm>
          <a:custGeom>
            <a:avLst/>
            <a:gdLst>
              <a:gd name="connsiteX0" fmla="*/ 1263465 w 10058400"/>
              <a:gd name="connsiteY0" fmla="*/ 0 h 6867522"/>
              <a:gd name="connsiteX1" fmla="*/ 8794935 w 10058400"/>
              <a:gd name="connsiteY1" fmla="*/ 0 h 6867522"/>
              <a:gd name="connsiteX2" fmla="*/ 8909975 w 10058400"/>
              <a:gd name="connsiteY2" fmla="*/ 132807 h 6867522"/>
              <a:gd name="connsiteX3" fmla="*/ 10058400 w 10058400"/>
              <a:gd name="connsiteY3" fmla="*/ 3331845 h 6867522"/>
              <a:gd name="connsiteX4" fmla="*/ 8751905 w 10058400"/>
              <a:gd name="connsiteY4" fmla="*/ 6713366 h 6867522"/>
              <a:gd name="connsiteX5" fmla="*/ 8604930 w 10058400"/>
              <a:gd name="connsiteY5" fmla="*/ 6867522 h 6867522"/>
              <a:gd name="connsiteX6" fmla="*/ 1453470 w 10058400"/>
              <a:gd name="connsiteY6" fmla="*/ 6867522 h 6867522"/>
              <a:gd name="connsiteX7" fmla="*/ 1306495 w 10058400"/>
              <a:gd name="connsiteY7" fmla="*/ 6713366 h 6867522"/>
              <a:gd name="connsiteX8" fmla="*/ 0 w 10058400"/>
              <a:gd name="connsiteY8" fmla="*/ 3331845 h 6867522"/>
              <a:gd name="connsiteX9" fmla="*/ 1148425 w 10058400"/>
              <a:gd name="connsiteY9" fmla="*/ 132807 h 6867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58400" h="6867522">
                <a:moveTo>
                  <a:pt x="1263465" y="0"/>
                </a:moveTo>
                <a:lnTo>
                  <a:pt x="8794935" y="0"/>
                </a:lnTo>
                <a:lnTo>
                  <a:pt x="8909975" y="132807"/>
                </a:lnTo>
                <a:cubicBezTo>
                  <a:pt x="9627420" y="1002149"/>
                  <a:pt x="10058400" y="2116667"/>
                  <a:pt x="10058400" y="3331845"/>
                </a:cubicBezTo>
                <a:cubicBezTo>
                  <a:pt x="10058400" y="4633822"/>
                  <a:pt x="9563653" y="5820244"/>
                  <a:pt x="8751905" y="6713366"/>
                </a:cubicBezTo>
                <a:lnTo>
                  <a:pt x="8604930" y="6867522"/>
                </a:lnTo>
                <a:lnTo>
                  <a:pt x="1453470" y="6867522"/>
                </a:lnTo>
                <a:lnTo>
                  <a:pt x="1306495" y="6713366"/>
                </a:lnTo>
                <a:cubicBezTo>
                  <a:pt x="494747" y="5820244"/>
                  <a:pt x="0" y="4633822"/>
                  <a:pt x="0" y="3331845"/>
                </a:cubicBezTo>
                <a:cubicBezTo>
                  <a:pt x="0" y="2116667"/>
                  <a:pt x="430980" y="1002149"/>
                  <a:pt x="1148425" y="13280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F3E25D7-C2F8-445D-AA42-C1163028D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098" name="Picture 2" descr="There is Only One Thing that Can Turn this Early Red Sox Season Around and  it Might Come as a Surprise – Ride The Wave Media">
            <a:extLst>
              <a:ext uri="{FF2B5EF4-FFF2-40B4-BE49-F238E27FC236}">
                <a16:creationId xmlns:a16="http://schemas.microsoft.com/office/drawing/2014/main" id="{9B19D983-BEC4-134C-A08F-B2A724A153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89239" y="1415174"/>
            <a:ext cx="7413522" cy="4018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511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40FCD49-2060-48B9-8212-8A5F1DF47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DA70F40A-D18F-4F05-A106-6D2CB24DC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Digital business graph and charts">
            <a:extLst>
              <a:ext uri="{FF2B5EF4-FFF2-40B4-BE49-F238E27FC236}">
                <a16:creationId xmlns:a16="http://schemas.microsoft.com/office/drawing/2014/main" id="{BF7EFFF3-5930-44DA-9720-E1EF511E784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13563" r="1549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3A45DCD-B5FB-4A86-88D2-91088C7FF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35A79C-3EF8-8140-8C2B-16C6A44C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1300785"/>
            <a:ext cx="8689976" cy="25092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What if we chart them?</a:t>
            </a:r>
          </a:p>
        </p:txBody>
      </p:sp>
    </p:spTree>
    <p:extLst>
      <p:ext uri="{BB962C8B-B14F-4D97-AF65-F5344CB8AC3E}">
        <p14:creationId xmlns:p14="http://schemas.microsoft.com/office/powerpoint/2010/main" val="6788059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F93D1-47B7-6B49-A69A-DEEACFE79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Same, Same. But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24F60-E568-2C46-9039-99A026254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831A0885-BBAC-DD4B-90DC-1E62CF3EC7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16"/>
          <a:stretch/>
        </p:blipFill>
        <p:spPr bwMode="auto">
          <a:xfrm>
            <a:off x="2174532" y="1537856"/>
            <a:ext cx="7842936" cy="5382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2100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967A-639F-3E45-A95A-6B7D79901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 Hits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66082-00DC-1445-8FDD-38A67DF7E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Analyzing data visually can expose valuable information that is hard or impossible to see otherwise. </a:t>
            </a:r>
          </a:p>
          <a:p>
            <a:r>
              <a:rPr lang="en-US" dirty="0"/>
              <a:t>The larger our analytical toolkit is, the more we can tackle.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3476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1C088-C2F8-D943-A75F-3755E3885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Life example – Enter John Snow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F7A93-D0C0-2A4D-9FCA-D36D832BE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7515FF-F1EE-3347-866A-B1E91C1A3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298" y="1358961"/>
            <a:ext cx="7853404" cy="526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0039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8364-DD4C-2148-BD4F-6A6EEF76D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one from the 1800s…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8F75B-3A89-904A-934C-8083CF88F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1800s cholera was a problem in London. </a:t>
            </a:r>
          </a:p>
          <a:p>
            <a:r>
              <a:rPr lang="en-US" dirty="0"/>
              <a:t>No one understood how diseases work yet, no germ theory. </a:t>
            </a:r>
          </a:p>
          <a:p>
            <a:pPr lvl="1"/>
            <a:r>
              <a:rPr lang="en-US" dirty="0"/>
              <a:t>RFK Jr. was in charge of health policy back then too. </a:t>
            </a:r>
          </a:p>
          <a:p>
            <a:r>
              <a:rPr lang="en-US" dirty="0"/>
              <a:t>People in SoHo (currently rich/fancy) were dropping dead from cholera.</a:t>
            </a:r>
          </a:p>
          <a:p>
            <a:r>
              <a:rPr lang="en-US" dirty="0"/>
              <a:t>Most people got their water from pumps, and carried it home. </a:t>
            </a:r>
          </a:p>
          <a:p>
            <a:endParaRPr lang="en-US" dirty="0"/>
          </a:p>
          <a:p>
            <a:r>
              <a:rPr lang="en-US" dirty="0"/>
              <a:t>Enter our hero… </a:t>
            </a:r>
          </a:p>
        </p:txBody>
      </p:sp>
    </p:spTree>
    <p:extLst>
      <p:ext uri="{BB962C8B-B14F-4D97-AF65-F5344CB8AC3E}">
        <p14:creationId xmlns:p14="http://schemas.microsoft.com/office/powerpoint/2010/main" val="5362642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4D4DD4CF-9732-4771-98FE-77886DC91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John Snow's cholera map of Soho">
            <a:extLst>
              <a:ext uri="{FF2B5EF4-FFF2-40B4-BE49-F238E27FC236}">
                <a16:creationId xmlns:a16="http://schemas.microsoft.com/office/drawing/2014/main" id="{9E7439D1-1468-8548-B7DC-84AA0D2194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70" r="11296" b="1"/>
          <a:stretch/>
        </p:blipFill>
        <p:spPr bwMode="auto">
          <a:xfrm>
            <a:off x="1" y="10"/>
            <a:ext cx="747915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A2861A9C-C970-4FFE-B67C-222B6F5732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791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D2FDF82E-EBD8-4EC5-AD10-CD9E70EE8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222485-E5CB-C948-A742-C8663957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640831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Snow Mapped deaths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00555-A58D-7440-A125-0635F845C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5903" y="1964724"/>
            <a:ext cx="4506096" cy="4730366"/>
          </a:xfrm>
        </p:spPr>
        <p:txBody>
          <a:bodyPr>
            <a:normAutofit/>
          </a:bodyPr>
          <a:lstStyle/>
          <a:p>
            <a:r>
              <a:rPr lang="en-US" sz="2800" dirty="0"/>
              <a:t>Each little dash is a dead person.</a:t>
            </a:r>
          </a:p>
          <a:p>
            <a:r>
              <a:rPr lang="en-US" sz="2800" dirty="0"/>
              <a:t>Two places had no deaths – a brewery and a workhouse.</a:t>
            </a:r>
          </a:p>
          <a:p>
            <a:r>
              <a:rPr lang="en-US" sz="2800" dirty="0"/>
              <a:t>The brewery gave its workers beer (</a:t>
            </a:r>
            <a:r>
              <a:rPr lang="en-US" sz="2800" dirty="0" err="1"/>
              <a:t>GoT</a:t>
            </a:r>
            <a:r>
              <a:rPr lang="en-US" sz="2800" dirty="0"/>
              <a:t> style)</a:t>
            </a:r>
          </a:p>
          <a:p>
            <a:r>
              <a:rPr lang="en-US" sz="2800" dirty="0"/>
              <a:t>The workhouse had a private water supply.</a:t>
            </a:r>
          </a:p>
        </p:txBody>
      </p:sp>
    </p:spTree>
    <p:extLst>
      <p:ext uri="{BB962C8B-B14F-4D97-AF65-F5344CB8AC3E}">
        <p14:creationId xmlns:p14="http://schemas.microsoft.com/office/powerpoint/2010/main" val="3768577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0651A-5F9C-764E-94DE-75ADCD83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3E78D-082C-FC4B-B3F5-3D9D510F9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Deaths were centered around the neighborhood water pump.</a:t>
            </a:r>
          </a:p>
          <a:p>
            <a:r>
              <a:rPr lang="en-US" dirty="0"/>
              <a:t>The two locations without deaths didn’t drink the pump water.</a:t>
            </a:r>
          </a:p>
          <a:p>
            <a:r>
              <a:rPr lang="en-US" dirty="0"/>
              <a:t>So, the problem might be the water from the pump.</a:t>
            </a:r>
          </a:p>
          <a:p>
            <a:endParaRPr lang="en-US" dirty="0"/>
          </a:p>
          <a:p>
            <a:r>
              <a:rPr lang="en-US" dirty="0"/>
              <a:t>Problem: Diaper juice was leaking into the pump’s water supply. </a:t>
            </a:r>
          </a:p>
          <a:p>
            <a:r>
              <a:rPr lang="en-US" dirty="0"/>
              <a:t>Solution: Data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40873302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FE7FF-73D8-C348-A806-88036566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CF37-8714-7948-A767-4EE734B91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201" y="1714501"/>
            <a:ext cx="3554524" cy="4904960"/>
          </a:xfrm>
        </p:spPr>
        <p:txBody>
          <a:bodyPr/>
          <a:lstStyle/>
          <a:p>
            <a:r>
              <a:rPr lang="en-US" dirty="0"/>
              <a:t>Try to make something like this with world indicators. </a:t>
            </a:r>
          </a:p>
          <a:p>
            <a:pPr lvl="1"/>
            <a:r>
              <a:rPr lang="en-US" dirty="0"/>
              <a:t>Compare all countries. </a:t>
            </a:r>
          </a:p>
          <a:p>
            <a:pPr lvl="1"/>
            <a:r>
              <a:rPr lang="en-US" dirty="0"/>
              <a:t>Include more info in attributes. </a:t>
            </a:r>
          </a:p>
          <a:p>
            <a:r>
              <a:rPr lang="en-US" dirty="0"/>
              <a:t>Make sure it is readable.</a:t>
            </a:r>
          </a:p>
        </p:txBody>
      </p:sp>
      <p:pic>
        <p:nvPicPr>
          <p:cNvPr id="4" name="Picture 2" descr="Animated Transitions in Tableau – datavis.blog">
            <a:extLst>
              <a:ext uri="{FF2B5EF4-FFF2-40B4-BE49-F238E27FC236}">
                <a16:creationId xmlns:a16="http://schemas.microsoft.com/office/drawing/2014/main" id="{DA4EF042-18E2-7454-D29E-06877E76C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3725" y="1327579"/>
            <a:ext cx="8263158" cy="539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674470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{660CD7E0-74B8-8649-8CA7-9FCE92BCA8BF}tf10001073</Template>
  <TotalTime>5921</TotalTime>
  <Words>1223</Words>
  <Application>Microsoft Macintosh PowerPoint</Application>
  <PresentationFormat>Widescreen</PresentationFormat>
  <Paragraphs>151</Paragraphs>
  <Slides>46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Tw Cen MT</vt:lpstr>
      <vt:lpstr>Droplet</vt:lpstr>
      <vt:lpstr>Housekeeping</vt:lpstr>
      <vt:lpstr>Visualization</vt:lpstr>
      <vt:lpstr>A Picture is Worth a Thousand Words  Which of These Two is Easier to Understand?</vt:lpstr>
      <vt:lpstr>PowerPoint Presentation</vt:lpstr>
      <vt:lpstr>PowerPoint Presentation</vt:lpstr>
      <vt:lpstr>The Power of Visualization</vt:lpstr>
      <vt:lpstr>PowerPoint Presentation</vt:lpstr>
      <vt:lpstr>Why Visualize</vt:lpstr>
      <vt:lpstr>https://www.youtube.com/watch?v=5Zg-C8AAIGg</vt:lpstr>
      <vt:lpstr>Interlude – Data Types</vt:lpstr>
      <vt:lpstr>Worth 1000 Words? Why? preattentive Attributes</vt:lpstr>
      <vt:lpstr>preattentive Attributes</vt:lpstr>
      <vt:lpstr>Shading/Color Intensity</vt:lpstr>
      <vt:lpstr>Color and Orientation</vt:lpstr>
      <vt:lpstr>Color – We don’t even need English!</vt:lpstr>
      <vt:lpstr>Length and Color Intensity</vt:lpstr>
      <vt:lpstr>PowerPoint Presentation</vt:lpstr>
      <vt:lpstr>Wow, That one had a lot of Attributes</vt:lpstr>
      <vt:lpstr>Visual Density</vt:lpstr>
      <vt:lpstr>Being Dense</vt:lpstr>
      <vt:lpstr>Really, Really, Dense</vt:lpstr>
      <vt:lpstr>Common Visualizations</vt:lpstr>
      <vt:lpstr>Bar Chart</vt:lpstr>
      <vt:lpstr>Line Chart</vt:lpstr>
      <vt:lpstr>Scatter plot</vt:lpstr>
      <vt:lpstr>Pie Chart</vt:lpstr>
      <vt:lpstr>Treemap</vt:lpstr>
      <vt:lpstr>Heatmap</vt:lpstr>
      <vt:lpstr>Filled Map</vt:lpstr>
      <vt:lpstr>Point Map</vt:lpstr>
      <vt:lpstr>So many charts…</vt:lpstr>
      <vt:lpstr>PowerPoint Presentation</vt:lpstr>
      <vt:lpstr>PowerPoint Presentation</vt:lpstr>
      <vt:lpstr>Visual Vocabulary</vt:lpstr>
      <vt:lpstr>See Different!</vt:lpstr>
      <vt:lpstr>PowerPoint Presentation</vt:lpstr>
      <vt:lpstr>WE know Stats!!!! Let’s Analyze!</vt:lpstr>
      <vt:lpstr>PowerPoint Presentation</vt:lpstr>
      <vt:lpstr>What if we chart them?</vt:lpstr>
      <vt:lpstr>Same, Same. But Different</vt:lpstr>
      <vt:lpstr>Visual Analysis Hits Different</vt:lpstr>
      <vt:lpstr>Real Life example – Enter John Snow</vt:lpstr>
      <vt:lpstr>The one from the 1800s…</vt:lpstr>
      <vt:lpstr>Snow Mapped deaths</vt:lpstr>
      <vt:lpstr>Results</vt:lpstr>
      <vt:lpstr>Challenge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Visualization</dc:title>
  <dc:subject/>
  <dc:creator>Akeem Semper</dc:creator>
  <cp:keywords/>
  <dc:description/>
  <cp:lastModifiedBy>Akeem Semper</cp:lastModifiedBy>
  <cp:revision>17</cp:revision>
  <dcterms:created xsi:type="dcterms:W3CDTF">2021-03-23T23:30:09Z</dcterms:created>
  <dcterms:modified xsi:type="dcterms:W3CDTF">2026-01-15T21:51:51Z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2026-01-13T16:29:42Z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e8bbd41a-6568-45d9-815a-432d93b4ca90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