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83" r:id="rId1"/>
    <p:sldMasterId id="2147483810" r:id="rId2"/>
    <p:sldMasterId id="2147483795" r:id="rId3"/>
    <p:sldMasterId id="2147483823" r:id="rId4"/>
  </p:sldMasterIdLst>
  <p:notesMasterIdLst>
    <p:notesMasterId r:id="rId99"/>
  </p:notesMasterIdLst>
  <p:sldIdLst>
    <p:sldId id="485" r:id="rId5"/>
    <p:sldId id="479" r:id="rId6"/>
    <p:sldId id="490" r:id="rId7"/>
    <p:sldId id="335" r:id="rId8"/>
    <p:sldId id="410" r:id="rId9"/>
    <p:sldId id="259" r:id="rId10"/>
    <p:sldId id="411" r:id="rId11"/>
    <p:sldId id="374" r:id="rId12"/>
    <p:sldId id="412" r:id="rId13"/>
    <p:sldId id="337" r:id="rId14"/>
    <p:sldId id="471" r:id="rId15"/>
    <p:sldId id="376" r:id="rId16"/>
    <p:sldId id="377" r:id="rId17"/>
    <p:sldId id="378" r:id="rId18"/>
    <p:sldId id="379" r:id="rId19"/>
    <p:sldId id="413" r:id="rId20"/>
    <p:sldId id="375" r:id="rId21"/>
    <p:sldId id="478" r:id="rId22"/>
    <p:sldId id="472" r:id="rId23"/>
    <p:sldId id="414" r:id="rId24"/>
    <p:sldId id="362" r:id="rId25"/>
    <p:sldId id="391" r:id="rId26"/>
    <p:sldId id="383" r:id="rId27"/>
    <p:sldId id="381" r:id="rId28"/>
    <p:sldId id="382" r:id="rId29"/>
    <p:sldId id="486" r:id="rId30"/>
    <p:sldId id="446" r:id="rId31"/>
    <p:sldId id="447" r:id="rId32"/>
    <p:sldId id="415" r:id="rId33"/>
    <p:sldId id="260" r:id="rId34"/>
    <p:sldId id="469" r:id="rId35"/>
    <p:sldId id="416" r:id="rId36"/>
    <p:sldId id="417" r:id="rId37"/>
    <p:sldId id="418" r:id="rId38"/>
    <p:sldId id="461" r:id="rId39"/>
    <p:sldId id="390" r:id="rId40"/>
    <p:sldId id="462" r:id="rId41"/>
    <p:sldId id="463" r:id="rId42"/>
    <p:sldId id="487" r:id="rId43"/>
    <p:sldId id="386" r:id="rId44"/>
    <p:sldId id="419" r:id="rId45"/>
    <p:sldId id="420" r:id="rId46"/>
    <p:sldId id="263" r:id="rId47"/>
    <p:sldId id="464" r:id="rId48"/>
    <p:sldId id="421" r:id="rId49"/>
    <p:sldId id="465" r:id="rId50"/>
    <p:sldId id="482" r:id="rId51"/>
    <p:sldId id="481" r:id="rId52"/>
    <p:sldId id="480" r:id="rId53"/>
    <p:sldId id="483" r:id="rId54"/>
    <p:sldId id="450" r:id="rId55"/>
    <p:sldId id="422" r:id="rId56"/>
    <p:sldId id="449" r:id="rId57"/>
    <p:sldId id="448" r:id="rId58"/>
    <p:sldId id="484" r:id="rId59"/>
    <p:sldId id="423" r:id="rId60"/>
    <p:sldId id="424" r:id="rId61"/>
    <p:sldId id="425" r:id="rId62"/>
    <p:sldId id="488" r:id="rId63"/>
    <p:sldId id="460" r:id="rId64"/>
    <p:sldId id="399" r:id="rId65"/>
    <p:sldId id="459" r:id="rId66"/>
    <p:sldId id="458" r:id="rId67"/>
    <p:sldId id="427" r:id="rId68"/>
    <p:sldId id="426" r:id="rId69"/>
    <p:sldId id="473" r:id="rId70"/>
    <p:sldId id="428" r:id="rId71"/>
    <p:sldId id="441" r:id="rId72"/>
    <p:sldId id="442" r:id="rId73"/>
    <p:sldId id="429" r:id="rId74"/>
    <p:sldId id="430" r:id="rId75"/>
    <p:sldId id="431" r:id="rId76"/>
    <p:sldId id="432" r:id="rId77"/>
    <p:sldId id="433" r:id="rId78"/>
    <p:sldId id="434" r:id="rId79"/>
    <p:sldId id="435" r:id="rId80"/>
    <p:sldId id="436" r:id="rId81"/>
    <p:sldId id="437" r:id="rId82"/>
    <p:sldId id="443" r:id="rId83"/>
    <p:sldId id="438" r:id="rId84"/>
    <p:sldId id="451" r:id="rId85"/>
    <p:sldId id="452" r:id="rId86"/>
    <p:sldId id="475" r:id="rId87"/>
    <p:sldId id="453" r:id="rId88"/>
    <p:sldId id="474" r:id="rId89"/>
    <p:sldId id="456" r:id="rId90"/>
    <p:sldId id="466" r:id="rId91"/>
    <p:sldId id="455" r:id="rId92"/>
    <p:sldId id="457" r:id="rId93"/>
    <p:sldId id="476" r:id="rId94"/>
    <p:sldId id="454" r:id="rId95"/>
    <p:sldId id="477" r:id="rId96"/>
    <p:sldId id="470" r:id="rId97"/>
    <p:sldId id="489" r:id="rId98"/>
  </p:sldIdLst>
  <p:sldSz cx="12192000" cy="6858000"/>
  <p:notesSz cx="6858000" cy="9144000"/>
  <p:embeddedFontLst>
    <p:embeddedFont>
      <p:font typeface="Cambria Math" panose="02040503050406030204" pitchFamily="18" charset="0"/>
      <p:regular r:id="rId100"/>
    </p:embeddedFont>
    <p:embeddedFont>
      <p:font typeface="Gill Sans MT" panose="020B0502020104020203" pitchFamily="34" charset="77"/>
      <p:regular r:id="rId101"/>
      <p:bold r:id="rId102"/>
      <p:italic r:id="rId103"/>
      <p:boldItalic r:id="rId104"/>
    </p:embeddedFont>
    <p:embeddedFont>
      <p:font typeface="Montserrat" pitchFamily="2" charset="77"/>
      <p:regular r:id="rId105"/>
      <p:bold r:id="rId106"/>
      <p:italic r:id="rId107"/>
      <p:boldItalic r:id="rId108"/>
    </p:embeddedFont>
    <p:embeddedFont>
      <p:font typeface="Wingdings 2" pitchFamily="2" charset="2"/>
      <p:regular r:id="rId10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3C3C"/>
    <a:srgbClr val="8DA9DB"/>
    <a:srgbClr val="ED7D31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8B5180-595E-488B-BC29-F9F5F3392C5B}" v="6" dt="2020-03-04T16:41:40.647"/>
    <p1510:client id="{F1A6BD3F-BEFE-480A-AEA6-1CB19E4A990A}" v="48" dt="2020-03-05T15:33:34.849"/>
  </p1510:revLst>
</p1510:revInfo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38" autoAdjust="0"/>
    <p:restoredTop sz="94773" autoAdjust="0"/>
  </p:normalViewPr>
  <p:slideViewPr>
    <p:cSldViewPr snapToGrid="0">
      <p:cViewPr varScale="1">
        <p:scale>
          <a:sx n="120" d="100"/>
          <a:sy n="120" d="100"/>
        </p:scale>
        <p:origin x="11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theme" Target="theme/theme1.xml"/><Relationship Id="rId16" Type="http://schemas.openxmlformats.org/officeDocument/2006/relationships/slide" Target="slides/slide12.xml"/><Relationship Id="rId107" Type="http://schemas.openxmlformats.org/officeDocument/2006/relationships/font" Target="fonts/font8.fntdata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font" Target="fonts/font3.fntdata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tableStyles" Target="tableStyles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font" Target="fonts/font4.fntdata"/><Relationship Id="rId108" Type="http://schemas.openxmlformats.org/officeDocument/2006/relationships/font" Target="fonts/font9.fntdata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font" Target="fonts/font7.fntdata"/><Relationship Id="rId114" Type="http://schemas.microsoft.com/office/2015/10/relationships/revisionInfo" Target="revisionInfo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notesMaster" Target="notesMasters/notesMaster1.xml"/><Relationship Id="rId101" Type="http://schemas.openxmlformats.org/officeDocument/2006/relationships/font" Target="fonts/font2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font" Target="fonts/font10.fntdata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font" Target="fonts/font5.fntdata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presProps" Target="presProps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font" Target="fonts/font1.fntdata"/><Relationship Id="rId105" Type="http://schemas.openxmlformats.org/officeDocument/2006/relationships/font" Target="fonts/font6.fntdata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1B94B5-5B81-45C9-9DD3-232163F9045A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4B828AF-130C-4B42-AA5D-9499F81C0325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/>
            <a:t>1. Data Analytics</a:t>
          </a:r>
        </a:p>
      </dgm:t>
    </dgm:pt>
    <dgm:pt modelId="{012C6969-4A07-4556-AF69-90943A712921}" type="parTrans" cxnId="{D37251F1-DD28-4AE0-8847-B9C2D2DDF52E}">
      <dgm:prSet/>
      <dgm:spPr/>
      <dgm:t>
        <a:bodyPr/>
        <a:lstStyle/>
        <a:p>
          <a:endParaRPr lang="en-US"/>
        </a:p>
      </dgm:t>
    </dgm:pt>
    <dgm:pt modelId="{487268DB-E536-4470-9715-F439A958EC58}" type="sibTrans" cxnId="{D37251F1-DD28-4AE0-8847-B9C2D2DDF52E}">
      <dgm:prSet/>
      <dgm:spPr/>
      <dgm:t>
        <a:bodyPr/>
        <a:lstStyle/>
        <a:p>
          <a:endParaRPr lang="en-US"/>
        </a:p>
      </dgm:t>
    </dgm:pt>
    <dgm:pt modelId="{172D8603-4936-41DB-862E-366E2ABD320C}">
      <dgm:prSet phldrT="[Text]"/>
      <dgm:spPr/>
      <dgm:t>
        <a:bodyPr/>
        <a:lstStyle/>
        <a:p>
          <a:r>
            <a:rPr lang="en-US" dirty="0"/>
            <a:t>2. Intro to Accounting Data</a:t>
          </a:r>
        </a:p>
      </dgm:t>
    </dgm:pt>
    <dgm:pt modelId="{9E94F90F-6574-43D2-B9C9-BFFD75F2122B}" type="parTrans" cxnId="{A0EAC285-F650-4634-990A-26272217BA92}">
      <dgm:prSet/>
      <dgm:spPr/>
      <dgm:t>
        <a:bodyPr/>
        <a:lstStyle/>
        <a:p>
          <a:endParaRPr lang="en-US"/>
        </a:p>
      </dgm:t>
    </dgm:pt>
    <dgm:pt modelId="{3BD099C6-6D42-4EC0-911D-8926029FAC34}" type="sibTrans" cxnId="{A0EAC285-F650-4634-990A-26272217BA92}">
      <dgm:prSet/>
      <dgm:spPr/>
      <dgm:t>
        <a:bodyPr/>
        <a:lstStyle/>
        <a:p>
          <a:endParaRPr lang="en-US"/>
        </a:p>
      </dgm:t>
    </dgm:pt>
    <dgm:pt modelId="{F66C7E08-B299-4F37-8EC7-655B6ED5E630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/>
            <a:t>3. Types of Data</a:t>
          </a:r>
        </a:p>
      </dgm:t>
    </dgm:pt>
    <dgm:pt modelId="{FBD085A7-9CC7-4334-A64B-5EB366E751F1}" type="parTrans" cxnId="{189B9165-1A71-4506-BCE9-A0986646C349}">
      <dgm:prSet/>
      <dgm:spPr/>
      <dgm:t>
        <a:bodyPr/>
        <a:lstStyle/>
        <a:p>
          <a:endParaRPr lang="en-US"/>
        </a:p>
      </dgm:t>
    </dgm:pt>
    <dgm:pt modelId="{02E248FF-92AB-426A-B0A6-6B1BA0C8DBE4}" type="sibTrans" cxnId="{189B9165-1A71-4506-BCE9-A0986646C349}">
      <dgm:prSet/>
      <dgm:spPr/>
      <dgm:t>
        <a:bodyPr/>
        <a:lstStyle/>
        <a:p>
          <a:endParaRPr lang="en-US"/>
        </a:p>
      </dgm:t>
    </dgm:pt>
    <dgm:pt modelId="{BC907A57-8FF1-4D4D-8274-6F518F02CD6A}">
      <dgm:prSet phldrT="[Text]">
        <dgm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4. Preparing Data </a:t>
          </a:r>
          <a:r>
            <a:rPr lang="en-US"/>
            <a:t>for Analytics</a:t>
          </a:r>
          <a:endParaRPr lang="en-US" dirty="0"/>
        </a:p>
      </dgm:t>
    </dgm:pt>
    <dgm:pt modelId="{6D6BF448-3EA9-4F2F-BB28-0453FE34C95A}" type="parTrans" cxnId="{B9A803D2-5099-4AC5-A95A-A3C491630918}">
      <dgm:prSet/>
      <dgm:spPr/>
      <dgm:t>
        <a:bodyPr/>
        <a:lstStyle/>
        <a:p>
          <a:endParaRPr lang="en-US"/>
        </a:p>
      </dgm:t>
    </dgm:pt>
    <dgm:pt modelId="{DC2BA3A9-24DE-469D-A141-E09E3EF9C563}" type="sibTrans" cxnId="{B9A803D2-5099-4AC5-A95A-A3C491630918}">
      <dgm:prSet/>
      <dgm:spPr/>
      <dgm:t>
        <a:bodyPr/>
        <a:lstStyle/>
        <a:p>
          <a:endParaRPr lang="en-US"/>
        </a:p>
      </dgm:t>
    </dgm:pt>
    <dgm:pt modelId="{9F99AF68-7295-463E-8940-A2C72C9F25C9}">
      <dgm:prSet phldrT="[Text]">
        <dgm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dgm:style>
      </dgm:prSet>
      <dgm:spPr>
        <a:solidFill>
          <a:schemeClr val="accent2"/>
        </a:solidFill>
      </dgm:spPr>
      <dgm:t>
        <a:bodyPr/>
        <a:lstStyle/>
        <a:p>
          <a:r>
            <a:rPr lang="en-US" dirty="0"/>
            <a:t>5. Types and Tools of Data Analytics</a:t>
          </a:r>
        </a:p>
      </dgm:t>
    </dgm:pt>
    <dgm:pt modelId="{134EDDBB-C27C-438D-B4C7-2A2598BFF676}" type="parTrans" cxnId="{45E0A442-1E9A-427E-9B7C-304C2F7B1840}">
      <dgm:prSet/>
      <dgm:spPr/>
      <dgm:t>
        <a:bodyPr/>
        <a:lstStyle/>
        <a:p>
          <a:endParaRPr lang="en-US"/>
        </a:p>
      </dgm:t>
    </dgm:pt>
    <dgm:pt modelId="{6BFB1CD5-BF6F-487C-B7EC-B92917E3C421}" type="sibTrans" cxnId="{45E0A442-1E9A-427E-9B7C-304C2F7B1840}">
      <dgm:prSet/>
      <dgm:spPr/>
      <dgm:t>
        <a:bodyPr/>
        <a:lstStyle/>
        <a:p>
          <a:endParaRPr lang="en-US"/>
        </a:p>
      </dgm:t>
    </dgm:pt>
    <dgm:pt modelId="{888103C2-EDBF-46A4-9BAA-37730A3BD400}">
      <dgm:prSet phldrT="[Text]"/>
      <dgm:spPr/>
      <dgm:t>
        <a:bodyPr/>
        <a:lstStyle/>
        <a:p>
          <a:r>
            <a:rPr lang="en-US" dirty="0"/>
            <a:t>6. Descriptive Analytics</a:t>
          </a:r>
        </a:p>
      </dgm:t>
    </dgm:pt>
    <dgm:pt modelId="{70C05079-E395-43A0-9039-C0130F669B53}" type="parTrans" cxnId="{8D7E9EB2-07FB-4E14-937A-452A0300AF45}">
      <dgm:prSet/>
      <dgm:spPr/>
      <dgm:t>
        <a:bodyPr/>
        <a:lstStyle/>
        <a:p>
          <a:endParaRPr lang="en-US"/>
        </a:p>
      </dgm:t>
    </dgm:pt>
    <dgm:pt modelId="{0CFE67C8-FFA5-4670-920F-B54FC0FE568F}" type="sibTrans" cxnId="{8D7E9EB2-07FB-4E14-937A-452A0300AF45}">
      <dgm:prSet/>
      <dgm:spPr/>
      <dgm:t>
        <a:bodyPr/>
        <a:lstStyle/>
        <a:p>
          <a:endParaRPr lang="en-US"/>
        </a:p>
      </dgm:t>
    </dgm:pt>
    <dgm:pt modelId="{29BFC4C1-E8F4-45CC-A595-055693A24411}">
      <dgm:prSet phldrT="[Text]"/>
      <dgm:spPr/>
      <dgm:t>
        <a:bodyPr/>
        <a:lstStyle/>
        <a:p>
          <a:r>
            <a:rPr lang="en-US" dirty="0"/>
            <a:t>7. Diagnostic Analytics</a:t>
          </a:r>
        </a:p>
      </dgm:t>
    </dgm:pt>
    <dgm:pt modelId="{4500B2B1-40C0-4188-A871-C9DCB46667EB}" type="parTrans" cxnId="{7324BBED-781E-45A2-9A98-0183D0D7F90C}">
      <dgm:prSet/>
      <dgm:spPr/>
      <dgm:t>
        <a:bodyPr/>
        <a:lstStyle/>
        <a:p>
          <a:endParaRPr lang="en-US"/>
        </a:p>
      </dgm:t>
    </dgm:pt>
    <dgm:pt modelId="{4B00C5D0-FC4F-45C9-95FC-C3BD95546F50}" type="sibTrans" cxnId="{7324BBED-781E-45A2-9A98-0183D0D7F90C}">
      <dgm:prSet/>
      <dgm:spPr/>
      <dgm:t>
        <a:bodyPr/>
        <a:lstStyle/>
        <a:p>
          <a:endParaRPr lang="en-US"/>
        </a:p>
      </dgm:t>
    </dgm:pt>
    <dgm:pt modelId="{0D9B704B-D80D-42C0-9099-264C460876E0}">
      <dgm:prSet phldrT="[Text]"/>
      <dgm:spPr/>
      <dgm:t>
        <a:bodyPr/>
        <a:lstStyle/>
        <a:p>
          <a:r>
            <a:rPr lang="en-US" dirty="0"/>
            <a:t>8. Predictive Analytics</a:t>
          </a:r>
        </a:p>
      </dgm:t>
    </dgm:pt>
    <dgm:pt modelId="{3AF0AA2A-745F-4066-B817-D42754E5F374}" type="parTrans" cxnId="{8293131F-C551-4A63-AFD5-E0B67EFE1031}">
      <dgm:prSet/>
      <dgm:spPr/>
      <dgm:t>
        <a:bodyPr/>
        <a:lstStyle/>
        <a:p>
          <a:endParaRPr lang="en-US"/>
        </a:p>
      </dgm:t>
    </dgm:pt>
    <dgm:pt modelId="{B0857A19-E330-4D45-8071-57EABE2409E7}" type="sibTrans" cxnId="{8293131F-C551-4A63-AFD5-E0B67EFE1031}">
      <dgm:prSet/>
      <dgm:spPr/>
      <dgm:t>
        <a:bodyPr/>
        <a:lstStyle/>
        <a:p>
          <a:endParaRPr lang="en-US"/>
        </a:p>
      </dgm:t>
    </dgm:pt>
    <dgm:pt modelId="{AA70D099-F0B0-40FA-A483-F24DEC9E4A6F}">
      <dgm:prSet phldrT="[Text]"/>
      <dgm:spPr/>
      <dgm:t>
        <a:bodyPr/>
        <a:lstStyle/>
        <a:p>
          <a:r>
            <a:rPr lang="en-US" dirty="0"/>
            <a:t>9. Prescriptive Analytics</a:t>
          </a:r>
        </a:p>
      </dgm:t>
    </dgm:pt>
    <dgm:pt modelId="{B6C53614-768C-4345-A66E-252B0ACC64A7}" type="parTrans" cxnId="{AD4435CA-4C27-48A9-A7ED-5909BF2A9357}">
      <dgm:prSet/>
      <dgm:spPr/>
      <dgm:t>
        <a:bodyPr/>
        <a:lstStyle/>
        <a:p>
          <a:endParaRPr lang="en-US"/>
        </a:p>
      </dgm:t>
    </dgm:pt>
    <dgm:pt modelId="{BF062850-A88B-46B4-A872-9D16C7D30363}" type="sibTrans" cxnId="{AD4435CA-4C27-48A9-A7ED-5909BF2A9357}">
      <dgm:prSet/>
      <dgm:spPr/>
      <dgm:t>
        <a:bodyPr/>
        <a:lstStyle/>
        <a:p>
          <a:endParaRPr lang="en-US"/>
        </a:p>
      </dgm:t>
    </dgm:pt>
    <dgm:pt modelId="{B4FCDA83-52E4-4DAF-BB0D-15ABB8AC56A2}">
      <dgm:prSet phldrT="[Text]"/>
      <dgm:spPr/>
      <dgm:t>
        <a:bodyPr/>
        <a:lstStyle/>
        <a:p>
          <a:r>
            <a:rPr lang="en-US" dirty="0"/>
            <a:t>10. Share the Story</a:t>
          </a:r>
        </a:p>
      </dgm:t>
    </dgm:pt>
    <dgm:pt modelId="{64E5D97C-C40D-434D-A362-C1E5FD98DFA6}" type="parTrans" cxnId="{D74E223B-E57B-45E2-8FFD-5E12C110DE95}">
      <dgm:prSet/>
      <dgm:spPr/>
      <dgm:t>
        <a:bodyPr/>
        <a:lstStyle/>
        <a:p>
          <a:endParaRPr lang="en-US"/>
        </a:p>
      </dgm:t>
    </dgm:pt>
    <dgm:pt modelId="{6B0E3692-0444-4A04-9F51-D941E9AA8236}" type="sibTrans" cxnId="{D74E223B-E57B-45E2-8FFD-5E12C110DE95}">
      <dgm:prSet/>
      <dgm:spPr/>
      <dgm:t>
        <a:bodyPr/>
        <a:lstStyle/>
        <a:p>
          <a:endParaRPr lang="en-US"/>
        </a:p>
      </dgm:t>
    </dgm:pt>
    <dgm:pt modelId="{DB2461A3-692F-4D40-8FF5-61D7CA2FC477}">
      <dgm:prSet phldrT="[Text]"/>
      <dgm:spPr/>
      <dgm:t>
        <a:bodyPr/>
        <a:lstStyle/>
        <a:p>
          <a:r>
            <a:rPr lang="en-US" dirty="0"/>
            <a:t>11. Putting it All Together</a:t>
          </a:r>
        </a:p>
      </dgm:t>
    </dgm:pt>
    <dgm:pt modelId="{8BBA9AE9-772E-42AE-8348-FFBA19F660C8}" type="parTrans" cxnId="{09188AAC-A6EE-461C-B6A1-13E6DC230587}">
      <dgm:prSet/>
      <dgm:spPr/>
      <dgm:t>
        <a:bodyPr/>
        <a:lstStyle/>
        <a:p>
          <a:endParaRPr lang="en-US"/>
        </a:p>
      </dgm:t>
    </dgm:pt>
    <dgm:pt modelId="{3BA935B4-5717-4F1A-BBBA-E75CCB1B20CB}" type="sibTrans" cxnId="{09188AAC-A6EE-461C-B6A1-13E6DC230587}">
      <dgm:prSet/>
      <dgm:spPr/>
      <dgm:t>
        <a:bodyPr/>
        <a:lstStyle/>
        <a:p>
          <a:endParaRPr lang="en-US"/>
        </a:p>
      </dgm:t>
    </dgm:pt>
    <dgm:pt modelId="{64184575-B86F-4081-93F1-F38DBCA6D020}" type="pres">
      <dgm:prSet presAssocID="{2C1B94B5-5B81-45C9-9DD3-232163F9045A}" presName="diagram" presStyleCnt="0">
        <dgm:presLayoutVars>
          <dgm:dir/>
          <dgm:resizeHandles val="exact"/>
        </dgm:presLayoutVars>
      </dgm:prSet>
      <dgm:spPr/>
    </dgm:pt>
    <dgm:pt modelId="{AC7BA7EA-2A5B-46DD-B05F-BC4D53E41397}" type="pres">
      <dgm:prSet presAssocID="{84B828AF-130C-4B42-AA5D-9499F81C0325}" presName="node" presStyleLbl="node1" presStyleIdx="0" presStyleCnt="11">
        <dgm:presLayoutVars>
          <dgm:bulletEnabled val="1"/>
        </dgm:presLayoutVars>
      </dgm:prSet>
      <dgm:spPr/>
    </dgm:pt>
    <dgm:pt modelId="{D0053C51-F0C3-4A2C-BCEC-64CAECF8F0B1}" type="pres">
      <dgm:prSet presAssocID="{487268DB-E536-4470-9715-F439A958EC58}" presName="sibTrans" presStyleCnt="0"/>
      <dgm:spPr/>
    </dgm:pt>
    <dgm:pt modelId="{142C2CEB-81E8-4F81-BEBB-3E3F02A9DBFA}" type="pres">
      <dgm:prSet presAssocID="{172D8603-4936-41DB-862E-366E2ABD320C}" presName="node" presStyleLbl="node1" presStyleIdx="1" presStyleCnt="11">
        <dgm:presLayoutVars>
          <dgm:bulletEnabled val="1"/>
        </dgm:presLayoutVars>
      </dgm:prSet>
      <dgm:spPr/>
    </dgm:pt>
    <dgm:pt modelId="{3CCCCAA0-A32C-40C7-AFE6-492749C0292C}" type="pres">
      <dgm:prSet presAssocID="{3BD099C6-6D42-4EC0-911D-8926029FAC34}" presName="sibTrans" presStyleCnt="0"/>
      <dgm:spPr/>
    </dgm:pt>
    <dgm:pt modelId="{A1357191-7D63-405E-9A63-992FE13120F7}" type="pres">
      <dgm:prSet presAssocID="{F66C7E08-B299-4F37-8EC7-655B6ED5E630}" presName="node" presStyleLbl="node1" presStyleIdx="2" presStyleCnt="11">
        <dgm:presLayoutVars>
          <dgm:bulletEnabled val="1"/>
        </dgm:presLayoutVars>
      </dgm:prSet>
      <dgm:spPr/>
    </dgm:pt>
    <dgm:pt modelId="{6C5C18A6-8AD5-44FA-B5AD-0A25417045A5}" type="pres">
      <dgm:prSet presAssocID="{02E248FF-92AB-426A-B0A6-6B1BA0C8DBE4}" presName="sibTrans" presStyleCnt="0"/>
      <dgm:spPr/>
    </dgm:pt>
    <dgm:pt modelId="{95659B2A-8677-4CC9-AC2D-6E3065506347}" type="pres">
      <dgm:prSet presAssocID="{BC907A57-8FF1-4D4D-8274-6F518F02CD6A}" presName="node" presStyleLbl="node1" presStyleIdx="3" presStyleCnt="11">
        <dgm:presLayoutVars>
          <dgm:bulletEnabled val="1"/>
        </dgm:presLayoutVars>
      </dgm:prSet>
      <dgm:spPr/>
    </dgm:pt>
    <dgm:pt modelId="{B354AD01-00B4-49CA-9B85-28A2A7A62FDF}" type="pres">
      <dgm:prSet presAssocID="{DC2BA3A9-24DE-469D-A141-E09E3EF9C563}" presName="sibTrans" presStyleCnt="0"/>
      <dgm:spPr/>
    </dgm:pt>
    <dgm:pt modelId="{0AD16D03-2E95-4C4B-A1D9-C051F44A5EE6}" type="pres">
      <dgm:prSet presAssocID="{9F99AF68-7295-463E-8940-A2C72C9F25C9}" presName="node" presStyleLbl="node1" presStyleIdx="4" presStyleCnt="11">
        <dgm:presLayoutVars>
          <dgm:bulletEnabled val="1"/>
        </dgm:presLayoutVars>
      </dgm:prSet>
      <dgm:spPr/>
    </dgm:pt>
    <dgm:pt modelId="{1EE51B34-97D9-479A-BB17-C4C386A0382E}" type="pres">
      <dgm:prSet presAssocID="{6BFB1CD5-BF6F-487C-B7EC-B92917E3C421}" presName="sibTrans" presStyleCnt="0"/>
      <dgm:spPr/>
    </dgm:pt>
    <dgm:pt modelId="{771D8328-DECA-4C53-9A7B-384F01211B71}" type="pres">
      <dgm:prSet presAssocID="{888103C2-EDBF-46A4-9BAA-37730A3BD400}" presName="node" presStyleLbl="node1" presStyleIdx="5" presStyleCnt="11">
        <dgm:presLayoutVars>
          <dgm:bulletEnabled val="1"/>
        </dgm:presLayoutVars>
      </dgm:prSet>
      <dgm:spPr/>
    </dgm:pt>
    <dgm:pt modelId="{F50BC304-6379-45E7-82D0-6BF2BA376E33}" type="pres">
      <dgm:prSet presAssocID="{0CFE67C8-FFA5-4670-920F-B54FC0FE568F}" presName="sibTrans" presStyleCnt="0"/>
      <dgm:spPr/>
    </dgm:pt>
    <dgm:pt modelId="{7995BAAC-2AE2-43C5-B354-9036420E247B}" type="pres">
      <dgm:prSet presAssocID="{29BFC4C1-E8F4-45CC-A595-055693A24411}" presName="node" presStyleLbl="node1" presStyleIdx="6" presStyleCnt="11">
        <dgm:presLayoutVars>
          <dgm:bulletEnabled val="1"/>
        </dgm:presLayoutVars>
      </dgm:prSet>
      <dgm:spPr/>
    </dgm:pt>
    <dgm:pt modelId="{6F4AA633-4D21-49E0-858B-972C75A6B558}" type="pres">
      <dgm:prSet presAssocID="{4B00C5D0-FC4F-45C9-95FC-C3BD95546F50}" presName="sibTrans" presStyleCnt="0"/>
      <dgm:spPr/>
    </dgm:pt>
    <dgm:pt modelId="{37DBBAB6-9645-40D7-9ACC-1B0A6A22B2CA}" type="pres">
      <dgm:prSet presAssocID="{0D9B704B-D80D-42C0-9099-264C460876E0}" presName="node" presStyleLbl="node1" presStyleIdx="7" presStyleCnt="11">
        <dgm:presLayoutVars>
          <dgm:bulletEnabled val="1"/>
        </dgm:presLayoutVars>
      </dgm:prSet>
      <dgm:spPr/>
    </dgm:pt>
    <dgm:pt modelId="{CF73E748-DD2C-474D-837D-99BD22CA59A0}" type="pres">
      <dgm:prSet presAssocID="{B0857A19-E330-4D45-8071-57EABE2409E7}" presName="sibTrans" presStyleCnt="0"/>
      <dgm:spPr/>
    </dgm:pt>
    <dgm:pt modelId="{A2A08016-593C-4CCE-AAB9-8A8420B17069}" type="pres">
      <dgm:prSet presAssocID="{AA70D099-F0B0-40FA-A483-F24DEC9E4A6F}" presName="node" presStyleLbl="node1" presStyleIdx="8" presStyleCnt="11">
        <dgm:presLayoutVars>
          <dgm:bulletEnabled val="1"/>
        </dgm:presLayoutVars>
      </dgm:prSet>
      <dgm:spPr/>
    </dgm:pt>
    <dgm:pt modelId="{125862FD-B61F-465C-8F2D-8E4B10F290DA}" type="pres">
      <dgm:prSet presAssocID="{BF062850-A88B-46B4-A872-9D16C7D30363}" presName="sibTrans" presStyleCnt="0"/>
      <dgm:spPr/>
    </dgm:pt>
    <dgm:pt modelId="{98C8843C-0F12-48AA-9B01-3B6F8D3785E4}" type="pres">
      <dgm:prSet presAssocID="{B4FCDA83-52E4-4DAF-BB0D-15ABB8AC56A2}" presName="node" presStyleLbl="node1" presStyleIdx="9" presStyleCnt="11">
        <dgm:presLayoutVars>
          <dgm:bulletEnabled val="1"/>
        </dgm:presLayoutVars>
      </dgm:prSet>
      <dgm:spPr/>
    </dgm:pt>
    <dgm:pt modelId="{A5691CF6-EBF8-49CC-8126-0C3F5F9366A4}" type="pres">
      <dgm:prSet presAssocID="{6B0E3692-0444-4A04-9F51-D941E9AA8236}" presName="sibTrans" presStyleCnt="0"/>
      <dgm:spPr/>
    </dgm:pt>
    <dgm:pt modelId="{0751E9AB-949D-4E15-BE69-7EFD87DB3039}" type="pres">
      <dgm:prSet presAssocID="{DB2461A3-692F-4D40-8FF5-61D7CA2FC477}" presName="node" presStyleLbl="node1" presStyleIdx="10" presStyleCnt="11">
        <dgm:presLayoutVars>
          <dgm:bulletEnabled val="1"/>
        </dgm:presLayoutVars>
      </dgm:prSet>
      <dgm:spPr/>
    </dgm:pt>
  </dgm:ptLst>
  <dgm:cxnLst>
    <dgm:cxn modelId="{BE2C9510-F9AC-4BF4-A40D-B9D0D8FB6C6D}" type="presOf" srcId="{84B828AF-130C-4B42-AA5D-9499F81C0325}" destId="{AC7BA7EA-2A5B-46DD-B05F-BC4D53E41397}" srcOrd="0" destOrd="0" presId="urn:microsoft.com/office/officeart/2005/8/layout/default"/>
    <dgm:cxn modelId="{8293131F-C551-4A63-AFD5-E0B67EFE1031}" srcId="{2C1B94B5-5B81-45C9-9DD3-232163F9045A}" destId="{0D9B704B-D80D-42C0-9099-264C460876E0}" srcOrd="7" destOrd="0" parTransId="{3AF0AA2A-745F-4066-B817-D42754E5F374}" sibTransId="{B0857A19-E330-4D45-8071-57EABE2409E7}"/>
    <dgm:cxn modelId="{5C683A1F-312F-4C93-9E46-1511083D5A5F}" type="presOf" srcId="{0D9B704B-D80D-42C0-9099-264C460876E0}" destId="{37DBBAB6-9645-40D7-9ACC-1B0A6A22B2CA}" srcOrd="0" destOrd="0" presId="urn:microsoft.com/office/officeart/2005/8/layout/default"/>
    <dgm:cxn modelId="{D74E223B-E57B-45E2-8FFD-5E12C110DE95}" srcId="{2C1B94B5-5B81-45C9-9DD3-232163F9045A}" destId="{B4FCDA83-52E4-4DAF-BB0D-15ABB8AC56A2}" srcOrd="9" destOrd="0" parTransId="{64E5D97C-C40D-434D-A362-C1E5FD98DFA6}" sibTransId="{6B0E3692-0444-4A04-9F51-D941E9AA8236}"/>
    <dgm:cxn modelId="{EE63C540-5BE4-49C3-93DE-A763250154D9}" type="presOf" srcId="{AA70D099-F0B0-40FA-A483-F24DEC9E4A6F}" destId="{A2A08016-593C-4CCE-AAB9-8A8420B17069}" srcOrd="0" destOrd="0" presId="urn:microsoft.com/office/officeart/2005/8/layout/default"/>
    <dgm:cxn modelId="{45E0A442-1E9A-427E-9B7C-304C2F7B1840}" srcId="{2C1B94B5-5B81-45C9-9DD3-232163F9045A}" destId="{9F99AF68-7295-463E-8940-A2C72C9F25C9}" srcOrd="4" destOrd="0" parTransId="{134EDDBB-C27C-438D-B4C7-2A2598BFF676}" sibTransId="{6BFB1CD5-BF6F-487C-B7EC-B92917E3C421}"/>
    <dgm:cxn modelId="{6700465D-30B4-450C-8981-8AFC37047083}" type="presOf" srcId="{F66C7E08-B299-4F37-8EC7-655B6ED5E630}" destId="{A1357191-7D63-405E-9A63-992FE13120F7}" srcOrd="0" destOrd="0" presId="urn:microsoft.com/office/officeart/2005/8/layout/default"/>
    <dgm:cxn modelId="{189B9165-1A71-4506-BCE9-A0986646C349}" srcId="{2C1B94B5-5B81-45C9-9DD3-232163F9045A}" destId="{F66C7E08-B299-4F37-8EC7-655B6ED5E630}" srcOrd="2" destOrd="0" parTransId="{FBD085A7-9CC7-4334-A64B-5EB366E751F1}" sibTransId="{02E248FF-92AB-426A-B0A6-6B1BA0C8DBE4}"/>
    <dgm:cxn modelId="{D0CBE26F-1E57-4A35-BAEB-E33E32E4777B}" type="presOf" srcId="{2C1B94B5-5B81-45C9-9DD3-232163F9045A}" destId="{64184575-B86F-4081-93F1-F38DBCA6D020}" srcOrd="0" destOrd="0" presId="urn:microsoft.com/office/officeart/2005/8/layout/default"/>
    <dgm:cxn modelId="{79398478-4D9F-4DD2-885A-D24CA0A7441D}" type="presOf" srcId="{29BFC4C1-E8F4-45CC-A595-055693A24411}" destId="{7995BAAC-2AE2-43C5-B354-9036420E247B}" srcOrd="0" destOrd="0" presId="urn:microsoft.com/office/officeart/2005/8/layout/default"/>
    <dgm:cxn modelId="{9CE79781-B19C-4AAA-981C-30970589E55E}" type="presOf" srcId="{172D8603-4936-41DB-862E-366E2ABD320C}" destId="{142C2CEB-81E8-4F81-BEBB-3E3F02A9DBFA}" srcOrd="0" destOrd="0" presId="urn:microsoft.com/office/officeart/2005/8/layout/default"/>
    <dgm:cxn modelId="{A0EAC285-F650-4634-990A-26272217BA92}" srcId="{2C1B94B5-5B81-45C9-9DD3-232163F9045A}" destId="{172D8603-4936-41DB-862E-366E2ABD320C}" srcOrd="1" destOrd="0" parTransId="{9E94F90F-6574-43D2-B9C9-BFFD75F2122B}" sibTransId="{3BD099C6-6D42-4EC0-911D-8926029FAC34}"/>
    <dgm:cxn modelId="{5AD4CC88-C1FF-4B07-8689-CC697F0D4ECD}" type="presOf" srcId="{888103C2-EDBF-46A4-9BAA-37730A3BD400}" destId="{771D8328-DECA-4C53-9A7B-384F01211B71}" srcOrd="0" destOrd="0" presId="urn:microsoft.com/office/officeart/2005/8/layout/default"/>
    <dgm:cxn modelId="{F1ED8C9D-89D9-41D1-8E13-5A74AE27C4AB}" type="presOf" srcId="{9F99AF68-7295-463E-8940-A2C72C9F25C9}" destId="{0AD16D03-2E95-4C4B-A1D9-C051F44A5EE6}" srcOrd="0" destOrd="0" presId="urn:microsoft.com/office/officeart/2005/8/layout/default"/>
    <dgm:cxn modelId="{09188AAC-A6EE-461C-B6A1-13E6DC230587}" srcId="{2C1B94B5-5B81-45C9-9DD3-232163F9045A}" destId="{DB2461A3-692F-4D40-8FF5-61D7CA2FC477}" srcOrd="10" destOrd="0" parTransId="{8BBA9AE9-772E-42AE-8348-FFBA19F660C8}" sibTransId="{3BA935B4-5717-4F1A-BBBA-E75CCB1B20CB}"/>
    <dgm:cxn modelId="{8D7E9EB2-07FB-4E14-937A-452A0300AF45}" srcId="{2C1B94B5-5B81-45C9-9DD3-232163F9045A}" destId="{888103C2-EDBF-46A4-9BAA-37730A3BD400}" srcOrd="5" destOrd="0" parTransId="{70C05079-E395-43A0-9039-C0130F669B53}" sibTransId="{0CFE67C8-FFA5-4670-920F-B54FC0FE568F}"/>
    <dgm:cxn modelId="{AC5D56BD-4E73-40BC-9485-286D29BCB30A}" type="presOf" srcId="{B4FCDA83-52E4-4DAF-BB0D-15ABB8AC56A2}" destId="{98C8843C-0F12-48AA-9B01-3B6F8D3785E4}" srcOrd="0" destOrd="0" presId="urn:microsoft.com/office/officeart/2005/8/layout/default"/>
    <dgm:cxn modelId="{E0CFEEC2-BEF1-48B8-910D-8481638CE3E9}" type="presOf" srcId="{BC907A57-8FF1-4D4D-8274-6F518F02CD6A}" destId="{95659B2A-8677-4CC9-AC2D-6E3065506347}" srcOrd="0" destOrd="0" presId="urn:microsoft.com/office/officeart/2005/8/layout/default"/>
    <dgm:cxn modelId="{AD4435CA-4C27-48A9-A7ED-5909BF2A9357}" srcId="{2C1B94B5-5B81-45C9-9DD3-232163F9045A}" destId="{AA70D099-F0B0-40FA-A483-F24DEC9E4A6F}" srcOrd="8" destOrd="0" parTransId="{B6C53614-768C-4345-A66E-252B0ACC64A7}" sibTransId="{BF062850-A88B-46B4-A872-9D16C7D30363}"/>
    <dgm:cxn modelId="{B9A803D2-5099-4AC5-A95A-A3C491630918}" srcId="{2C1B94B5-5B81-45C9-9DD3-232163F9045A}" destId="{BC907A57-8FF1-4D4D-8274-6F518F02CD6A}" srcOrd="3" destOrd="0" parTransId="{6D6BF448-3EA9-4F2F-BB28-0453FE34C95A}" sibTransId="{DC2BA3A9-24DE-469D-A141-E09E3EF9C563}"/>
    <dgm:cxn modelId="{CAE6B0DC-5502-445D-B37F-F9982C88A121}" type="presOf" srcId="{DB2461A3-692F-4D40-8FF5-61D7CA2FC477}" destId="{0751E9AB-949D-4E15-BE69-7EFD87DB3039}" srcOrd="0" destOrd="0" presId="urn:microsoft.com/office/officeart/2005/8/layout/default"/>
    <dgm:cxn modelId="{7324BBED-781E-45A2-9A98-0183D0D7F90C}" srcId="{2C1B94B5-5B81-45C9-9DD3-232163F9045A}" destId="{29BFC4C1-E8F4-45CC-A595-055693A24411}" srcOrd="6" destOrd="0" parTransId="{4500B2B1-40C0-4188-A871-C9DCB46667EB}" sibTransId="{4B00C5D0-FC4F-45C9-95FC-C3BD95546F50}"/>
    <dgm:cxn modelId="{D37251F1-DD28-4AE0-8847-B9C2D2DDF52E}" srcId="{2C1B94B5-5B81-45C9-9DD3-232163F9045A}" destId="{84B828AF-130C-4B42-AA5D-9499F81C0325}" srcOrd="0" destOrd="0" parTransId="{012C6969-4A07-4556-AF69-90943A712921}" sibTransId="{487268DB-E536-4470-9715-F439A958EC58}"/>
    <dgm:cxn modelId="{FCBD7A58-2D8A-42FD-A03B-0C6F35AFC257}" type="presParOf" srcId="{64184575-B86F-4081-93F1-F38DBCA6D020}" destId="{AC7BA7EA-2A5B-46DD-B05F-BC4D53E41397}" srcOrd="0" destOrd="0" presId="urn:microsoft.com/office/officeart/2005/8/layout/default"/>
    <dgm:cxn modelId="{73BC1566-4D72-4210-8098-E0CE637DCFAA}" type="presParOf" srcId="{64184575-B86F-4081-93F1-F38DBCA6D020}" destId="{D0053C51-F0C3-4A2C-BCEC-64CAECF8F0B1}" srcOrd="1" destOrd="0" presId="urn:microsoft.com/office/officeart/2005/8/layout/default"/>
    <dgm:cxn modelId="{5D364167-3BF2-497F-830D-DFF4542949A5}" type="presParOf" srcId="{64184575-B86F-4081-93F1-F38DBCA6D020}" destId="{142C2CEB-81E8-4F81-BEBB-3E3F02A9DBFA}" srcOrd="2" destOrd="0" presId="urn:microsoft.com/office/officeart/2005/8/layout/default"/>
    <dgm:cxn modelId="{9CF74827-12F6-46AE-8192-352AF94972E9}" type="presParOf" srcId="{64184575-B86F-4081-93F1-F38DBCA6D020}" destId="{3CCCCAA0-A32C-40C7-AFE6-492749C0292C}" srcOrd="3" destOrd="0" presId="urn:microsoft.com/office/officeart/2005/8/layout/default"/>
    <dgm:cxn modelId="{0207AA83-ECC9-4E03-94B1-E3376A979EA2}" type="presParOf" srcId="{64184575-B86F-4081-93F1-F38DBCA6D020}" destId="{A1357191-7D63-405E-9A63-992FE13120F7}" srcOrd="4" destOrd="0" presId="urn:microsoft.com/office/officeart/2005/8/layout/default"/>
    <dgm:cxn modelId="{2EF9AA67-A4B7-4391-8F88-0C180D4E44BC}" type="presParOf" srcId="{64184575-B86F-4081-93F1-F38DBCA6D020}" destId="{6C5C18A6-8AD5-44FA-B5AD-0A25417045A5}" srcOrd="5" destOrd="0" presId="urn:microsoft.com/office/officeart/2005/8/layout/default"/>
    <dgm:cxn modelId="{E66FC557-A274-4BB6-8ED2-A0917F08A5A1}" type="presParOf" srcId="{64184575-B86F-4081-93F1-F38DBCA6D020}" destId="{95659B2A-8677-4CC9-AC2D-6E3065506347}" srcOrd="6" destOrd="0" presId="urn:microsoft.com/office/officeart/2005/8/layout/default"/>
    <dgm:cxn modelId="{010A8F3D-5A97-470B-95E6-4F982E821D29}" type="presParOf" srcId="{64184575-B86F-4081-93F1-F38DBCA6D020}" destId="{B354AD01-00B4-49CA-9B85-28A2A7A62FDF}" srcOrd="7" destOrd="0" presId="urn:microsoft.com/office/officeart/2005/8/layout/default"/>
    <dgm:cxn modelId="{F7B0FE01-496D-4E8D-BC58-BC8B826B54AD}" type="presParOf" srcId="{64184575-B86F-4081-93F1-F38DBCA6D020}" destId="{0AD16D03-2E95-4C4B-A1D9-C051F44A5EE6}" srcOrd="8" destOrd="0" presId="urn:microsoft.com/office/officeart/2005/8/layout/default"/>
    <dgm:cxn modelId="{969B9B0F-07D6-439D-86CE-DC0FD999FB75}" type="presParOf" srcId="{64184575-B86F-4081-93F1-F38DBCA6D020}" destId="{1EE51B34-97D9-479A-BB17-C4C386A0382E}" srcOrd="9" destOrd="0" presId="urn:microsoft.com/office/officeart/2005/8/layout/default"/>
    <dgm:cxn modelId="{B08B83FD-0252-44CB-AF7D-9836262C7BBE}" type="presParOf" srcId="{64184575-B86F-4081-93F1-F38DBCA6D020}" destId="{771D8328-DECA-4C53-9A7B-384F01211B71}" srcOrd="10" destOrd="0" presId="urn:microsoft.com/office/officeart/2005/8/layout/default"/>
    <dgm:cxn modelId="{83280463-9976-463B-BD15-7960D0AEBEBC}" type="presParOf" srcId="{64184575-B86F-4081-93F1-F38DBCA6D020}" destId="{F50BC304-6379-45E7-82D0-6BF2BA376E33}" srcOrd="11" destOrd="0" presId="urn:microsoft.com/office/officeart/2005/8/layout/default"/>
    <dgm:cxn modelId="{6AFB1876-BCFD-4A2F-B43E-92CBB961EAA6}" type="presParOf" srcId="{64184575-B86F-4081-93F1-F38DBCA6D020}" destId="{7995BAAC-2AE2-43C5-B354-9036420E247B}" srcOrd="12" destOrd="0" presId="urn:microsoft.com/office/officeart/2005/8/layout/default"/>
    <dgm:cxn modelId="{42BFDCAA-FCB9-40B2-9A13-83C252454748}" type="presParOf" srcId="{64184575-B86F-4081-93F1-F38DBCA6D020}" destId="{6F4AA633-4D21-49E0-858B-972C75A6B558}" srcOrd="13" destOrd="0" presId="urn:microsoft.com/office/officeart/2005/8/layout/default"/>
    <dgm:cxn modelId="{E4DDD37C-1BD3-4575-9069-9EF13083D50E}" type="presParOf" srcId="{64184575-B86F-4081-93F1-F38DBCA6D020}" destId="{37DBBAB6-9645-40D7-9ACC-1B0A6A22B2CA}" srcOrd="14" destOrd="0" presId="urn:microsoft.com/office/officeart/2005/8/layout/default"/>
    <dgm:cxn modelId="{36C130FA-1251-4B6C-AAB8-FEEDBCA4B476}" type="presParOf" srcId="{64184575-B86F-4081-93F1-F38DBCA6D020}" destId="{CF73E748-DD2C-474D-837D-99BD22CA59A0}" srcOrd="15" destOrd="0" presId="urn:microsoft.com/office/officeart/2005/8/layout/default"/>
    <dgm:cxn modelId="{4D8AE6AE-F03A-4D56-8C4E-3D2338502E3E}" type="presParOf" srcId="{64184575-B86F-4081-93F1-F38DBCA6D020}" destId="{A2A08016-593C-4CCE-AAB9-8A8420B17069}" srcOrd="16" destOrd="0" presId="urn:microsoft.com/office/officeart/2005/8/layout/default"/>
    <dgm:cxn modelId="{5FD09CA1-5236-436B-90F7-DF4E19E928A1}" type="presParOf" srcId="{64184575-B86F-4081-93F1-F38DBCA6D020}" destId="{125862FD-B61F-465C-8F2D-8E4B10F290DA}" srcOrd="17" destOrd="0" presId="urn:microsoft.com/office/officeart/2005/8/layout/default"/>
    <dgm:cxn modelId="{34C6DD73-44EC-40E7-A27D-4E33ABD34FB7}" type="presParOf" srcId="{64184575-B86F-4081-93F1-F38DBCA6D020}" destId="{98C8843C-0F12-48AA-9B01-3B6F8D3785E4}" srcOrd="18" destOrd="0" presId="urn:microsoft.com/office/officeart/2005/8/layout/default"/>
    <dgm:cxn modelId="{94C5DA72-9A67-4E92-9BBE-63873CAD0DD8}" type="presParOf" srcId="{64184575-B86F-4081-93F1-F38DBCA6D020}" destId="{A5691CF6-EBF8-49CC-8126-0C3F5F9366A4}" srcOrd="19" destOrd="0" presId="urn:microsoft.com/office/officeart/2005/8/layout/default"/>
    <dgm:cxn modelId="{48B16C16-C8A5-4823-AB87-4B0E5EC0C740}" type="presParOf" srcId="{64184575-B86F-4081-93F1-F38DBCA6D020}" destId="{0751E9AB-949D-4E15-BE69-7EFD87DB3039}" srcOrd="2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7BA7EA-2A5B-46DD-B05F-BC4D53E41397}">
      <dsp:nvSpPr>
        <dsp:cNvPr id="0" name=""/>
        <dsp:cNvSpPr/>
      </dsp:nvSpPr>
      <dsp:spPr>
        <a:xfrm>
          <a:off x="148895" y="1377"/>
          <a:ext cx="1723441" cy="1034064"/>
        </a:xfrm>
        <a:prstGeom prst="rect">
          <a:avLst/>
        </a:prstGeom>
        <a:solidFill>
          <a:schemeClr val="accent1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1. Data Analytics</a:t>
          </a:r>
        </a:p>
      </dsp:txBody>
      <dsp:txXfrm>
        <a:off x="148895" y="1377"/>
        <a:ext cx="1723441" cy="1034064"/>
      </dsp:txXfrm>
    </dsp:sp>
    <dsp:sp modelId="{142C2CEB-81E8-4F81-BEBB-3E3F02A9DBFA}">
      <dsp:nvSpPr>
        <dsp:cNvPr id="0" name=""/>
        <dsp:cNvSpPr/>
      </dsp:nvSpPr>
      <dsp:spPr>
        <a:xfrm>
          <a:off x="2044681" y="1377"/>
          <a:ext cx="1723441" cy="10340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2. Intro to Accounting Data</a:t>
          </a:r>
        </a:p>
      </dsp:txBody>
      <dsp:txXfrm>
        <a:off x="2044681" y="1377"/>
        <a:ext cx="1723441" cy="1034064"/>
      </dsp:txXfrm>
    </dsp:sp>
    <dsp:sp modelId="{A1357191-7D63-405E-9A63-992FE13120F7}">
      <dsp:nvSpPr>
        <dsp:cNvPr id="0" name=""/>
        <dsp:cNvSpPr/>
      </dsp:nvSpPr>
      <dsp:spPr>
        <a:xfrm>
          <a:off x="3940466" y="1377"/>
          <a:ext cx="1723441" cy="1034064"/>
        </a:xfrm>
        <a:prstGeom prst="rect">
          <a:avLst/>
        </a:prstGeom>
        <a:solidFill>
          <a:schemeClr val="accent1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3. Types of Data</a:t>
          </a:r>
        </a:p>
      </dsp:txBody>
      <dsp:txXfrm>
        <a:off x="3940466" y="1377"/>
        <a:ext cx="1723441" cy="1034064"/>
      </dsp:txXfrm>
    </dsp:sp>
    <dsp:sp modelId="{95659B2A-8677-4CC9-AC2D-6E3065506347}">
      <dsp:nvSpPr>
        <dsp:cNvPr id="0" name=""/>
        <dsp:cNvSpPr/>
      </dsp:nvSpPr>
      <dsp:spPr>
        <a:xfrm>
          <a:off x="5836252" y="1377"/>
          <a:ext cx="1723441" cy="1034064"/>
        </a:xfrm>
        <a:prstGeom prst="rect">
          <a:avLst/>
        </a:prstGeom>
        <a:solidFill>
          <a:schemeClr val="accent1"/>
        </a:solidFill>
        <a:ln w="22225" cap="flat" cmpd="sng" algn="ctr">
          <a:solidFill>
            <a:schemeClr val="lt1"/>
          </a:solidFill>
          <a:prstDash val="solid"/>
        </a:ln>
        <a:effectLst/>
      </dsp:spPr>
      <dsp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4. Preparing Data </a:t>
          </a:r>
          <a:r>
            <a:rPr lang="en-US" sz="2100" kern="1200"/>
            <a:t>for Analytics</a:t>
          </a:r>
          <a:endParaRPr lang="en-US" sz="2100" kern="1200" dirty="0"/>
        </a:p>
      </dsp:txBody>
      <dsp:txXfrm>
        <a:off x="5836252" y="1377"/>
        <a:ext cx="1723441" cy="1034064"/>
      </dsp:txXfrm>
    </dsp:sp>
    <dsp:sp modelId="{0AD16D03-2E95-4C4B-A1D9-C051F44A5EE6}">
      <dsp:nvSpPr>
        <dsp:cNvPr id="0" name=""/>
        <dsp:cNvSpPr/>
      </dsp:nvSpPr>
      <dsp:spPr>
        <a:xfrm>
          <a:off x="7732037" y="1377"/>
          <a:ext cx="1723441" cy="1034064"/>
        </a:xfrm>
        <a:prstGeom prst="rect">
          <a:avLst/>
        </a:prstGeom>
        <a:solidFill>
          <a:schemeClr val="accent2"/>
        </a:solidFill>
        <a:ln w="22225" cap="flat" cmpd="sng" algn="ctr">
          <a:solidFill>
            <a:schemeClr val="lt1"/>
          </a:solidFill>
          <a:prstDash val="solid"/>
        </a:ln>
        <a:effectLst/>
      </dsp:spPr>
      <dsp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5. Types and Tools of Data Analytics</a:t>
          </a:r>
        </a:p>
      </dsp:txBody>
      <dsp:txXfrm>
        <a:off x="7732037" y="1377"/>
        <a:ext cx="1723441" cy="1034064"/>
      </dsp:txXfrm>
    </dsp:sp>
    <dsp:sp modelId="{771D8328-DECA-4C53-9A7B-384F01211B71}">
      <dsp:nvSpPr>
        <dsp:cNvPr id="0" name=""/>
        <dsp:cNvSpPr/>
      </dsp:nvSpPr>
      <dsp:spPr>
        <a:xfrm>
          <a:off x="148895" y="1207786"/>
          <a:ext cx="1723441" cy="10340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6. Descriptive Analytics</a:t>
          </a:r>
        </a:p>
      </dsp:txBody>
      <dsp:txXfrm>
        <a:off x="148895" y="1207786"/>
        <a:ext cx="1723441" cy="1034064"/>
      </dsp:txXfrm>
    </dsp:sp>
    <dsp:sp modelId="{7995BAAC-2AE2-43C5-B354-9036420E247B}">
      <dsp:nvSpPr>
        <dsp:cNvPr id="0" name=""/>
        <dsp:cNvSpPr/>
      </dsp:nvSpPr>
      <dsp:spPr>
        <a:xfrm>
          <a:off x="2044681" y="1207786"/>
          <a:ext cx="1723441" cy="10340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7. Diagnostic Analytics</a:t>
          </a:r>
        </a:p>
      </dsp:txBody>
      <dsp:txXfrm>
        <a:off x="2044681" y="1207786"/>
        <a:ext cx="1723441" cy="1034064"/>
      </dsp:txXfrm>
    </dsp:sp>
    <dsp:sp modelId="{37DBBAB6-9645-40D7-9ACC-1B0A6A22B2CA}">
      <dsp:nvSpPr>
        <dsp:cNvPr id="0" name=""/>
        <dsp:cNvSpPr/>
      </dsp:nvSpPr>
      <dsp:spPr>
        <a:xfrm>
          <a:off x="3940466" y="1207786"/>
          <a:ext cx="1723441" cy="10340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8. Predictive Analytics</a:t>
          </a:r>
        </a:p>
      </dsp:txBody>
      <dsp:txXfrm>
        <a:off x="3940466" y="1207786"/>
        <a:ext cx="1723441" cy="1034064"/>
      </dsp:txXfrm>
    </dsp:sp>
    <dsp:sp modelId="{A2A08016-593C-4CCE-AAB9-8A8420B17069}">
      <dsp:nvSpPr>
        <dsp:cNvPr id="0" name=""/>
        <dsp:cNvSpPr/>
      </dsp:nvSpPr>
      <dsp:spPr>
        <a:xfrm>
          <a:off x="5836252" y="1207786"/>
          <a:ext cx="1723441" cy="10340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9. Prescriptive Analytics</a:t>
          </a:r>
        </a:p>
      </dsp:txBody>
      <dsp:txXfrm>
        <a:off x="5836252" y="1207786"/>
        <a:ext cx="1723441" cy="1034064"/>
      </dsp:txXfrm>
    </dsp:sp>
    <dsp:sp modelId="{98C8843C-0F12-48AA-9B01-3B6F8D3785E4}">
      <dsp:nvSpPr>
        <dsp:cNvPr id="0" name=""/>
        <dsp:cNvSpPr/>
      </dsp:nvSpPr>
      <dsp:spPr>
        <a:xfrm>
          <a:off x="7732037" y="1207786"/>
          <a:ext cx="1723441" cy="10340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10. Share the Story</a:t>
          </a:r>
        </a:p>
      </dsp:txBody>
      <dsp:txXfrm>
        <a:off x="7732037" y="1207786"/>
        <a:ext cx="1723441" cy="1034064"/>
      </dsp:txXfrm>
    </dsp:sp>
    <dsp:sp modelId="{0751E9AB-949D-4E15-BE69-7EFD87DB3039}">
      <dsp:nvSpPr>
        <dsp:cNvPr id="0" name=""/>
        <dsp:cNvSpPr/>
      </dsp:nvSpPr>
      <dsp:spPr>
        <a:xfrm>
          <a:off x="3940466" y="2414195"/>
          <a:ext cx="1723441" cy="10340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11. Putting it All Together</a:t>
          </a:r>
        </a:p>
      </dsp:txBody>
      <dsp:txXfrm>
        <a:off x="3940466" y="2414195"/>
        <a:ext cx="1723441" cy="10340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A4D0B9-D8E6-43C1-9F2B-39A9662F8065}" type="datetimeFigureOut">
              <a:rPr lang="en-US" smtClean="0"/>
              <a:t>11/2/25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85D7DC-5810-49F7-8FDA-9C39183BCEB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692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325416"/>
            <a:ext cx="9141619" cy="770584"/>
          </a:xfrm>
          <a:prstGeom prst="rect">
            <a:avLst/>
          </a:prstGeom>
          <a:gradFill flip="none" rotWithShape="1">
            <a:gsLst>
              <a:gs pos="37000">
                <a:srgbClr val="4472C4"/>
              </a:gs>
              <a:gs pos="100000">
                <a:srgbClr val="8DA9DB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 userDrawn="1"/>
        </p:nvSpPr>
        <p:spPr>
          <a:xfrm>
            <a:off x="9270263" y="761999"/>
            <a:ext cx="2925318" cy="5334001"/>
          </a:xfrm>
          <a:prstGeom prst="rect">
            <a:avLst/>
          </a:prstGeom>
          <a:gradFill>
            <a:gsLst>
              <a:gs pos="74000">
                <a:srgbClr val="E56F23"/>
              </a:gs>
              <a:gs pos="0">
                <a:schemeClr val="accent2"/>
              </a:gs>
              <a:gs pos="100000">
                <a:srgbClr val="D63C3C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8D1887-E8F4-47FC-B04B-6E5C53EB8DD8}" type="datetime1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11/2/25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55C569-B112-4D8C-B1B2-EEE93146C0F6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2890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FF48A7-1E18-42B0-81B1-935189A461FB}" type="datetime1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11/2/25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55C569-B112-4D8C-B1B2-EEE93146C0F6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1790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A01547-9596-4470-B153-B4E5BF57E5A6}" type="datetime1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11/2/25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55C569-B112-4D8C-B1B2-EEE93146C0F6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2435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2133600"/>
            <a:ext cx="3474720" cy="385572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2133600"/>
            <a:ext cx="3474720" cy="385572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D316DC-B7EB-442D-AE94-9BEAB0191CBE}" type="datetime1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11/2/25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55C569-B112-4D8C-B1B2-EEE93146C0F6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862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987089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2894439"/>
            <a:ext cx="3474720" cy="309030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987089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2894439"/>
            <a:ext cx="3474720" cy="309030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DEDA9-ED82-45CC-84D8-708C70A45D95}" type="datetime1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11/2/25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55C569-B112-4D8C-B1B2-EEE93146C0F6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5929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1CA732-DFB0-4F68-BDE5-DD4EAA649684}" type="datetime1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11/2/25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55C569-B112-4D8C-B1B2-EEE93146C0F6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1411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E061B2-B0C2-4EA5-8BBB-262034F66559}" type="datetime1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11/2/25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55C569-B112-4D8C-B1B2-EEE93146C0F6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0785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AA0D4-B900-45DD-894B-202F8ADFF504}" type="datetime1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11/2/25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55C569-B112-4D8C-B1B2-EEE93146C0F6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7163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5EFE9A-987F-4B06-A2B5-D9675E296690}" type="datetime1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11/2/25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55C569-B112-4D8C-B1B2-EEE93146C0F6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1467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38227F-2A0E-43A7-80AE-21B2D0759AE1}" type="datetime1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11/2/25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55C569-B112-4D8C-B1B2-EEE93146C0F6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2225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EB1440-70B8-42FD-BCEF-A4EB1C249973}" type="datetime1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11/2/25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55C569-B112-4D8C-B1B2-EEE93146C0F6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61347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ogress Chec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1FD22-55D1-4918-A946-C7D633C2CB6E}" type="datetime1">
              <a:rPr lang="en-US" smtClean="0"/>
              <a:t>11/2/25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2021 McGraw Hill. All rights reserved. Authorized only for instructor use in the classroom. No reproduction or further distribution permitted without the prior written consent of McGraw Hill.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5C569-B112-4D8C-B1B2-EEE93146C0F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50721F6-59B0-4AC7-B147-659A1EB24D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9268" y="873253"/>
            <a:ext cx="7315200" cy="108807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Progress Check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393D304-FF15-474A-885D-398C8DAC8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2093842"/>
            <a:ext cx="7315200" cy="3890905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502920" indent="0">
              <a:buNone/>
              <a:defRPr sz="3600"/>
            </a:lvl2pPr>
            <a:lvl3pPr marL="960120" indent="0">
              <a:buNone/>
              <a:defRPr sz="3600"/>
            </a:lvl3pPr>
            <a:lvl4pPr marL="1417320" indent="0">
              <a:buNone/>
              <a:defRPr sz="3600"/>
            </a:lvl4pPr>
            <a:lvl5pPr marL="1874520" indent="0">
              <a:buNone/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564556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ogress Check_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9578D-462F-4C61-B4C5-D97025AE8637}" type="datetime1">
              <a:rPr lang="en-US" smtClean="0"/>
              <a:t>11/2/25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2021 McGraw Hill. All rights reserved. Authorized only for instructor use in the classroom. No reproduction or further distribution permitted without the prior written consent of McGraw Hill.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5C569-B112-4D8C-B1B2-EEE93146C0F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D0C05DD-EBDD-493C-852D-9C8145ABB6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9268" y="873253"/>
            <a:ext cx="7315200" cy="108807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Progress Check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32EE0AC-6DF6-4F86-AC83-FDAEFF22C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2093842"/>
            <a:ext cx="7315200" cy="3890905"/>
          </a:xfr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502920" indent="0">
              <a:buNone/>
              <a:defRPr sz="3600"/>
            </a:lvl2pPr>
            <a:lvl3pPr marL="960120" indent="0">
              <a:buNone/>
              <a:defRPr sz="3600"/>
            </a:lvl3pPr>
            <a:lvl4pPr marL="1417320" indent="0">
              <a:buNone/>
              <a:defRPr sz="3600"/>
            </a:lvl4pPr>
            <a:lvl5pPr marL="1874520" indent="0">
              <a:buNone/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7392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81600"/>
            <a:ext cx="9141619" cy="914400"/>
          </a:xfrm>
          <a:prstGeom prst="rect">
            <a:avLst/>
          </a:prstGeom>
          <a:gradFill>
            <a:gsLst>
              <a:gs pos="74000">
                <a:srgbClr val="E56F23"/>
              </a:gs>
              <a:gs pos="0">
                <a:schemeClr val="accent2"/>
              </a:gs>
              <a:gs pos="100000">
                <a:srgbClr val="D63C3C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D63C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7BBDC-25F5-4538-88CA-D654E2477F84}" type="datetime1">
              <a:rPr lang="en-US" smtClean="0"/>
              <a:t>11/2/25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5C569-B112-4D8C-B1B2-EEE93146C0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947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E198F-94AF-45AB-AB51-A3FDC687FFA6}" type="datetime1">
              <a:rPr lang="en-US" smtClean="0"/>
              <a:t>11/2/25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5C569-B112-4D8C-B1B2-EEE93146C0F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D0C05DD-EBDD-493C-852D-9C8145ABB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9268" y="873253"/>
            <a:ext cx="7315200" cy="10880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32EE0AC-6DF6-4F86-AC83-FDAEFF22C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2093842"/>
            <a:ext cx="7315200" cy="38909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1985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gress Check_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1A91B-89D1-4439-B203-39C7360BA7E9}" type="datetime1">
              <a:rPr lang="en-US" smtClean="0"/>
              <a:t>11/2/25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5C569-B112-4D8C-B1B2-EEE93146C0F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D0C05DD-EBDD-493C-852D-9C8145ABB6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9268" y="873253"/>
            <a:ext cx="7315200" cy="108807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Progress Check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32EE0AC-6DF6-4F86-AC83-FDAEFF22C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2093842"/>
            <a:ext cx="7315200" cy="3890905"/>
          </a:xfr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502920" indent="0">
              <a:buNone/>
              <a:defRPr sz="3600"/>
            </a:lvl2pPr>
            <a:lvl3pPr marL="960120" indent="0">
              <a:buNone/>
              <a:defRPr sz="3600"/>
            </a:lvl3pPr>
            <a:lvl4pPr marL="1417320" indent="0">
              <a:buNone/>
              <a:defRPr sz="3600"/>
            </a:lvl4pPr>
            <a:lvl5pPr marL="1874520" indent="0">
              <a:buNone/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533714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A3E15-EFAC-4902-A036-E6863AE23BAD}" type="datetime1">
              <a:rPr lang="en-US" smtClean="0"/>
              <a:t>11/2/25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5C569-B112-4D8C-B1B2-EEE93146C0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2077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B0D3F-DCC4-402D-A55E-3B44FC5A9B5A}" type="datetime1">
              <a:rPr lang="en-US" smtClean="0"/>
              <a:t>11/2/25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5C569-B112-4D8C-B1B2-EEE93146C0F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4738A73-DB0F-4854-A1BF-A5FF24C33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9268" y="873253"/>
            <a:ext cx="7315200" cy="10880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2B35A0E-BBEA-4CF1-9C76-7FBD1FF387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67912" y="2133600"/>
            <a:ext cx="3474720" cy="385572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A6A63E7C-8A4B-4748-B506-E6A9FD12BC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18120" y="2133600"/>
            <a:ext cx="3474720" cy="385572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1820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34357-377D-4670-B116-D57F1C796734}" type="datetime1">
              <a:rPr lang="en-US" smtClean="0"/>
              <a:t>11/2/25</a:t>
            </a:fld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5C569-B112-4D8C-B1B2-EEE93146C0F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itle 9">
            <a:extLst>
              <a:ext uri="{FF2B5EF4-FFF2-40B4-BE49-F238E27FC236}">
                <a16:creationId xmlns:a16="http://schemas.microsoft.com/office/drawing/2014/main" id="{74223708-6CB7-4D95-9C90-0976A404A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9268" y="873253"/>
            <a:ext cx="7315200" cy="10880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01188B5-1869-4691-983D-4749A5FB0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67912" y="1987089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260CA470-D4FE-4DEC-B17A-C3086E2AA1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67912" y="2894439"/>
            <a:ext cx="3474720" cy="309030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26A0D270-F8C6-4FBD-8BB5-F00C98B646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818463" y="1987089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3C76B784-941C-4E8A-BAA6-0B597843D4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818463" y="2894439"/>
            <a:ext cx="3474720" cy="309030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2187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2DE12-4E7D-4B54-AE29-85B7640E926F}" type="datetime1">
              <a:rPr lang="en-US" smtClean="0"/>
              <a:t>11/2/25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5C569-B112-4D8C-B1B2-EEE93146C0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4115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480D1-B878-49ED-898C-FEB062C77356}" type="datetime1">
              <a:rPr lang="en-US" smtClean="0"/>
              <a:t>11/2/25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5C569-B112-4D8C-B1B2-EEE93146C0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4123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82099-ADEA-4037-A4FC-EE7D94B1ACF3}" type="datetime1">
              <a:rPr lang="en-US" smtClean="0"/>
              <a:t>11/2/25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5C569-B112-4D8C-B1B2-EEE93146C0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626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3D358-1000-43EA-BFA7-6CCE105546BD}" type="datetime1">
              <a:rPr lang="en-US" smtClean="0"/>
              <a:t>11/2/25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5C569-B112-4D8C-B1B2-EEE93146C0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1516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7A69-F575-413C-AA3B-9D85067EA1C7}" type="datetime1">
              <a:rPr lang="en-US" smtClean="0"/>
              <a:t>11/2/25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5C569-B112-4D8C-B1B2-EEE93146C0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5129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  <a:prstGeom prst="rect">
            <a:avLst/>
          </a:prstGeo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58CBC-B0F5-4BA1-9210-AE5AE1F83785}" type="datetime1">
              <a:rPr lang="en-US" smtClean="0"/>
              <a:t>11/2/25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5C569-B112-4D8C-B1B2-EEE93146C0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5168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325416"/>
            <a:ext cx="9141619" cy="770584"/>
          </a:xfrm>
          <a:prstGeom prst="rect">
            <a:avLst/>
          </a:prstGeom>
          <a:gradFill flip="none" rotWithShape="1">
            <a:gsLst>
              <a:gs pos="37000">
                <a:srgbClr val="4472C4"/>
              </a:gs>
              <a:gs pos="100000">
                <a:srgbClr val="8DA9DB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8DA9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45297-06A4-431F-829F-DA0C9B8FAE9D}" type="datetime1">
              <a:rPr lang="en-US" smtClean="0"/>
              <a:t>11/2/25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5C569-B112-4D8C-B1B2-EEE93146C0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8033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0F159-DC59-4075-A028-094202817B90}" type="datetime1">
              <a:rPr lang="en-US" smtClean="0"/>
              <a:t>11/2/25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5C569-B112-4D8C-B1B2-EEE93146C0F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50721F6-59B0-4AC7-B147-659A1EB24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9268" y="873253"/>
            <a:ext cx="7315200" cy="10880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393D304-FF15-474A-885D-398C8DAC8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2093842"/>
            <a:ext cx="7315200" cy="38909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5451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gress Chec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DCDEB-F099-4EF5-BCB2-75C4DD996E1C}" type="datetime1">
              <a:rPr lang="en-US" smtClean="0"/>
              <a:t>11/2/25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5C569-B112-4D8C-B1B2-EEE93146C0F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50721F6-59B0-4AC7-B147-659A1EB24D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9268" y="873253"/>
            <a:ext cx="7315200" cy="108807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Progress Check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393D304-FF15-474A-885D-398C8DAC8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2093842"/>
            <a:ext cx="7315200" cy="3890905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502920" indent="0">
              <a:buNone/>
              <a:defRPr sz="3600"/>
            </a:lvl2pPr>
            <a:lvl3pPr marL="960120" indent="0">
              <a:buNone/>
              <a:defRPr sz="3600"/>
            </a:lvl3pPr>
            <a:lvl4pPr marL="1417320" indent="0">
              <a:buNone/>
              <a:defRPr sz="3600"/>
            </a:lvl4pPr>
            <a:lvl5pPr marL="1874520" indent="0">
              <a:buNone/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248257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40819-0156-4BB1-B407-F8763285BC46}" type="datetime1">
              <a:rPr lang="en-US" smtClean="0"/>
              <a:t>11/2/25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5C569-B112-4D8C-B1B2-EEE93146C0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025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50FC3-F4E2-48D7-9423-18D7D14E9ECD}" type="datetime1">
              <a:rPr lang="en-US" smtClean="0"/>
              <a:t>11/2/25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5C569-B112-4D8C-B1B2-EEE93146C0F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ACB3436-5E2C-44B3-8765-E38BB56DE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9268" y="873253"/>
            <a:ext cx="7315200" cy="108807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BBC33F8-8724-41FD-8F01-FFE1064ADF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67912" y="2133600"/>
            <a:ext cx="3474720" cy="385572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CD1CF9BA-33C3-4B73-9762-3DC031AEA7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18120" y="2133600"/>
            <a:ext cx="3474720" cy="385572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6253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96F9C-9E06-4527-A05E-4178412245D6}" type="datetime1">
              <a:rPr lang="en-US" smtClean="0"/>
              <a:t>11/2/25</a:t>
            </a:fld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5C569-B112-4D8C-B1B2-EEE93146C0F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itle 9">
            <a:extLst>
              <a:ext uri="{FF2B5EF4-FFF2-40B4-BE49-F238E27FC236}">
                <a16:creationId xmlns:a16="http://schemas.microsoft.com/office/drawing/2014/main" id="{91C9B5D2-0F0B-436B-BBBA-C0C53F70B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9268" y="873253"/>
            <a:ext cx="7315200" cy="10880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0E2A076-0BC2-4B86-A3C5-22A23A8B9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67912" y="1987089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9C7C11F7-EEF3-4CE0-BF76-45EF5AF0D5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67912" y="2894439"/>
            <a:ext cx="3474720" cy="309030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FD6E1DD4-B965-435A-8D8E-CF49855A5F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818463" y="1987089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F2DC4AE7-92B6-426D-9BB9-0DAA4CD6CF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818463" y="2894439"/>
            <a:ext cx="3474720" cy="309030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55038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19033-02E3-4927-8801-4B00DA2B7CDC}" type="datetime1">
              <a:rPr lang="en-US" smtClean="0"/>
              <a:t>11/2/25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5C569-B112-4D8C-B1B2-EEE93146C0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0574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E805E-0CED-4170-B752-5A52DA3F903A}" type="datetime1">
              <a:rPr lang="en-US" smtClean="0"/>
              <a:t>11/2/25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5C569-B112-4D8C-B1B2-EEE93146C0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60032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9D24-90C6-4124-8961-12D456A98066}" type="datetime1">
              <a:rPr lang="en-US" smtClean="0"/>
              <a:t>11/2/25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5C569-B112-4D8C-B1B2-EEE93146C0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9136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2099D-3425-4576-A073-A34FA620084C}" type="datetime1">
              <a:rPr lang="en-US" smtClean="0"/>
              <a:t>11/2/25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5C569-B112-4D8C-B1B2-EEE93146C0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6997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ECC36-9CF5-4627-9975-7B1B5EE297F4}" type="datetime1">
              <a:rPr lang="en-US" smtClean="0"/>
              <a:t>11/2/25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5C569-B112-4D8C-B1B2-EEE93146C0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87843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  <a:prstGeom prst="rect">
            <a:avLst/>
          </a:prstGeo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0CC0B-837B-4B51-AAC7-6E7A8E7D55EA}" type="datetime1">
              <a:rPr lang="en-US" smtClean="0"/>
              <a:t>11/2/25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5C569-B112-4D8C-B1B2-EEE93146C0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150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8D1887-E8F4-47FC-B04B-6E5C53EB8DD8}" type="datetime1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11/2/25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317604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676033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A01547-9596-4470-B153-B4E5BF57E5A6}" type="datetime1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11/2/25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366557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D316DC-B7EB-442D-AE94-9BEAB0191CBE}" type="datetime1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11/2/25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000419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7226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1CA732-DFB0-4F68-BDE5-DD4EAA649684}" type="datetime1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11/2/25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278130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686544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AA0D4-B900-45DD-894B-202F8ADFF504}" type="datetime1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11/2/25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315597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5EFE9A-987F-4B06-A2B5-D9675E296690}" type="datetime1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11/2/25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101096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38227F-2A0E-43A7-80AE-21B2D0759AE1}" type="datetime1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11/2/25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284734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EB1440-70B8-42FD-BCEF-A4EB1C249973}" type="datetime1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11/2/25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23889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ogress Check_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9578D-462F-4C61-B4C5-D97025AE8637}" type="datetime1">
              <a:rPr lang="en-US" smtClean="0"/>
              <a:t>11/2/25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2021 McGraw Hill. All rights reserved. Authorized only for instructor use in the classroom. No reproduction or further distribution permitted without the prior written consent of McGraw Hill.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D0C05DD-EBDD-493C-852D-9C8145ABB6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9268" y="873253"/>
            <a:ext cx="7315200" cy="108807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Progress Check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32EE0AC-6DF6-4F86-AC83-FDAEFF22C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2093842"/>
            <a:ext cx="7315200" cy="3890905"/>
          </a:xfr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502920" indent="0">
              <a:buNone/>
              <a:defRPr sz="3600"/>
            </a:lvl2pPr>
            <a:lvl3pPr marL="960120" indent="0">
              <a:buNone/>
              <a:defRPr sz="3600"/>
            </a:lvl3pPr>
            <a:lvl4pPr marL="1417320" indent="0">
              <a:buNone/>
              <a:defRPr sz="3600"/>
            </a:lvl4pPr>
            <a:lvl5pPr marL="1874520" indent="0">
              <a:buNone/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118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gradFill flip="none" rotWithShape="1">
            <a:gsLst>
              <a:gs pos="37000">
                <a:srgbClr val="4472C4"/>
              </a:gs>
              <a:gs pos="100000">
                <a:srgbClr val="8DA9DB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69268" y="873253"/>
            <a:ext cx="7315200" cy="10880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gradFill>
            <a:gsLst>
              <a:gs pos="74000">
                <a:srgbClr val="ED7D31"/>
              </a:gs>
              <a:gs pos="0">
                <a:schemeClr val="accent2"/>
              </a:gs>
              <a:gs pos="100000">
                <a:srgbClr val="D63C3C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2093842"/>
            <a:ext cx="7315200" cy="38909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FE795-1BDC-4EC0-B258-B8DF3EFFAFEB}" type="datetime1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11/2/25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55C569-B112-4D8C-B1B2-EEE93146C0F6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04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808" r:id="rId12"/>
    <p:sldLayoutId id="2147483809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spc="-60" baseline="0">
          <a:solidFill>
            <a:schemeClr val="accent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Montserrat" panose="00000500000000000000" pitchFamily="2" charset="0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Montserrat" panose="00000500000000000000" pitchFamily="2" charset="0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Montserrat" panose="00000500000000000000" pitchFamily="2" charset="0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Montserrat" panose="00000500000000000000" pitchFamily="2" charset="0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Montserrat" panose="000005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gradFill>
            <a:gsLst>
              <a:gs pos="74000">
                <a:srgbClr val="E56F23"/>
              </a:gs>
              <a:gs pos="0">
                <a:schemeClr val="accent2"/>
              </a:gs>
              <a:gs pos="100000">
                <a:srgbClr val="D63C3C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D63C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819CB4C-5962-4993-886D-629B1E735D68}" type="datetime1">
              <a:rPr lang="en-US" smtClean="0"/>
              <a:t>11/2/25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E555C569-B112-4D8C-B1B2-EEE93146C0F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66B4334B-42C4-48D8-8DB3-6228384DB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9268" y="873253"/>
            <a:ext cx="7315200" cy="10880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6F897A9-198E-4C0C-8F1D-B768023F2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69268" y="2093842"/>
            <a:ext cx="7315200" cy="38909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5364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spc="-60" baseline="0">
          <a:solidFill>
            <a:schemeClr val="accent2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None/>
        <a:defRPr sz="2000" kern="1200">
          <a:solidFill>
            <a:schemeClr val="tx1">
              <a:lumMod val="65000"/>
              <a:lumOff val="35000"/>
            </a:schemeClr>
          </a:solidFill>
          <a:latin typeface="Montserrat" panose="00000500000000000000" pitchFamily="2" charset="0"/>
          <a:ea typeface="+mn-ea"/>
          <a:cs typeface="+mn-cs"/>
        </a:defRPr>
      </a:lvl1pPr>
      <a:lvl2pPr marL="502920" indent="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None/>
        <a:defRPr sz="1800" kern="1200">
          <a:solidFill>
            <a:schemeClr val="tx1">
              <a:lumMod val="65000"/>
              <a:lumOff val="35000"/>
            </a:schemeClr>
          </a:solidFill>
          <a:latin typeface="Montserrat" panose="00000500000000000000" pitchFamily="2" charset="0"/>
          <a:ea typeface="+mn-ea"/>
          <a:cs typeface="+mn-cs"/>
        </a:defRPr>
      </a:lvl2pPr>
      <a:lvl3pPr marL="960120" indent="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None/>
        <a:defRPr sz="1600" kern="1200">
          <a:solidFill>
            <a:schemeClr val="tx1">
              <a:lumMod val="65000"/>
              <a:lumOff val="35000"/>
            </a:schemeClr>
          </a:solidFill>
          <a:latin typeface="Montserrat" panose="00000500000000000000" pitchFamily="2" charset="0"/>
          <a:ea typeface="+mn-ea"/>
          <a:cs typeface="+mn-cs"/>
        </a:defRPr>
      </a:lvl3pPr>
      <a:lvl4pPr marL="1417320" indent="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None/>
        <a:defRPr sz="1400" kern="1200">
          <a:solidFill>
            <a:schemeClr val="tx1">
              <a:lumMod val="65000"/>
              <a:lumOff val="35000"/>
            </a:schemeClr>
          </a:solidFill>
          <a:latin typeface="Montserrat" panose="00000500000000000000" pitchFamily="2" charset="0"/>
          <a:ea typeface="+mn-ea"/>
          <a:cs typeface="+mn-cs"/>
        </a:defRPr>
      </a:lvl4pPr>
      <a:lvl5pPr marL="1874520" indent="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None/>
        <a:defRPr sz="1400" kern="1200">
          <a:solidFill>
            <a:schemeClr val="tx1">
              <a:lumMod val="65000"/>
              <a:lumOff val="35000"/>
            </a:schemeClr>
          </a:solidFill>
          <a:latin typeface="Montserrat" panose="000005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gradFill flip="none" rotWithShape="1">
            <a:gsLst>
              <a:gs pos="37000">
                <a:srgbClr val="4472C4"/>
              </a:gs>
              <a:gs pos="100000">
                <a:srgbClr val="8DA9DB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8DA9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F07CE469-3839-4262-843A-7B6B9953C1F8}" type="datetime1">
              <a:rPr lang="en-US" smtClean="0"/>
              <a:t>11/2/25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E555C569-B112-4D8C-B1B2-EEE93146C0F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706863C5-0C24-486F-8BEB-B77FAF8B8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9268" y="873253"/>
            <a:ext cx="7315200" cy="10880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276F225-FC53-47B6-8DDA-98C28C881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69268" y="2093842"/>
            <a:ext cx="7315200" cy="38909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004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801" r:id="rId6"/>
    <p:sldLayoutId id="2147483802" r:id="rId7"/>
    <p:sldLayoutId id="2147483803" r:id="rId8"/>
    <p:sldLayoutId id="2147483804" r:id="rId9"/>
    <p:sldLayoutId id="2147483805" r:id="rId10"/>
    <p:sldLayoutId id="2147483806" r:id="rId11"/>
    <p:sldLayoutId id="2147483807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spc="-60" baseline="0">
          <a:solidFill>
            <a:schemeClr val="accent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None/>
        <a:defRPr sz="2000" kern="1200">
          <a:solidFill>
            <a:schemeClr val="tx1">
              <a:lumMod val="65000"/>
              <a:lumOff val="35000"/>
            </a:schemeClr>
          </a:solidFill>
          <a:latin typeface="Montserrat" panose="00000500000000000000" pitchFamily="2" charset="0"/>
          <a:ea typeface="+mn-ea"/>
          <a:cs typeface="+mn-cs"/>
        </a:defRPr>
      </a:lvl1pPr>
      <a:lvl2pPr marL="502920" indent="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None/>
        <a:defRPr sz="1800" kern="1200">
          <a:solidFill>
            <a:schemeClr val="tx1">
              <a:lumMod val="65000"/>
              <a:lumOff val="35000"/>
            </a:schemeClr>
          </a:solidFill>
          <a:latin typeface="Montserrat" panose="00000500000000000000" pitchFamily="2" charset="0"/>
          <a:ea typeface="+mn-ea"/>
          <a:cs typeface="+mn-cs"/>
        </a:defRPr>
      </a:lvl2pPr>
      <a:lvl3pPr marL="960120" indent="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None/>
        <a:defRPr sz="1600" kern="1200">
          <a:solidFill>
            <a:schemeClr val="tx1">
              <a:lumMod val="65000"/>
              <a:lumOff val="35000"/>
            </a:schemeClr>
          </a:solidFill>
          <a:latin typeface="Montserrat" panose="00000500000000000000" pitchFamily="2" charset="0"/>
          <a:ea typeface="+mn-ea"/>
          <a:cs typeface="+mn-cs"/>
        </a:defRPr>
      </a:lvl3pPr>
      <a:lvl4pPr marL="1417320" indent="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None/>
        <a:defRPr sz="1400" kern="1200">
          <a:solidFill>
            <a:schemeClr val="tx1">
              <a:lumMod val="65000"/>
              <a:lumOff val="35000"/>
            </a:schemeClr>
          </a:solidFill>
          <a:latin typeface="Montserrat" panose="00000500000000000000" pitchFamily="2" charset="0"/>
          <a:ea typeface="+mn-ea"/>
          <a:cs typeface="+mn-cs"/>
        </a:defRPr>
      </a:lvl4pPr>
      <a:lvl5pPr marL="1874520" indent="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None/>
        <a:defRPr sz="1400" kern="1200">
          <a:solidFill>
            <a:schemeClr val="tx1">
              <a:lumMod val="65000"/>
              <a:lumOff val="35000"/>
            </a:schemeClr>
          </a:solidFill>
          <a:latin typeface="Montserrat" panose="000005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FE795-1BDC-4EC0-B258-B8DF3EFFAFEB}" type="datetime1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11/2/25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9142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  <p:sldLayoutId id="2147483836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9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3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9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9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9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9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9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9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9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9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39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9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9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9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9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AD2D2-695F-C609-6D3A-6C5ECE294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CCAB9-D4C2-31F3-388E-719D4708D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Types of analysis. </a:t>
            </a:r>
          </a:p>
          <a:p>
            <a:pPr lvl="1"/>
            <a:r>
              <a:rPr lang="en-US" dirty="0"/>
              <a:t>Tableau quiz questions and example solution. </a:t>
            </a:r>
          </a:p>
          <a:p>
            <a:pPr lvl="2"/>
            <a:r>
              <a:rPr lang="en-US" dirty="0"/>
              <a:t>Anything specific you want to see or go over, let me know. </a:t>
            </a:r>
          </a:p>
          <a:p>
            <a:pPr lvl="2"/>
            <a:r>
              <a:rPr lang="en-US" dirty="0"/>
              <a:t>Anything that was unfair in your opinion, let me know. </a:t>
            </a:r>
          </a:p>
          <a:p>
            <a:pPr lvl="1"/>
            <a:r>
              <a:rPr lang="en-US" dirty="0"/>
              <a:t>The 5</a:t>
            </a:r>
            <a:r>
              <a:rPr lang="en-US" baseline="30000" dirty="0"/>
              <a:t>th</a:t>
            </a:r>
            <a:r>
              <a:rPr lang="en-US" dirty="0"/>
              <a:t> chapter. (Richardson ch05). </a:t>
            </a:r>
          </a:p>
          <a:p>
            <a:r>
              <a:rPr lang="en-US" dirty="0"/>
              <a:t>Next time:</a:t>
            </a:r>
          </a:p>
          <a:p>
            <a:pPr lvl="1"/>
            <a:r>
              <a:rPr lang="en-US" dirty="0"/>
              <a:t>Stories (this is pretty important, and you’ll definitely need it.)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BF0A1C-8EE4-3136-4FD3-68D79A43475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55C569-B112-4D8C-B1B2-EEE93146C0F6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3863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C0C49-4FB8-456E-4717-A703733A1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39AB7-4B52-4081-9A90-AF4E82D37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analytics types and examples.</a:t>
            </a:r>
          </a:p>
          <a:p>
            <a:pPr lvl="1"/>
            <a:r>
              <a:rPr lang="en-US" dirty="0"/>
              <a:t>Contextualize how analytics fits </a:t>
            </a:r>
            <a:r>
              <a:rPr lang="en-US"/>
              <a:t>in enterprise. </a:t>
            </a:r>
            <a:endParaRPr lang="en-US" dirty="0"/>
          </a:p>
          <a:p>
            <a:r>
              <a:rPr lang="en-US" dirty="0"/>
              <a:t>Some examples we can do in Tableau:</a:t>
            </a:r>
          </a:p>
          <a:p>
            <a:pPr lvl="1"/>
            <a:r>
              <a:rPr lang="en-US" dirty="0"/>
              <a:t>Market basket. </a:t>
            </a:r>
          </a:p>
          <a:p>
            <a:pPr lvl="1"/>
            <a:r>
              <a:rPr lang="en-US" dirty="0"/>
              <a:t>Forecasting. </a:t>
            </a:r>
          </a:p>
          <a:p>
            <a:pPr lvl="1"/>
            <a:r>
              <a:rPr lang="en-US" dirty="0"/>
              <a:t>Predictive modelling.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378D6-4042-3928-C50B-C5CFF8867C8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55C569-B112-4D8C-B1B2-EEE93146C0F6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8954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9A554-2041-9F07-DD7A-CF9A3B478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AF98C-9005-567A-2BC2-A034C3265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805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Types of Analytics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30EE6BF-D093-9200-C7C1-A135DB2706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849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268"/>
    </mc:Choice>
    <mc:Fallback xmlns="">
      <p:transition spd="slow" advTm="12268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we are now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26746"/>
              </p:ext>
            </p:extLst>
          </p:nvPr>
        </p:nvGraphicFramePr>
        <p:xfrm>
          <a:off x="1450975" y="2016125"/>
          <a:ext cx="9604375" cy="3449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81C261-B6F0-4BAA-8066-325C9529D29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fld id="{E555C569-B112-4D8C-B1B2-EEE93146C0F6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6134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082"/>
    </mc:Choice>
    <mc:Fallback>
      <p:transition spd="slow" advTm="22082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F56612-0D5E-4DB7-807B-A984A7DA6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E6D2CD-31E1-4927-A501-6422F4AE60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t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5-1 </a:t>
            </a:r>
            <a:br>
              <a:rPr lang="en-US" sz="2800" b="1" dirty="0">
                <a:solidFill>
                  <a:schemeClr val="accent2"/>
                </a:solidFill>
              </a:rPr>
            </a:br>
            <a:r>
              <a:rPr lang="en-US" sz="1600" dirty="0"/>
              <a:t>Explain where ‘Perform the analysis’ fits in the AMPS model. 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5-2 </a:t>
            </a:r>
            <a:br>
              <a:rPr lang="en-US" sz="2800" b="1" dirty="0">
                <a:solidFill>
                  <a:schemeClr val="accent2"/>
                </a:solidFill>
              </a:rPr>
            </a:br>
            <a:r>
              <a:rPr lang="en-US" sz="1600" dirty="0"/>
              <a:t>Describe the four types of accounting data analytics. 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5-3 </a:t>
            </a:r>
            <a:br>
              <a:rPr lang="en-US" sz="2800" b="1" dirty="0">
                <a:solidFill>
                  <a:schemeClr val="accent2"/>
                </a:solidFill>
              </a:rPr>
            </a:br>
            <a:r>
              <a:rPr lang="en-US" sz="1600" dirty="0"/>
              <a:t>Define descriptive analytics. 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5-4 </a:t>
            </a:r>
            <a:br>
              <a:rPr lang="en-US" sz="2800" b="1" dirty="0">
                <a:solidFill>
                  <a:schemeClr val="accent2"/>
                </a:solidFill>
              </a:rPr>
            </a:br>
            <a:r>
              <a:rPr lang="en-US" sz="1600" dirty="0"/>
              <a:t>Explain diagnostic analytics and the types of questions it answers.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EDDD2-EE33-478B-BAE1-F927ACAB2D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48337" y="2129028"/>
            <a:ext cx="4154906" cy="3855720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5-5 </a:t>
            </a:r>
            <a:br>
              <a:rPr lang="en-US" sz="2800" b="1" dirty="0">
                <a:solidFill>
                  <a:schemeClr val="accent2"/>
                </a:solidFill>
              </a:rPr>
            </a:br>
            <a:r>
              <a:rPr lang="en-US" sz="1600" dirty="0"/>
              <a:t>Describe the types of questions addressed using predictive analytics.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5-6 </a:t>
            </a:r>
            <a:br>
              <a:rPr lang="en-US" sz="2800" b="1" dirty="0">
                <a:solidFill>
                  <a:schemeClr val="accent2"/>
                </a:solidFill>
              </a:rPr>
            </a:br>
            <a:r>
              <a:rPr lang="en-US" sz="1600" dirty="0"/>
              <a:t>Describe the basics of prescriptive analytics.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5-7 </a:t>
            </a:r>
            <a:br>
              <a:rPr lang="en-US" sz="2800" b="1" dirty="0">
                <a:solidFill>
                  <a:schemeClr val="accent2"/>
                </a:solidFill>
              </a:rPr>
            </a:br>
            <a:r>
              <a:rPr lang="en-US" sz="1600" dirty="0"/>
              <a:t>Recall the basics of statistics and statistical testing.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5-8 </a:t>
            </a:r>
            <a:br>
              <a:rPr lang="en-US" sz="2800" b="1" dirty="0">
                <a:solidFill>
                  <a:schemeClr val="accent2"/>
                </a:solidFill>
              </a:rPr>
            </a:br>
            <a:r>
              <a:rPr lang="en-US" sz="1600" dirty="0"/>
              <a:t>Describe the various tools used in data analytics and how to access Excel’s Data Analysis Toolpak.</a:t>
            </a:r>
          </a:p>
        </p:txBody>
      </p:sp>
    </p:spTree>
    <p:extLst>
      <p:ext uri="{BB962C8B-B14F-4D97-AF65-F5344CB8AC3E}">
        <p14:creationId xmlns:p14="http://schemas.microsoft.com/office/powerpoint/2010/main" val="1509026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B141E4-5EF5-40F0-AD72-0097561A27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AMPS Model: Perform the Analysis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242F4733-4C5C-755B-C6CD-6F37FAEBFF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412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25"/>
    </mc:Choice>
    <mc:Fallback xmlns="">
      <p:transition spd="slow" advTm="5825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013DF8-C399-4ECD-8AC2-B82CD45E5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AMPS Model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9F58E09-5068-4528-8A2B-0D26059BB9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448" y="2010878"/>
            <a:ext cx="6750382" cy="4042233"/>
          </a:xfrm>
        </p:spPr>
        <p:txBody>
          <a:bodyPr/>
          <a:lstStyle/>
          <a:p>
            <a:r>
              <a:rPr lang="en-US" dirty="0"/>
              <a:t>The AMPS model is sometimes used to describe data analysis. </a:t>
            </a:r>
          </a:p>
          <a:p>
            <a:r>
              <a:rPr lang="en-US" dirty="0"/>
              <a:t>It outlines the main steps in performing analysis:</a:t>
            </a:r>
          </a:p>
          <a:p>
            <a:pPr lvl="1"/>
            <a:r>
              <a:rPr lang="en-US" dirty="0"/>
              <a:t>Ask the question – start with something we want to know. </a:t>
            </a:r>
          </a:p>
          <a:p>
            <a:pPr lvl="1"/>
            <a:r>
              <a:rPr lang="en-US" dirty="0"/>
              <a:t>Master the data – explore, clean, prepare the data. </a:t>
            </a:r>
          </a:p>
          <a:p>
            <a:pPr lvl="1"/>
            <a:r>
              <a:rPr lang="en-US" dirty="0"/>
              <a:t>Perform analysis – do “the thing”. </a:t>
            </a:r>
          </a:p>
          <a:p>
            <a:pPr lvl="1"/>
            <a:r>
              <a:rPr lang="en-US" dirty="0"/>
              <a:t>Share the story – communicate the result. </a:t>
            </a:r>
          </a:p>
          <a:p>
            <a:r>
              <a:rPr lang="en-US" dirty="0"/>
              <a:t>In our usage the ‘perform’ step is 99%+ ‘describe’. </a:t>
            </a:r>
          </a:p>
          <a:p>
            <a:pPr lvl="1"/>
            <a:r>
              <a:rPr lang="en-US" dirty="0"/>
              <a:t>There are many other things we can do to analyze data, some of those </a:t>
            </a:r>
            <a:r>
              <a:rPr lang="en-US"/>
              <a:t>are shown here now. </a:t>
            </a: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59F2E5B-6F5D-4AF7-8BE8-08ACC94B484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26829" y="2017713"/>
            <a:ext cx="3418366" cy="344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1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403"/>
    </mc:Choice>
    <mc:Fallback xmlns="">
      <p:transition spd="slow" advTm="14403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B141E4-5EF5-40F0-AD72-0097561A27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Matching the Analytics</a:t>
            </a:r>
            <a:br>
              <a:rPr lang="en-US" dirty="0"/>
            </a:br>
            <a:r>
              <a:rPr lang="en-US" dirty="0"/>
              <a:t>With the Question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406C38-61DF-4CC4-8E13-426D128480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LO 5-2</a:t>
            </a:r>
          </a:p>
        </p:txBody>
      </p:sp>
    </p:spTree>
    <p:extLst>
      <p:ext uri="{BB962C8B-B14F-4D97-AF65-F5344CB8AC3E}">
        <p14:creationId xmlns:p14="http://schemas.microsoft.com/office/powerpoint/2010/main" val="1051653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81"/>
    </mc:Choice>
    <mc:Fallback xmlns="">
      <p:transition spd="slow" advTm="788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Types of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sz="3600" dirty="0"/>
              <a:t>What happened?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sz="3600" dirty="0"/>
              <a:t>Why did it happen?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sz="3600" dirty="0"/>
              <a:t>Will it happen in the future?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sz="3600" dirty="0"/>
              <a:t>What should we do, based on what we expect will happen?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12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517"/>
    </mc:Choice>
    <mc:Fallback xmlns="">
      <p:transition spd="slow" advTm="22517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DC849-D488-E3A0-9673-64921BEE7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9D8F7-18D0-869D-95DF-27E6FC478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9A20D-634A-6557-8D36-728BA5E9BB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55C569-B112-4D8C-B1B2-EEE93146C0F6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026" name="Picture 2" descr="Move to better analytics with a data maturity modelJelvix">
            <a:extLst>
              <a:ext uri="{FF2B5EF4-FFF2-40B4-BE49-F238E27FC236}">
                <a16:creationId xmlns:a16="http://schemas.microsoft.com/office/drawing/2014/main" id="{A417ED0C-3639-73C5-B778-331022749F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53"/>
          <a:stretch/>
        </p:blipFill>
        <p:spPr bwMode="auto">
          <a:xfrm>
            <a:off x="0" y="0"/>
            <a:ext cx="12197054" cy="6790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0946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Descriptive Analytics Answers “What Happened?”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Did we make a profit last year?</a:t>
            </a:r>
          </a:p>
          <a:p>
            <a:r>
              <a:rPr lang="en-US" sz="2400" dirty="0"/>
              <a:t>Did return on assets improve or decline over the past year?</a:t>
            </a:r>
          </a:p>
          <a:p>
            <a:r>
              <a:rPr lang="en-US" sz="2400" dirty="0"/>
              <a:t>Did the airline company’s on-time departures improve this past month?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B0F426-717F-4E1A-8CF3-5D9D1250A6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81284" y="2133600"/>
            <a:ext cx="4103184" cy="3855720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How much did we pay in federal taxes last year? </a:t>
            </a:r>
          </a:p>
          <a:p>
            <a:r>
              <a:rPr lang="en-US" sz="2400" dirty="0"/>
              <a:t>How long have the existing accounts receivable been outstanding?</a:t>
            </a:r>
          </a:p>
          <a:p>
            <a:r>
              <a:rPr lang="en-US" sz="2400" dirty="0"/>
              <a:t>Which product is the most profitable one for the company?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669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739"/>
    </mc:Choice>
    <mc:Fallback xmlns="">
      <p:transition spd="slow" advTm="66739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Diagnostic Analytics Answers “Why Did it Happen?”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Why did advertising expense increase, but sales fall?</a:t>
            </a:r>
          </a:p>
          <a:p>
            <a:r>
              <a:rPr lang="en-US" dirty="0"/>
              <a:t>Why did sales, general and administrative expenses increase relative to the industry?</a:t>
            </a:r>
          </a:p>
          <a:p>
            <a:r>
              <a:rPr lang="en-US" dirty="0"/>
              <a:t>Why did overall tax increase even though net income did not?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7B49DA-AD61-4ADD-9270-47A07867035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Can our variance analytics help explain why the labor expenses increased over the past year?</a:t>
            </a:r>
          </a:p>
          <a:p>
            <a:r>
              <a:rPr lang="en-US" dirty="0"/>
              <a:t>Why were some checks greater than $10,000 signed by two members of management and others of similar size only signed by one?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779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488"/>
    </mc:Choice>
    <mc:Fallback xmlns="">
      <p:transition spd="slow" advTm="44488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Predictive Analytics Answers “Will it Happen in the Future?”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What is the chance the company will go bankrupt?</a:t>
            </a:r>
          </a:p>
          <a:p>
            <a:r>
              <a:rPr lang="en-US" dirty="0"/>
              <a:t>Do we extend credit or not to customers based on customer background (credit score, employment record, existing debt)? Will they be able to pay back their loans?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90B606-F056-45E3-A688-C2601F2785E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Can the IRS find those individuals or corporations evading taxes using predictive techniques?</a:t>
            </a:r>
          </a:p>
          <a:p>
            <a:r>
              <a:rPr lang="en-US" dirty="0"/>
              <a:t>Can we predict when the financial statements might be misstated?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593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240"/>
    </mc:Choice>
    <mc:Fallback xmlns="">
      <p:transition spd="slow" advTm="4024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Prescriptive Analytics Answers “What Should We Do Based On What We Expect Will Happen?“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62447" y="2328352"/>
            <a:ext cx="3955311" cy="3660967"/>
          </a:xfrm>
        </p:spPr>
        <p:txBody>
          <a:bodyPr>
            <a:normAutofit/>
          </a:bodyPr>
          <a:lstStyle/>
          <a:p>
            <a:r>
              <a:rPr lang="en-US" dirty="0"/>
              <a:t>If we have all 12/31 year-end audit clients, how will we organize our audit work in the new year?</a:t>
            </a:r>
          </a:p>
          <a:p>
            <a:r>
              <a:rPr lang="en-US" dirty="0"/>
              <a:t>How can revenues be maximized (or costs be minimized) if there is a trade war with China?</a:t>
            </a:r>
          </a:p>
          <a:p>
            <a:r>
              <a:rPr lang="en-US" dirty="0"/>
              <a:t>What is the level of sales that will allow us to breakeven?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8C8D72-0B2D-438A-B8FD-D0D8B4ADF4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18120" y="2328352"/>
            <a:ext cx="3474720" cy="3660968"/>
          </a:xfrm>
        </p:spPr>
        <p:txBody>
          <a:bodyPr>
            <a:normAutofit/>
          </a:bodyPr>
          <a:lstStyle/>
          <a:p>
            <a:r>
              <a:rPr lang="en-US" dirty="0"/>
              <a:t>Should the company lease or own their headquarters office building?</a:t>
            </a:r>
          </a:p>
          <a:p>
            <a:r>
              <a:rPr lang="en-US" dirty="0"/>
              <a:t>Should the company make its products or outsource to other producers?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623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576"/>
    </mc:Choice>
    <mc:Fallback xmlns="">
      <p:transition spd="slow" advTm="51576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Analytics and Their Related Questions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b="1" dirty="0"/>
              <a:t>Descriptive Analytics </a:t>
            </a:r>
            <a:r>
              <a:rPr lang="en-US" dirty="0"/>
              <a:t>What happened? What is happening? </a:t>
            </a: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lvl="0"/>
            <a:r>
              <a:rPr lang="en-US" b="1" dirty="0"/>
              <a:t>Diagnostic Analytics </a:t>
            </a:r>
            <a:r>
              <a:rPr lang="en-US" dirty="0"/>
              <a:t>Why did it happen? What are the reasons for past results? Can we explain why it happened?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94CC56-ADC8-491C-A28A-F6C2DC323A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6493" y="2133599"/>
            <a:ext cx="5085907" cy="3851147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b="1" dirty="0"/>
              <a:t>Predictive Analytics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Will it happen in the future? What is the probability something will happen? Is it forecastable? </a:t>
            </a:r>
            <a:endParaRPr lang="en-US" b="1" dirty="0"/>
          </a:p>
          <a:p>
            <a:pPr lvl="0"/>
            <a:r>
              <a:rPr lang="en-US" b="1" dirty="0"/>
              <a:t>Prescriptive Analytics </a:t>
            </a:r>
            <a:r>
              <a:rPr lang="en-US" dirty="0"/>
              <a:t>What should we do, based on what we expect will happen? How do we optimize our performance based on potential constraints?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641CD-FFA3-43BE-9DE0-C96EE15C8F2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fld id="{E555C569-B112-4D8C-B1B2-EEE93146C0F6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468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593"/>
    </mc:Choice>
    <mc:Fallback xmlns="">
      <p:transition spd="slow" advTm="47593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B141E4-5EF5-40F0-AD72-0097561A2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 Check 5-2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C7486E-619B-4A79-B7A8-DC28A89AC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Q: Why would diagnostic analytics be arguably harder to perform than descriptive analytics, figuring out what happened as opposed to why it happened? What makes them different from each other?</a:t>
            </a:r>
          </a:p>
        </p:txBody>
      </p:sp>
    </p:spTree>
    <p:extLst>
      <p:ext uri="{BB962C8B-B14F-4D97-AF65-F5344CB8AC3E}">
        <p14:creationId xmlns:p14="http://schemas.microsoft.com/office/powerpoint/2010/main" val="3450123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741"/>
    </mc:Choice>
    <mc:Fallback xmlns="">
      <p:transition spd="slow" advTm="3474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F8207-2BF9-E5D8-AC17-047DC5418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4357E-EDAD-87B7-492F-8C2F1FCFE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Descriptive analytics just requires conveying what happened. </a:t>
            </a:r>
          </a:p>
          <a:p>
            <a:r>
              <a:rPr lang="en-US" dirty="0"/>
              <a:t>Diagnostic requires finding causation. </a:t>
            </a:r>
          </a:p>
        </p:txBody>
      </p:sp>
    </p:spTree>
    <p:extLst>
      <p:ext uri="{BB962C8B-B14F-4D97-AF65-F5344CB8AC3E}">
        <p14:creationId xmlns:p14="http://schemas.microsoft.com/office/powerpoint/2010/main" val="767237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DC849-D488-E3A0-9673-64921BEE7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9D8F7-18D0-869D-95DF-27E6FC478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9A20D-634A-6557-8D36-728BA5E9BB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55C569-B112-4D8C-B1B2-EEE93146C0F6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026" name="Picture 2" descr="Move to better analytics with a data maturity modelJelvix">
            <a:extLst>
              <a:ext uri="{FF2B5EF4-FFF2-40B4-BE49-F238E27FC236}">
                <a16:creationId xmlns:a16="http://schemas.microsoft.com/office/drawing/2014/main" id="{A417ED0C-3639-73C5-B778-331022749F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53"/>
          <a:stretch/>
        </p:blipFill>
        <p:spPr bwMode="auto">
          <a:xfrm>
            <a:off x="0" y="0"/>
            <a:ext cx="12197054" cy="6790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1323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55FAA6-7C03-4FE2-840B-00F215037E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Descriptive Analytics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8F2A7E-0BBD-4DA9-BD6F-7CDEDCF2C1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LO 5-3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3BF150-40E7-4D28-ADA1-81ED9C3948C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437664" y="798973"/>
            <a:ext cx="811019" cy="503578"/>
          </a:xfrm>
          <a:prstGeom prst="rect">
            <a:avLst/>
          </a:prstGeom>
        </p:spPr>
        <p:txBody>
          <a:bodyPr/>
          <a:lstStyle/>
          <a:p>
            <a:fld id="{E555C569-B112-4D8C-B1B2-EEE93146C0F6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917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356"/>
    </mc:Choice>
    <mc:Fallback xmlns="">
      <p:transition spd="slow" advTm="14356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of Descriptive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Descriptive analytics addresses the questions of “What happened?” or “What is happening?”. 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We define descriptive analytics as analytics performed which characterizes, summarizes, and organizes features and properties of the data to facilitate understanding.</a:t>
            </a:r>
          </a:p>
          <a:p>
            <a:pPr lvl="0"/>
            <a:r>
              <a:rPr lang="en-US" dirty="0"/>
              <a:t>Any “report” is descriptive analytics.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800F06-A56D-4403-B52F-849299618EE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fld id="{E555C569-B112-4D8C-B1B2-EEE93146C0F6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706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983"/>
    </mc:Choice>
    <mc:Fallback xmlns="">
      <p:transition spd="slow" advTm="36983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Used in Descriptive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31088" y="2133600"/>
            <a:ext cx="5337545" cy="3609474"/>
          </a:xfrm>
        </p:spPr>
        <p:txBody>
          <a:bodyPr>
            <a:noAutofit/>
          </a:bodyPr>
          <a:lstStyle/>
          <a:p>
            <a:pPr lvl="0"/>
            <a:r>
              <a:rPr lang="en-US" b="1" dirty="0"/>
              <a:t>Counts</a:t>
            </a:r>
            <a:r>
              <a:rPr lang="en-US" dirty="0"/>
              <a:t>: Show how frequently an attempt occurs.</a:t>
            </a:r>
          </a:p>
          <a:p>
            <a:pPr marL="788670" lvl="1" indent="-285750">
              <a:buFont typeface="Arial" panose="020B0604020202020204" pitchFamily="34" charset="0"/>
              <a:buChar char="•"/>
            </a:pPr>
            <a:r>
              <a:rPr lang="en-US" dirty="0"/>
              <a:t>How many times was taxable income greater than net income over the past five years?</a:t>
            </a:r>
          </a:p>
          <a:p>
            <a:pPr lvl="0"/>
            <a:r>
              <a:rPr lang="en-US" b="1" dirty="0"/>
              <a:t>Totals, sums, averages, subtotals</a:t>
            </a:r>
            <a:r>
              <a:rPr lang="en-US" dirty="0"/>
              <a:t>: Summarize measures of performance.</a:t>
            </a:r>
          </a:p>
          <a:p>
            <a:pPr marL="788670" lvl="1" indent="-285750">
              <a:buFont typeface="Arial" panose="020B0604020202020204" pitchFamily="34" charset="0"/>
              <a:buChar char="•"/>
            </a:pPr>
            <a:r>
              <a:rPr lang="en-US" dirty="0"/>
              <a:t>What is the balance of finished goods inventory on hand?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AC4D34-57EE-4E7F-A99E-531A50806B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68633" y="2133600"/>
            <a:ext cx="4906271" cy="3851147"/>
          </a:xfrm>
        </p:spPr>
        <p:txBody>
          <a:bodyPr/>
          <a:lstStyle/>
          <a:p>
            <a:pPr lvl="0"/>
            <a:r>
              <a:rPr lang="en-US" b="1" dirty="0"/>
              <a:t>Minimums, maximums, medians, standard deviations</a:t>
            </a:r>
            <a:r>
              <a:rPr lang="en-US" dirty="0"/>
              <a:t>: Summarize measures showing extreme values to help explain what happened.</a:t>
            </a:r>
          </a:p>
          <a:p>
            <a:pPr marL="788670" lvl="1" indent="-285750">
              <a:buFont typeface="Arial" panose="020B0604020202020204" pitchFamily="34" charset="0"/>
              <a:buChar char="•"/>
            </a:pPr>
            <a:r>
              <a:rPr lang="en-US" dirty="0"/>
              <a:t>What was the greatest $ refund offered by the customer service department and who approved it?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154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334"/>
    </mc:Choice>
    <mc:Fallback xmlns="">
      <p:transition spd="slow" advTm="39334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4763" y="347958"/>
            <a:ext cx="9759705" cy="1613365"/>
          </a:xfrm>
        </p:spPr>
        <p:txBody>
          <a:bodyPr/>
          <a:lstStyle/>
          <a:p>
            <a:r>
              <a:rPr lang="en-US" dirty="0"/>
              <a:t>Tools Used in Descriptive Analytics </a:t>
            </a:r>
            <a:r>
              <a:rPr lang="en-US" sz="1600" dirty="0"/>
              <a:t>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24763" y="1961324"/>
            <a:ext cx="5135525" cy="4023424"/>
          </a:xfrm>
        </p:spPr>
        <p:txBody>
          <a:bodyPr>
            <a:noAutofit/>
          </a:bodyPr>
          <a:lstStyle/>
          <a:p>
            <a:pPr lvl="0"/>
            <a:r>
              <a:rPr lang="en-US" sz="1800" b="1" dirty="0"/>
              <a:t>Graphs</a:t>
            </a:r>
            <a:r>
              <a:rPr lang="en-US" sz="1800" dirty="0"/>
              <a:t> (bar charts), </a:t>
            </a:r>
            <a:r>
              <a:rPr lang="en-US" sz="1800" b="1" dirty="0"/>
              <a:t>histograms:</a:t>
            </a:r>
          </a:p>
          <a:p>
            <a:pPr marL="788670" lvl="1" indent="-285750">
              <a:buFont typeface="Arial" panose="020B0604020202020204" pitchFamily="34" charset="0"/>
              <a:buChar char="•"/>
            </a:pPr>
            <a:r>
              <a:rPr lang="en-US" dirty="0"/>
              <a:t>How long have receivables been outstanding for our company? Potentially answerable by creating an Accounts Receivable Aging Schedule.</a:t>
            </a:r>
          </a:p>
          <a:p>
            <a:pPr lvl="0"/>
            <a:r>
              <a:rPr lang="en-US" sz="1800" dirty="0"/>
              <a:t>Percentage change from one period to the next using </a:t>
            </a:r>
            <a:r>
              <a:rPr lang="en-US" sz="1800" b="1" dirty="0"/>
              <a:t>vertical analytics</a:t>
            </a:r>
            <a:r>
              <a:rPr lang="en-US" sz="1800" dirty="0"/>
              <a:t>, </a:t>
            </a:r>
            <a:r>
              <a:rPr lang="en-US" sz="1800" b="1" dirty="0"/>
              <a:t>horizontal analytics</a:t>
            </a:r>
            <a:r>
              <a:rPr lang="en-US" sz="1800" dirty="0"/>
              <a:t>, or common-size financial statements.</a:t>
            </a:r>
          </a:p>
          <a:p>
            <a:pPr marL="788670" lvl="1" indent="-285750">
              <a:buFont typeface="Arial" panose="020B0604020202020204" pitchFamily="34" charset="0"/>
              <a:buChar char="•"/>
            </a:pPr>
            <a:r>
              <a:rPr lang="en-US" dirty="0"/>
              <a:t>How much did cost of goods sold as a percent of revenues increase over the past two years? </a:t>
            </a:r>
          </a:p>
          <a:p>
            <a:pPr lvl="1"/>
            <a:endParaRPr lang="en-US" sz="14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FA088E-9FBD-47CC-9B12-A6D7A14932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41042" y="1961323"/>
            <a:ext cx="4906488" cy="4027997"/>
          </a:xfrm>
        </p:spPr>
        <p:txBody>
          <a:bodyPr>
            <a:normAutofit/>
          </a:bodyPr>
          <a:lstStyle/>
          <a:p>
            <a:pPr lvl="0"/>
            <a:r>
              <a:rPr lang="en-US" sz="1800" b="1" dirty="0"/>
              <a:t>Ratio analytics </a:t>
            </a:r>
            <a:r>
              <a:rPr lang="en-US" sz="1800" dirty="0"/>
              <a:t>like return on assets, return on sales (profit margin), asset turnover ratios, debt-to-equity ratios: Calculate important financial ratios for comparison.</a:t>
            </a:r>
          </a:p>
          <a:p>
            <a:pPr marL="788670" lvl="1" indent="-285750">
              <a:buFont typeface="Arial" panose="020B0604020202020204" pitchFamily="34" charset="0"/>
              <a:buChar char="•"/>
            </a:pPr>
            <a:r>
              <a:rPr lang="en-US" dirty="0"/>
              <a:t>Which retail company (e.g., Amazon, Walmart, Target, Kroger) has the highest return on assets?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06342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728"/>
    </mc:Choice>
    <mc:Fallback xmlns="">
      <p:transition spd="slow" advTm="39728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Descriptive (Summary) Statistics for the Retail Industry in 2018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6762" y="2210594"/>
            <a:ext cx="5892800" cy="306070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2EEB7-D7C1-4705-95F9-B8C2B48B9B7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fld id="{E555C569-B112-4D8C-B1B2-EEE93146C0F6}" type="slidenum">
              <a:rPr lang="en-US" smtClean="0"/>
              <a:t>24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403271" y="5708121"/>
            <a:ext cx="64545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EXHIBIT 5.3 Summary Statistics for the Retail Industry Reported in 2018 (Source: Compustat Database of all retail firms with fiscal years ending in 2018.)</a:t>
            </a:r>
            <a:endParaRPr lang="en-US" sz="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45668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465"/>
    </mc:Choice>
    <mc:Fallback xmlns="">
      <p:transition spd="slow" advTm="39465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Descriptive Statistics (Histogram) for the Retail Industry in 2018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4E71B17-838E-4221-AE39-D17F05BB2C49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7162" y="2369344"/>
            <a:ext cx="4572000" cy="27432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A15326-63F3-4E16-8B41-94CC47B0955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fld id="{E555C569-B112-4D8C-B1B2-EEE93146C0F6}" type="slidenum">
              <a:rPr lang="en-US" smtClean="0"/>
              <a:t>25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288570" y="6062827"/>
            <a:ext cx="451117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EXHIBIT 5.4 A Histogram of Return on Assets for the Retail Industry Reported in 2018</a:t>
            </a:r>
            <a:endParaRPr lang="en-US" sz="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34014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706"/>
    </mc:Choice>
    <mc:Fallback xmlns="">
      <p:transition spd="slow" advTm="22706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4D3A4-7104-08C9-0706-8E00BE5A7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1924" y="136525"/>
            <a:ext cx="3221656" cy="1824798"/>
          </a:xfrm>
        </p:spPr>
        <p:txBody>
          <a:bodyPr>
            <a:normAutofit/>
          </a:bodyPr>
          <a:lstStyle/>
          <a:p>
            <a:r>
              <a:rPr lang="en-US" dirty="0"/>
              <a:t>“Old” School Reports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69610-FDF7-D7F2-D19E-09A63E583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1F3B8D-9B06-AAE0-C601-E09165A2D0F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55C569-B112-4D8C-B1B2-EEE93146C0F6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5124" name="Picture 4" descr="Editable Spreadsheet Templates - Ready For Download">
            <a:extLst>
              <a:ext uri="{FF2B5EF4-FFF2-40B4-BE49-F238E27FC236}">
                <a16:creationId xmlns:a16="http://schemas.microsoft.com/office/drawing/2014/main" id="{670ABEAA-3740-2CAE-DE20-F6D41320C4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27" b="3460"/>
          <a:stretch/>
        </p:blipFill>
        <p:spPr bwMode="auto">
          <a:xfrm>
            <a:off x="-18519" y="58508"/>
            <a:ext cx="8510443" cy="4501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Excel reporting with FluenceXL: Create pixel-perfect financial reports">
            <a:extLst>
              <a:ext uri="{FF2B5EF4-FFF2-40B4-BE49-F238E27FC236}">
                <a16:creationId xmlns:a16="http://schemas.microsoft.com/office/drawing/2014/main" id="{99E68517-85E7-BC4A-6587-36E09577C1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58" t="34500" r="4567"/>
          <a:stretch/>
        </p:blipFill>
        <p:spPr bwMode="auto">
          <a:xfrm>
            <a:off x="4236702" y="3429000"/>
            <a:ext cx="7960059" cy="3452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21483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75A7B-DD0F-5F06-A4C4-D4E6C13B6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Reporting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5C655-5C57-4FD5-9433-F931CD8C8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3"/>
            <a:ext cx="9732889" cy="4199727"/>
          </a:xfrm>
        </p:spPr>
        <p:txBody>
          <a:bodyPr/>
          <a:lstStyle/>
          <a:p>
            <a:r>
              <a:rPr lang="en-US" dirty="0"/>
              <a:t>Tableau-like dashboards can provide an interactive version of a report, with the benefits of modern web functionality. </a:t>
            </a:r>
          </a:p>
          <a:p>
            <a:pPr lvl="1"/>
            <a:r>
              <a:rPr lang="en-US" dirty="0"/>
              <a:t>Interactivity. </a:t>
            </a:r>
          </a:p>
          <a:p>
            <a:pPr lvl="1"/>
            <a:r>
              <a:rPr lang="en-US" dirty="0"/>
              <a:t>Customization. </a:t>
            </a:r>
          </a:p>
          <a:p>
            <a:pPr lvl="1"/>
            <a:r>
              <a:rPr lang="en-US" dirty="0"/>
              <a:t>Real-time updates. </a:t>
            </a:r>
          </a:p>
        </p:txBody>
      </p:sp>
      <p:pic>
        <p:nvPicPr>
          <p:cNvPr id="2050" name="Picture 2" descr="How to Create a Dashboard in Tableau | DataCamp">
            <a:extLst>
              <a:ext uri="{FF2B5EF4-FFF2-40B4-BE49-F238E27FC236}">
                <a16:creationId xmlns:a16="http://schemas.microsoft.com/office/drawing/2014/main" id="{2259C880-1EDB-8D48-E39B-965568DBE9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3694" y="2451215"/>
            <a:ext cx="5490774" cy="3661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924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6BAA1-14C3-0AE6-0D3F-1AB9388CE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Modern D.A.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20AFB-08A9-0CF8-F128-46F781E43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10059103" cy="4130994"/>
          </a:xfrm>
        </p:spPr>
        <p:txBody>
          <a:bodyPr>
            <a:normAutofit/>
          </a:bodyPr>
          <a:lstStyle/>
          <a:p>
            <a:r>
              <a:rPr lang="en-US" dirty="0"/>
              <a:t>Near real-time reporting available. </a:t>
            </a:r>
          </a:p>
          <a:p>
            <a:r>
              <a:rPr lang="en-US" dirty="0"/>
              <a:t>Live changes and customizations (e.g. Tableau params). </a:t>
            </a:r>
          </a:p>
          <a:p>
            <a:r>
              <a:rPr lang="en-US" dirty="0"/>
              <a:t>Customize looks at the data. </a:t>
            </a:r>
          </a:p>
          <a:p>
            <a:pPr lvl="1"/>
            <a:r>
              <a:rPr lang="en-US" dirty="0"/>
              <a:t>E.g. Create one report on data. Filter columns and data dynamically based on who is using it. </a:t>
            </a:r>
          </a:p>
          <a:p>
            <a:r>
              <a:rPr lang="en-US" dirty="0"/>
              <a:t>Easier to interpret data and garner information. </a:t>
            </a:r>
          </a:p>
          <a:p>
            <a:pPr lvl="1"/>
            <a:r>
              <a:rPr lang="en-US" dirty="0"/>
              <a:t>Smart visualization choices add clarity. </a:t>
            </a:r>
          </a:p>
          <a:p>
            <a:pPr lvl="1"/>
            <a:r>
              <a:rPr lang="en-US" dirty="0"/>
              <a:t>Easier to detect trends, exceptions, and areas needing action. </a:t>
            </a:r>
          </a:p>
          <a:p>
            <a:r>
              <a:rPr lang="en-US" b="1" dirty="0"/>
              <a:t>Fewer assumptions and less intuition needed to make business decisions – more facts are knowable. </a:t>
            </a:r>
          </a:p>
        </p:txBody>
      </p:sp>
    </p:spTree>
    <p:extLst>
      <p:ext uri="{BB962C8B-B14F-4D97-AF65-F5344CB8AC3E}">
        <p14:creationId xmlns:p14="http://schemas.microsoft.com/office/powerpoint/2010/main" val="36837196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Descriptive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Inventory Management by Customer and SKU Profitability (Lab 2-3, Lab 2-4, Lab 2-5 and Lab 2-6)</a:t>
            </a:r>
          </a:p>
          <a:p>
            <a:pPr lvl="0"/>
            <a:r>
              <a:rPr lang="en-US" dirty="0"/>
              <a:t>Accounts Receivable Aging Schedule (Lab 6-1)</a:t>
            </a:r>
          </a:p>
          <a:p>
            <a:pPr lvl="0"/>
            <a:r>
              <a:rPr lang="en-US" dirty="0"/>
              <a:t>Accounts Receivable Summary by Customer (Lab 6-2)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1028052-7010-4C6C-8ACA-3E74DD2FF0E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/>
            <a:r>
              <a:rPr lang="en-US" dirty="0"/>
              <a:t>Horizontal Analytics with Sparklines (Lab 6-3)</a:t>
            </a:r>
          </a:p>
          <a:p>
            <a:pPr lvl="0"/>
            <a:r>
              <a:rPr lang="en-US" dirty="0"/>
              <a:t>Vertical Analytics with Sparklines (Lab 6-4)</a:t>
            </a:r>
          </a:p>
          <a:p>
            <a:pPr lvl="0"/>
            <a:r>
              <a:rPr lang="en-US" dirty="0"/>
              <a:t>DuPont Analytics (Lab 6-5)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056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595"/>
    </mc:Choice>
    <mc:Fallback xmlns="">
      <p:transition spd="slow" advTm="19595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Progress Check 5-3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12AF5F-6AB8-485C-960B-9B42CC2BC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Q. How would summing the total net income over the past 4 years be considered descriptive analytics?</a:t>
            </a:r>
          </a:p>
        </p:txBody>
      </p:sp>
    </p:spTree>
    <p:extLst>
      <p:ext uri="{BB962C8B-B14F-4D97-AF65-F5344CB8AC3E}">
        <p14:creationId xmlns:p14="http://schemas.microsoft.com/office/powerpoint/2010/main" val="3848023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854"/>
    </mc:Choice>
    <mc:Fallback xmlns="">
      <p:transition spd="slow" advTm="36854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28941-AC51-00B5-D370-5F54F5B90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A4FC0-6B18-4F2F-2E45-312B313DF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taking data, and presenting it in a way that the user can better understand.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7032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B141E4-5EF5-40F0-AD72-0097561A27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Diagnostic Analytics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406C38-61DF-4CC4-8E13-426D128480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956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40"/>
    </mc:Choice>
    <mc:Fallback xmlns="">
      <p:transition spd="slow" advTm="664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of Diagnostic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Diagnostic analytics addresses the questions of “Why did it happen?”.</a:t>
            </a:r>
          </a:p>
          <a:p>
            <a:pPr lvl="0"/>
            <a:r>
              <a:rPr lang="en-US" dirty="0"/>
              <a:t>We define </a:t>
            </a:r>
            <a:r>
              <a:rPr lang="en-US" b="1" dirty="0"/>
              <a:t>diagnostic analytics </a:t>
            </a:r>
            <a:r>
              <a:rPr lang="en-US" dirty="0"/>
              <a:t>as analytics performed to investigate the underlying cause that cannot be answered by simply looking at the descriptive data but can be answered by various types of diagnostic analyses.</a:t>
            </a:r>
          </a:p>
          <a:p>
            <a:pPr lvl="0"/>
            <a:r>
              <a:rPr lang="en-US" dirty="0"/>
              <a:t>Diagnostic analysis is less prevalent than the others. </a:t>
            </a:r>
          </a:p>
        </p:txBody>
      </p:sp>
    </p:spTree>
    <p:extLst>
      <p:ext uri="{BB962C8B-B14F-4D97-AF65-F5344CB8AC3E}">
        <p14:creationId xmlns:p14="http://schemas.microsoft.com/office/powerpoint/2010/main" val="2655164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547"/>
    </mc:Choice>
    <mc:Fallback xmlns="">
      <p:transition spd="slow" advTm="23547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Two </a:t>
            </a:r>
            <a:r>
              <a:rPr lang="en-US" dirty="0"/>
              <a:t>Broad Types of Diagnostic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93842"/>
            <a:ext cx="9732889" cy="3890905"/>
          </a:xfrm>
        </p:spPr>
        <p:txBody>
          <a:bodyPr>
            <a:normAutofit/>
          </a:bodyPr>
          <a:lstStyle/>
          <a:p>
            <a:pPr lvl="0"/>
            <a:r>
              <a:rPr lang="en-US" b="1" dirty="0"/>
              <a:t>Identifying Anomalies/Outliers </a:t>
            </a:r>
            <a:r>
              <a:rPr lang="en-US" dirty="0"/>
              <a:t>– Often a first step in diagnostic analytics is to look for and identify unusual, unexpected results or transactions. </a:t>
            </a:r>
          </a:p>
          <a:p>
            <a:pPr lvl="1"/>
            <a:r>
              <a:rPr lang="en-US" dirty="0"/>
              <a:t>E.g. Control chart from ~ last week. </a:t>
            </a:r>
          </a:p>
          <a:p>
            <a:pPr lvl="0"/>
            <a:r>
              <a:rPr lang="en-US" b="1" dirty="0"/>
              <a:t>Finding previously unknown linkages, patterns, or relationships between variables.</a:t>
            </a:r>
          </a:p>
          <a:p>
            <a:pPr lvl="1"/>
            <a:r>
              <a:rPr lang="en-US" b="1" dirty="0"/>
              <a:t>Performing Drill-Down Analytics </a:t>
            </a:r>
            <a:r>
              <a:rPr lang="en-US" dirty="0"/>
              <a:t>– look for patterns in the underlying data set by summarizing data at different levels and uncovering additional details to understand why something happened.</a:t>
            </a:r>
          </a:p>
          <a:p>
            <a:pPr lvl="1"/>
            <a:r>
              <a:rPr lang="en-US" b="1" dirty="0"/>
              <a:t>Determine Relations/Patterns/Linkages between Variables</a:t>
            </a:r>
            <a:r>
              <a:rPr lang="en-US" dirty="0"/>
              <a:t> – find the extent to which there are patterns in the data, or data moves together.</a:t>
            </a:r>
          </a:p>
        </p:txBody>
      </p:sp>
    </p:spTree>
    <p:extLst>
      <p:ext uri="{BB962C8B-B14F-4D97-AF65-F5344CB8AC3E}">
        <p14:creationId xmlns:p14="http://schemas.microsoft.com/office/powerpoint/2010/main" val="2587619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455"/>
    </mc:Choice>
    <mc:Fallback xmlns="">
      <p:transition spd="slow" advTm="80455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0390B-B857-603C-DE1B-5746E7E5E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9268" y="1"/>
            <a:ext cx="7315200" cy="989704"/>
          </a:xfrm>
        </p:spPr>
        <p:txBody>
          <a:bodyPr/>
          <a:lstStyle/>
          <a:p>
            <a:r>
              <a:rPr lang="en-US" dirty="0"/>
              <a:t>Anomalies with Tableau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C02A7-93B4-D7B7-6CB3-E79647D75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Primer: What exactly is clustering, and why would you use it?">
            <a:extLst>
              <a:ext uri="{FF2B5EF4-FFF2-40B4-BE49-F238E27FC236}">
                <a16:creationId xmlns:a16="http://schemas.microsoft.com/office/drawing/2014/main" id="{84BF7BFF-E672-0FB7-D0AA-939C1AD2F3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36" r="1970"/>
          <a:stretch/>
        </p:blipFill>
        <p:spPr bwMode="auto">
          <a:xfrm>
            <a:off x="3754419" y="860979"/>
            <a:ext cx="7067774" cy="5997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74785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7556" y="715270"/>
            <a:ext cx="9716912" cy="1088070"/>
          </a:xfrm>
        </p:spPr>
        <p:txBody>
          <a:bodyPr/>
          <a:lstStyle/>
          <a:p>
            <a:r>
              <a:rPr lang="en-US" dirty="0"/>
              <a:t>Testing/Tools Used in Diagnostic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67556" y="1989221"/>
            <a:ext cx="4395539" cy="4000099"/>
          </a:xfrm>
        </p:spPr>
        <p:txBody>
          <a:bodyPr>
            <a:noAutofit/>
          </a:bodyPr>
          <a:lstStyle/>
          <a:p>
            <a:pPr lvl="0"/>
            <a:r>
              <a:rPr lang="en-US" sz="1800" b="1" dirty="0"/>
              <a:t>Sequence checks and sequence analytics</a:t>
            </a:r>
          </a:p>
          <a:p>
            <a:pPr lvl="1"/>
            <a:r>
              <a:rPr lang="en-US" dirty="0"/>
              <a:t>Why are some check numbers missing documentation? Does it signify errors or fraud or can they be explained?</a:t>
            </a:r>
          </a:p>
          <a:p>
            <a:pPr lvl="0"/>
            <a:r>
              <a:rPr lang="en-US" sz="1800" b="1" dirty="0"/>
              <a:t>Duplicate Transactions</a:t>
            </a:r>
          </a:p>
          <a:p>
            <a:pPr lvl="1"/>
            <a:r>
              <a:rPr lang="en-US" dirty="0"/>
              <a:t>Why are there duplicates of some transactions in the financial reporting records? Are they fraud or just errors?</a:t>
            </a:r>
          </a:p>
          <a:p>
            <a:pPr lvl="0"/>
            <a:endParaRPr lang="en-US" sz="16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513F82-2A97-4705-81FF-B2AA5E9F6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989222"/>
            <a:ext cx="5775159" cy="4000098"/>
          </a:xfrm>
        </p:spPr>
        <p:txBody>
          <a:bodyPr>
            <a:noAutofit/>
          </a:bodyPr>
          <a:lstStyle/>
          <a:p>
            <a:pPr lvl="0"/>
            <a:r>
              <a:rPr lang="en-US" sz="1800" b="1" dirty="0"/>
              <a:t>Variance analytics- </a:t>
            </a:r>
            <a:r>
              <a:rPr lang="en-US" sz="1800" dirty="0"/>
              <a:t>(typically performed in management accounting), used to identify differences from expectations.</a:t>
            </a:r>
          </a:p>
          <a:p>
            <a:pPr lvl="1"/>
            <a:r>
              <a:rPr lang="en-US" dirty="0"/>
              <a:t>Why is the labor rate and labor use variance for direct labor at the manufacturing plant unfavorable?</a:t>
            </a:r>
          </a:p>
          <a:p>
            <a:pPr lvl="0"/>
            <a:r>
              <a:rPr lang="en-US" sz="1800" b="1" dirty="0" err="1"/>
              <a:t>Benford’s</a:t>
            </a:r>
            <a:r>
              <a:rPr lang="en-US" sz="1800" b="1" dirty="0"/>
              <a:t> Law- </a:t>
            </a:r>
            <a:r>
              <a:rPr lang="en-US" sz="1800" dirty="0"/>
              <a:t>used</a:t>
            </a:r>
            <a:r>
              <a:rPr lang="en-US" sz="1800" b="1" dirty="0"/>
              <a:t> </a:t>
            </a:r>
            <a:r>
              <a:rPr lang="en-US" sz="1800" dirty="0"/>
              <a:t>to identify fraud or irregular transactions.</a:t>
            </a:r>
          </a:p>
          <a:p>
            <a:pPr lvl="1"/>
            <a:r>
              <a:rPr lang="en-US" dirty="0"/>
              <a:t>Why do some refunds from Verizon offered by customer service representatives depart from the distribution expected by Benford’s Law? Are they associated with fraud? </a:t>
            </a:r>
          </a:p>
        </p:txBody>
      </p:sp>
    </p:spTree>
    <p:extLst>
      <p:ext uri="{BB962C8B-B14F-4D97-AF65-F5344CB8AC3E}">
        <p14:creationId xmlns:p14="http://schemas.microsoft.com/office/powerpoint/2010/main" val="3454826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833"/>
    </mc:Choice>
    <mc:Fallback xmlns="">
      <p:transition spd="slow" advTm="45833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B2813-5A0B-4887-85E9-DEA92B358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8507" y="873253"/>
            <a:ext cx="8035963" cy="1088070"/>
          </a:xfrm>
        </p:spPr>
        <p:txBody>
          <a:bodyPr/>
          <a:lstStyle/>
          <a:p>
            <a:r>
              <a:rPr lang="en-US" dirty="0"/>
              <a:t>Tableau Example -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C074A-E62F-AC65-A217-F1AD101D66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27D2F2-465B-F08C-2A9A-3204C52936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B174F0-675C-72FB-415D-DA626E286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912" y="2038158"/>
            <a:ext cx="7772400" cy="439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950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148B2-FAE4-92AC-D8EF-DDB4C6D0A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Benford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8C1EA-3E58-9DE8-BAC0-F6E3B1F2EB1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61459C-F947-4CC3-CBB3-C166C4CEBCB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undefined">
            <a:extLst>
              <a:ext uri="{FF2B5EF4-FFF2-40B4-BE49-F238E27FC236}">
                <a16:creationId xmlns:a16="http://schemas.microsoft.com/office/drawing/2014/main" id="{75C26C5A-B75E-BC07-BAFC-1B8700D650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1" t="12667" r="5255" b="7315"/>
          <a:stretch/>
        </p:blipFill>
        <p:spPr bwMode="auto">
          <a:xfrm>
            <a:off x="3763774" y="2133600"/>
            <a:ext cx="6423717" cy="422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68454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B0BDB-DE4E-2318-784D-868409AAF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Anomaly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78F39-9BAC-FEF5-D5C0-223DA4597A7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9EF6B3-B484-73F6-04C2-B4ACC2FF50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84918" y="1864194"/>
            <a:ext cx="4384587" cy="4188918"/>
          </a:xfrm>
        </p:spPr>
        <p:txBody>
          <a:bodyPr>
            <a:normAutofit/>
          </a:bodyPr>
          <a:lstStyle/>
          <a:p>
            <a:r>
              <a:rPr lang="en-US" dirty="0"/>
              <a:t>In applications such as fraud detection, analytics can be used to find anomalies. </a:t>
            </a:r>
          </a:p>
          <a:p>
            <a:r>
              <a:rPr lang="en-US" dirty="0"/>
              <a:t>There are lots of transactions that are “normal”. </a:t>
            </a:r>
          </a:p>
          <a:p>
            <a:r>
              <a:rPr lang="en-US" dirty="0"/>
              <a:t>There are others that are “weird”. </a:t>
            </a:r>
          </a:p>
          <a:p>
            <a:r>
              <a:rPr lang="en-US" dirty="0"/>
              <a:t>Anomaly detection looks at the features (variables), groups them, then finds those that are different. </a:t>
            </a:r>
          </a:p>
          <a:p>
            <a:pPr lvl="1"/>
            <a:r>
              <a:rPr lang="en-US" dirty="0"/>
              <a:t>These anomalies need investigation. </a:t>
            </a:r>
          </a:p>
        </p:txBody>
      </p:sp>
      <p:sp>
        <p:nvSpPr>
          <p:cNvPr id="6" name="AutoShape 2" descr="Spotfire | Anomaly Detection in Data: Uncover Hidden Insights">
            <a:extLst>
              <a:ext uri="{FF2B5EF4-FFF2-40B4-BE49-F238E27FC236}">
                <a16:creationId xmlns:a16="http://schemas.microsoft.com/office/drawing/2014/main" id="{AB4AD981-8C1F-A20F-1FB4-69E910A85B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148" name="Picture 4" descr="Anomaly explanation: A review - ScienceDirect">
            <a:extLst>
              <a:ext uri="{FF2B5EF4-FFF2-40B4-BE49-F238E27FC236}">
                <a16:creationId xmlns:a16="http://schemas.microsoft.com/office/drawing/2014/main" id="{86C3F11B-2627-FC28-05CA-D279506A20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695449"/>
            <a:ext cx="7384919" cy="4890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15430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Testing/Tools Used in Diagnostic Analytics </a:t>
            </a:r>
            <a:r>
              <a:rPr lang="en-US" sz="2000" dirty="0"/>
              <a:t>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9218" y="2133600"/>
            <a:ext cx="4838694" cy="3625516"/>
          </a:xfrm>
        </p:spPr>
        <p:txBody>
          <a:bodyPr>
            <a:noAutofit/>
          </a:bodyPr>
          <a:lstStyle/>
          <a:p>
            <a:pPr lvl="0"/>
            <a:r>
              <a:rPr lang="en-US" sz="1800" b="1" dirty="0"/>
              <a:t>Drill-downs and roll-ups </a:t>
            </a:r>
            <a:r>
              <a:rPr lang="en-US" sz="1800" dirty="0"/>
              <a:t>used</a:t>
            </a:r>
            <a:r>
              <a:rPr lang="en-US" sz="1800" b="1" dirty="0"/>
              <a:t> </a:t>
            </a:r>
            <a:r>
              <a:rPr lang="en-US" sz="1800" dirty="0"/>
              <a:t>to get detail when needed</a:t>
            </a:r>
          </a:p>
          <a:p>
            <a:pPr lvl="1"/>
            <a:r>
              <a:rPr lang="en-US" dirty="0"/>
              <a:t>Which customers included in the total accounts receivable owing have the highest balance outstanding? Do some accounts need to be written off due to uncollectibility?</a:t>
            </a:r>
          </a:p>
          <a:p>
            <a:pPr lvl="0"/>
            <a:r>
              <a:rPr lang="en-US" sz="1800" b="1" dirty="0" err="1"/>
              <a:t>Pivottables</a:t>
            </a:r>
            <a:r>
              <a:rPr lang="en-US" sz="1800" b="1" dirty="0"/>
              <a:t> </a:t>
            </a:r>
            <a:r>
              <a:rPr lang="en-US" sz="1800" dirty="0"/>
              <a:t>(crosstabulations)</a:t>
            </a:r>
          </a:p>
          <a:p>
            <a:pPr lvl="1"/>
            <a:r>
              <a:rPr lang="en-US" dirty="0"/>
              <a:t>Why were some transactions approved and recorded on the weekend? 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8C6348-567D-4DE0-BB67-52EF4C695C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7913" y="2133600"/>
            <a:ext cx="5359618" cy="3851147"/>
          </a:xfrm>
        </p:spPr>
        <p:txBody>
          <a:bodyPr>
            <a:noAutofit/>
          </a:bodyPr>
          <a:lstStyle/>
          <a:p>
            <a:pPr lvl="0"/>
            <a:r>
              <a:rPr lang="en-US" sz="1800" b="1" dirty="0"/>
              <a:t>Correlation/Regression</a:t>
            </a:r>
          </a:p>
          <a:p>
            <a:pPr lvl="1"/>
            <a:r>
              <a:rPr lang="en-US" dirty="0"/>
              <a:t>How are R&amp;D expenses related to future firm profitability?</a:t>
            </a:r>
          </a:p>
          <a:p>
            <a:pPr lvl="1"/>
            <a:endParaRPr lang="en-US" dirty="0"/>
          </a:p>
          <a:p>
            <a:pPr lvl="0"/>
            <a:r>
              <a:rPr lang="en-US" sz="1800" b="1" dirty="0"/>
              <a:t>Hypothesis testing</a:t>
            </a:r>
          </a:p>
          <a:p>
            <a:pPr lvl="1"/>
            <a:r>
              <a:rPr lang="en-US" dirty="0"/>
              <a:t>Are Nordstrom’s sales returns as a percentage of sales higher during the holiday season (e.g., Christmas, New Year’s, Hanukkah, etc.) as compared to non-holidays?</a:t>
            </a:r>
          </a:p>
        </p:txBody>
      </p:sp>
    </p:spTree>
    <p:extLst>
      <p:ext uri="{BB962C8B-B14F-4D97-AF65-F5344CB8AC3E}">
        <p14:creationId xmlns:p14="http://schemas.microsoft.com/office/powerpoint/2010/main" val="1853275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696"/>
    </mc:Choice>
    <mc:Fallback xmlns="">
      <p:transition spd="slow" advTm="46696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B141E4-5EF5-40F0-AD72-0097561A2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Progress Check 5-4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D4F26F-74CF-4F7E-BF0D-A47B43B35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Q: How would a test of Nordstrom’s sales returns around the holiday season help us </a:t>
            </a:r>
            <a:r>
              <a:rPr lang="en-US" b="1" dirty="0"/>
              <a:t>determine if and why sales returns are different from the nonholiday season</a:t>
            </a:r>
            <a:r>
              <a:rPr lang="en-US" dirty="0"/>
              <a:t>? How would this be an example of diagnostic analytics?</a:t>
            </a:r>
          </a:p>
          <a:p>
            <a:r>
              <a:rPr lang="en-US" dirty="0"/>
              <a:t>- 	Try this with Superstore in Tableau. </a:t>
            </a:r>
          </a:p>
        </p:txBody>
      </p:sp>
    </p:spTree>
    <p:extLst>
      <p:ext uri="{BB962C8B-B14F-4D97-AF65-F5344CB8AC3E}">
        <p14:creationId xmlns:p14="http://schemas.microsoft.com/office/powerpoint/2010/main" val="224236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317"/>
    </mc:Choice>
    <mc:Fallback xmlns="">
      <p:transition spd="slow" advTm="30317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3A625-49F1-4735-9BFE-FC912B0632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Predictive Analytics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4C3A334-99F6-4991-E215-9801963CA6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06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69"/>
    </mc:Choice>
    <mc:Fallback xmlns="">
      <p:transition spd="slow" advTm="4369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of Predictive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1961323"/>
            <a:ext cx="9603275" cy="4285567"/>
          </a:xfrm>
        </p:spPr>
        <p:txBody>
          <a:bodyPr/>
          <a:lstStyle/>
          <a:p>
            <a:r>
              <a:rPr lang="en-US" dirty="0"/>
              <a:t>Predictive analytics addresses the questions of “Will it happen in the future?”, “What is the probability something will happen?” or “Is it forecastable?”.  </a:t>
            </a:r>
          </a:p>
          <a:p>
            <a:r>
              <a:rPr lang="en-US" dirty="0"/>
              <a:t>We define </a:t>
            </a:r>
            <a:r>
              <a:rPr lang="en-US" b="1" dirty="0"/>
              <a:t>predictive analytics </a:t>
            </a:r>
            <a:r>
              <a:rPr lang="en-US" dirty="0"/>
              <a:t>as analytics performed to provide foresight by identifying patterns in historical data and assessing likelihood or probability.</a:t>
            </a:r>
          </a:p>
          <a:p>
            <a:r>
              <a:rPr lang="en-US" b="1" dirty="0"/>
              <a:t>ML creates a model – something that translates inputs to output(s).  </a:t>
            </a:r>
          </a:p>
          <a:p>
            <a:r>
              <a:rPr lang="en-US" dirty="0"/>
              <a:t>Machine learning is a two-step thing:</a:t>
            </a:r>
          </a:p>
          <a:p>
            <a:pPr lvl="1"/>
            <a:r>
              <a:rPr lang="en-US" dirty="0"/>
              <a:t>We use old data to train the model. </a:t>
            </a:r>
          </a:p>
          <a:p>
            <a:pPr lvl="1"/>
            <a:r>
              <a:rPr lang="en-US" dirty="0"/>
              <a:t>We use the model that we made to make new predictions. </a:t>
            </a:r>
          </a:p>
        </p:txBody>
      </p:sp>
    </p:spTree>
    <p:extLst>
      <p:ext uri="{BB962C8B-B14F-4D97-AF65-F5344CB8AC3E}">
        <p14:creationId xmlns:p14="http://schemas.microsoft.com/office/powerpoint/2010/main" val="801881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700"/>
    </mc:Choice>
    <mc:Fallback xmlns="">
      <p:transition spd="slow" advTm="19700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BB9F8-C997-31AB-0D9D-F6EC3E386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184BC-9381-A611-9880-482A423DF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14D1A-12F2-2A9D-C27F-B7E56FAD8FE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55C569-B112-4D8C-B1B2-EEE93146C0F6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6146" name="Picture 2" descr="Data Analytics: What is Automated Machine Learning (AutoML)?">
            <a:extLst>
              <a:ext uri="{FF2B5EF4-FFF2-40B4-BE49-F238E27FC236}">
                <a16:creationId xmlns:a16="http://schemas.microsoft.com/office/drawing/2014/main" id="{065127FF-BED7-568C-91A8-48203E896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3888"/>
            <a:ext cx="12192000" cy="5608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9728D30-BC63-F02B-84E9-034749447144}"/>
              </a:ext>
            </a:extLst>
          </p:cNvPr>
          <p:cNvSpPr txBox="1"/>
          <p:nvPr/>
        </p:nvSpPr>
        <p:spPr>
          <a:xfrm>
            <a:off x="4222045" y="217283"/>
            <a:ext cx="6850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Making a model (behind the scenes)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06421C-4669-BAE3-710C-50EEB7A2AECC}"/>
              </a:ext>
            </a:extLst>
          </p:cNvPr>
          <p:cNvSpPr txBox="1"/>
          <p:nvPr/>
        </p:nvSpPr>
        <p:spPr>
          <a:xfrm>
            <a:off x="8936611" y="3716128"/>
            <a:ext cx="3228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Using a model (making predictions</a:t>
            </a:r>
          </a:p>
        </p:txBody>
      </p:sp>
    </p:spTree>
    <p:extLst>
      <p:ext uri="{BB962C8B-B14F-4D97-AF65-F5344CB8AC3E}">
        <p14:creationId xmlns:p14="http://schemas.microsoft.com/office/powerpoint/2010/main" val="12882379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Broad Categories of Predictive Analytics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51579" y="2093842"/>
            <a:ext cx="9732889" cy="4051777"/>
          </a:xfrm>
        </p:spPr>
        <p:txBody>
          <a:bodyPr>
            <a:normAutofit/>
          </a:bodyPr>
          <a:lstStyle/>
          <a:p>
            <a:pPr lvl="0"/>
            <a:r>
              <a:rPr lang="en-US" b="1" dirty="0"/>
              <a:t>Classification</a:t>
            </a:r>
            <a:r>
              <a:rPr lang="en-US" dirty="0"/>
              <a:t> – A predictive analytics technique used to separate or classify a sample (or population) into two or more groups or classes.  </a:t>
            </a:r>
          </a:p>
          <a:p>
            <a:pPr lvl="1"/>
            <a:r>
              <a:rPr lang="en-US" dirty="0"/>
              <a:t>Will pay back loan or not?</a:t>
            </a:r>
          </a:p>
          <a:p>
            <a:pPr lvl="0"/>
            <a:r>
              <a:rPr lang="en-US" b="1" dirty="0"/>
              <a:t>Regression</a:t>
            </a:r>
            <a:r>
              <a:rPr lang="en-US" dirty="0"/>
              <a:t> – A predictive analytics technique used to predict a specific dependent variable outcome value based on independent variable inputs.</a:t>
            </a:r>
          </a:p>
          <a:p>
            <a:pPr lvl="1"/>
            <a:r>
              <a:rPr lang="en-US" dirty="0"/>
              <a:t>What is the value of this house? </a:t>
            </a:r>
          </a:p>
          <a:p>
            <a:pPr lvl="0"/>
            <a:r>
              <a:rPr lang="en-US" b="1" dirty="0"/>
              <a:t>Forecasting Using Time Series Analytics </a:t>
            </a:r>
            <a:r>
              <a:rPr lang="en-US" dirty="0"/>
              <a:t>– A predictive analytics technique used to predict future values based on past values of the same variable.</a:t>
            </a:r>
          </a:p>
          <a:p>
            <a:pPr lvl="1"/>
            <a:r>
              <a:rPr lang="en-US" dirty="0"/>
              <a:t>What will gas prices be next week?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485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091"/>
    </mc:Choice>
    <mc:Fallback xmlns="">
      <p:transition spd="slow" advTm="6409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54D6E-FD68-E472-864B-ECB604E51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Predictive Analytics in Reality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5154C-DE09-C524-8318-BF4E34FEC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Predictive analytics is very commonly used, all over the business world. </a:t>
            </a:r>
          </a:p>
          <a:p>
            <a:pPr lvl="1"/>
            <a:r>
              <a:rPr lang="en-US" sz="2000" dirty="0"/>
              <a:t>Predicting demand for products. </a:t>
            </a:r>
          </a:p>
          <a:p>
            <a:pPr lvl="1"/>
            <a:r>
              <a:rPr lang="en-US" sz="2000" dirty="0"/>
              <a:t>Predicting commodity prices. </a:t>
            </a:r>
          </a:p>
          <a:p>
            <a:pPr lvl="1"/>
            <a:r>
              <a:rPr lang="en-US" sz="2000" dirty="0"/>
              <a:t>Forecasting traffic. </a:t>
            </a:r>
          </a:p>
          <a:p>
            <a:pPr lvl="1"/>
            <a:r>
              <a:rPr lang="en-US" sz="2000" dirty="0"/>
              <a:t>Predicting if someone will repay a loan. </a:t>
            </a:r>
          </a:p>
          <a:p>
            <a:pPr lvl="1"/>
            <a:r>
              <a:rPr lang="en-US" sz="2000" dirty="0"/>
              <a:t>Which students will excel at a college. </a:t>
            </a:r>
          </a:p>
          <a:p>
            <a:r>
              <a:rPr lang="en-US" sz="2400" dirty="0"/>
              <a:t>If we have…:</a:t>
            </a:r>
          </a:p>
          <a:p>
            <a:pPr lvl="1"/>
            <a:r>
              <a:rPr lang="en-US" sz="2000" dirty="0"/>
              <a:t>Some value that is useful to predict. </a:t>
            </a:r>
          </a:p>
          <a:p>
            <a:pPr lvl="1"/>
            <a:r>
              <a:rPr lang="en-US" sz="2000" dirty="0"/>
              <a:t>Data measuring the things that impact that. </a:t>
            </a:r>
          </a:p>
          <a:p>
            <a:r>
              <a:rPr lang="en-US" sz="2400" dirty="0"/>
              <a:t>…we can create a predictive model. </a:t>
            </a:r>
          </a:p>
        </p:txBody>
      </p:sp>
    </p:spTree>
    <p:extLst>
      <p:ext uri="{BB962C8B-B14F-4D97-AF65-F5344CB8AC3E}">
        <p14:creationId xmlns:p14="http://schemas.microsoft.com/office/powerpoint/2010/main" val="13693052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130B0-08B3-0805-B854-CADAE1A46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0900" y="873253"/>
            <a:ext cx="6523568" cy="1088070"/>
          </a:xfrm>
        </p:spPr>
        <p:txBody>
          <a:bodyPr/>
          <a:lstStyle/>
          <a:p>
            <a:r>
              <a:rPr lang="en-US" dirty="0"/>
              <a:t>Example - Loans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0DE42-86B3-9089-B888-1FF4B8EF7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1491" y="1839433"/>
            <a:ext cx="7252138" cy="4253024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 bank has a bunch of information about each person’s mortgage application. </a:t>
            </a:r>
          </a:p>
          <a:p>
            <a:r>
              <a:rPr lang="en-US" dirty="0"/>
              <a:t>The bank also has this data for old loans – including if that person has paid it back. </a:t>
            </a:r>
          </a:p>
          <a:p>
            <a:r>
              <a:rPr lang="en-US" dirty="0"/>
              <a:t>Predictive model is made by providing many examples of old loans with this data – paid back and not. </a:t>
            </a:r>
          </a:p>
          <a:p>
            <a:pPr lvl="1"/>
            <a:r>
              <a:rPr lang="en-US" dirty="0"/>
              <a:t>The algorithm will ‘learn’ to predict the target (will they pay it back) from the ‘features’ (the info we know before lending, based on patterns in data. </a:t>
            </a:r>
          </a:p>
          <a:p>
            <a:pPr lvl="1"/>
            <a:r>
              <a:rPr lang="en-US" dirty="0"/>
              <a:t>With a large amount of data, this can be very accurate. </a:t>
            </a:r>
          </a:p>
          <a:p>
            <a:pPr lvl="1"/>
            <a:r>
              <a:rPr lang="en-US" dirty="0"/>
              <a:t>Accuracy is estimated by the model making predictions on the old loans, then checking if right. </a:t>
            </a:r>
          </a:p>
          <a:p>
            <a:r>
              <a:rPr lang="en-US" dirty="0"/>
              <a:t>When a new applicant fills out the form, the model can make a prediction of if they’ll pay or default.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EA8C22-EB89-8135-C616-10B398DD9DB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55C569-B112-4D8C-B1B2-EEE93146C0F6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3074" name="Picture 2" descr="Case Study — Loan Prediction. Loan Prediction — from START TO END | by  Vishnu Vardhan | Medium">
            <a:extLst>
              <a:ext uri="{FF2B5EF4-FFF2-40B4-BE49-F238E27FC236}">
                <a16:creationId xmlns:a16="http://schemas.microsoft.com/office/drawing/2014/main" id="{2BD6FAE7-DFAB-4B9A-901B-6332949EA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6609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03607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7C13F-C2C9-41B4-CE91-C96AE8865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1C8EB-4231-BAA5-88CC-39B6C1B57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1C653-72FC-8927-472C-98FA2E9015D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55C569-B112-4D8C-B1B2-EEE93146C0F6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2050" name="Picture 2" descr="Image Classification on CIFAR10 using Neural Networks (NN) | by Avinash  Kumar | Medium">
            <a:extLst>
              <a:ext uri="{FF2B5EF4-FFF2-40B4-BE49-F238E27FC236}">
                <a16:creationId xmlns:a16="http://schemas.microsoft.com/office/drawing/2014/main" id="{9BAFAA83-5BC6-6996-D5A7-42AA3D356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9452" y="0"/>
            <a:ext cx="9193095" cy="6771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57005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C513E-F5E9-E6FE-1A09-99598914D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B47B0-3C36-5B43-661C-82FA75A2F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FBD45-C406-5ED6-4259-3ABC479E320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55C569-B112-4D8C-B1B2-EEE93146C0F6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026" name="Picture 2" descr="What is Image Recognition their functions, algorithm | Great learning">
            <a:extLst>
              <a:ext uri="{FF2B5EF4-FFF2-40B4-BE49-F238E27FC236}">
                <a16:creationId xmlns:a16="http://schemas.microsoft.com/office/drawing/2014/main" id="{D2BC5305-EB56-5DA4-DDB5-9BC21078A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" y="0"/>
            <a:ext cx="113268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98808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CDB68-E674-E62B-C06E-E2D6306E6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Predictive 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3B9AD-6025-7AD3-3E94-F892BD6B5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Predictive modelling for classification and regression is where most of the cool AI stuff is based. </a:t>
            </a:r>
          </a:p>
          <a:p>
            <a:pPr lvl="1"/>
            <a:r>
              <a:rPr lang="en-US" dirty="0"/>
              <a:t>Generative AI (e.g. </a:t>
            </a:r>
            <a:r>
              <a:rPr lang="en-US" dirty="0" err="1"/>
              <a:t>ChatGPT</a:t>
            </a:r>
            <a:r>
              <a:rPr lang="en-US" dirty="0"/>
              <a:t>) is based on this as well – learn from lots of text, then predict the next word. </a:t>
            </a:r>
          </a:p>
          <a:p>
            <a:r>
              <a:rPr lang="en-US" dirty="0"/>
              <a:t>Almost anything where we have data on both a set of inputs that as well as an outcome we want to predict, we can create a predictive model. </a:t>
            </a:r>
          </a:p>
          <a:p>
            <a:pPr lvl="1"/>
            <a:r>
              <a:rPr lang="en-US" dirty="0"/>
              <a:t>Predict sales based on customer and product data. </a:t>
            </a:r>
          </a:p>
          <a:p>
            <a:pPr lvl="1"/>
            <a:r>
              <a:rPr lang="en-US" dirty="0"/>
              <a:t>Predict health outcomes based on MRI scans.</a:t>
            </a:r>
          </a:p>
          <a:p>
            <a:pPr lvl="1"/>
            <a:r>
              <a:rPr lang="en-US" dirty="0"/>
              <a:t>Identify images based on labeled image data.  </a:t>
            </a:r>
          </a:p>
          <a:p>
            <a:pPr lvl="1"/>
            <a:r>
              <a:rPr lang="en-US" dirty="0"/>
              <a:t>Predict stock price based on financial data. </a:t>
            </a:r>
          </a:p>
          <a:p>
            <a:r>
              <a:rPr lang="en-US" dirty="0"/>
              <a:t>Increasingly prevalent in many/most business domains.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E9739-7EB1-1B3F-8DBA-E668C0899B8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55C569-B112-4D8C-B1B2-EEE93146C0F6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96039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8A3CF-ECCC-4F7C-AFFD-D7D2F56FA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in Tableau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68A68-0F39-9003-D81E-2CE71E594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732889" cy="2531498"/>
          </a:xfrm>
        </p:spPr>
        <p:txBody>
          <a:bodyPr>
            <a:normAutofit/>
          </a:bodyPr>
          <a:lstStyle/>
          <a:p>
            <a:r>
              <a:rPr lang="en-US" dirty="0"/>
              <a:t>We can do some simple regression in Tableau. </a:t>
            </a:r>
          </a:p>
          <a:p>
            <a:r>
              <a:rPr lang="en-US" dirty="0"/>
              <a:t>Tableau isn’t really a predictive tool, but for basic cases we can make it work. </a:t>
            </a:r>
          </a:p>
          <a:p>
            <a:pPr lvl="1"/>
            <a:r>
              <a:rPr lang="en-US" dirty="0"/>
              <a:t>The trend line can give us a regression. </a:t>
            </a:r>
          </a:p>
          <a:p>
            <a:r>
              <a:rPr lang="en-US" dirty="0"/>
              <a:t>We can create regression models:</a:t>
            </a:r>
          </a:p>
          <a:p>
            <a:pPr lvl="1"/>
            <a:r>
              <a:rPr lang="en-US" dirty="0"/>
              <a:t>Given these dimensions/measures, can we predict a target value?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8FBEF4-7464-25F9-20BF-553F2DDB042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55C569-B112-4D8C-B1B2-EEE93146C0F6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2C32F2-49EC-3A3D-C336-2F9D266DC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254" y="4266375"/>
            <a:ext cx="8431256" cy="233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50717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3A625-49F1-4735-9BFE-FC912B063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Progress Check 5-5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E80A22-CE70-4A3D-8867-74DA679BC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Q. Why would forecasting future sales, earnings and cash flows be considered predictive analytics?</a:t>
            </a:r>
          </a:p>
          <a:p>
            <a:r>
              <a:rPr lang="en-US" dirty="0"/>
              <a:t>Tableau Example - Forecasting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D02670-475A-49F7-AE32-FC61029505E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1451579" y="329307"/>
            <a:ext cx="5938836" cy="30920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105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605"/>
    </mc:Choice>
    <mc:Fallback xmlns="">
      <p:transition spd="slow" advTm="32605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4B046-B85F-9956-A90E-9543939EC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Forecasting in Tableau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C29E6-0195-E9DF-5A10-AF0AEDFA4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1193" y="1853754"/>
            <a:ext cx="9603275" cy="4130994"/>
          </a:xfrm>
        </p:spPr>
        <p:txBody>
          <a:bodyPr/>
          <a:lstStyle/>
          <a:p>
            <a:r>
              <a:rPr lang="en-US" dirty="0"/>
              <a:t>One predictive use of Tableau is time-series forecasting. </a:t>
            </a:r>
          </a:p>
          <a:p>
            <a:r>
              <a:rPr lang="en-US" dirty="0"/>
              <a:t>Time series forecasting is something we see in forward projections of something like a stock price. </a:t>
            </a:r>
          </a:p>
          <a:p>
            <a:r>
              <a:rPr lang="en-US" dirty="0"/>
              <a:t>Tableau has a few tools that can generate a forward-looking forecast from something that we can plot over time on a line chart. </a:t>
            </a:r>
          </a:p>
          <a:p>
            <a:r>
              <a:rPr lang="en-US" dirty="0"/>
              <a:t>Time series analysis is another branch of predictions:</a:t>
            </a:r>
          </a:p>
          <a:p>
            <a:pPr lvl="1"/>
            <a:r>
              <a:rPr lang="en-US" dirty="0"/>
              <a:t>Based on the idea of a moving average. </a:t>
            </a:r>
          </a:p>
          <a:p>
            <a:pPr lvl="1"/>
            <a:r>
              <a:rPr lang="en-US" dirty="0"/>
              <a:t>Additional factors like trend (up/down) and seasonality (wave-like variation)</a:t>
            </a:r>
          </a:p>
        </p:txBody>
      </p:sp>
    </p:spTree>
    <p:extLst>
      <p:ext uri="{BB962C8B-B14F-4D97-AF65-F5344CB8AC3E}">
        <p14:creationId xmlns:p14="http://schemas.microsoft.com/office/powerpoint/2010/main" val="251348109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6624B-306C-4966-C388-E0DE562A8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AE3F7-4CFF-B06F-C461-F462B5922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8FC44-BA3B-1030-731A-E0251DA4406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55C569-B112-4D8C-B1B2-EEE93146C0F6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3074" name="Picture 2" descr="Oracle Enterprise Performance Management Workspace, Fusion Edition User's  Guide">
            <a:extLst>
              <a:ext uri="{FF2B5EF4-FFF2-40B4-BE49-F238E27FC236}">
                <a16:creationId xmlns:a16="http://schemas.microsoft.com/office/drawing/2014/main" id="{1E3FC68E-1AD3-2C31-9178-0EC6CEC0A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560" y="347958"/>
            <a:ext cx="12272902" cy="6181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137492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37396-116F-F9ED-259F-7E7EF2917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8326" y="0"/>
            <a:ext cx="7315200" cy="596732"/>
          </a:xfrm>
        </p:spPr>
        <p:txBody>
          <a:bodyPr/>
          <a:lstStyle/>
          <a:p>
            <a:r>
              <a:rPr lang="en-US" dirty="0"/>
              <a:t>Example – Technical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4D94D-CFF5-8BA6-F5C7-6F9A1A555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F1AA-6EEA-CD3E-9A7C-3A73083F2DD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55C569-B112-4D8C-B1B2-EEE93146C0F6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4100" name="Picture 4" descr="Chart Patterns Cheat Sheet For Technical Analysis">
            <a:extLst>
              <a:ext uri="{FF2B5EF4-FFF2-40B4-BE49-F238E27FC236}">
                <a16:creationId xmlns:a16="http://schemas.microsoft.com/office/drawing/2014/main" id="{AB23D385-03A4-29D4-2760-3B15A94AFC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3"/>
          <a:stretch/>
        </p:blipFill>
        <p:spPr bwMode="auto">
          <a:xfrm>
            <a:off x="1348718" y="800430"/>
            <a:ext cx="9494564" cy="6057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778649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55FAA6-7C03-4FE2-840B-00F215037E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Prescriptive Analytics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1C0E00E-5325-DE3A-7ED8-722E92068D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957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33"/>
    </mc:Choice>
    <mc:Fallback xmlns="">
      <p:transition spd="slow" advTm="4033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of Prescriptive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Prescriptive analytics addresses the questions of “What should we do based on what we expect will happen?” and  “How do we optimize our performance based on potential constraints?”. </a:t>
            </a:r>
          </a:p>
          <a:p>
            <a:r>
              <a:rPr lang="en-US" dirty="0"/>
              <a:t>We define prescriptive analytics as analytics performed which identifies best possible options given constraints or changing conditions.</a:t>
            </a:r>
          </a:p>
          <a:p>
            <a:r>
              <a:rPr lang="en-US" dirty="0"/>
              <a:t>(Roughly) a predictive model predicts what will happen, combined with picking the optimal choice. </a:t>
            </a:r>
          </a:p>
          <a:p>
            <a:r>
              <a:rPr lang="en-US" dirty="0"/>
              <a:t>Highly situation dependent – we need to know “the business” to evaluate options and actions. </a:t>
            </a:r>
          </a:p>
        </p:txBody>
      </p:sp>
    </p:spTree>
    <p:extLst>
      <p:ext uri="{BB962C8B-B14F-4D97-AF65-F5344CB8AC3E}">
        <p14:creationId xmlns:p14="http://schemas.microsoft.com/office/powerpoint/2010/main" val="2350954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532"/>
    </mc:Choice>
    <mc:Fallback xmlns="">
      <p:transition spd="slow" advTm="19532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028" y="541173"/>
            <a:ext cx="9753680" cy="1088070"/>
          </a:xfrm>
        </p:spPr>
        <p:txBody>
          <a:bodyPr/>
          <a:lstStyle/>
          <a:p>
            <a:r>
              <a:rPr lang="en-US" dirty="0"/>
              <a:t>Tools Used in Prescriptive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6028" y="1903228"/>
            <a:ext cx="5209953" cy="4176562"/>
          </a:xfrm>
        </p:spPr>
        <p:txBody>
          <a:bodyPr>
            <a:noAutofit/>
          </a:bodyPr>
          <a:lstStyle/>
          <a:p>
            <a:pPr lvl="0"/>
            <a:r>
              <a:rPr lang="en-US" sz="1700" b="1" dirty="0"/>
              <a:t>Sensitivity Analytics </a:t>
            </a:r>
            <a:r>
              <a:rPr lang="en-US" sz="1700" dirty="0"/>
              <a:t>- evaluation of outcomes based on uncertainty regarding the inputs.  </a:t>
            </a:r>
          </a:p>
          <a:p>
            <a:pPr lvl="1"/>
            <a:r>
              <a:rPr lang="en-US" sz="1700" dirty="0"/>
              <a:t>What happens to Bank of America profits if the interest rates change from 3% to 4% or 5% or more?</a:t>
            </a:r>
          </a:p>
          <a:p>
            <a:pPr lvl="0"/>
            <a:r>
              <a:rPr lang="en-US" sz="1700" b="1" dirty="0"/>
              <a:t>Capital Budgeting </a:t>
            </a:r>
            <a:r>
              <a:rPr lang="en-US" sz="1700" dirty="0"/>
              <a:t>- evaluating future cash flows using various analytics techniques including net present value and internal rate of return.  </a:t>
            </a:r>
          </a:p>
          <a:p>
            <a:pPr lvl="1"/>
            <a:r>
              <a:rPr lang="en-US" sz="1700" dirty="0"/>
              <a:t>What are the cash flows associated with an investment in a new piece of equipment at Boeing, or a new truck at JB Hunt?</a:t>
            </a:r>
          </a:p>
          <a:p>
            <a:pPr lvl="1"/>
            <a:endParaRPr lang="en-US" sz="14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50F442-0E2A-4E8B-B4C4-18C2B0525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55981" y="1903228"/>
            <a:ext cx="4636859" cy="4086092"/>
          </a:xfrm>
        </p:spPr>
        <p:txBody>
          <a:bodyPr>
            <a:noAutofit/>
          </a:bodyPr>
          <a:lstStyle/>
          <a:p>
            <a:pPr lvl="0"/>
            <a:r>
              <a:rPr lang="en-US" sz="1700" b="1" dirty="0"/>
              <a:t>Marginal (or incremental) analytics </a:t>
            </a:r>
            <a:r>
              <a:rPr lang="en-US" sz="1700" dirty="0"/>
              <a:t>- technique used to determine the change in profit associated typically with the cost or benefit of the next (or the marginal) unit.  </a:t>
            </a:r>
          </a:p>
          <a:p>
            <a:pPr lvl="1"/>
            <a:r>
              <a:rPr lang="en-US" sz="1700" dirty="0"/>
              <a:t>Should Tesla make or buy their batteries? </a:t>
            </a:r>
          </a:p>
          <a:p>
            <a:pPr lvl="1"/>
            <a:r>
              <a:rPr lang="en-US" sz="1700" dirty="0"/>
              <a:t>Should Cisco sell its outdated routers at a bargain price? </a:t>
            </a:r>
          </a:p>
          <a:p>
            <a:pPr lvl="1"/>
            <a:r>
              <a:rPr lang="en-US" sz="1700" dirty="0"/>
              <a:t>Should Kellogg’s make new cereal products or stick with the existing ones?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9156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086"/>
    </mc:Choice>
    <mc:Fallback xmlns="">
      <p:transition spd="slow" advTm="77086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B5CD-6238-73D9-7250-F8A428648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Prescriptive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EDE5E-5513-E68E-0ECF-4C1BFFF78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Prescriptive analytics builds some logic to mirror the real-world scenario that a business is dealing with. </a:t>
            </a:r>
          </a:p>
          <a:p>
            <a:r>
              <a:rPr lang="en-US" dirty="0"/>
              <a:t>Then uses predictive model(s) to make predictions for what will happen. </a:t>
            </a:r>
          </a:p>
          <a:p>
            <a:r>
              <a:rPr lang="en-US" dirty="0"/>
              <a:t>These predictions combine with the “scenario” to produce prescriptions for action. </a:t>
            </a:r>
          </a:p>
          <a:p>
            <a:pPr lvl="1"/>
            <a:r>
              <a:rPr lang="en-US" dirty="0"/>
              <a:t>E.g. an airline can predict when planes will arrive late/early. They can also build some logic to plan for the impact – connecting passengers, airport charges, fuel, </a:t>
            </a:r>
            <a:r>
              <a:rPr lang="en-US" dirty="0" err="1"/>
              <a:t>etc</a:t>
            </a:r>
            <a:r>
              <a:rPr lang="en-US" dirty="0"/>
              <a:t>… to make decisions. </a:t>
            </a:r>
          </a:p>
        </p:txBody>
      </p:sp>
    </p:spTree>
    <p:extLst>
      <p:ext uri="{BB962C8B-B14F-4D97-AF65-F5344CB8AC3E}">
        <p14:creationId xmlns:p14="http://schemas.microsoft.com/office/powerpoint/2010/main" val="323764235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Making your case when the future is uncertain | Tornado chart">
            <a:extLst>
              <a:ext uri="{FF2B5EF4-FFF2-40B4-BE49-F238E27FC236}">
                <a16:creationId xmlns:a16="http://schemas.microsoft.com/office/drawing/2014/main" id="{43225F6D-3DC7-64FE-542A-A15641ED85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47"/>
          <a:stretch/>
        </p:blipFill>
        <p:spPr bwMode="auto">
          <a:xfrm>
            <a:off x="1139610" y="0"/>
            <a:ext cx="8761698" cy="6451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338091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Used in Prescriptive Analytics </a:t>
            </a:r>
            <a:r>
              <a:rPr lang="en-US" sz="1800" dirty="0"/>
              <a:t>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b="1" dirty="0"/>
              <a:t>Goal Seek Analytics </a:t>
            </a:r>
            <a:r>
              <a:rPr lang="en-US" dirty="0"/>
              <a:t>– a form of what-if analytics that tells us what will need to be done (or assumed) in order to reach a desired outcome, output or result.  </a:t>
            </a:r>
          </a:p>
          <a:p>
            <a:pPr lvl="1"/>
            <a:r>
              <a:rPr lang="en-US" dirty="0"/>
              <a:t>For McGraw Hill, what are the needed sales to breakeven on sales of this textbook?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498AD3-8D2D-4872-9DDB-4C10D29843C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/>
            <a:r>
              <a:rPr lang="en-US" b="1" dirty="0"/>
              <a:t>What-if Scenario Analytics </a:t>
            </a:r>
            <a:r>
              <a:rPr lang="en-US" dirty="0"/>
              <a:t>- analytics of potential future events by considering potential outcomes. </a:t>
            </a:r>
          </a:p>
          <a:p>
            <a:pPr lvl="1"/>
            <a:r>
              <a:rPr lang="en-US" dirty="0"/>
              <a:t>What is the sensitivity of GM sales to the mix of GM products?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330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828"/>
    </mc:Choice>
    <mc:Fallback xmlns="">
      <p:transition spd="slow" advTm="53828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B03AB-A44B-D442-2EE7-4FEC45EAC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Schedule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8CF3D-BE64-87D3-F5B0-FF03B2CC6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6106" y="1853754"/>
            <a:ext cx="5865894" cy="41997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One common example of prescriptive analytics is automatic schedule optimization. </a:t>
            </a:r>
          </a:p>
          <a:p>
            <a:r>
              <a:rPr lang="en-US" dirty="0"/>
              <a:t>Inputs to creating a schedule:</a:t>
            </a:r>
          </a:p>
          <a:p>
            <a:pPr lvl="1"/>
            <a:r>
              <a:rPr lang="en-US" dirty="0"/>
              <a:t>Predict volume of customers based on past sales. </a:t>
            </a:r>
          </a:p>
          <a:p>
            <a:pPr lvl="1"/>
            <a:r>
              <a:rPr lang="en-US" dirty="0"/>
              <a:t>Estimate workers needed for that “busyness”. </a:t>
            </a:r>
          </a:p>
          <a:p>
            <a:pPr lvl="1"/>
            <a:r>
              <a:rPr lang="en-US" dirty="0"/>
              <a:t>Add “rules” shift lengths, required hours, OT,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Look at employee availability, skills, and hours. </a:t>
            </a:r>
          </a:p>
          <a:p>
            <a:r>
              <a:rPr lang="en-US" dirty="0"/>
              <a:t>Create a schedule that has optimal coverage. </a:t>
            </a:r>
          </a:p>
          <a:p>
            <a:pPr lvl="1"/>
            <a:r>
              <a:rPr lang="en-US" dirty="0"/>
              <a:t>Less ”waste” of employees at quite times. </a:t>
            </a:r>
          </a:p>
          <a:p>
            <a:r>
              <a:rPr lang="en-US" dirty="0"/>
              <a:t>If you’ve gotten dumb retail schedules, look here…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548D5F-3395-E5A4-B398-C22111F12D6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55C569-B112-4D8C-B1B2-EEE93146C0F6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2050" name="Picture 2" descr="Schedule Optimization Approaches and Use Cases | AltexSoft">
            <a:extLst>
              <a:ext uri="{FF2B5EF4-FFF2-40B4-BE49-F238E27FC236}">
                <a16:creationId xmlns:a16="http://schemas.microsoft.com/office/drawing/2014/main" id="{24E435A9-DFD0-56A6-B4CB-BB9DBC1548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45" t="12734" r="5318"/>
          <a:stretch/>
        </p:blipFill>
        <p:spPr bwMode="auto">
          <a:xfrm>
            <a:off x="-1" y="1853754"/>
            <a:ext cx="6326107" cy="4199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333887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D529E31-B5A1-5F5C-D920-A0F7AB1DF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Schedule Optimization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21D0460-E772-79B6-C625-858CF970E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72B517-B158-B5E1-20BF-0C69597F34F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55C569-B112-4D8C-B1B2-EEE93146C0F6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026" name="Picture 2" descr="PDF] Retail store scheduling for profit | Semantic Scholar">
            <a:extLst>
              <a:ext uri="{FF2B5EF4-FFF2-40B4-BE49-F238E27FC236}">
                <a16:creationId xmlns:a16="http://schemas.microsoft.com/office/drawing/2014/main" id="{85C1C4FD-9806-EA33-4437-4D56E86641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6100" y="1853754"/>
            <a:ext cx="8559800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629962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Progress Check 5-6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67625A5-2999-4DFA-964B-A78AE0B9E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Q. What is capital budgeting, and why is it considered to be part of prescriptive analytics?</a:t>
            </a:r>
          </a:p>
        </p:txBody>
      </p:sp>
    </p:spTree>
    <p:extLst>
      <p:ext uri="{BB962C8B-B14F-4D97-AF65-F5344CB8AC3E}">
        <p14:creationId xmlns:p14="http://schemas.microsoft.com/office/powerpoint/2010/main" val="3928495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103"/>
    </mc:Choice>
    <mc:Fallback xmlns="">
      <p:transition spd="slow" advTm="32103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53E5EFB-5D8F-448C-8D8C-88E1536C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50C57D-10A3-4F20-B950-5F6AFB190A4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fld id="{E555C569-B112-4D8C-B1B2-EEE93146C0F6}" type="slidenum">
              <a:rPr lang="en-US" smtClean="0"/>
              <a:t>65</a:t>
            </a:fld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3266DB3-8941-4BB2-82C4-DCB6A647F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Montserrat" panose="020B0604020202020204" charset="0"/>
              </a:rPr>
              <a:t>Types of Data Analytics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91875C7-A9B1-461A-9A23-EEE1CD02E0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45745" y="1773071"/>
            <a:ext cx="3962246" cy="389096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BD0DFC6-8C31-4673-835C-538A9A1E07A3}"/>
              </a:ext>
            </a:extLst>
          </p:cNvPr>
          <p:cNvSpPr/>
          <p:nvPr/>
        </p:nvSpPr>
        <p:spPr>
          <a:xfrm>
            <a:off x="3869268" y="6065272"/>
            <a:ext cx="6096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dirty="0"/>
              <a:t>EXHIBIT 5.11 Circumplex of Descriptive, Diagnostic, Predictive and Prescriptive Analytics and Analytics Techniques</a:t>
            </a:r>
          </a:p>
        </p:txBody>
      </p:sp>
    </p:spTree>
    <p:extLst>
      <p:ext uri="{BB962C8B-B14F-4D97-AF65-F5344CB8AC3E}">
        <p14:creationId xmlns:p14="http://schemas.microsoft.com/office/powerpoint/2010/main" val="21788146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3A625-49F1-4735-9BFE-FC912B0632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Stats and Analytics in Excel:</a:t>
            </a:r>
            <a:br>
              <a:rPr lang="en-US" dirty="0"/>
            </a:br>
            <a:r>
              <a:rPr lang="en-US" dirty="0"/>
              <a:t>We’ll Separate This for Later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71161F93-47D2-6CCB-F99E-959DB6C1C5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F3EE12-ECCC-422F-81B6-525DBD1370C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437664" y="798973"/>
            <a:ext cx="811019" cy="503578"/>
          </a:xfrm>
          <a:prstGeom prst="rect">
            <a:avLst/>
          </a:prstGeom>
        </p:spPr>
        <p:txBody>
          <a:bodyPr/>
          <a:lstStyle/>
          <a:p>
            <a:fld id="{E555C569-B112-4D8C-B1B2-EEE93146C0F6}" type="slidenum">
              <a:rPr lang="en-US" smtClean="0"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3674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634"/>
    </mc:Choice>
    <mc:Fallback>
      <p:transition spd="slow" advTm="19634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3A625-49F1-4735-9BFE-FC912B0632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Review of Basic Statistics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3A5F5E-EA3F-496F-A741-F9F7896D9A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LO 5-7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F3EE12-ECCC-422F-81B6-525DBD1370C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437664" y="798973"/>
            <a:ext cx="811019" cy="503578"/>
          </a:xfrm>
          <a:prstGeom prst="rect">
            <a:avLst/>
          </a:prstGeom>
        </p:spPr>
        <p:txBody>
          <a:bodyPr/>
          <a:lstStyle/>
          <a:p>
            <a:fld id="{E555C569-B112-4D8C-B1B2-EEE93146C0F6}" type="slidenum">
              <a:rPr lang="en-US" smtClean="0"/>
              <a:t>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882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634"/>
    </mc:Choice>
    <mc:Fallback xmlns="">
      <p:transition spd="slow" advTm="19634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29F804-369D-4F84-B1AC-E63DABE45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Population vs. Sample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9C5AFF-B3E6-4A82-AA95-3D91C48E7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Population</a:t>
            </a:r>
            <a:r>
              <a:rPr lang="en-US" dirty="0"/>
              <a:t> - a group of phenomenon having something in common</a:t>
            </a:r>
          </a:p>
          <a:p>
            <a:r>
              <a:rPr lang="en-US" b="1" dirty="0"/>
              <a:t>Sample</a:t>
            </a:r>
            <a:r>
              <a:rPr lang="en-US" dirty="0"/>
              <a:t> - a subset of members of a population selected to represent that population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421E2D-FC66-423A-9BCD-5E8392DBFE3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fld id="{E555C569-B112-4D8C-B1B2-EEE93146C0F6}" type="slidenum">
              <a:rPr lang="en-US" smtClean="0"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26579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29F804-369D-4F84-B1AC-E63DABE45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Parameters vs. Statistics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B9C5AFF-B3E6-4A82-AA95-3D91C48E7F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Parameter </a:t>
                </a:r>
                <a:r>
                  <a:rPr lang="en-US" dirty="0"/>
                  <a:t>– a characteristic of a population (</a:t>
                </a:r>
                <a:r>
                  <a:rPr lang="el-GR" dirty="0"/>
                  <a:t>μ</a:t>
                </a:r>
                <a:r>
                  <a:rPr lang="en-US" dirty="0"/>
                  <a:t>)</a:t>
                </a:r>
              </a:p>
              <a:p>
                <a:endParaRPr lang="en-US" b="1" dirty="0"/>
              </a:p>
              <a:p>
                <a:r>
                  <a:rPr lang="en-US" b="1" dirty="0"/>
                  <a:t>Statistic</a:t>
                </a:r>
                <a:r>
                  <a:rPr lang="en-US" dirty="0"/>
                  <a:t> – a characteristic of a sample (x-bar, or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B9C5AFF-B3E6-4A82-AA95-3D91C48E7F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421E2D-FC66-423A-9BCD-5E8392DBFE3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fld id="{E555C569-B112-4D8C-B1B2-EEE93146C0F6}" type="slidenum">
              <a:rPr lang="en-US" smtClean="0"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60339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Normal Distribution </a:t>
            </a:r>
            <a:r>
              <a:rPr lang="en-US" dirty="0"/>
              <a:t>– bell-shaped curve</a:t>
            </a:r>
          </a:p>
          <a:p>
            <a:endParaRPr lang="en-US" dirty="0"/>
          </a:p>
          <a:p>
            <a:r>
              <a:rPr lang="en-US" b="1" dirty="0"/>
              <a:t>Uniform Distribution </a:t>
            </a:r>
            <a:r>
              <a:rPr lang="en-US" dirty="0"/>
              <a:t>– every outcome equally likely</a:t>
            </a:r>
          </a:p>
          <a:p>
            <a:endParaRPr lang="en-US" b="1" dirty="0"/>
          </a:p>
          <a:p>
            <a:r>
              <a:rPr lang="en-US" b="1" dirty="0"/>
              <a:t>Poisson Distribution – </a:t>
            </a:r>
            <a:r>
              <a:rPr lang="en-US" dirty="0"/>
              <a:t>low mean and being highly skewed to the right; mean number of events per interval of space or time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0E791A-7D7D-49A4-ADD2-5B038EC5177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fld id="{E555C569-B112-4D8C-B1B2-EEE93146C0F6}" type="slidenum">
              <a:rPr lang="en-US" smtClean="0"/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21618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 Distribution, Means and Standard Deviations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8B6A932-45D9-4D34-ACEA-6993473240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24362" y="2299494"/>
            <a:ext cx="3657600" cy="28829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63EE95-7D47-4413-88D4-A9D4B65E058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fld id="{E555C569-B112-4D8C-B1B2-EEE93146C0F6}" type="slidenum">
              <a:rPr lang="en-US" smtClean="0"/>
              <a:t>71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905829" y="6002437"/>
            <a:ext cx="455926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EXHIBIT 5.13 Normal Distribution and the Frequency of Observations around its Mean</a:t>
            </a:r>
          </a:p>
        </p:txBody>
      </p:sp>
    </p:spTree>
    <p:extLst>
      <p:ext uri="{BB962C8B-B14F-4D97-AF65-F5344CB8AC3E}">
        <p14:creationId xmlns:p14="http://schemas.microsoft.com/office/powerpoint/2010/main" val="1378741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343"/>
    </mc:Choice>
    <mc:Fallback xmlns="">
      <p:transition spd="slow" advTm="40343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Null Hypothesis</a:t>
            </a:r>
            <a:r>
              <a:rPr lang="en-US" dirty="0"/>
              <a:t>: assumes the hypothesized relationship does not exist, that there is no significant difference between two samples or populations</a:t>
            </a:r>
          </a:p>
          <a:p>
            <a:pPr lvl="1"/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: We expect that there is no difference in sales returns between holiday and non-holiday season.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1D0EB9-26F4-4C5E-8019-B64FCA2BF3A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Alternative Hypothesis</a:t>
            </a:r>
            <a:r>
              <a:rPr lang="en-US" dirty="0"/>
              <a:t>: a hypothesis used in hypothesis testing that is opposite of the null hypothesis, or a potential result that the analyst may expect</a:t>
            </a:r>
          </a:p>
          <a:p>
            <a:pPr lvl="1">
              <a:lnSpc>
                <a:spcPct val="95000"/>
              </a:lnSpc>
            </a:pPr>
            <a:r>
              <a:rPr lang="en-US" dirty="0"/>
              <a:t>H</a:t>
            </a:r>
            <a:r>
              <a:rPr lang="en-US" baseline="-25000" dirty="0"/>
              <a:t>A</a:t>
            </a:r>
            <a:r>
              <a:rPr lang="en-US" dirty="0"/>
              <a:t>: We expect that there greater sales returns during the holiday season as compared to the non-holiday season.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1AB94-BA79-4FEB-955B-532F556CA01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fld id="{E555C569-B112-4D8C-B1B2-EEE93146C0F6}" type="slidenum">
              <a:rPr lang="en-US" smtClean="0"/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15089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Alpha, p-values and Confidence Intervals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are two types of results from a statistical test of hypotheses that may occur or may be interpreted in different ways: the </a:t>
            </a:r>
            <a:r>
              <a:rPr lang="en-US" i="1" dirty="0"/>
              <a:t>p</a:t>
            </a:r>
            <a:r>
              <a:rPr lang="en-US" dirty="0"/>
              <a:t>-value and/or confidence intervals.</a:t>
            </a:r>
          </a:p>
          <a:p>
            <a:pPr lvl="1"/>
            <a:r>
              <a:rPr lang="en-US" dirty="0"/>
              <a:t>The </a:t>
            </a:r>
            <a:r>
              <a:rPr lang="en-US" i="1" dirty="0"/>
              <a:t>p</a:t>
            </a:r>
            <a:r>
              <a:rPr lang="en-US" dirty="0"/>
              <a:t>-value is compared to a threshold value, called the significance level (or alpha). A common value used for alpha is 5% or 0.05 (as is 1% or 0.01).</a:t>
            </a:r>
          </a:p>
          <a:p>
            <a:r>
              <a:rPr lang="en-US" b="1" dirty="0"/>
              <a:t>If p-value &gt; alpha</a:t>
            </a:r>
            <a:r>
              <a:rPr lang="en-US" dirty="0"/>
              <a:t>: Fail to reject the null hypothesis (i.e. not significant result).</a:t>
            </a:r>
          </a:p>
          <a:p>
            <a:r>
              <a:rPr lang="en-US" b="1" dirty="0"/>
              <a:t>If p-value &lt;= alpha</a:t>
            </a:r>
            <a:r>
              <a:rPr lang="en-US" dirty="0"/>
              <a:t>: Reject the null hypothesis (i.e. significant result).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3471A6-4880-43C9-99DC-FBF25531D3D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fld id="{E555C569-B112-4D8C-B1B2-EEE93146C0F6}" type="slidenum">
              <a:rPr lang="en-US" smtClean="0"/>
              <a:t>73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28126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9268" y="501650"/>
            <a:ext cx="7315200" cy="1459673"/>
          </a:xfrm>
        </p:spPr>
        <p:txBody>
          <a:bodyPr>
            <a:normAutofit/>
          </a:bodyPr>
          <a:lstStyle/>
          <a:p>
            <a:r>
              <a:rPr lang="en-US" dirty="0"/>
              <a:t>Alpha, p-values and Confidence Intervals </a:t>
            </a:r>
            <a:r>
              <a:rPr lang="en-US" sz="2000" dirty="0"/>
              <a:t>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5305" y="1961324"/>
            <a:ext cx="7828548" cy="4395026"/>
          </a:xfrm>
        </p:spPr>
        <p:txBody>
          <a:bodyPr>
            <a:normAutofit lnSpcReduction="10000"/>
          </a:bodyPr>
          <a:lstStyle/>
          <a:p>
            <a:r>
              <a:rPr lang="en-US" sz="2200" dirty="0"/>
              <a:t>For example, if alpha (α) is 5%, then the confidence level is 95%. </a:t>
            </a:r>
          </a:p>
          <a:p>
            <a:pPr lvl="1"/>
            <a:r>
              <a:rPr lang="en-US" sz="1900" dirty="0">
                <a:solidFill>
                  <a:schemeClr val="tx1"/>
                </a:solidFill>
              </a:rPr>
              <a:t>The 95%of the figure represents the confidence interval—we are 95%confident that the true population parameter of Saturday and Sunday sales falls somewhere in that area. Generally, the 95% interval is +/– two standard deviations around the mean. </a:t>
            </a:r>
          </a:p>
          <a:p>
            <a:r>
              <a:rPr lang="en-US" sz="2200" dirty="0"/>
              <a:t>Therefore, statements such as the following can also be made:</a:t>
            </a:r>
          </a:p>
          <a:p>
            <a:pPr lvl="1"/>
            <a:r>
              <a:rPr lang="en-US" sz="1900" dirty="0"/>
              <a:t>With a </a:t>
            </a:r>
            <a:r>
              <a:rPr lang="en-US" sz="1900" i="1" dirty="0"/>
              <a:t>p</a:t>
            </a:r>
            <a:r>
              <a:rPr lang="en-US" sz="1900" dirty="0"/>
              <a:t>-value of 0.09, the test found that Saturday and Sunday sales are not different than Sunday sales, failing to reject the null hypothesis at a 95 percent confidence level</a:t>
            </a:r>
            <a:r>
              <a:rPr lang="en-US" dirty="0"/>
              <a:t>. </a:t>
            </a:r>
          </a:p>
          <a:p>
            <a:r>
              <a:rPr lang="en-US" sz="2200" dirty="0"/>
              <a:t>This statistical result should then be reported to management, reporting the results of the statistical test.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F2D340-BB65-406D-9D7A-12A71DAEBE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fld id="{E555C569-B112-4D8C-B1B2-EEE93146C0F6}" type="slidenum">
              <a:rPr lang="en-US" smtClean="0"/>
              <a:t>74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52452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25516" y="351969"/>
            <a:ext cx="7558952" cy="1609354"/>
          </a:xfrm>
        </p:spPr>
        <p:txBody>
          <a:bodyPr/>
          <a:lstStyle/>
          <a:p>
            <a:r>
              <a:rPr lang="en-US" dirty="0"/>
              <a:t>Review of Hypothesis Testing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E5D6DF3-3921-4A66-B0B4-BC0F9D524D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5516" y="1608395"/>
            <a:ext cx="7921679" cy="421701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81B32-01EE-409D-A03A-415E5B2A070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fld id="{E555C569-B112-4D8C-B1B2-EEE93146C0F6}" type="slidenum">
              <a:rPr lang="en-US" smtClean="0"/>
              <a:t>75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359729" y="5982594"/>
            <a:ext cx="42290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EXHIBIT 5.14 Statistical Testing Using Alpha, p-Values, and Confidence Intervals</a:t>
            </a:r>
          </a:p>
        </p:txBody>
      </p:sp>
    </p:spTree>
    <p:extLst>
      <p:ext uri="{BB962C8B-B14F-4D97-AF65-F5344CB8AC3E}">
        <p14:creationId xmlns:p14="http://schemas.microsoft.com/office/powerpoint/2010/main" val="1144640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801"/>
    </mc:Choice>
    <mc:Fallback xmlns="">
      <p:transition spd="slow" advTm="5580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can think about this like an algebraic equation where </a:t>
            </a:r>
            <a:r>
              <a:rPr lang="en-US" i="1" dirty="0"/>
              <a:t>y</a:t>
            </a:r>
            <a:r>
              <a:rPr lang="en-US" dirty="0"/>
              <a:t> is the dependent variable and </a:t>
            </a:r>
            <a:r>
              <a:rPr lang="en-US" i="1" dirty="0"/>
              <a:t>x</a:t>
            </a:r>
            <a:r>
              <a:rPr lang="en-US" dirty="0"/>
              <a:t> is the independent variables, where </a:t>
            </a:r>
            <a:r>
              <a:rPr lang="en-US" i="1" dirty="0"/>
              <a:t>y</a:t>
            </a:r>
            <a:r>
              <a:rPr lang="en-US" dirty="0"/>
              <a:t> = 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). </a:t>
            </a:r>
          </a:p>
          <a:p>
            <a:endParaRPr lang="en-US" dirty="0"/>
          </a:p>
          <a:p>
            <a:r>
              <a:rPr lang="en-US" dirty="0"/>
              <a:t>Let’s imagine we are considering the relationship between SAT scores and the college completion rate for first-time, full-time students at four-year institutions. </a:t>
            </a:r>
          </a:p>
          <a:p>
            <a:endParaRPr lang="en-US" dirty="0"/>
          </a:p>
          <a:p>
            <a:r>
              <a:rPr lang="en-US" dirty="0"/>
              <a:t>In this example </a:t>
            </a:r>
            <a:r>
              <a:rPr lang="en-US" i="1" dirty="0"/>
              <a:t>y</a:t>
            </a:r>
            <a:r>
              <a:rPr lang="en-US" dirty="0"/>
              <a:t> (college completion rate) = </a:t>
            </a:r>
            <a:r>
              <a:rPr lang="en-US" i="1" dirty="0"/>
              <a:t>f</a:t>
            </a:r>
            <a:r>
              <a:rPr lang="en-US" dirty="0"/>
              <a:t> (factors potentially predicting college completion rate), including the independent variable SAT score (SAT_AVG).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DC53E6-1384-48F0-B804-5DA0E6772D0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fld id="{E555C569-B112-4D8C-B1B2-EEE93146C0F6}" type="slidenum">
              <a:rPr lang="en-US" smtClean="0"/>
              <a:t>76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88673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the Regression Output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5487" y="2016125"/>
            <a:ext cx="7915351" cy="344963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2C8F5-A8CC-489C-9537-2EDBA45C5CA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fld id="{E555C569-B112-4D8C-B1B2-EEE93146C0F6}" type="slidenum">
              <a:rPr lang="en-US" smtClean="0"/>
              <a:t>77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101797" y="2405575"/>
            <a:ext cx="273664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Model Significance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chemeClr val="accent1"/>
                </a:solidFill>
              </a:rPr>
              <a:t>Variable Significance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6153730" y="2874367"/>
            <a:ext cx="4065564" cy="1533378"/>
          </a:xfrm>
          <a:prstGeom prst="straightConnector1">
            <a:avLst/>
          </a:prstGeom>
          <a:ln w="3810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5190978" y="4091841"/>
            <a:ext cx="4065564" cy="1533378"/>
          </a:xfrm>
          <a:prstGeom prst="straightConnector1">
            <a:avLst/>
          </a:prstGeom>
          <a:ln w="3810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09C8978-5339-4C7D-94DF-262B20FF7C94}"/>
              </a:ext>
            </a:extLst>
          </p:cNvPr>
          <p:cNvSpPr/>
          <p:nvPr/>
        </p:nvSpPr>
        <p:spPr>
          <a:xfrm>
            <a:off x="3777026" y="5779541"/>
            <a:ext cx="6096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dirty="0"/>
              <a:t>EXHIBIT 5.16 Regression Results Explaining College Completion Rate </a:t>
            </a:r>
          </a:p>
        </p:txBody>
      </p:sp>
    </p:spTree>
    <p:extLst>
      <p:ext uri="{BB962C8B-B14F-4D97-AF65-F5344CB8AC3E}">
        <p14:creationId xmlns:p14="http://schemas.microsoft.com/office/powerpoint/2010/main" val="164824569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6FB45B7-BB44-4D0C-99D5-E5B5339A7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143000"/>
            <a:ext cx="3449053" cy="2286000"/>
          </a:xfrm>
        </p:spPr>
        <p:txBody>
          <a:bodyPr>
            <a:normAutofit/>
          </a:bodyPr>
          <a:lstStyle/>
          <a:p>
            <a:r>
              <a:rPr lang="en-US" dirty="0"/>
              <a:t>Analytics Types, Examples, and Excel Tools/Functions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4788219"/>
              </p:ext>
            </p:extLst>
          </p:nvPr>
        </p:nvGraphicFramePr>
        <p:xfrm>
          <a:off x="3867150" y="868363"/>
          <a:ext cx="7613650" cy="5184839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788496">
                  <a:extLst>
                    <a:ext uri="{9D8B030D-6E8A-4147-A177-3AD203B41FA5}">
                      <a16:colId xmlns:a16="http://schemas.microsoft.com/office/drawing/2014/main" val="1372022199"/>
                    </a:ext>
                  </a:extLst>
                </a:gridCol>
                <a:gridCol w="2913386">
                  <a:extLst>
                    <a:ext uri="{9D8B030D-6E8A-4147-A177-3AD203B41FA5}">
                      <a16:colId xmlns:a16="http://schemas.microsoft.com/office/drawing/2014/main" val="450145158"/>
                    </a:ext>
                  </a:extLst>
                </a:gridCol>
                <a:gridCol w="2911768">
                  <a:extLst>
                    <a:ext uri="{9D8B030D-6E8A-4147-A177-3AD203B41FA5}">
                      <a16:colId xmlns:a16="http://schemas.microsoft.com/office/drawing/2014/main" val="1182136662"/>
                    </a:ext>
                  </a:extLst>
                </a:gridCol>
              </a:tblGrid>
              <a:tr h="42522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Accounting Data Analytics Type</a:t>
                      </a:r>
                      <a:endParaRPr lang="en-US" sz="14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149" marR="4014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Specific Types of Analytics Employed</a:t>
                      </a:r>
                      <a:endParaRPr lang="en-US" sz="14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149" marR="4014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Microsoft Excel Tools/Functions</a:t>
                      </a:r>
                      <a:endParaRPr lang="en-US" sz="14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149" marR="40149" marT="0" marB="0"/>
                </a:tc>
                <a:extLst>
                  <a:ext uri="{0D108BD9-81ED-4DB2-BD59-A6C34878D82A}">
                    <a16:rowId xmlns:a16="http://schemas.microsoft.com/office/drawing/2014/main" val="585746196"/>
                  </a:ext>
                </a:extLst>
              </a:tr>
              <a:tr h="100069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Descriptive</a:t>
                      </a:r>
                      <a:endParaRPr lang="en-US" sz="14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149" marR="4014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Descriptive statistics such as counts, totals, sums, averages, standard reports, financial statements; histogram, box plots, graphs, charts</a:t>
                      </a:r>
                      <a:endParaRPr lang="en-US" sz="14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149" marR="4014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SUM(), COUNT(), COUNTIF(), AVERAGE(), SUBTOTAL(), MEDIAN(); Pivottables; quartiles, quintiles, deciles, charts/graphs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Analysis toolpak: histogram, descriptive statistics</a:t>
                      </a:r>
                      <a:endParaRPr lang="en-US" sz="14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149" marR="40149" marT="0" marB="0"/>
                </a:tc>
                <a:extLst>
                  <a:ext uri="{0D108BD9-81ED-4DB2-BD59-A6C34878D82A}">
                    <a16:rowId xmlns:a16="http://schemas.microsoft.com/office/drawing/2014/main" val="683972730"/>
                  </a:ext>
                </a:extLst>
              </a:tr>
              <a:tr h="143230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Diagnostic</a:t>
                      </a:r>
                      <a:endParaRPr lang="en-US" sz="14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149" marR="4014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Variances, differences from expectations, correlations, identify outliers/anomalies (fuzzy lookup); sequence testing, drill-downs and roll-ups to get detail when needed, pivottables (crosstabulations); principal component analysis clustering, hypothesis testing</a:t>
                      </a:r>
                      <a:endParaRPr lang="en-US" sz="14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149" marR="4014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Pivottables;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Analysis toolpak: Testing of means of various groups (t-test), correlation, rank, and percentile</a:t>
                      </a:r>
                    </a:p>
                    <a:p>
                      <a:pPr marL="457200" marR="0" indent="-4572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Conditional formatting</a:t>
                      </a:r>
                    </a:p>
                    <a:p>
                      <a:pPr marL="457200" marR="0" indent="-4572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Excel add-in: Fuzzy lookup</a:t>
                      </a:r>
                    </a:p>
                    <a:p>
                      <a:pPr marL="457200" marR="0" indent="-4572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 </a:t>
                      </a:r>
                      <a:endParaRPr lang="en-US" sz="14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149" marR="40149" marT="0" marB="0"/>
                </a:tc>
                <a:extLst>
                  <a:ext uri="{0D108BD9-81ED-4DB2-BD59-A6C34878D82A}">
                    <a16:rowId xmlns:a16="http://schemas.microsoft.com/office/drawing/2014/main" val="1434112117"/>
                  </a:ext>
                </a:extLst>
              </a:tr>
              <a:tr h="28135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Predictive</a:t>
                      </a:r>
                      <a:endParaRPr lang="en-US" sz="14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149" marR="4014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Classifications, regressions, time series </a:t>
                      </a:r>
                      <a:endParaRPr lang="en-US" sz="14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149" marR="4014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Analysis toolpak: correlation, regression, forecasting sheet</a:t>
                      </a:r>
                      <a:endParaRPr lang="en-US" sz="14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149" marR="40149" marT="0" marB="0"/>
                </a:tc>
                <a:extLst>
                  <a:ext uri="{0D108BD9-81ED-4DB2-BD59-A6C34878D82A}">
                    <a16:rowId xmlns:a16="http://schemas.microsoft.com/office/drawing/2014/main" val="2664256361"/>
                  </a:ext>
                </a:extLst>
              </a:tr>
              <a:tr h="56908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Prescriptive</a:t>
                      </a:r>
                      <a:endParaRPr lang="en-US" sz="14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149" marR="4014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Optimization, what-if scenarios, sensitivity analytics, simulation, machine learning</a:t>
                      </a:r>
                      <a:endParaRPr lang="en-US" sz="14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149" marR="4014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What-if analytics, sensitivity analytics, scenario manager, goal seek, NPV(), IRR()</a:t>
                      </a:r>
                      <a:endParaRPr lang="en-US" sz="14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149" marR="40149" marT="0" marB="0"/>
                </a:tc>
                <a:extLst>
                  <a:ext uri="{0D108BD9-81ED-4DB2-BD59-A6C34878D82A}">
                    <a16:rowId xmlns:a16="http://schemas.microsoft.com/office/drawing/2014/main" val="135126265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DFC3CA-B6D9-42BE-8A59-428C93E1C7B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fld id="{E555C569-B112-4D8C-B1B2-EEE93146C0F6}" type="slidenum">
              <a:rPr lang="en-US" smtClean="0"/>
              <a:t>78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94397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D02670-475A-49F7-AE32-FC6102950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C3647-FA96-4A21-8FE6-381221D1F49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fld id="{E555C569-B112-4D8C-B1B2-EEE93146C0F6}" type="slidenum">
              <a:rPr lang="en-US" smtClean="0"/>
              <a:t>79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3A625-49F1-4735-9BFE-FC912B063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Progress Check 5-7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E80A22-CE70-4A3D-8867-74DA679BC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Q. Let’s suppose we are comparing the ROA of retail companies to the ROA of manufacturing companies. We perform a two-sample t-test, resulting in a p-value of 0.11. Assuming an alpha of 0.05, what can we conclude about these companies?</a:t>
            </a:r>
          </a:p>
        </p:txBody>
      </p:sp>
    </p:spTree>
    <p:extLst>
      <p:ext uri="{BB962C8B-B14F-4D97-AF65-F5344CB8AC3E}">
        <p14:creationId xmlns:p14="http://schemas.microsoft.com/office/powerpoint/2010/main" val="44987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605"/>
    </mc:Choice>
    <mc:Fallback xmlns="">
      <p:transition spd="slow" advTm="32605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B141E4-5EF5-40F0-AD72-0097561A27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Tools Used in Data Analytics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98F626A-138A-90B6-5E63-62F1E0A958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46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899"/>
    </mc:Choice>
    <mc:Fallback xmlns="">
      <p:transition spd="slow" advTm="15899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DE41F-9D44-8229-1274-72EC2AAA8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351EC-7F30-C4EA-6DC9-D5A4FE293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Basic data analysis can be done in Excel. </a:t>
            </a:r>
          </a:p>
          <a:p>
            <a:r>
              <a:rPr lang="en-US" dirty="0"/>
              <a:t>Simple statistics are easy to do. </a:t>
            </a:r>
          </a:p>
          <a:p>
            <a:r>
              <a:rPr lang="en-US" dirty="0"/>
              <a:t>Can use ”</a:t>
            </a:r>
            <a:r>
              <a:rPr lang="en-US" dirty="0" err="1"/>
              <a:t>if”s</a:t>
            </a:r>
            <a:r>
              <a:rPr lang="en-US" dirty="0"/>
              <a:t> and other formulas to create logic. </a:t>
            </a:r>
          </a:p>
          <a:p>
            <a:r>
              <a:rPr lang="en-US" dirty="0"/>
              <a:t>Analysis tools add more functionality like regression. </a:t>
            </a:r>
          </a:p>
          <a:p>
            <a:r>
              <a:rPr lang="en-US" dirty="0"/>
              <a:t>Note on Excel usage:</a:t>
            </a:r>
          </a:p>
          <a:p>
            <a:pPr lvl="1"/>
            <a:r>
              <a:rPr lang="en-US" dirty="0"/>
              <a:t>One of the largest problems in many businesses is the misuse of Excel. </a:t>
            </a:r>
          </a:p>
          <a:p>
            <a:pPr lvl="1"/>
            <a:r>
              <a:rPr lang="en-US" dirty="0"/>
              <a:t>Many complex things in Excel should be in a database. </a:t>
            </a:r>
          </a:p>
          <a:p>
            <a:pPr lvl="1"/>
            <a:r>
              <a:rPr lang="en-US" dirty="0"/>
              <a:t>Using Excel in place of a DB/app is less secure and stable. </a:t>
            </a:r>
          </a:p>
          <a:p>
            <a:pPr lvl="1"/>
            <a:r>
              <a:rPr lang="en-US" dirty="0"/>
              <a:t>One easy place to get credit is improving broken Excel. </a:t>
            </a:r>
          </a:p>
          <a:p>
            <a:r>
              <a:rPr lang="en-US" dirty="0"/>
              <a:t>We’ll do a little Excel analysis towards the end of semester.</a:t>
            </a:r>
          </a:p>
        </p:txBody>
      </p:sp>
    </p:spTree>
    <p:extLst>
      <p:ext uri="{BB962C8B-B14F-4D97-AF65-F5344CB8AC3E}">
        <p14:creationId xmlns:p14="http://schemas.microsoft.com/office/powerpoint/2010/main" val="129143562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2BC06-0D4E-B3A6-9A02-0C1771AA3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E99BC-BD75-C112-22A9-AB104D6F8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Tools like Tableau, </a:t>
            </a:r>
            <a:r>
              <a:rPr lang="en-US" dirty="0" err="1"/>
              <a:t>PowerBI</a:t>
            </a:r>
            <a:r>
              <a:rPr lang="en-US" dirty="0"/>
              <a:t>, </a:t>
            </a:r>
            <a:r>
              <a:rPr lang="en-US" dirty="0" err="1"/>
              <a:t>Qulik</a:t>
            </a:r>
            <a:r>
              <a:rPr lang="en-US" dirty="0"/>
              <a:t>, and others can create visualizations from data. </a:t>
            </a:r>
          </a:p>
          <a:p>
            <a:r>
              <a:rPr lang="en-US" dirty="0"/>
              <a:t>Visualizations are most useful to create better descriptive analytics. </a:t>
            </a:r>
          </a:p>
          <a:p>
            <a:r>
              <a:rPr lang="en-US" dirty="0"/>
              <a:t>The capabilities of visualization tools have changed reporting: </a:t>
            </a:r>
          </a:p>
          <a:p>
            <a:pPr lvl="1"/>
            <a:r>
              <a:rPr lang="en-US" dirty="0"/>
              <a:t>Many static reports have been replaced with dashboards. </a:t>
            </a:r>
          </a:p>
          <a:p>
            <a:pPr lvl="1"/>
            <a:r>
              <a:rPr lang="en-US" dirty="0"/>
              <a:t>Reporting is available up-to-the-minute. </a:t>
            </a:r>
          </a:p>
          <a:p>
            <a:pPr lvl="1"/>
            <a:r>
              <a:rPr lang="en-US" dirty="0"/>
              <a:t>Have made using large amounts of data more accessible. </a:t>
            </a:r>
          </a:p>
          <a:p>
            <a:pPr lvl="1"/>
            <a:r>
              <a:rPr lang="en-US" dirty="0"/>
              <a:t>Decision makers can better use data to make decisions. </a:t>
            </a:r>
          </a:p>
          <a:p>
            <a:r>
              <a:rPr lang="en-US" dirty="0"/>
              <a:t>Increasingly prevalent and common in “regular business”. </a:t>
            </a:r>
          </a:p>
        </p:txBody>
      </p:sp>
    </p:spTree>
    <p:extLst>
      <p:ext uri="{BB962C8B-B14F-4D97-AF65-F5344CB8AC3E}">
        <p14:creationId xmlns:p14="http://schemas.microsoft.com/office/powerpoint/2010/main" val="171608679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D27AB-0438-E293-BB97-36B98A36F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3C70D-928D-4B25-46C7-579A98BE0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610097-E832-F194-44A8-03F8B31F7A2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55C569-B112-4D8C-B1B2-EEE93146C0F6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9218" name="Picture 2" descr="What Is Power BI? Definition and Features | Microsoft Power BI">
            <a:extLst>
              <a:ext uri="{FF2B5EF4-FFF2-40B4-BE49-F238E27FC236}">
                <a16:creationId xmlns:a16="http://schemas.microsoft.com/office/drawing/2014/main" id="{6F79A0CB-FD53-2862-BBA1-F21C6BA775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25"/>
            <a:ext cx="12192000" cy="6837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102281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252A5-6083-998D-136C-CB714E8A0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4196C-6F1E-B89C-6C37-96CEA4A5D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large amount of older data analysis is done with statistical software. </a:t>
            </a:r>
          </a:p>
          <a:p>
            <a:pPr lvl="1"/>
            <a:r>
              <a:rPr lang="en-US" dirty="0"/>
              <a:t>E.g. SAS, SPSS, </a:t>
            </a:r>
            <a:r>
              <a:rPr lang="en-US" dirty="0" err="1"/>
              <a:t>Matlab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Target made programs to analyze data. </a:t>
            </a:r>
          </a:p>
          <a:p>
            <a:pPr lvl="1"/>
            <a:r>
              <a:rPr lang="en-US" dirty="0"/>
              <a:t>Some similar visualization abilities to Tableau. </a:t>
            </a:r>
          </a:p>
          <a:p>
            <a:pPr lvl="1"/>
            <a:r>
              <a:rPr lang="en-US" dirty="0"/>
              <a:t>Some calculations like Excel. </a:t>
            </a:r>
          </a:p>
          <a:p>
            <a:pPr lvl="1"/>
            <a:r>
              <a:rPr lang="en-US" dirty="0"/>
              <a:t>Some more advanced tools like predictive models. </a:t>
            </a:r>
          </a:p>
          <a:p>
            <a:r>
              <a:rPr lang="en-US" dirty="0"/>
              <a:t>These tools are common, but less important going forward in many areas. </a:t>
            </a:r>
          </a:p>
        </p:txBody>
      </p:sp>
    </p:spTree>
    <p:extLst>
      <p:ext uri="{BB962C8B-B14F-4D97-AF65-F5344CB8AC3E}">
        <p14:creationId xmlns:p14="http://schemas.microsoft.com/office/powerpoint/2010/main" val="244185560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7EA27-0FC3-8D53-A483-54534271B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618F3-BE49-C6A3-27F2-3D9D24F32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A273A7-75B8-67A5-AFC1-86A3AA3D2C7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55C569-B112-4D8C-B1B2-EEE93146C0F6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8194" name="Picture 2" descr="SPSS Statistics | IBM">
            <a:extLst>
              <a:ext uri="{FF2B5EF4-FFF2-40B4-BE49-F238E27FC236}">
                <a16:creationId xmlns:a16="http://schemas.microsoft.com/office/drawing/2014/main" id="{B75EC92F-EE39-F162-E2FF-23AC69B2DB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1219041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350649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A0AA4-BE42-0045-FD2D-8E321E9B8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Specific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6EDDF-F4F5-EA77-503F-DEF7E3B37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modern applications for “other stuff” have analytics built in. </a:t>
            </a:r>
          </a:p>
          <a:p>
            <a:pPr lvl="1"/>
            <a:r>
              <a:rPr lang="en-US" dirty="0"/>
              <a:t>ERP, account, LMS, Teams, web analytics,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Analytics can take different forms. </a:t>
            </a:r>
          </a:p>
          <a:p>
            <a:pPr lvl="1"/>
            <a:r>
              <a:rPr lang="en-US" dirty="0"/>
              <a:t>Lots of descriptive analytics to report data. </a:t>
            </a:r>
          </a:p>
          <a:p>
            <a:pPr lvl="1"/>
            <a:r>
              <a:rPr lang="en-US" dirty="0"/>
              <a:t>Predictions like sales forecasts or stock estimates. </a:t>
            </a:r>
          </a:p>
          <a:p>
            <a:pPr lvl="1"/>
            <a:r>
              <a:rPr lang="en-US" dirty="0"/>
              <a:t>Prescriptive like optimal pricing. </a:t>
            </a:r>
          </a:p>
          <a:p>
            <a:r>
              <a:rPr lang="en-US" dirty="0"/>
              <a:t>The use of analytics is often integrating into other roles.</a:t>
            </a:r>
          </a:p>
          <a:p>
            <a:pPr lvl="1"/>
            <a:r>
              <a:rPr lang="en-US" dirty="0"/>
              <a:t>Warehouse people may use stock forecasts to plan.  </a:t>
            </a:r>
          </a:p>
        </p:txBody>
      </p:sp>
    </p:spTree>
    <p:extLst>
      <p:ext uri="{BB962C8B-B14F-4D97-AF65-F5344CB8AC3E}">
        <p14:creationId xmlns:p14="http://schemas.microsoft.com/office/powerpoint/2010/main" val="288360233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459A5-BF0C-E277-BEF3-E900123CB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396B8-A082-2A59-EC02-37DC4D313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46B3C-3F6D-63C2-EB80-A19899E80DD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55C569-B112-4D8C-B1B2-EEE93146C0F6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7170" name="Picture 2" descr="Free Editable Supply Chain Diagram Examples | EdrawMax Online">
            <a:extLst>
              <a:ext uri="{FF2B5EF4-FFF2-40B4-BE49-F238E27FC236}">
                <a16:creationId xmlns:a16="http://schemas.microsoft.com/office/drawing/2014/main" id="{322AB509-2248-FD7B-2E99-D3AAE5C11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4150" y="0"/>
            <a:ext cx="92837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547874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D8039-EDB8-A712-2C75-D88059D4B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53CFD-39DB-48D5-5BBD-7249ACEDE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3"/>
            <a:ext cx="9603275" cy="4199727"/>
          </a:xfrm>
        </p:spPr>
        <p:txBody>
          <a:bodyPr>
            <a:normAutofit/>
          </a:bodyPr>
          <a:lstStyle/>
          <a:p>
            <a:r>
              <a:rPr lang="en-US" dirty="0"/>
              <a:t>Most predictive analytics is done through custom written software. </a:t>
            </a:r>
          </a:p>
          <a:p>
            <a:pPr lvl="1"/>
            <a:r>
              <a:rPr lang="en-US" dirty="0"/>
              <a:t>Teaching this stuff is my main job.</a:t>
            </a:r>
          </a:p>
          <a:p>
            <a:r>
              <a:rPr lang="en-US" dirty="0"/>
              <a:t>Programs can load data, do analysis, and output a model. </a:t>
            </a:r>
          </a:p>
          <a:p>
            <a:pPr lvl="1"/>
            <a:r>
              <a:rPr lang="en-US" dirty="0"/>
              <a:t>The model takes inputs and produces a prediction. </a:t>
            </a:r>
          </a:p>
          <a:p>
            <a:pPr lvl="1"/>
            <a:r>
              <a:rPr lang="en-US" dirty="0"/>
              <a:t>E.g. a model takes applicant info (salary, loan, rate, </a:t>
            </a:r>
            <a:r>
              <a:rPr lang="en-US" dirty="0" err="1"/>
              <a:t>etc</a:t>
            </a:r>
            <a:r>
              <a:rPr lang="en-US" dirty="0"/>
              <a:t>…) and predicts if they will pay it back. </a:t>
            </a:r>
          </a:p>
          <a:p>
            <a:r>
              <a:rPr lang="en-US" dirty="0"/>
              <a:t>Commonly used programming languages are:</a:t>
            </a:r>
          </a:p>
          <a:p>
            <a:pPr lvl="1"/>
            <a:r>
              <a:rPr lang="en-US" dirty="0"/>
              <a:t>Python – easy, most common, lots of tools. </a:t>
            </a:r>
          </a:p>
          <a:p>
            <a:pPr lvl="1"/>
            <a:r>
              <a:rPr lang="en-US" dirty="0"/>
              <a:t>R – language made to ”do stats”. Less common, slightly fewer tools available. </a:t>
            </a:r>
          </a:p>
          <a:p>
            <a:r>
              <a:rPr lang="en-US" dirty="0"/>
              <a:t>There are several libraries (packages of premade code) that make this much easier. </a:t>
            </a:r>
          </a:p>
        </p:txBody>
      </p:sp>
    </p:spTree>
    <p:extLst>
      <p:ext uri="{BB962C8B-B14F-4D97-AF65-F5344CB8AC3E}">
        <p14:creationId xmlns:p14="http://schemas.microsoft.com/office/powerpoint/2010/main" val="88647024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B8B63-F281-F41F-E894-D86CCFC19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Predictive Models from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3CF9B-C045-B4B4-1B91-6412CB509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49133"/>
          </a:xfrm>
        </p:spPr>
        <p:txBody>
          <a:bodyPr>
            <a:normAutofit/>
          </a:bodyPr>
          <a:lstStyle/>
          <a:p>
            <a:r>
              <a:rPr lang="en-US" dirty="0"/>
              <a:t>The predictive models are based on applications of some statistical concepts. </a:t>
            </a:r>
          </a:p>
          <a:p>
            <a:pPr lvl="1"/>
            <a:r>
              <a:rPr lang="en-US" dirty="0"/>
              <a:t>Linear regression. </a:t>
            </a:r>
          </a:p>
          <a:p>
            <a:pPr lvl="1"/>
            <a:r>
              <a:rPr lang="en-US" dirty="0"/>
              <a:t>Decision tree. </a:t>
            </a:r>
          </a:p>
          <a:p>
            <a:r>
              <a:rPr lang="en-US" dirty="0"/>
              <a:t>AI tools like </a:t>
            </a:r>
            <a:r>
              <a:rPr lang="en-US" dirty="0" err="1"/>
              <a:t>ChatGPT</a:t>
            </a:r>
            <a:r>
              <a:rPr lang="en-US" dirty="0"/>
              <a:t>, Alexa, Image Rec. and Seri are all based on large versions of this idea. </a:t>
            </a:r>
          </a:p>
          <a:p>
            <a:pPr lvl="1"/>
            <a:r>
              <a:rPr lang="en-US" dirty="0"/>
              <a:t>Based on a class of models called neural networks. </a:t>
            </a:r>
          </a:p>
          <a:p>
            <a:pPr lvl="1"/>
            <a:r>
              <a:rPr lang="en-US" dirty="0"/>
              <a:t>”Deep learning” models are just large neural networks. </a:t>
            </a:r>
          </a:p>
          <a:p>
            <a:r>
              <a:rPr lang="en-US" dirty="0"/>
              <a:t>As the availability of data, PC speed, have improved, prediction models have gotten better. </a:t>
            </a:r>
          </a:p>
          <a:p>
            <a:r>
              <a:rPr lang="en-US" dirty="0"/>
              <a:t>If you are analytics-adjacent, it is a good idea to code at least a little bit. It will likely help. </a:t>
            </a:r>
          </a:p>
        </p:txBody>
      </p:sp>
    </p:spTree>
    <p:extLst>
      <p:ext uri="{BB962C8B-B14F-4D97-AF65-F5344CB8AC3E}">
        <p14:creationId xmlns:p14="http://schemas.microsoft.com/office/powerpoint/2010/main" val="13007015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2169B-7C35-B400-68AB-7F76A8319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70398-73CA-ECDA-DFE3-71BE47B58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40F89-8AF7-920E-47E8-BD0BC568FAE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55C569-B112-4D8C-B1B2-EEE93146C0F6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90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44922C-0A31-0498-26CF-D60B2194A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901" y="136525"/>
            <a:ext cx="9984198" cy="6714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95396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6BBDA-DD93-7619-F5AE-96FB3904A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Predictive Modelling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C713A-11F3-33B8-031C-AC8E401B0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There are several GUI based tools that do predictive modelling. </a:t>
            </a:r>
          </a:p>
          <a:p>
            <a:pPr lvl="1"/>
            <a:r>
              <a:rPr lang="en-US" dirty="0"/>
              <a:t>RapidMiner, Orange,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These programs are (potentially) easier to use to do predictive analysis without programming knowledge. </a:t>
            </a:r>
          </a:p>
          <a:p>
            <a:r>
              <a:rPr lang="en-US" dirty="0"/>
              <a:t>Can do classification (yes/no), regression (guess a number), forecasting, clustering, </a:t>
            </a:r>
            <a:r>
              <a:rPr lang="en-US" dirty="0" err="1"/>
              <a:t>etc</a:t>
            </a:r>
            <a:r>
              <a:rPr lang="en-US" dirty="0"/>
              <a:t>….</a:t>
            </a:r>
          </a:p>
          <a:p>
            <a:r>
              <a:rPr lang="en-US" dirty="0"/>
              <a:t>Are normally used more for exploration or prototypes in real use, production work is done with programming. </a:t>
            </a:r>
          </a:p>
          <a:p>
            <a:r>
              <a:rPr lang="en-US" dirty="0"/>
              <a:t>The concepts are the same, this has more hand-holding. </a:t>
            </a:r>
          </a:p>
        </p:txBody>
      </p:sp>
    </p:spTree>
    <p:extLst>
      <p:ext uri="{BB962C8B-B14F-4D97-AF65-F5344CB8AC3E}">
        <p14:creationId xmlns:p14="http://schemas.microsoft.com/office/powerpoint/2010/main" val="4288606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B02B0-B4D2-4BDE-23FF-24904942D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353B3-6DE1-7B4B-0D65-58B4F2928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F338E-0F80-D7E0-FA45-6580403A69D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55C569-B112-4D8C-B1B2-EEE93146C0F6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92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0242" name="Picture 2" descr="RapidMiner Reviews | GetApp Canada 2023">
            <a:extLst>
              <a:ext uri="{FF2B5EF4-FFF2-40B4-BE49-F238E27FC236}">
                <a16:creationId xmlns:a16="http://schemas.microsoft.com/office/drawing/2014/main" id="{4AB9412B-A37D-1193-A375-4FE78A91F3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1939" y="-20888"/>
            <a:ext cx="9488121" cy="6878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244180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DC849-D488-E3A0-9673-64921BEE7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9D8F7-18D0-869D-95DF-27E6FC478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9A20D-634A-6557-8D36-728BA5E9BB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55C569-B112-4D8C-B1B2-EEE93146C0F6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93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026" name="Picture 2" descr="Move to better analytics with a data maturity modelJelvix">
            <a:extLst>
              <a:ext uri="{FF2B5EF4-FFF2-40B4-BE49-F238E27FC236}">
                <a16:creationId xmlns:a16="http://schemas.microsoft.com/office/drawing/2014/main" id="{A417ED0C-3639-73C5-B778-331022749F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53"/>
          <a:stretch/>
        </p:blipFill>
        <p:spPr bwMode="auto">
          <a:xfrm>
            <a:off x="0" y="0"/>
            <a:ext cx="12197054" cy="6790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710760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36837-824F-2422-FA6D-D9782C7E5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72F82-B811-646D-9DAC-FFDD8980A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Anywhere that we have data, we likely have analytics. </a:t>
            </a:r>
          </a:p>
          <a:p>
            <a:pPr lvl="1"/>
            <a:r>
              <a:rPr lang="en-US" dirty="0"/>
              <a:t>Data collection is getting more widespread. </a:t>
            </a:r>
          </a:p>
          <a:p>
            <a:pPr lvl="1"/>
            <a:r>
              <a:rPr lang="en-US" dirty="0"/>
              <a:t>Tools are getting better and easier – no need for a math PhD anymore. </a:t>
            </a:r>
          </a:p>
          <a:p>
            <a:r>
              <a:rPr lang="en-US" dirty="0"/>
              <a:t>Organizations (generally) try to climb the analytics ladder and make more from data. </a:t>
            </a:r>
          </a:p>
          <a:p>
            <a:pPr lvl="1"/>
            <a:r>
              <a:rPr lang="en-US" dirty="0"/>
              <a:t>Many/most companies are shockingly low on this sophistication scale. </a:t>
            </a:r>
          </a:p>
          <a:p>
            <a:pPr lvl="1"/>
            <a:r>
              <a:rPr lang="en-US" dirty="0"/>
              <a:t>Generally gets more complex and more programmer-y as we move up. </a:t>
            </a:r>
          </a:p>
          <a:p>
            <a:r>
              <a:rPr lang="en-US" dirty="0"/>
              <a:t>Making good use of analytics requires tech </a:t>
            </a:r>
            <a:r>
              <a:rPr lang="en-US" dirty="0" err="1"/>
              <a:t>skillz</a:t>
            </a:r>
            <a:r>
              <a:rPr lang="en-US" dirty="0"/>
              <a:t> as well as domain knowledge. </a:t>
            </a:r>
          </a:p>
          <a:p>
            <a:pPr lvl="1"/>
            <a:r>
              <a:rPr lang="en-US" dirty="0"/>
              <a:t>Need to understand data, tools, processes to do analysis. </a:t>
            </a:r>
          </a:p>
          <a:p>
            <a:pPr lvl="1"/>
            <a:r>
              <a:rPr lang="en-US" dirty="0"/>
              <a:t>Need understanding of how it relates to real life impacts to make it useful. </a:t>
            </a:r>
          </a:p>
        </p:txBody>
      </p:sp>
    </p:spTree>
    <p:extLst>
      <p:ext uri="{BB962C8B-B14F-4D97-AF65-F5344CB8AC3E}">
        <p14:creationId xmlns:p14="http://schemas.microsoft.com/office/powerpoint/2010/main" val="2994024509"/>
      </p:ext>
    </p:extLst>
  </p:cSld>
  <p:clrMapOvr>
    <a:masterClrMapping/>
  </p:clrMapOvr>
</p:sld>
</file>

<file path=ppt/theme/theme1.xml><?xml version="1.0" encoding="utf-8"?>
<a:theme xmlns:a="http://schemas.openxmlformats.org/drawingml/2006/main" name="3_Fra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IDAA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5_Fra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IDAA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3.xml><?xml version="1.0" encoding="utf-8"?>
<a:theme xmlns:a="http://schemas.openxmlformats.org/drawingml/2006/main" name="4_Fra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IDAA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4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3398</TotalTime>
  <Words>4851</Words>
  <Application>Microsoft Macintosh PowerPoint</Application>
  <PresentationFormat>Widescreen</PresentationFormat>
  <Paragraphs>475</Paragraphs>
  <Slides>94</Slides>
  <Notes>0</Notes>
  <HiddenSlides>20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94</vt:i4>
      </vt:variant>
    </vt:vector>
  </HeadingPairs>
  <TitlesOfParts>
    <vt:vector size="104" baseType="lpstr">
      <vt:lpstr>Wingdings 2</vt:lpstr>
      <vt:lpstr>Arial</vt:lpstr>
      <vt:lpstr>Montserrat</vt:lpstr>
      <vt:lpstr>Calibri</vt:lpstr>
      <vt:lpstr>Cambria Math</vt:lpstr>
      <vt:lpstr>Gill Sans MT</vt:lpstr>
      <vt:lpstr>3_Frame</vt:lpstr>
      <vt:lpstr>5_Frame</vt:lpstr>
      <vt:lpstr>4_Frame</vt:lpstr>
      <vt:lpstr>Gallery</vt:lpstr>
      <vt:lpstr>Housekeeping</vt:lpstr>
      <vt:lpstr>Housekeeping</vt:lpstr>
      <vt:lpstr>Housekeeping</vt:lpstr>
      <vt:lpstr>Types of Analytics</vt:lpstr>
      <vt:lpstr>Where we are now</vt:lpstr>
      <vt:lpstr>Learning Objectives</vt:lpstr>
      <vt:lpstr>The AMPS Model: Perform the Analysis</vt:lpstr>
      <vt:lpstr>The AMPS Model</vt:lpstr>
      <vt:lpstr>Matching the Analytics With the Question</vt:lpstr>
      <vt:lpstr>Four Types of Questions</vt:lpstr>
      <vt:lpstr>PowerPoint Presentation</vt:lpstr>
      <vt:lpstr>Descriptive Analytics Answers “What Happened?”</vt:lpstr>
      <vt:lpstr>Diagnostic Analytics Answers “Why Did it Happen?”</vt:lpstr>
      <vt:lpstr>Predictive Analytics Answers “Will it Happen in the Future?”</vt:lpstr>
      <vt:lpstr>Prescriptive Analytics Answers “What Should We Do Based On What We Expect Will Happen?“</vt:lpstr>
      <vt:lpstr>Analytics and Their Related Questions</vt:lpstr>
      <vt:lpstr>Progress Check 5-2</vt:lpstr>
      <vt:lpstr>Answer</vt:lpstr>
      <vt:lpstr>PowerPoint Presentation</vt:lpstr>
      <vt:lpstr>Descriptive Analytics</vt:lpstr>
      <vt:lpstr>Definition of Descriptive Analytics</vt:lpstr>
      <vt:lpstr>Tools Used in Descriptive Analytics</vt:lpstr>
      <vt:lpstr>Tools Used in Descriptive Analytics (continued)</vt:lpstr>
      <vt:lpstr>Descriptive (Summary) Statistics for the Retail Industry in 2018</vt:lpstr>
      <vt:lpstr>Descriptive Statistics (Histogram) for the Retail Industry in 2018</vt:lpstr>
      <vt:lpstr>“Old” School Reports</vt:lpstr>
      <vt:lpstr>Modern Reporting</vt:lpstr>
      <vt:lpstr>Benefits of Modern D.A. </vt:lpstr>
      <vt:lpstr>Examples of Descriptive Analytics</vt:lpstr>
      <vt:lpstr>Progress Check 5-3</vt:lpstr>
      <vt:lpstr>Answer</vt:lpstr>
      <vt:lpstr>Diagnostic Analytics</vt:lpstr>
      <vt:lpstr>Definition of Diagnostic Analytics</vt:lpstr>
      <vt:lpstr>Two Broad Types of Diagnostic Analytics</vt:lpstr>
      <vt:lpstr>Anomalies with Tableau</vt:lpstr>
      <vt:lpstr>Testing/Tools Used in Diagnostic Analytics</vt:lpstr>
      <vt:lpstr>Tableau Example - Distributions</vt:lpstr>
      <vt:lpstr>Benford</vt:lpstr>
      <vt:lpstr>Example – Anomaly Detection</vt:lpstr>
      <vt:lpstr>Testing/Tools Used in Diagnostic Analytics (continued)</vt:lpstr>
      <vt:lpstr>Progress Check 5-4</vt:lpstr>
      <vt:lpstr>Predictive Analytics</vt:lpstr>
      <vt:lpstr>Definition of Predictive Analytics</vt:lpstr>
      <vt:lpstr>PowerPoint Presentation</vt:lpstr>
      <vt:lpstr>Broad Categories of Predictive Analytics</vt:lpstr>
      <vt:lpstr>Predictive Analytics in Reality</vt:lpstr>
      <vt:lpstr>Example - Loans</vt:lpstr>
      <vt:lpstr>PowerPoint Presentation</vt:lpstr>
      <vt:lpstr>PowerPoint Presentation</vt:lpstr>
      <vt:lpstr>Predictive Modelling</vt:lpstr>
      <vt:lpstr>Regression in Tableau</vt:lpstr>
      <vt:lpstr>Progress Check 5-5</vt:lpstr>
      <vt:lpstr>Forecasting in Tableau</vt:lpstr>
      <vt:lpstr>PowerPoint Presentation</vt:lpstr>
      <vt:lpstr>Example – Technical Training</vt:lpstr>
      <vt:lpstr>Prescriptive Analytics</vt:lpstr>
      <vt:lpstr>Definition of Prescriptive Analytics</vt:lpstr>
      <vt:lpstr>Tools Used in Prescriptive Analytics</vt:lpstr>
      <vt:lpstr>Prescriptive Analytics</vt:lpstr>
      <vt:lpstr>PowerPoint Presentation</vt:lpstr>
      <vt:lpstr>Tools Used in Prescriptive Analytics (continued)</vt:lpstr>
      <vt:lpstr>Schedule Optimization</vt:lpstr>
      <vt:lpstr>Schedule Optimization</vt:lpstr>
      <vt:lpstr>Progress Check 5-6</vt:lpstr>
      <vt:lpstr>Types of Data Analytics</vt:lpstr>
      <vt:lpstr>Stats and Analytics in Excel: We’ll Separate This for Later</vt:lpstr>
      <vt:lpstr>Review of Basic Statistics</vt:lpstr>
      <vt:lpstr>Population vs. Sample</vt:lpstr>
      <vt:lpstr>Parameters vs. Statistics</vt:lpstr>
      <vt:lpstr>Probability Distributions</vt:lpstr>
      <vt:lpstr>Normal Distribution, Means and Standard Deviations</vt:lpstr>
      <vt:lpstr>Hypothesis Testing</vt:lpstr>
      <vt:lpstr>Alpha, p-values and Confidence Intervals</vt:lpstr>
      <vt:lpstr>Alpha, p-values and Confidence Intervals (continued)</vt:lpstr>
      <vt:lpstr>Review of Hypothesis Testing</vt:lpstr>
      <vt:lpstr>Regression</vt:lpstr>
      <vt:lpstr>Interpreting the Regression Output</vt:lpstr>
      <vt:lpstr>Analytics Types, Examples, and Excel Tools/Functions</vt:lpstr>
      <vt:lpstr>Progress Check 5-7</vt:lpstr>
      <vt:lpstr>Introduction To Tools Used in Data Analytics</vt:lpstr>
      <vt:lpstr>Excel</vt:lpstr>
      <vt:lpstr>Visualization Tools</vt:lpstr>
      <vt:lpstr>PowerPoint Presentation</vt:lpstr>
      <vt:lpstr>Statistical Software</vt:lpstr>
      <vt:lpstr>PowerPoint Presentation</vt:lpstr>
      <vt:lpstr>Application Specific Analytics</vt:lpstr>
      <vt:lpstr>PowerPoint Presentation</vt:lpstr>
      <vt:lpstr>Programming Tools</vt:lpstr>
      <vt:lpstr>Predictive Models from Code</vt:lpstr>
      <vt:lpstr>PowerPoint Presentation</vt:lpstr>
      <vt:lpstr>Predictive Modelling Software</vt:lpstr>
      <vt:lpstr>PowerPoint Presentation</vt:lpstr>
      <vt:lpstr>PowerPoint Presentation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Data Analytics to Ask and Answer Accounting Questions</dc:title>
  <dc:creator>Ryan Teeter</dc:creator>
  <cp:lastModifiedBy>Akeem Semper</cp:lastModifiedBy>
  <cp:revision>65</cp:revision>
  <dcterms:created xsi:type="dcterms:W3CDTF">2020-01-17T18:38:02Z</dcterms:created>
  <dcterms:modified xsi:type="dcterms:W3CDTF">2025-11-02T18:24:56Z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2025-11-02T17:06:42Z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a34c5271-7306-4d36-897d-8e5c627c994c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