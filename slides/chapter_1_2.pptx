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1"/>
  </p:notesMasterIdLst>
  <p:sldIdLst>
    <p:sldId id="256" r:id="rId2"/>
    <p:sldId id="257" r:id="rId3"/>
    <p:sldId id="331" r:id="rId4"/>
    <p:sldId id="330" r:id="rId5"/>
    <p:sldId id="760" r:id="rId6"/>
    <p:sldId id="759" r:id="rId7"/>
    <p:sldId id="761" r:id="rId8"/>
    <p:sldId id="358" r:id="rId9"/>
    <p:sldId id="357" r:id="rId10"/>
    <p:sldId id="762" r:id="rId11"/>
    <p:sldId id="345" r:id="rId12"/>
    <p:sldId id="346" r:id="rId13"/>
    <p:sldId id="356" r:id="rId14"/>
    <p:sldId id="328" r:id="rId15"/>
    <p:sldId id="354" r:id="rId16"/>
    <p:sldId id="355" r:id="rId17"/>
    <p:sldId id="359" r:id="rId18"/>
    <p:sldId id="360" r:id="rId19"/>
    <p:sldId id="766" r:id="rId20"/>
    <p:sldId id="767" r:id="rId21"/>
    <p:sldId id="332" r:id="rId22"/>
    <p:sldId id="333" r:id="rId23"/>
    <p:sldId id="763" r:id="rId24"/>
    <p:sldId id="334" r:id="rId25"/>
    <p:sldId id="348" r:id="rId26"/>
    <p:sldId id="546" r:id="rId27"/>
    <p:sldId id="764" r:id="rId28"/>
    <p:sldId id="553" r:id="rId29"/>
    <p:sldId id="554" r:id="rId30"/>
    <p:sldId id="556" r:id="rId31"/>
    <p:sldId id="557" r:id="rId32"/>
    <p:sldId id="558" r:id="rId33"/>
    <p:sldId id="754" r:id="rId34"/>
    <p:sldId id="361" r:id="rId35"/>
    <p:sldId id="536" r:id="rId36"/>
    <p:sldId id="538" r:id="rId37"/>
    <p:sldId id="539" r:id="rId38"/>
    <p:sldId id="540" r:id="rId39"/>
    <p:sldId id="541" r:id="rId40"/>
    <p:sldId id="559" r:id="rId41"/>
    <p:sldId id="687" r:id="rId42"/>
    <p:sldId id="688" r:id="rId43"/>
    <p:sldId id="689" r:id="rId44"/>
    <p:sldId id="691" r:id="rId45"/>
    <p:sldId id="755" r:id="rId46"/>
    <p:sldId id="728" r:id="rId47"/>
    <p:sldId id="729" r:id="rId48"/>
    <p:sldId id="733" r:id="rId49"/>
    <p:sldId id="734" r:id="rId50"/>
    <p:sldId id="735" r:id="rId51"/>
    <p:sldId id="736" r:id="rId52"/>
    <p:sldId id="737" r:id="rId53"/>
    <p:sldId id="738" r:id="rId54"/>
    <p:sldId id="745" r:id="rId55"/>
    <p:sldId id="747" r:id="rId56"/>
    <p:sldId id="750" r:id="rId57"/>
    <p:sldId id="731" r:id="rId58"/>
    <p:sldId id="714" r:id="rId59"/>
    <p:sldId id="715" r:id="rId60"/>
    <p:sldId id="542" r:id="rId61"/>
    <p:sldId id="543" r:id="rId62"/>
    <p:sldId id="756" r:id="rId63"/>
    <p:sldId id="757" r:id="rId64"/>
    <p:sldId id="740" r:id="rId65"/>
    <p:sldId id="765" r:id="rId66"/>
    <p:sldId id="544" r:id="rId67"/>
    <p:sldId id="752" r:id="rId68"/>
    <p:sldId id="753" r:id="rId69"/>
    <p:sldId id="751"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FAC8863-E148-7D4B-B086-DA75B13B2C74}">
          <p14:sldIdLst>
            <p14:sldId id="256"/>
            <p14:sldId id="257"/>
          </p14:sldIdLst>
        </p14:section>
        <p14:section name="Data" id="{FB8B9617-1024-B744-839F-AE1D56D85990}">
          <p14:sldIdLst>
            <p14:sldId id="331"/>
            <p14:sldId id="330"/>
            <p14:sldId id="760"/>
            <p14:sldId id="759"/>
            <p14:sldId id="761"/>
            <p14:sldId id="358"/>
            <p14:sldId id="357"/>
          </p14:sldIdLst>
        </p14:section>
        <p14:section name="dik" id="{70930251-7677-D748-B899-8D830F1FFF1C}">
          <p14:sldIdLst>
            <p14:sldId id="762"/>
            <p14:sldId id="345"/>
            <p14:sldId id="346"/>
            <p14:sldId id="356"/>
            <p14:sldId id="328"/>
            <p14:sldId id="354"/>
            <p14:sldId id="355"/>
            <p14:sldId id="359"/>
            <p14:sldId id="360"/>
          </p14:sldIdLst>
        </p14:section>
        <p14:section name="Interlude" id="{401B0126-2F87-144E-8127-08F64007CB16}">
          <p14:sldIdLst>
            <p14:sldId id="766"/>
            <p14:sldId id="767"/>
          </p14:sldIdLst>
        </p14:section>
        <p14:section name="Data driven decisions" id="{7690FE14-039B-7C43-9365-080D698B5CF6}">
          <p14:sldIdLst>
            <p14:sldId id="332"/>
            <p14:sldId id="333"/>
          </p14:sldIdLst>
        </p14:section>
        <p14:section name="Analytic Types" id="{00937CE5-4879-4D49-BA58-14665F01FC4E}">
          <p14:sldIdLst>
            <p14:sldId id="763"/>
            <p14:sldId id="334"/>
            <p14:sldId id="348"/>
            <p14:sldId id="546"/>
          </p14:sldIdLst>
        </p14:section>
        <p14:section name="History" id="{8E96DF56-2668-B34F-B75B-75A237079B08}">
          <p14:sldIdLst>
            <p14:sldId id="764"/>
            <p14:sldId id="553"/>
            <p14:sldId id="554"/>
            <p14:sldId id="556"/>
            <p14:sldId id="557"/>
            <p14:sldId id="558"/>
          </p14:sldIdLst>
        </p14:section>
        <p14:section name="Value of Visualization" id="{469C5D9A-180B-B241-8CDF-C15CF4EB6F5E}">
          <p14:sldIdLst>
            <p14:sldId id="754"/>
          </p14:sldIdLst>
        </p14:section>
        <p14:section name="Preattentive" id="{6D12059B-89E5-6145-BE2F-51904ED0279E}">
          <p14:sldIdLst>
            <p14:sldId id="361"/>
            <p14:sldId id="536"/>
            <p14:sldId id="538"/>
            <p14:sldId id="539"/>
            <p14:sldId id="540"/>
            <p14:sldId id="541"/>
            <p14:sldId id="559"/>
          </p14:sldIdLst>
        </p14:section>
        <p14:section name="Building Blocks" id="{5FBE382B-B9E4-A24F-A25A-9C140195196D}">
          <p14:sldIdLst>
            <p14:sldId id="687"/>
            <p14:sldId id="688"/>
            <p14:sldId id="689"/>
            <p14:sldId id="691"/>
            <p14:sldId id="755"/>
            <p14:sldId id="728"/>
            <p14:sldId id="729"/>
            <p14:sldId id="733"/>
            <p14:sldId id="734"/>
            <p14:sldId id="735"/>
            <p14:sldId id="736"/>
            <p14:sldId id="737"/>
            <p14:sldId id="738"/>
            <p14:sldId id="745"/>
            <p14:sldId id="747"/>
            <p14:sldId id="750"/>
            <p14:sldId id="731"/>
            <p14:sldId id="714"/>
            <p14:sldId id="715"/>
            <p14:sldId id="542"/>
            <p14:sldId id="543"/>
            <p14:sldId id="756"/>
            <p14:sldId id="757"/>
            <p14:sldId id="740"/>
            <p14:sldId id="765"/>
            <p14:sldId id="544"/>
            <p14:sldId id="752"/>
            <p14:sldId id="753"/>
            <p14:sldId id="75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16"/>
    <p:restoredTop sz="94773"/>
  </p:normalViewPr>
  <p:slideViewPr>
    <p:cSldViewPr snapToGrid="0">
      <p:cViewPr varScale="1">
        <p:scale>
          <a:sx n="147" d="100"/>
          <a:sy n="147" d="100"/>
        </p:scale>
        <p:origin x="115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3FBBFF-9FA5-F44C-A036-C8E528C346B7}" type="datetimeFigureOut">
              <a:rPr lang="en-US" smtClean="0"/>
              <a:t>9/9/26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0C359D-6DE0-D648-88FA-826512B41CCF}" type="slidenum">
              <a:rPr lang="en-US" smtClean="0"/>
              <a:t>‹#›</a:t>
            </a:fld>
            <a:endParaRPr lang="en-US"/>
          </a:p>
        </p:txBody>
      </p:sp>
    </p:spTree>
    <p:extLst>
      <p:ext uri="{BB962C8B-B14F-4D97-AF65-F5344CB8AC3E}">
        <p14:creationId xmlns:p14="http://schemas.microsoft.com/office/powerpoint/2010/main" val="3594269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en.wikipedia.org/wiki/Engineer" TargetMode="External"/><Relationship Id="rId2" Type="http://schemas.openxmlformats.org/officeDocument/2006/relationships/slide" Target="../slides/slide28.xml"/><Relationship Id="rId1" Type="http://schemas.openxmlformats.org/officeDocument/2006/relationships/notesMaster" Target="../notesMasters/notesMaster1.xml"/><Relationship Id="rId5" Type="http://schemas.openxmlformats.org/officeDocument/2006/relationships/hyperlink" Target="http://en.wikipedia.org/wiki/Statistical_graphics" TargetMode="External"/><Relationship Id="rId4" Type="http://schemas.openxmlformats.org/officeDocument/2006/relationships/hyperlink" Target="http://en.wikipedia.org/wiki/Political_economist"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en.wikipedia.org/wiki/Statistical_graphics"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Rot="1" noChangeAspect="1" noChangeArrowheads="1"/>
          </p:cNvSpPr>
          <p:nvPr>
            <p:ph type="sldImg"/>
          </p:nvPr>
        </p:nvSpPr>
        <p:spPr>
          <a:solidFill>
            <a:srgbClr val="FFFFFF"/>
          </a:solidFill>
          <a:ln/>
        </p:spPr>
      </p:sp>
      <p:sp>
        <p:nvSpPr>
          <p:cNvPr id="27650" name="Rectangle 2"/>
          <p:cNvSpPr>
            <a:spLocks noGrp="1" noChangeArrowheads="1"/>
          </p:cNvSpPr>
          <p:nvPr>
            <p:ph type="body" idx="1"/>
          </p:nvPr>
        </p:nvSpPr>
        <p:spPr>
          <a:ln/>
        </p:spPr>
        <p:txBody>
          <a:bodyPr/>
          <a:lstStyle/>
          <a:p>
            <a:pPr eaLnBrk="1" hangingPunct="1">
              <a:defRPr/>
            </a:pPr>
            <a:r>
              <a:rPr lang="en-US" sz="1300" b="1" dirty="0">
                <a:latin typeface="Helvetica" charset="0"/>
                <a:cs typeface="Helvetica" charset="0"/>
                <a:sym typeface="Helvetica" charset="0"/>
              </a:rPr>
              <a:t>William Playfair</a:t>
            </a:r>
            <a:r>
              <a:rPr lang="en-US" sz="1300" dirty="0">
                <a:latin typeface="Helvetica" charset="0"/>
                <a:cs typeface="Helvetica" charset="0"/>
                <a:sym typeface="Helvetica" charset="0"/>
              </a:rPr>
              <a:t> (22 September 1759 – 11 February 1823) was a Scottish </a:t>
            </a:r>
            <a:r>
              <a:rPr lang="en-US" sz="1300" u="sng" dirty="0">
                <a:solidFill>
                  <a:srgbClr val="1B46AA"/>
                </a:solidFill>
                <a:latin typeface="Helvetica" charset="0"/>
                <a:cs typeface="Helvetica" charset="0"/>
                <a:sym typeface="Helvetica" charset="0"/>
                <a:hlinkClick r:id="rId3"/>
              </a:rPr>
              <a:t>engineer</a:t>
            </a:r>
            <a:r>
              <a:rPr lang="en-US" sz="1300" dirty="0">
                <a:latin typeface="Helvetica" charset="0"/>
                <a:cs typeface="Helvetica" charset="0"/>
                <a:sym typeface="Helvetica" charset="0"/>
              </a:rPr>
              <a:t> and </a:t>
            </a:r>
            <a:r>
              <a:rPr lang="en-US" sz="1300" u="sng" dirty="0">
                <a:solidFill>
                  <a:srgbClr val="1B46AA"/>
                </a:solidFill>
                <a:latin typeface="Helvetica" charset="0"/>
                <a:cs typeface="Helvetica" charset="0"/>
                <a:sym typeface="Helvetica" charset="0"/>
              </a:rPr>
              <a:t>politica</a:t>
            </a:r>
            <a:r>
              <a:rPr lang="en-US" sz="1300" u="sng" dirty="0">
                <a:solidFill>
                  <a:srgbClr val="1B46AA"/>
                </a:solidFill>
                <a:latin typeface="Helvetica" charset="0"/>
                <a:cs typeface="Helvetica" charset="0"/>
                <a:sym typeface="Helvetica" charset="0"/>
                <a:hlinkClick r:id="rId4"/>
              </a:rPr>
              <a:t>l economist</a:t>
            </a:r>
            <a:r>
              <a:rPr lang="en-US" sz="1300" dirty="0">
                <a:latin typeface="Helvetica" charset="0"/>
                <a:cs typeface="Helvetica" charset="0"/>
                <a:sym typeface="Helvetica" charset="0"/>
                <a:hlinkClick r:id="rId4"/>
              </a:rPr>
              <a:t>, the fo</a:t>
            </a:r>
            <a:r>
              <a:rPr lang="en-US" sz="1300" dirty="0">
                <a:latin typeface="Helvetica" charset="0"/>
                <a:cs typeface="Helvetica" charset="0"/>
                <a:sym typeface="Helvetica" charset="0"/>
              </a:rPr>
              <a:t>under of </a:t>
            </a:r>
            <a:r>
              <a:rPr lang="en-US" sz="1300" u="sng" dirty="0">
                <a:solidFill>
                  <a:srgbClr val="1B46AA"/>
                </a:solidFill>
                <a:latin typeface="Helvetica" charset="0"/>
                <a:cs typeface="Helvetica" charset="0"/>
                <a:sym typeface="Helvetica" charset="0"/>
              </a:rPr>
              <a:t>graphical methods of statis</a:t>
            </a:r>
            <a:r>
              <a:rPr lang="en-US" sz="1300" u="sng" dirty="0">
                <a:solidFill>
                  <a:srgbClr val="1B46AA"/>
                </a:solidFill>
                <a:latin typeface="Helvetica" charset="0"/>
                <a:cs typeface="Helvetica" charset="0"/>
                <a:sym typeface="Helvetica" charset="0"/>
                <a:hlinkClick r:id="rId5"/>
              </a:rPr>
              <a:t>tics</a:t>
            </a:r>
            <a:r>
              <a:rPr lang="en-US" sz="1300" dirty="0">
                <a:latin typeface="Helvetica" charset="0"/>
                <a:cs typeface="Helvetica" charset="0"/>
                <a:sym typeface="Helvetica" charset="0"/>
                <a:hlinkClick r:id="rId5"/>
              </a:rPr>
              <a:t>.</a:t>
            </a:r>
          </a:p>
        </p:txBody>
      </p:sp>
    </p:spTree>
    <p:extLst>
      <p:ext uri="{BB962C8B-B14F-4D97-AF65-F5344CB8AC3E}">
        <p14:creationId xmlns:p14="http://schemas.microsoft.com/office/powerpoint/2010/main" val="2812343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Rot="1" noChangeAspect="1" noChangeArrowheads="1"/>
          </p:cNvSpPr>
          <p:nvPr>
            <p:ph type="sldImg"/>
          </p:nvPr>
        </p:nvSpPr>
        <p:spPr>
          <a:solidFill>
            <a:srgbClr val="FFFFFF"/>
          </a:solidFill>
          <a:ln/>
        </p:spPr>
      </p:sp>
      <p:sp>
        <p:nvSpPr>
          <p:cNvPr id="27650" name="Rectangle 2"/>
          <p:cNvSpPr>
            <a:spLocks noGrp="1" noChangeArrowheads="1"/>
          </p:cNvSpPr>
          <p:nvPr>
            <p:ph type="body" idx="1"/>
          </p:nvPr>
        </p:nvSpPr>
        <p:spPr>
          <a:ln/>
        </p:spPr>
        <p:txBody>
          <a:bodyPr/>
          <a:lstStyle/>
          <a:p>
            <a:pPr eaLnBrk="1" hangingPunct="1">
              <a:defRPr/>
            </a:pPr>
            <a:r>
              <a:rPr lang="en-US" sz="1300" dirty="0">
                <a:latin typeface="Helvetica" charset="0"/>
                <a:cs typeface="Helvetica" charset="0"/>
                <a:sym typeface="Helvetica" charset="0"/>
              </a:rPr>
              <a:t>We</a:t>
            </a:r>
            <a:r>
              <a:rPr lang="en-US" sz="1300" baseline="0" dirty="0">
                <a:latin typeface="Helvetica" charset="0"/>
                <a:cs typeface="Helvetica" charset="0"/>
                <a:sym typeface="Helvetica" charset="0"/>
              </a:rPr>
              <a:t> will discuss the map of Napoleons March in later slides.</a:t>
            </a:r>
            <a:endParaRPr lang="en-US" sz="1300" u="sng" dirty="0">
              <a:latin typeface="Helvetica" charset="0"/>
              <a:cs typeface="Helvetica" charset="0"/>
              <a:sym typeface="Helvetica" charset="0"/>
              <a:hlinkClick r:id="rId3"/>
            </a:endParaRPr>
          </a:p>
        </p:txBody>
      </p:sp>
    </p:spTree>
    <p:extLst>
      <p:ext uri="{BB962C8B-B14F-4D97-AF65-F5344CB8AC3E}">
        <p14:creationId xmlns:p14="http://schemas.microsoft.com/office/powerpoint/2010/main" val="1190935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Grp="1" noRot="1" noChangeAspect="1" noChangeArrowheads="1"/>
          </p:cNvSpPr>
          <p:nvPr>
            <p:ph type="sldImg"/>
          </p:nvPr>
        </p:nvSpPr>
        <p:spPr>
          <a:solidFill>
            <a:srgbClr val="FFFFFF"/>
          </a:solidFill>
          <a:ln/>
        </p:spPr>
      </p:sp>
      <p:sp>
        <p:nvSpPr>
          <p:cNvPr id="29698" name="Rectangle 2"/>
          <p:cNvSpPr>
            <a:spLocks noGrp="1" noChangeArrowheads="1"/>
          </p:cNvSpPr>
          <p:nvPr>
            <p:ph type="body" idx="1"/>
          </p:nvPr>
        </p:nvSpPr>
        <p:spPr>
          <a:ln/>
        </p:spPr>
        <p:txBody>
          <a:bodyPr/>
          <a:lstStyle/>
          <a:p>
            <a:pPr eaLnBrk="1" hangingPunct="1">
              <a:lnSpc>
                <a:spcPts val="1900"/>
              </a:lnSpc>
              <a:spcBef>
                <a:spcPts val="600"/>
              </a:spcBef>
              <a:tabLst>
                <a:tab pos="139700" algn="l"/>
                <a:tab pos="457200" algn="l"/>
                <a:tab pos="139700" algn="l"/>
                <a:tab pos="457200" algn="l"/>
                <a:tab pos="139700" algn="l"/>
                <a:tab pos="457200" algn="l"/>
              </a:tabLst>
              <a:defRPr/>
            </a:pPr>
            <a:r>
              <a:rPr lang="en-US" sz="1300" dirty="0">
                <a:latin typeface="Helvetica" charset="0"/>
                <a:cs typeface="Helvetica" charset="0"/>
                <a:sym typeface="Helvetica" charset="0"/>
              </a:rPr>
              <a:t>John</a:t>
            </a:r>
            <a:r>
              <a:rPr lang="en-US" sz="1300" baseline="0" dirty="0">
                <a:latin typeface="Helvetica" charset="0"/>
                <a:cs typeface="Helvetica" charset="0"/>
                <a:sym typeface="Helvetica" charset="0"/>
              </a:rPr>
              <a:t> Tukey was an American Statistician who worked at Bell Labs. He developed and wrote about Exploratory Data Analysis or EDA. He advocated for showing data in a visual manner as an easy way to understanding, with the need for a statistical model or hypothesis. He invented the box plot, also known as the box and whiskers plot, and also wrote about other plots such as the bag plot and violin plot.</a:t>
            </a:r>
          </a:p>
          <a:p>
            <a:pPr eaLnBrk="1" hangingPunct="1">
              <a:lnSpc>
                <a:spcPts val="1900"/>
              </a:lnSpc>
              <a:spcBef>
                <a:spcPts val="600"/>
              </a:spcBef>
              <a:tabLst>
                <a:tab pos="139700" algn="l"/>
                <a:tab pos="457200" algn="l"/>
                <a:tab pos="139700" algn="l"/>
                <a:tab pos="457200" algn="l"/>
                <a:tab pos="139700" algn="l"/>
                <a:tab pos="457200" algn="l"/>
              </a:tabLst>
              <a:defRPr/>
            </a:pPr>
            <a:endParaRPr lang="en-US" sz="1300" baseline="0" dirty="0">
              <a:latin typeface="Helvetica" charset="0"/>
              <a:cs typeface="Helvetica" charset="0"/>
              <a:sym typeface="Helvetica" charset="0"/>
            </a:endParaRPr>
          </a:p>
          <a:p>
            <a:pPr eaLnBrk="1" hangingPunct="1">
              <a:lnSpc>
                <a:spcPts val="1900"/>
              </a:lnSpc>
              <a:spcBef>
                <a:spcPts val="600"/>
              </a:spcBef>
              <a:tabLst>
                <a:tab pos="139700" algn="l"/>
                <a:tab pos="457200" algn="l"/>
                <a:tab pos="139700" algn="l"/>
                <a:tab pos="457200" algn="l"/>
                <a:tab pos="139700" algn="l"/>
                <a:tab pos="457200" algn="l"/>
              </a:tabLst>
              <a:defRPr/>
            </a:pPr>
            <a:r>
              <a:rPr lang="en-US" sz="1300" dirty="0">
                <a:latin typeface="Helvetica" charset="0"/>
                <a:cs typeface="Helvetica" charset="0"/>
                <a:sym typeface="Helvetica" charset="0"/>
              </a:rPr>
              <a:t>Tukey also coined</a:t>
            </a:r>
            <a:r>
              <a:rPr lang="en-US" sz="1300" baseline="0" dirty="0">
                <a:latin typeface="Helvetica" charset="0"/>
                <a:cs typeface="Helvetica" charset="0"/>
                <a:sym typeface="Helvetica" charset="0"/>
              </a:rPr>
              <a:t> the term “bit” as a contraction of “binary digit”</a:t>
            </a:r>
            <a:endParaRPr lang="en-US" sz="1300" dirty="0">
              <a:latin typeface="Helvetica" charset="0"/>
              <a:cs typeface="Helvetica" charset="0"/>
              <a:sym typeface="Helvetica" charset="0"/>
            </a:endParaRPr>
          </a:p>
        </p:txBody>
      </p:sp>
    </p:spTree>
    <p:extLst>
      <p:ext uri="{BB962C8B-B14F-4D97-AF65-F5344CB8AC3E}">
        <p14:creationId xmlns:p14="http://schemas.microsoft.com/office/powerpoint/2010/main" val="2681358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Grp="1" noRot="1" noChangeAspect="1" noChangeArrowheads="1"/>
          </p:cNvSpPr>
          <p:nvPr>
            <p:ph type="sldImg"/>
          </p:nvPr>
        </p:nvSpPr>
        <p:spPr>
          <a:solidFill>
            <a:srgbClr val="FFFFFF"/>
          </a:solidFill>
          <a:ln/>
        </p:spPr>
      </p:sp>
      <p:sp>
        <p:nvSpPr>
          <p:cNvPr id="29698" name="Rectangle 2"/>
          <p:cNvSpPr>
            <a:spLocks noGrp="1" noChangeArrowheads="1"/>
          </p:cNvSpPr>
          <p:nvPr>
            <p:ph type="body" idx="1"/>
          </p:nvPr>
        </p:nvSpPr>
        <p:spPr>
          <a:ln/>
        </p:spPr>
        <p:txBody>
          <a:bodyPr/>
          <a:lstStyle/>
          <a:p>
            <a:pPr eaLnBrk="1" hangingPunct="1">
              <a:lnSpc>
                <a:spcPts val="1900"/>
              </a:lnSpc>
              <a:spcBef>
                <a:spcPts val="600"/>
              </a:spcBef>
              <a:tabLst>
                <a:tab pos="139700" algn="l"/>
                <a:tab pos="457200" algn="l"/>
                <a:tab pos="139700" algn="l"/>
                <a:tab pos="457200" algn="l"/>
                <a:tab pos="139700" algn="l"/>
                <a:tab pos="457200" algn="l"/>
              </a:tabLst>
              <a:defRPr/>
            </a:pPr>
            <a:r>
              <a:rPr lang="en-US" sz="1300" dirty="0">
                <a:latin typeface="Helvetica" charset="0"/>
                <a:cs typeface="Helvetica" charset="0"/>
                <a:sym typeface="Helvetica" charset="0"/>
              </a:rPr>
              <a:t>In Exploratory Data Analysis, Tukey used</a:t>
            </a:r>
            <a:r>
              <a:rPr lang="en-US" sz="1300" baseline="0" dirty="0">
                <a:latin typeface="Helvetica" charset="0"/>
                <a:cs typeface="Helvetica" charset="0"/>
                <a:sym typeface="Helvetica" charset="0"/>
              </a:rPr>
              <a:t> visual techniques such as the box plot, histogram, Pareto Chart and Scatter Plot.</a:t>
            </a:r>
            <a:endParaRPr lang="en-US" sz="1300" dirty="0">
              <a:latin typeface="Helvetica" charset="0"/>
              <a:cs typeface="Helvetica" charset="0"/>
              <a:sym typeface="Helvetica" charset="0"/>
            </a:endParaRPr>
          </a:p>
        </p:txBody>
      </p:sp>
    </p:spTree>
    <p:extLst>
      <p:ext uri="{BB962C8B-B14F-4D97-AF65-F5344CB8AC3E}">
        <p14:creationId xmlns:p14="http://schemas.microsoft.com/office/powerpoint/2010/main" val="3362431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a:t>
            </a:r>
            <a:r>
              <a:rPr lang="en-US" baseline="0" dirty="0"/>
              <a:t> to count the number of times the digit 7 appears in this data set. [give the students about 30 seconds to come up with a number, but don’t let them shout it out. After the exercise, as how many had 15, then 16, 17, 18, 19]. “Notice two things about this exercise. One, it takes a good bit of time to find them. Two, notice the error. Not everyone will come up with the same number.” [we will give the answer in a few slides]</a:t>
            </a:r>
            <a:endParaRPr lang="en-US" dirty="0"/>
          </a:p>
        </p:txBody>
      </p:sp>
    </p:spTree>
    <p:extLst>
      <p:ext uri="{BB962C8B-B14F-4D97-AF65-F5344CB8AC3E}">
        <p14:creationId xmlns:p14="http://schemas.microsoft.com/office/powerpoint/2010/main" val="3860344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a:t>
            </a:r>
            <a:r>
              <a:rPr lang="en-US" baseline="0" dirty="0"/>
              <a:t> it easier now? We simply changed the color of the sevens and now it is easier to find them.”</a:t>
            </a:r>
            <a:endParaRPr lang="en-US" dirty="0"/>
          </a:p>
        </p:txBody>
      </p:sp>
    </p:spTree>
    <p:extLst>
      <p:ext uri="{BB962C8B-B14F-4D97-AF65-F5344CB8AC3E}">
        <p14:creationId xmlns:p14="http://schemas.microsoft.com/office/powerpoint/2010/main" val="2080955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Making it bold is easier.”</a:t>
            </a:r>
          </a:p>
        </p:txBody>
      </p:sp>
    </p:spTree>
    <p:extLst>
      <p:ext uri="{BB962C8B-B14F-4D97-AF65-F5344CB8AC3E}">
        <p14:creationId xmlns:p14="http://schemas.microsoft.com/office/powerpoint/2010/main" val="412381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underlining them.”</a:t>
            </a:r>
          </a:p>
        </p:txBody>
      </p:sp>
    </p:spTree>
    <p:extLst>
      <p:ext uri="{BB962C8B-B14F-4D97-AF65-F5344CB8AC3E}">
        <p14:creationId xmlns:p14="http://schemas.microsoft.com/office/powerpoint/2010/main" val="671316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do all sort of things to make the sevens easier to see. What</a:t>
            </a:r>
            <a:r>
              <a:rPr lang="en-US" baseline="0" dirty="0"/>
              <a:t> we are doing is using the preattentive attributes.”</a:t>
            </a:r>
            <a:endParaRPr lang="en-US" dirty="0"/>
          </a:p>
        </p:txBody>
      </p:sp>
    </p:spTree>
    <p:extLst>
      <p:ext uri="{BB962C8B-B14F-4D97-AF65-F5344CB8AC3E}">
        <p14:creationId xmlns:p14="http://schemas.microsoft.com/office/powerpoint/2010/main" val="788013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174158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Shape is a </a:t>
            </a:r>
            <a:r>
              <a:rPr lang="en-US" dirty="0" err="1"/>
              <a:t>preattentive</a:t>
            </a:r>
            <a:r>
              <a:rPr lang="en-US" dirty="0"/>
              <a:t> attribute. Notice in these examples we</a:t>
            </a:r>
            <a:r>
              <a:rPr lang="en-US" baseline="0" dirty="0"/>
              <a:t> also see the Hermann Effect with the scintillating grid.</a:t>
            </a:r>
            <a:endParaRPr lang="en-US" dirty="0"/>
          </a:p>
        </p:txBody>
      </p:sp>
    </p:spTree>
    <p:extLst>
      <p:ext uri="{BB962C8B-B14F-4D97-AF65-F5344CB8AC3E}">
        <p14:creationId xmlns:p14="http://schemas.microsoft.com/office/powerpoint/2010/main" val="3778730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easy to see the</a:t>
            </a:r>
            <a:r>
              <a:rPr lang="en-US" baseline="0" dirty="0"/>
              <a:t> different shapes. This could be useful for categorical comparisons, but would not be useful for a quantitative comparison.</a:t>
            </a:r>
            <a:endParaRPr lang="en-US" dirty="0"/>
          </a:p>
        </p:txBody>
      </p:sp>
    </p:spTree>
    <p:extLst>
      <p:ext uri="{BB962C8B-B14F-4D97-AF65-F5344CB8AC3E}">
        <p14:creationId xmlns:p14="http://schemas.microsoft.com/office/powerpoint/2010/main" val="4198513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draw the reader’s attention or alert them to something important.</a:t>
            </a:r>
          </a:p>
        </p:txBody>
      </p:sp>
    </p:spTree>
    <p:extLst>
      <p:ext uri="{BB962C8B-B14F-4D97-AF65-F5344CB8AC3E}">
        <p14:creationId xmlns:p14="http://schemas.microsoft.com/office/powerpoint/2010/main" val="1344841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 is more than just color hue. There are many different color models.</a:t>
            </a:r>
          </a:p>
          <a:p>
            <a:r>
              <a:rPr lang="en-US" baseline="0" dirty="0"/>
              <a:t>RGB: Red, Green Blue which was maps these colors to the color receptors in the eyes</a:t>
            </a:r>
          </a:p>
          <a:p>
            <a:r>
              <a:rPr lang="en-US" baseline="0" dirty="0"/>
              <a:t>HSV: Hue, Saturation and Value</a:t>
            </a:r>
          </a:p>
          <a:p>
            <a:r>
              <a:rPr lang="en-US" baseline="0" dirty="0"/>
              <a:t>HSL: Hue, Saturation and Lightness</a:t>
            </a:r>
          </a:p>
          <a:p>
            <a:endParaRPr lang="en-US" baseline="0" dirty="0"/>
          </a:p>
          <a:p>
            <a:r>
              <a:rPr lang="en-US" baseline="0" dirty="0"/>
              <a:t>RGB, HSV and HSL are all very common color models in computer graphics.</a:t>
            </a:r>
            <a:endParaRPr lang="en-US" dirty="0"/>
          </a:p>
        </p:txBody>
      </p:sp>
    </p:spTree>
    <p:extLst>
      <p:ext uri="{BB962C8B-B14F-4D97-AF65-F5344CB8AC3E}">
        <p14:creationId xmlns:p14="http://schemas.microsoft.com/office/powerpoint/2010/main" val="17314067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anyone know what this is called?”</a:t>
            </a:r>
          </a:p>
          <a:p>
            <a:endParaRPr lang="en-US" dirty="0"/>
          </a:p>
          <a:p>
            <a:r>
              <a:rPr lang="en-US" dirty="0"/>
              <a:t>“This</a:t>
            </a:r>
            <a:r>
              <a:rPr lang="en-US" baseline="0" dirty="0"/>
              <a:t> is called a color wheel”</a:t>
            </a:r>
          </a:p>
          <a:p>
            <a:endParaRPr lang="en-US" baseline="0" dirty="0"/>
          </a:p>
          <a:p>
            <a:r>
              <a:rPr lang="en-US" b="0" i="0" kern="1200" dirty="0">
                <a:solidFill>
                  <a:schemeClr val="tx1"/>
                </a:solidFill>
                <a:effectLst/>
                <a:latin typeface="BentonSans Book"/>
                <a:ea typeface="ＭＳ Ｐゴシック" charset="0"/>
                <a:cs typeface="ＭＳ Ｐゴシック" charset="0"/>
              </a:rPr>
              <a:t>This</a:t>
            </a:r>
            <a:r>
              <a:rPr lang="en-US" b="0" i="0" kern="1200" baseline="0" dirty="0">
                <a:solidFill>
                  <a:schemeClr val="tx1"/>
                </a:solidFill>
                <a:effectLst/>
                <a:latin typeface="BentonSans Book"/>
                <a:ea typeface="ＭＳ Ｐゴシック" charset="0"/>
                <a:cs typeface="ＭＳ Ｐゴシック" charset="0"/>
              </a:rPr>
              <a:t> is actually a</a:t>
            </a:r>
            <a:r>
              <a:rPr lang="en-US" b="0" i="0" kern="1200" dirty="0">
                <a:solidFill>
                  <a:schemeClr val="tx1"/>
                </a:solidFill>
                <a:effectLst/>
                <a:latin typeface="BentonSans Book"/>
                <a:ea typeface="ＭＳ Ｐゴシック" charset="0"/>
                <a:cs typeface="ＭＳ Ｐゴシック" charset="0"/>
              </a:rPr>
              <a:t> RYB,</a:t>
            </a:r>
            <a:r>
              <a:rPr lang="en-US" b="0" i="0" kern="1200" baseline="0" dirty="0">
                <a:solidFill>
                  <a:schemeClr val="tx1"/>
                </a:solidFill>
                <a:effectLst/>
                <a:latin typeface="BentonSans Book"/>
                <a:ea typeface="ＭＳ Ｐゴシック" charset="0"/>
                <a:cs typeface="ＭＳ Ｐゴシック" charset="0"/>
              </a:rPr>
              <a:t> a</a:t>
            </a:r>
            <a:r>
              <a:rPr lang="en-US" b="0" i="0" kern="1200" dirty="0">
                <a:solidFill>
                  <a:schemeClr val="tx1"/>
                </a:solidFill>
                <a:effectLst/>
                <a:latin typeface="BentonSans Book"/>
                <a:ea typeface="ＭＳ Ｐゴシック" charset="0"/>
                <a:cs typeface="ＭＳ Ｐゴシック" charset="0"/>
              </a:rPr>
              <a:t> subtractive color model</a:t>
            </a:r>
            <a:r>
              <a:rPr lang="en-US" b="0" i="0" kern="1200" baseline="0" dirty="0">
                <a:solidFill>
                  <a:schemeClr val="tx1"/>
                </a:solidFill>
                <a:effectLst/>
                <a:latin typeface="BentonSans Book"/>
                <a:ea typeface="ＭＳ Ｐゴシック" charset="0"/>
                <a:cs typeface="ＭＳ Ｐゴシック" charset="0"/>
              </a:rPr>
              <a:t> T</a:t>
            </a:r>
            <a:r>
              <a:rPr lang="en-US" b="0" i="0" kern="1200" dirty="0">
                <a:solidFill>
                  <a:schemeClr val="tx1"/>
                </a:solidFill>
                <a:effectLst/>
                <a:latin typeface="BentonSans Book"/>
                <a:ea typeface="ＭＳ Ｐゴシック" charset="0"/>
                <a:cs typeface="ＭＳ Ｐゴシック" charset="0"/>
              </a:rPr>
              <a:t>he primary colors are red, yellow and blue.</a:t>
            </a:r>
          </a:p>
          <a:p>
            <a:r>
              <a:rPr lang="en-US" b="0" i="0" kern="1200" dirty="0">
                <a:solidFill>
                  <a:schemeClr val="tx1"/>
                </a:solidFill>
                <a:effectLst/>
                <a:latin typeface="BentonSans Book"/>
                <a:ea typeface="ＭＳ Ｐゴシック" charset="0"/>
                <a:cs typeface="ＭＳ Ｐゴシック" charset="0"/>
              </a:rPr>
              <a:t>The secondary colors are green, orange and purple,</a:t>
            </a:r>
            <a:r>
              <a:rPr lang="en-US" b="0" i="0" kern="1200" baseline="0" dirty="0">
                <a:solidFill>
                  <a:schemeClr val="tx1"/>
                </a:solidFill>
                <a:effectLst/>
                <a:latin typeface="BentonSans Book"/>
                <a:ea typeface="ＭＳ Ｐゴシック" charset="0"/>
                <a:cs typeface="ＭＳ Ｐゴシック" charset="0"/>
              </a:rPr>
              <a:t> which</a:t>
            </a:r>
            <a:r>
              <a:rPr lang="en-US" b="0" i="0" kern="1200" dirty="0">
                <a:solidFill>
                  <a:schemeClr val="tx1"/>
                </a:solidFill>
                <a:effectLst/>
                <a:latin typeface="BentonSans Book"/>
                <a:ea typeface="ＭＳ Ｐゴシック" charset="0"/>
                <a:cs typeface="ＭＳ Ｐゴシック" charset="0"/>
              </a:rPr>
              <a:t> are created by mixing two of the primary colors.</a:t>
            </a:r>
          </a:p>
          <a:p>
            <a:r>
              <a:rPr lang="en-US" b="0" i="0" kern="1200" dirty="0">
                <a:solidFill>
                  <a:schemeClr val="tx1"/>
                </a:solidFill>
                <a:effectLst/>
                <a:latin typeface="BentonSans Book"/>
                <a:ea typeface="ＭＳ Ｐゴシック" charset="0"/>
                <a:cs typeface="ＭＳ Ｐゴシック" charset="0"/>
              </a:rPr>
              <a:t>There are then six tertiary colors which are created by mixing the primary and secondary colors together.</a:t>
            </a:r>
          </a:p>
          <a:p>
            <a:endParaRPr lang="en-US" b="0" i="0" kern="1200" dirty="0">
              <a:solidFill>
                <a:schemeClr val="tx1"/>
              </a:solidFill>
              <a:effectLst/>
              <a:latin typeface="BentonSans Book"/>
              <a:ea typeface="ＭＳ Ｐゴシック" charset="0"/>
              <a:cs typeface="ＭＳ Ｐゴシック" charset="0"/>
            </a:endParaRPr>
          </a:p>
          <a:p>
            <a:r>
              <a:rPr lang="en-US" b="0" i="0" kern="1200" dirty="0">
                <a:solidFill>
                  <a:schemeClr val="tx1"/>
                </a:solidFill>
                <a:effectLst/>
                <a:latin typeface="BentonSans Book"/>
                <a:ea typeface="ＭＳ Ｐゴシック" charset="0"/>
                <a:cs typeface="ＭＳ Ｐゴシック" charset="0"/>
              </a:rPr>
              <a:t>The</a:t>
            </a:r>
            <a:r>
              <a:rPr lang="en-US" b="0" i="0" kern="1200" baseline="0" dirty="0">
                <a:solidFill>
                  <a:schemeClr val="tx1"/>
                </a:solidFill>
                <a:effectLst/>
                <a:latin typeface="BentonSans Book"/>
                <a:ea typeface="ＭＳ Ｐゴシック" charset="0"/>
                <a:cs typeface="ＭＳ Ｐゴシック" charset="0"/>
              </a:rPr>
              <a:t> color wheel can also be divided  into cool and warm colors.</a:t>
            </a:r>
            <a:endParaRPr lang="en-US" b="0" i="0" kern="1200" dirty="0">
              <a:solidFill>
                <a:schemeClr val="tx1"/>
              </a:solidFill>
              <a:effectLst/>
              <a:latin typeface="BentonSans Book"/>
              <a:ea typeface="ＭＳ Ｐゴシック" charset="0"/>
              <a:cs typeface="ＭＳ Ｐゴシック" charset="0"/>
            </a:endParaRPr>
          </a:p>
          <a:p>
            <a:endParaRPr lang="en-US" dirty="0"/>
          </a:p>
        </p:txBody>
      </p:sp>
    </p:spTree>
    <p:extLst>
      <p:ext uri="{BB962C8B-B14F-4D97-AF65-F5344CB8AC3E}">
        <p14:creationId xmlns:p14="http://schemas.microsoft.com/office/powerpoint/2010/main" val="2834184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variation of the color wheel.</a:t>
            </a:r>
            <a:r>
              <a:rPr lang="en-US" baseline="0" dirty="0"/>
              <a:t> Colors across from each other are complimentary colors and colors next to each other are analogous colors.”</a:t>
            </a:r>
          </a:p>
        </p:txBody>
      </p:sp>
    </p:spTree>
    <p:extLst>
      <p:ext uri="{BB962C8B-B14F-4D97-AF65-F5344CB8AC3E}">
        <p14:creationId xmlns:p14="http://schemas.microsoft.com/office/powerpoint/2010/main" val="29169244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861566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a:t>
            </a:r>
            <a:r>
              <a:rPr lang="en-US" baseline="0" dirty="0"/>
              <a:t> of the most frequent mistakes in data visualization is the use of color. This is one of the most important slides we will cover in the entire course. It will be very important for you to know this slide, not only for the test questions, but also for your work through the course and in your future data visualization work.</a:t>
            </a:r>
          </a:p>
          <a:p>
            <a:endParaRPr lang="en-US" baseline="0" dirty="0"/>
          </a:p>
          <a:p>
            <a:r>
              <a:rPr lang="en-US" baseline="0" dirty="0"/>
              <a:t>The three primary ways you will use color in data visualization is Sequential, Diverging and Categorical. </a:t>
            </a:r>
          </a:p>
          <a:p>
            <a:endParaRPr lang="en-US" baseline="0" dirty="0"/>
          </a:p>
          <a:p>
            <a:r>
              <a:rPr lang="en-US" b="1" baseline="0" dirty="0"/>
              <a:t>Sequential</a:t>
            </a:r>
            <a:r>
              <a:rPr lang="en-US" baseline="0" dirty="0"/>
              <a:t> color encodes a quantitative value from low to high. A great example of this is Sales, which goes from zero to infinity.</a:t>
            </a:r>
          </a:p>
          <a:p>
            <a:r>
              <a:rPr lang="en-US" b="1" baseline="0" dirty="0"/>
              <a:t>Diverging</a:t>
            </a:r>
            <a:r>
              <a:rPr lang="en-US" baseline="0" dirty="0"/>
              <a:t> color encodes a quantitative value but has a midpoint. The midpoint could be zero, for example, displaying Profit. Profit can be positive, encoded in blue with darker blue higher profit. Profit could also be negative, encoded in orange with the darker orange showing a bigger loss. The midpoints does not have to zero. It could be the average, where it shows the average unemployment rate in the country and then one color showing the states below the average and the other color above the average. It could also be a target value, such as last year’s sales or this years projections and the two colors would encode values above and below that target.</a:t>
            </a:r>
          </a:p>
          <a:p>
            <a:r>
              <a:rPr lang="en-US" b="1" baseline="0" dirty="0"/>
              <a:t>Categorical</a:t>
            </a:r>
            <a:r>
              <a:rPr lang="en-US" baseline="0" dirty="0"/>
              <a:t> colors encode categories. Apples, bananas, oranges, pears, or shoes, socks, shirts and ties. It would be very difficult to use a sequential color scheme for categories and trying to figure out which shade of blue means </a:t>
            </a:r>
            <a:r>
              <a:rPr lang="en-US" baseline="0" dirty="0" err="1"/>
              <a:t>shirst</a:t>
            </a:r>
            <a:r>
              <a:rPr lang="en-US" baseline="0" dirty="0"/>
              <a:t> or pants.</a:t>
            </a:r>
          </a:p>
          <a:p>
            <a:r>
              <a:rPr lang="en-US" b="0" baseline="0" dirty="0"/>
              <a:t>A </a:t>
            </a:r>
            <a:r>
              <a:rPr lang="en-US" b="1" baseline="0" dirty="0"/>
              <a:t>Highlight</a:t>
            </a:r>
            <a:r>
              <a:rPr lang="en-US" b="0" baseline="0" dirty="0"/>
              <a:t> color is used to highlight one data point or category. For example, if you have 50 lines, each representing one state, then you might highlight one state. This allows the reader to see for example California versus all of the other states. </a:t>
            </a:r>
          </a:p>
          <a:p>
            <a:r>
              <a:rPr lang="en-US" b="1" baseline="0" dirty="0"/>
              <a:t>Alerting</a:t>
            </a:r>
            <a:r>
              <a:rPr lang="en-US" b="0" baseline="0" dirty="0"/>
              <a:t> colors are used to draw the readers attention, similar to Highlight, but in this case it’s done with an alarming or alerting color to tell the reader that something is wrong. It needs the readers attention. Note that in Western culture that red is often associated with bad. This may not be the case in other countries (ex. China). Bright alerting colors could be red, orange or yellow.</a:t>
            </a:r>
            <a:endParaRPr lang="en-US" b="1" dirty="0"/>
          </a:p>
        </p:txBody>
      </p:sp>
    </p:spTree>
    <p:extLst>
      <p:ext uri="{BB962C8B-B14F-4D97-AF65-F5344CB8AC3E}">
        <p14:creationId xmlns:p14="http://schemas.microsoft.com/office/powerpoint/2010/main" val="29477986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might be one to just keep in the back</a:t>
            </a:r>
            <a:r>
              <a:rPr lang="en-US" baseline="0" dirty="0"/>
              <a:t> of your mind. It could be useful to encode categorical data, but not quantitative data.</a:t>
            </a:r>
            <a:endParaRPr lang="en-US" dirty="0"/>
          </a:p>
        </p:txBody>
      </p:sp>
    </p:spTree>
    <p:extLst>
      <p:ext uri="{BB962C8B-B14F-4D97-AF65-F5344CB8AC3E}">
        <p14:creationId xmlns:p14="http://schemas.microsoft.com/office/powerpoint/2010/main" val="27851361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that it’s easy to see that the one square is smaller than the others, but it’s hard to quantify that amount. Is it one third the size? Or one fourth? [it’s neither]</a:t>
            </a:r>
          </a:p>
        </p:txBody>
      </p:sp>
    </p:spTree>
    <p:extLst>
      <p:ext uri="{BB962C8B-B14F-4D97-AF65-F5344CB8AC3E}">
        <p14:creationId xmlns:p14="http://schemas.microsoft.com/office/powerpoint/2010/main" val="2041162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when</a:t>
            </a:r>
            <a:r>
              <a:rPr lang="en-US" baseline="0" dirty="0"/>
              <a:t> using position that we can see even the smallest differences between the squares. Which square is positioned further to the right?</a:t>
            </a:r>
            <a:endParaRPr lang="en-US" dirty="0"/>
          </a:p>
        </p:txBody>
      </p:sp>
    </p:spTree>
    <p:extLst>
      <p:ext uri="{BB962C8B-B14F-4D97-AF65-F5344CB8AC3E}">
        <p14:creationId xmlns:p14="http://schemas.microsoft.com/office/powerpoint/2010/main" val="26307361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 to shape, this could be useful to show a categorical comparison or as a directional icon. For</a:t>
            </a:r>
            <a:r>
              <a:rPr lang="en-US" baseline="0" dirty="0"/>
              <a:t> example, an arrow pointing up could mean something has increased and an arrow pointing down could mean something decreased.</a:t>
            </a:r>
            <a:endParaRPr lang="en-US" dirty="0"/>
          </a:p>
        </p:txBody>
      </p:sp>
    </p:spTree>
    <p:extLst>
      <p:ext uri="{BB962C8B-B14F-4D97-AF65-F5344CB8AC3E}">
        <p14:creationId xmlns:p14="http://schemas.microsoft.com/office/powerpoint/2010/main" val="38632434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ordered alphabetically. Notice how hard it is to answer these</a:t>
            </a:r>
            <a:r>
              <a:rPr lang="en-US" baseline="0" dirty="0"/>
              <a:t> questions quickly and accurately.</a:t>
            </a:r>
          </a:p>
          <a:p>
            <a:endParaRPr lang="en-US" baseline="0" dirty="0"/>
          </a:p>
          <a:p>
            <a:r>
              <a:rPr lang="en-US" baseline="0" dirty="0"/>
              <a:t>What is the top provider?</a:t>
            </a:r>
          </a:p>
          <a:p>
            <a:r>
              <a:rPr lang="en-US" baseline="0" dirty="0"/>
              <a:t>What is the bottom provider?</a:t>
            </a:r>
          </a:p>
          <a:p>
            <a:r>
              <a:rPr lang="en-US" baseline="0" dirty="0"/>
              <a:t>What are the top three providers?</a:t>
            </a:r>
          </a:p>
          <a:p>
            <a:r>
              <a:rPr lang="en-US" baseline="0" dirty="0"/>
              <a:t>What are the bottom three providers?</a:t>
            </a:r>
          </a:p>
          <a:p>
            <a:r>
              <a:rPr lang="en-US" baseline="0" dirty="0"/>
              <a:t>What rank is Humana?</a:t>
            </a:r>
            <a:endParaRPr lang="en-US" dirty="0"/>
          </a:p>
        </p:txBody>
      </p:sp>
    </p:spTree>
    <p:extLst>
      <p:ext uri="{BB962C8B-B14F-4D97-AF65-F5344CB8AC3E}">
        <p14:creationId xmlns:p14="http://schemas.microsoft.com/office/powerpoint/2010/main" val="9766593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order the chart based on the data and ask the same</a:t>
            </a:r>
            <a:r>
              <a:rPr lang="en-US" baseline="0" dirty="0"/>
              <a:t> questions.</a:t>
            </a:r>
          </a:p>
          <a:p>
            <a:endParaRPr lang="en-US" baseline="0" dirty="0"/>
          </a:p>
          <a:p>
            <a:r>
              <a:rPr lang="en-US" baseline="0" dirty="0"/>
              <a:t>What is the top provider?</a:t>
            </a:r>
          </a:p>
          <a:p>
            <a:r>
              <a:rPr lang="en-US" baseline="0" dirty="0"/>
              <a:t>What is the bottom provider?</a:t>
            </a:r>
          </a:p>
          <a:p>
            <a:r>
              <a:rPr lang="en-US" baseline="0" dirty="0"/>
              <a:t>What are the top three providers?</a:t>
            </a:r>
          </a:p>
          <a:p>
            <a:r>
              <a:rPr lang="en-US" baseline="0" dirty="0"/>
              <a:t>What are the bottom three providers?</a:t>
            </a:r>
            <a:endParaRPr lang="en-US" dirty="0"/>
          </a:p>
          <a:p>
            <a:pPr marL="0" marR="0" lvl="0" indent="0" algn="l" defTabSz="1304925" rtl="0" eaLnBrk="1" fontAlgn="base" latinLnBrk="0" hangingPunct="1">
              <a:lnSpc>
                <a:spcPct val="100000"/>
              </a:lnSpc>
              <a:spcBef>
                <a:spcPct val="30000"/>
              </a:spcBef>
              <a:spcAft>
                <a:spcPct val="0"/>
              </a:spcAft>
              <a:buClrTx/>
              <a:buSzTx/>
              <a:buFontTx/>
              <a:buNone/>
              <a:tabLst/>
              <a:defRPr/>
            </a:pPr>
            <a:r>
              <a:rPr lang="en-US" baseline="0" dirty="0"/>
              <a:t>What rank is Humana?</a:t>
            </a:r>
          </a:p>
          <a:p>
            <a:pPr marL="0" marR="0" lvl="0" indent="0" algn="l" defTabSz="1304925" rtl="0" eaLnBrk="1" fontAlgn="base" latinLnBrk="0" hangingPunct="1">
              <a:lnSpc>
                <a:spcPct val="100000"/>
              </a:lnSpc>
              <a:spcBef>
                <a:spcPct val="30000"/>
              </a:spcBef>
              <a:spcAft>
                <a:spcPct val="0"/>
              </a:spcAft>
              <a:buClrTx/>
              <a:buSzTx/>
              <a:buFontTx/>
              <a:buNone/>
              <a:tabLst/>
              <a:defRPr/>
            </a:pPr>
            <a:endParaRPr lang="en-US" baseline="0" dirty="0"/>
          </a:p>
          <a:p>
            <a:pPr marL="0" marR="0" lvl="0" indent="0" algn="l" defTabSz="1304925" rtl="0" eaLnBrk="1" fontAlgn="base" latinLnBrk="0" hangingPunct="1">
              <a:lnSpc>
                <a:spcPct val="100000"/>
              </a:lnSpc>
              <a:spcBef>
                <a:spcPct val="30000"/>
              </a:spcBef>
              <a:spcAft>
                <a:spcPct val="0"/>
              </a:spcAft>
              <a:buClrTx/>
              <a:buSzTx/>
              <a:buFontTx/>
              <a:buNone/>
              <a:tabLst/>
              <a:defRPr/>
            </a:pPr>
            <a:r>
              <a:rPr lang="en-US" baseline="0" dirty="0"/>
              <a:t>We can answer all of these questions much more quickly and more accurately.</a:t>
            </a:r>
            <a:endParaRPr lang="en-US" dirty="0"/>
          </a:p>
        </p:txBody>
      </p:sp>
    </p:spTree>
    <p:extLst>
      <p:ext uri="{BB962C8B-B14F-4D97-AF65-F5344CB8AC3E}">
        <p14:creationId xmlns:p14="http://schemas.microsoft.com/office/powerpoint/2010/main" val="32143469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“Things like color, size, orientation and texture</a:t>
            </a:r>
            <a:r>
              <a:rPr lang="en-US" baseline="0" dirty="0"/>
              <a:t> are preattentive. It means the brain processes the information prior to focusing attention on anything. This happens in about 250 milliseconds.”</a:t>
            </a:r>
            <a:endParaRPr lang="en-US" dirty="0"/>
          </a:p>
        </p:txBody>
      </p:sp>
    </p:spTree>
    <p:extLst>
      <p:ext uri="{BB962C8B-B14F-4D97-AF65-F5344CB8AC3E}">
        <p14:creationId xmlns:p14="http://schemas.microsoft.com/office/powerpoint/2010/main" val="39582910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the left we see a number of different preattentive attributes and on the right</a:t>
            </a:r>
            <a:r>
              <a:rPr lang="en-US" baseline="0" dirty="0"/>
              <a:t> we see different ways to encode color. We can’t help but see these things immediately before processing any other information.”</a:t>
            </a:r>
            <a:endParaRPr lang="en-US" dirty="0"/>
          </a:p>
        </p:txBody>
      </p:sp>
    </p:spTree>
    <p:extLst>
      <p:ext uri="{BB962C8B-B14F-4D97-AF65-F5344CB8AC3E}">
        <p14:creationId xmlns:p14="http://schemas.microsoft.com/office/powerpoint/2010/main" val="7923955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a:t>
            </a:r>
            <a:r>
              <a:rPr lang="en-US" baseline="0" dirty="0"/>
              <a:t> the class what does color represent. It represents quarters]</a:t>
            </a:r>
          </a:p>
          <a:p>
            <a:endParaRPr lang="en-US" baseline="0" dirty="0"/>
          </a:p>
          <a:p>
            <a:r>
              <a:rPr lang="en-US" baseline="0" dirty="0"/>
              <a:t>Is this the best way to encode color in the data?</a:t>
            </a:r>
            <a:endParaRPr lang="en-US" dirty="0"/>
          </a:p>
        </p:txBody>
      </p:sp>
    </p:spTree>
    <p:extLst>
      <p:ext uri="{BB962C8B-B14F-4D97-AF65-F5344CB8AC3E}">
        <p14:creationId xmlns:p14="http://schemas.microsoft.com/office/powerpoint/2010/main" val="732676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053C81-475F-384A-92EC-E0FDCAF52661}" type="datetimeFigureOut">
              <a:rPr lang="en-US" smtClean="0"/>
              <a:t>9/9/26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73394EBD-3DC2-F04D-9B4F-55E979567D98}"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4733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053C81-475F-384A-92EC-E0FDCAF52661}"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394EBD-3DC2-F04D-9B4F-55E979567D98}"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69849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053C81-475F-384A-92EC-E0FDCAF52661}"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394EBD-3DC2-F04D-9B4F-55E979567D98}"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21158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053C81-475F-384A-92EC-E0FDCAF52661}"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394EBD-3DC2-F04D-9B4F-55E979567D98}"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6357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053C81-475F-384A-92EC-E0FDCAF52661}" type="datetimeFigureOut">
              <a:rPr lang="en-US" smtClean="0"/>
              <a:t>9/9/26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394EBD-3DC2-F04D-9B4F-55E979567D98}"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95819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053C81-475F-384A-92EC-E0FDCAF52661}" type="datetimeFigureOut">
              <a:rPr lang="en-US" smtClean="0"/>
              <a:t>9/9/26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394EBD-3DC2-F04D-9B4F-55E979567D98}"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98609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053C81-475F-384A-92EC-E0FDCAF52661}" type="datetimeFigureOut">
              <a:rPr lang="en-US" smtClean="0"/>
              <a:t>9/9/26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394EBD-3DC2-F04D-9B4F-55E979567D98}" type="slidenum">
              <a:rPr lang="en-US" smtClean="0"/>
              <a:t>‹#›</a:t>
            </a:fld>
            <a:endParaRPr lang="en-US"/>
          </a:p>
        </p:txBody>
      </p:sp>
    </p:spTree>
    <p:extLst>
      <p:ext uri="{BB962C8B-B14F-4D97-AF65-F5344CB8AC3E}">
        <p14:creationId xmlns:p14="http://schemas.microsoft.com/office/powerpoint/2010/main" val="3522596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053C81-475F-384A-92EC-E0FDCAF52661}"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394EBD-3DC2-F04D-9B4F-55E979567D98}"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64605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B053C81-475F-384A-92EC-E0FDCAF52661}" type="datetimeFigureOut">
              <a:rPr lang="en-US" smtClean="0"/>
              <a:t>9/9/26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73394EBD-3DC2-F04D-9B4F-55E979567D98}"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60366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053C81-475F-384A-92EC-E0FDCAF52661}"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394EBD-3DC2-F04D-9B4F-55E979567D98}"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88526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053C81-475F-384A-92EC-E0FDCAF52661}"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394EBD-3DC2-F04D-9B4F-55E979567D98}"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91870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816388" fontAlgn="auto">
              <a:spcBef>
                <a:spcPts val="0"/>
              </a:spcBef>
              <a:spcAft>
                <a:spcPts val="0"/>
              </a:spcAft>
              <a:defRPr/>
            </a:pPr>
            <a:endParaRPr lang="en-US" sz="1800" dirty="0">
              <a:latin typeface="BentonSans Book"/>
            </a:endParaRPr>
          </a:p>
        </p:txBody>
      </p:sp>
    </p:spTree>
    <p:extLst>
      <p:ext uri="{BB962C8B-B14F-4D97-AF65-F5344CB8AC3E}">
        <p14:creationId xmlns:p14="http://schemas.microsoft.com/office/powerpoint/2010/main" val="9932753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New Topic">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88474" fontAlgn="auto">
              <a:spcBef>
                <a:spcPts val="0"/>
              </a:spcBef>
              <a:spcAft>
                <a:spcPts val="0"/>
              </a:spcAft>
              <a:defRPr/>
            </a:pPr>
            <a:endParaRPr lang="en-US" sz="1500" dirty="0">
              <a:latin typeface="BentonSans Book"/>
            </a:endParaRPr>
          </a:p>
        </p:txBody>
      </p:sp>
      <p:pic>
        <p:nvPicPr>
          <p:cNvPr id="7" name="Picture 6" descr="SectionDivider-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541"/>
          <a:stretch/>
        </p:blipFill>
        <p:spPr>
          <a:xfrm>
            <a:off x="0" y="2455333"/>
            <a:ext cx="12192000" cy="3958167"/>
          </a:xfrm>
          <a:prstGeom prst="rect">
            <a:avLst/>
          </a:prstGeom>
        </p:spPr>
      </p:pic>
      <p:sp>
        <p:nvSpPr>
          <p:cNvPr id="5" name="Text Placeholder 3"/>
          <p:cNvSpPr>
            <a:spLocks noGrp="1"/>
          </p:cNvSpPr>
          <p:nvPr>
            <p:ph type="body" sz="quarter" idx="11"/>
          </p:nvPr>
        </p:nvSpPr>
        <p:spPr>
          <a:xfrm>
            <a:off x="588321" y="1576464"/>
            <a:ext cx="11037630" cy="480901"/>
          </a:xfrm>
          <a:prstGeom prst="rect">
            <a:avLst/>
          </a:prstGeom>
        </p:spPr>
        <p:txBody>
          <a:bodyPr wrap="square" lIns="0" tIns="0" rIns="0" bIns="0">
            <a:spAutoFit/>
          </a:bodyPr>
          <a:lstStyle>
            <a:lvl1pPr marL="0" indent="0">
              <a:lnSpc>
                <a:spcPct val="80000"/>
              </a:lnSpc>
              <a:buNone/>
              <a:defRPr sz="3750" b="0" i="0" baseline="0">
                <a:solidFill>
                  <a:schemeClr val="accent5"/>
                </a:solidFill>
                <a:latin typeface="BentonSans Book"/>
                <a:cs typeface="BentonSans Book"/>
              </a:defRPr>
            </a:lvl1pPr>
            <a:lvl2pPr marL="544237" indent="0">
              <a:buNone/>
              <a:defRPr/>
            </a:lvl2pPr>
            <a:lvl3pPr marL="1088474" indent="0">
              <a:buNone/>
              <a:defRPr/>
            </a:lvl3pPr>
            <a:lvl4pPr marL="1632711" indent="0">
              <a:buNone/>
              <a:defRPr/>
            </a:lvl4pPr>
            <a:lvl5pPr marL="2176948" indent="0">
              <a:buNone/>
              <a:defRPr/>
            </a:lvl5pPr>
          </a:lstStyle>
          <a:p>
            <a:pPr lvl="0"/>
            <a:r>
              <a:rPr lang="en-US"/>
              <a:t>Edit Master text styles</a:t>
            </a:r>
          </a:p>
        </p:txBody>
      </p:sp>
    </p:spTree>
    <p:extLst>
      <p:ext uri="{BB962C8B-B14F-4D97-AF65-F5344CB8AC3E}">
        <p14:creationId xmlns:p14="http://schemas.microsoft.com/office/powerpoint/2010/main" val="9841963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Text">
    <p:spTree>
      <p:nvGrpSpPr>
        <p:cNvPr id="1" name=""/>
        <p:cNvGrpSpPr/>
        <p:nvPr/>
      </p:nvGrpSpPr>
      <p:grpSpPr>
        <a:xfrm>
          <a:off x="0" y="0"/>
          <a:ext cx="0" cy="0"/>
          <a:chOff x="0" y="0"/>
          <a:chExt cx="0" cy="0"/>
        </a:xfrm>
      </p:grpSpPr>
      <p:sp>
        <p:nvSpPr>
          <p:cNvPr id="15" name="Title 14"/>
          <p:cNvSpPr>
            <a:spLocks noGrp="1"/>
          </p:cNvSpPr>
          <p:nvPr>
            <p:ph type="title"/>
          </p:nvPr>
        </p:nvSpPr>
        <p:spPr bwMode="gray"/>
        <p:txBody>
          <a:bodyPr/>
          <a:lstStyle/>
          <a:p>
            <a:pPr lvl="0"/>
            <a:r>
              <a:rPr lang="en-US" dirty="0"/>
              <a:t>Click to edit Master title style</a:t>
            </a:r>
            <a:endParaRPr lang="en-GB" dirty="0"/>
          </a:p>
        </p:txBody>
      </p:sp>
      <p:sp>
        <p:nvSpPr>
          <p:cNvPr id="6" name="Text Placeholder 5"/>
          <p:cNvSpPr>
            <a:spLocks noGrp="1"/>
          </p:cNvSpPr>
          <p:nvPr>
            <p:ph type="body" sz="quarter" idx="10"/>
          </p:nvPr>
        </p:nvSpPr>
        <p:spPr bwMode="gray">
          <a:xfrm>
            <a:off x="609600" y="1600200"/>
            <a:ext cx="109728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418586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6">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B053C81-475F-384A-92EC-E0FDCAF52661}" type="datetimeFigureOut">
              <a:rPr lang="en-US" smtClean="0"/>
              <a:t>9/9/26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3394EBD-3DC2-F04D-9B4F-55E979567D98}"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51186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www.wikipedia.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hyperlink" Target="http://www.wikipedia.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hyperlink" Target="http://www.wikipedia.co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hyperlink" Target="http://www.wikipedia.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hyperlink" Target="http://online.wsj.com/" TargetMode="External"/></Relationships>
</file>

<file path=ppt/slides/_rels/slide6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4F6FF-0C16-E08B-BE6F-DA0440840B52}"/>
              </a:ext>
            </a:extLst>
          </p:cNvPr>
          <p:cNvSpPr>
            <a:spLocks noGrp="1"/>
          </p:cNvSpPr>
          <p:nvPr>
            <p:ph type="ctrTitle"/>
          </p:nvPr>
        </p:nvSpPr>
        <p:spPr/>
        <p:txBody>
          <a:bodyPr/>
          <a:lstStyle/>
          <a:p>
            <a:r>
              <a:rPr lang="en-US" dirty="0"/>
              <a:t>Introduction to Visualization</a:t>
            </a:r>
          </a:p>
        </p:txBody>
      </p:sp>
      <p:sp>
        <p:nvSpPr>
          <p:cNvPr id="3" name="Subtitle 2">
            <a:extLst>
              <a:ext uri="{FF2B5EF4-FFF2-40B4-BE49-F238E27FC236}">
                <a16:creationId xmlns:a16="http://schemas.microsoft.com/office/drawing/2014/main" id="{AD9DC274-EDCC-1B6D-9CFC-C92392CEA26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98864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3EDC0-F7F7-32A0-C6EE-B7A9B35D34D2}"/>
              </a:ext>
            </a:extLst>
          </p:cNvPr>
          <p:cNvSpPr>
            <a:spLocks noGrp="1"/>
          </p:cNvSpPr>
          <p:nvPr>
            <p:ph type="title"/>
          </p:nvPr>
        </p:nvSpPr>
        <p:spPr/>
        <p:txBody>
          <a:bodyPr/>
          <a:lstStyle/>
          <a:p>
            <a:r>
              <a:rPr lang="en-US" dirty="0"/>
              <a:t>Visualization</a:t>
            </a:r>
          </a:p>
        </p:txBody>
      </p:sp>
      <p:sp>
        <p:nvSpPr>
          <p:cNvPr id="3" name="Content Placeholder 2">
            <a:extLst>
              <a:ext uri="{FF2B5EF4-FFF2-40B4-BE49-F238E27FC236}">
                <a16:creationId xmlns:a16="http://schemas.microsoft.com/office/drawing/2014/main" id="{FAC0A762-613A-3F00-BD34-2892587E31BE}"/>
              </a:ext>
            </a:extLst>
          </p:cNvPr>
          <p:cNvSpPr>
            <a:spLocks noGrp="1"/>
          </p:cNvSpPr>
          <p:nvPr>
            <p:ph idx="1"/>
          </p:nvPr>
        </p:nvSpPr>
        <p:spPr>
          <a:xfrm>
            <a:off x="1137146" y="1853754"/>
            <a:ext cx="10434744" cy="4199727"/>
          </a:xfrm>
        </p:spPr>
        <p:txBody>
          <a:bodyPr/>
          <a:lstStyle/>
          <a:p>
            <a:r>
              <a:rPr lang="en-US" dirty="0"/>
              <a:t>The main focus of this course is on visualization, but what is it? </a:t>
            </a:r>
          </a:p>
          <a:p>
            <a:r>
              <a:rPr lang="en-US" dirty="0"/>
              <a:t>Visualization is communication of information or knowledge from data, using visual tools. </a:t>
            </a:r>
          </a:p>
          <a:p>
            <a:pPr lvl="1"/>
            <a:r>
              <a:rPr lang="en-US" dirty="0"/>
              <a:t>Charts</a:t>
            </a:r>
          </a:p>
          <a:p>
            <a:pPr lvl="1"/>
            <a:r>
              <a:rPr lang="en-US" dirty="0"/>
              <a:t>Graphs</a:t>
            </a:r>
          </a:p>
          <a:p>
            <a:pPr lvl="1"/>
            <a:r>
              <a:rPr lang="en-US" dirty="0"/>
              <a:t>Maps</a:t>
            </a:r>
          </a:p>
          <a:p>
            <a:pPr lvl="1"/>
            <a:r>
              <a:rPr lang="en-US" dirty="0" err="1"/>
              <a:t>Etc</a:t>
            </a:r>
            <a:r>
              <a:rPr lang="en-US" dirty="0"/>
              <a:t>…</a:t>
            </a:r>
          </a:p>
          <a:p>
            <a:r>
              <a:rPr lang="en-US" dirty="0"/>
              <a:t>We are simply trying to communicate things, just using charts instead of words. </a:t>
            </a:r>
          </a:p>
          <a:p>
            <a:pPr lvl="1"/>
            <a:r>
              <a:rPr lang="en-US" dirty="0"/>
              <a:t>You could examine store sales data and write a paragraph to explain the results to the manager. </a:t>
            </a:r>
          </a:p>
          <a:p>
            <a:pPr lvl="1"/>
            <a:r>
              <a:rPr lang="en-US" dirty="0"/>
              <a:t>You could use store sales data to generate visualizations to explain the results. </a:t>
            </a:r>
          </a:p>
        </p:txBody>
      </p:sp>
    </p:spTree>
    <p:extLst>
      <p:ext uri="{BB962C8B-B14F-4D97-AF65-F5344CB8AC3E}">
        <p14:creationId xmlns:p14="http://schemas.microsoft.com/office/powerpoint/2010/main" val="3133100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0C67A-B9EF-7636-E12E-CFBE110A9FE7}"/>
              </a:ext>
            </a:extLst>
          </p:cNvPr>
          <p:cNvSpPr>
            <a:spLocks noGrp="1"/>
          </p:cNvSpPr>
          <p:nvPr>
            <p:ph type="title"/>
          </p:nvPr>
        </p:nvSpPr>
        <p:spPr/>
        <p:txBody>
          <a:bodyPr/>
          <a:lstStyle/>
          <a:p>
            <a:r>
              <a:rPr lang="en-US" dirty="0"/>
              <a:t>Data – It Matters</a:t>
            </a:r>
          </a:p>
        </p:txBody>
      </p:sp>
      <p:sp>
        <p:nvSpPr>
          <p:cNvPr id="3" name="Content Placeholder 2">
            <a:extLst>
              <a:ext uri="{FF2B5EF4-FFF2-40B4-BE49-F238E27FC236}">
                <a16:creationId xmlns:a16="http://schemas.microsoft.com/office/drawing/2014/main" id="{B6EF5DC4-3C55-9E3C-2932-63B256AF507B}"/>
              </a:ext>
            </a:extLst>
          </p:cNvPr>
          <p:cNvSpPr>
            <a:spLocks noGrp="1"/>
          </p:cNvSpPr>
          <p:nvPr>
            <p:ph idx="1"/>
          </p:nvPr>
        </p:nvSpPr>
        <p:spPr>
          <a:xfrm>
            <a:off x="1981200" y="1853754"/>
            <a:ext cx="8305800" cy="4272410"/>
          </a:xfrm>
        </p:spPr>
        <p:txBody>
          <a:bodyPr>
            <a:normAutofit/>
          </a:bodyPr>
          <a:lstStyle/>
          <a:p>
            <a:r>
              <a:rPr lang="en-US" dirty="0"/>
              <a:t>Analytics is built upon our ability to collect data. </a:t>
            </a:r>
          </a:p>
          <a:p>
            <a:pPr lvl="1"/>
            <a:r>
              <a:rPr lang="en-US" dirty="0"/>
              <a:t>Often massive amounts of data. </a:t>
            </a:r>
          </a:p>
          <a:p>
            <a:r>
              <a:rPr lang="en-US" dirty="0"/>
              <a:t>Data can be in many forms</a:t>
            </a:r>
          </a:p>
          <a:p>
            <a:pPr lvl="1"/>
            <a:r>
              <a:rPr lang="en-US" dirty="0"/>
              <a:t>Text, spreadsheets, videos, images, </a:t>
            </a:r>
            <a:r>
              <a:rPr lang="en-US" dirty="0" err="1"/>
              <a:t>etc</a:t>
            </a:r>
            <a:r>
              <a:rPr lang="en-US" dirty="0"/>
              <a:t>…</a:t>
            </a:r>
          </a:p>
          <a:p>
            <a:r>
              <a:rPr lang="en-US" dirty="0"/>
              <a:t>The amount of data in the world doubles every two years or less. </a:t>
            </a:r>
          </a:p>
          <a:p>
            <a:r>
              <a:rPr lang="en-US" dirty="0"/>
              <a:t>Analytics seeks to make sense of this data.</a:t>
            </a:r>
          </a:p>
          <a:p>
            <a:r>
              <a:rPr lang="en-US" dirty="0"/>
              <a:t>Amazon can track its customer’s location, payment method, purchase history, search history, potentially media consumption… how can they use this? </a:t>
            </a:r>
          </a:p>
          <a:p>
            <a:pPr lvl="1"/>
            <a:r>
              <a:rPr lang="en-US" dirty="0"/>
              <a:t>Part interesting, part innovative, part horrifying. </a:t>
            </a:r>
          </a:p>
        </p:txBody>
      </p:sp>
    </p:spTree>
    <p:extLst>
      <p:ext uri="{BB962C8B-B14F-4D97-AF65-F5344CB8AC3E}">
        <p14:creationId xmlns:p14="http://schemas.microsoft.com/office/powerpoint/2010/main" val="107941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 name="Title 1">
            <a:extLst>
              <a:ext uri="{FF2B5EF4-FFF2-40B4-BE49-F238E27FC236}">
                <a16:creationId xmlns:a16="http://schemas.microsoft.com/office/drawing/2014/main" id="{7E857E8A-8C06-0BDF-8A90-3B34EC013876}"/>
              </a:ext>
            </a:extLst>
          </p:cNvPr>
          <p:cNvSpPr>
            <a:spLocks noGrp="1"/>
          </p:cNvSpPr>
          <p:nvPr>
            <p:ph type="title"/>
          </p:nvPr>
        </p:nvSpPr>
        <p:spPr>
          <a:xfrm>
            <a:off x="1981200" y="635726"/>
            <a:ext cx="8229600" cy="781912"/>
          </a:xfrm>
        </p:spPr>
        <p:txBody>
          <a:bodyPr/>
          <a:lstStyle/>
          <a:p>
            <a:r>
              <a:rPr lang="en-US" dirty="0"/>
              <a:t>What is Data?</a:t>
            </a:r>
          </a:p>
        </p:txBody>
      </p:sp>
      <p:pic>
        <p:nvPicPr>
          <p:cNvPr id="3074" name="Picture 2" descr="Statistics and Probability Concepts for Data Science">
            <a:extLst>
              <a:ext uri="{FF2B5EF4-FFF2-40B4-BE49-F238E27FC236}">
                <a16:creationId xmlns:a16="http://schemas.microsoft.com/office/drawing/2014/main" id="{34D2BFBD-D3E4-7FFC-7143-B5F2F45BB41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08368" y="1600201"/>
            <a:ext cx="7975265" cy="4525963"/>
          </a:xfrm>
          <a:prstGeom prst="rect">
            <a:avLst/>
          </a:prstGeom>
          <a:solidFill>
            <a:srgbClr val="FFFFFF"/>
          </a:solidFill>
        </p:spPr>
      </p:pic>
    </p:spTree>
    <p:extLst>
      <p:ext uri="{BB962C8B-B14F-4D97-AF65-F5344CB8AC3E}">
        <p14:creationId xmlns:p14="http://schemas.microsoft.com/office/powerpoint/2010/main" val="868458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FB2F5-BD5B-8DB2-C6D1-F3FFE69E2EFB}"/>
              </a:ext>
            </a:extLst>
          </p:cNvPr>
          <p:cNvSpPr>
            <a:spLocks noGrp="1"/>
          </p:cNvSpPr>
          <p:nvPr>
            <p:ph type="title"/>
          </p:nvPr>
        </p:nvSpPr>
        <p:spPr>
          <a:xfrm>
            <a:off x="1451579" y="804519"/>
            <a:ext cx="9603275" cy="1049235"/>
          </a:xfrm>
        </p:spPr>
        <p:txBody>
          <a:bodyPr>
            <a:normAutofit/>
          </a:bodyPr>
          <a:lstStyle/>
          <a:p>
            <a:r>
              <a:rPr lang="en-US" dirty="0"/>
              <a:t>We keep Getting More Data, More Quickly</a:t>
            </a:r>
          </a:p>
        </p:txBody>
      </p:sp>
      <p:sp>
        <p:nvSpPr>
          <p:cNvPr id="3" name="Content Placeholder 2">
            <a:extLst>
              <a:ext uri="{FF2B5EF4-FFF2-40B4-BE49-F238E27FC236}">
                <a16:creationId xmlns:a16="http://schemas.microsoft.com/office/drawing/2014/main" id="{EA0CC07D-E839-0194-376F-D3759C3CBC06}"/>
              </a:ext>
            </a:extLst>
          </p:cNvPr>
          <p:cNvSpPr>
            <a:spLocks noGrp="1"/>
          </p:cNvSpPr>
          <p:nvPr>
            <p:ph idx="1"/>
          </p:nvPr>
        </p:nvSpPr>
        <p:spPr>
          <a:xfrm>
            <a:off x="173812" y="1853754"/>
            <a:ext cx="6077175" cy="4276458"/>
          </a:xfrm>
        </p:spPr>
        <p:txBody>
          <a:bodyPr>
            <a:normAutofit/>
          </a:bodyPr>
          <a:lstStyle/>
          <a:p>
            <a:r>
              <a:rPr lang="en-US" sz="2400" dirty="0"/>
              <a:t>The amount of data we have is growing. </a:t>
            </a:r>
          </a:p>
          <a:p>
            <a:r>
              <a:rPr lang="en-US" sz="2400" dirty="0"/>
              <a:t>The rate at which data is generated is growing. </a:t>
            </a:r>
          </a:p>
          <a:p>
            <a:pPr lvl="1"/>
            <a:r>
              <a:rPr lang="en-US" sz="2000" dirty="0"/>
              <a:t>Every smart device – phone, watch, appliances, cars, machines…</a:t>
            </a:r>
          </a:p>
          <a:p>
            <a:pPr lvl="1"/>
            <a:r>
              <a:rPr lang="en-US" sz="2000" dirty="0"/>
              <a:t>AI pumping out junk. </a:t>
            </a:r>
          </a:p>
          <a:p>
            <a:r>
              <a:rPr lang="en-US" sz="2200" dirty="0"/>
              <a:t>The more we measure, the more we can know.</a:t>
            </a:r>
          </a:p>
          <a:p>
            <a:pPr lvl="1"/>
            <a:r>
              <a:rPr lang="en-US" sz="2000" dirty="0"/>
              <a:t>Orgs can measure things in great detail. </a:t>
            </a:r>
          </a:p>
          <a:p>
            <a:pPr lvl="1"/>
            <a:r>
              <a:rPr lang="en-US" sz="2000" dirty="0"/>
              <a:t>Is that data relevant? </a:t>
            </a:r>
          </a:p>
        </p:txBody>
      </p:sp>
      <p:pic>
        <p:nvPicPr>
          <p:cNvPr id="6146" name="Picture 2" descr="Data growth worldwide 2010-2028| Statista">
            <a:extLst>
              <a:ext uri="{FF2B5EF4-FFF2-40B4-BE49-F238E27FC236}">
                <a16:creationId xmlns:a16="http://schemas.microsoft.com/office/drawing/2014/main" id="{0BD33EFF-1DFF-784D-1619-17B387693CF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50987" y="2015734"/>
            <a:ext cx="5905814" cy="4385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578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CBE2A-4DD4-39B5-B9DA-4FA071051263}"/>
              </a:ext>
            </a:extLst>
          </p:cNvPr>
          <p:cNvSpPr>
            <a:spLocks noGrp="1"/>
          </p:cNvSpPr>
          <p:nvPr>
            <p:ph type="title"/>
          </p:nvPr>
        </p:nvSpPr>
        <p:spPr>
          <a:xfrm>
            <a:off x="6923314" y="1"/>
            <a:ext cx="5268686" cy="1853754"/>
          </a:xfrm>
        </p:spPr>
        <p:txBody>
          <a:bodyPr/>
          <a:lstStyle/>
          <a:p>
            <a:r>
              <a:rPr lang="en-US" dirty="0"/>
              <a:t>Data – We kind of </a:t>
            </a:r>
            <a:r>
              <a:rPr lang="en-US" dirty="0" err="1"/>
              <a:t>hAve</a:t>
            </a:r>
            <a:r>
              <a:rPr lang="en-US" dirty="0"/>
              <a:t> Too Much</a:t>
            </a:r>
          </a:p>
        </p:txBody>
      </p:sp>
      <p:sp>
        <p:nvSpPr>
          <p:cNvPr id="3" name="Content Placeholder 2">
            <a:extLst>
              <a:ext uri="{FF2B5EF4-FFF2-40B4-BE49-F238E27FC236}">
                <a16:creationId xmlns:a16="http://schemas.microsoft.com/office/drawing/2014/main" id="{098348E9-0E5B-FAC4-BB4D-61024E6EBD24}"/>
              </a:ext>
            </a:extLst>
          </p:cNvPr>
          <p:cNvSpPr>
            <a:spLocks noGrp="1"/>
          </p:cNvSpPr>
          <p:nvPr>
            <p:ph idx="1"/>
          </p:nvPr>
        </p:nvSpPr>
        <p:spPr>
          <a:xfrm>
            <a:off x="6923314" y="1940768"/>
            <a:ext cx="4131540" cy="1163990"/>
          </a:xfrm>
        </p:spPr>
        <p:txBody>
          <a:bodyPr/>
          <a:lstStyle/>
          <a:p>
            <a:r>
              <a:rPr lang="en-US" dirty="0"/>
              <a:t>Large orgs can have billions of rows of data in thousands of DB tables. </a:t>
            </a:r>
          </a:p>
        </p:txBody>
      </p:sp>
      <p:pic>
        <p:nvPicPr>
          <p:cNvPr id="5124" name="Picture 4" descr="Untitled 1">
            <a:extLst>
              <a:ext uri="{FF2B5EF4-FFF2-40B4-BE49-F238E27FC236}">
                <a16:creationId xmlns:a16="http://schemas.microsoft.com/office/drawing/2014/main" id="{7E7CA942-62B1-0032-13F4-07BCD9CC48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173" t="19829" r="14439"/>
          <a:stretch>
            <a:fillRect/>
          </a:stretch>
        </p:blipFill>
        <p:spPr bwMode="auto">
          <a:xfrm>
            <a:off x="3122644" y="3104757"/>
            <a:ext cx="9069356" cy="3753243"/>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Understanding a complex database schema with Active Query Builder">
            <a:extLst>
              <a:ext uri="{FF2B5EF4-FFF2-40B4-BE49-F238E27FC236}">
                <a16:creationId xmlns:a16="http://schemas.microsoft.com/office/drawing/2014/main" id="{42B8FA42-A92C-732E-08CD-307AD6DDB5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923314" cy="3240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4946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B12FB-3FAA-80C5-DE64-1E47AAAEF2CC}"/>
              </a:ext>
            </a:extLst>
          </p:cNvPr>
          <p:cNvSpPr>
            <a:spLocks noGrp="1"/>
          </p:cNvSpPr>
          <p:nvPr>
            <p:ph type="title"/>
          </p:nvPr>
        </p:nvSpPr>
        <p:spPr/>
        <p:txBody>
          <a:bodyPr/>
          <a:lstStyle/>
          <a:p>
            <a:r>
              <a:rPr lang="en-US" dirty="0"/>
              <a:t>Visualization to the Rescue!</a:t>
            </a:r>
          </a:p>
        </p:txBody>
      </p:sp>
      <p:sp>
        <p:nvSpPr>
          <p:cNvPr id="3" name="Content Placeholder 2">
            <a:extLst>
              <a:ext uri="{FF2B5EF4-FFF2-40B4-BE49-F238E27FC236}">
                <a16:creationId xmlns:a16="http://schemas.microsoft.com/office/drawing/2014/main" id="{32B765CA-A323-9FEA-39AA-26A1825448B2}"/>
              </a:ext>
            </a:extLst>
          </p:cNvPr>
          <p:cNvSpPr>
            <a:spLocks noGrp="1"/>
          </p:cNvSpPr>
          <p:nvPr>
            <p:ph idx="1"/>
          </p:nvPr>
        </p:nvSpPr>
        <p:spPr/>
        <p:txBody>
          <a:bodyPr/>
          <a:lstStyle/>
          <a:p>
            <a:r>
              <a:rPr lang="en-US" dirty="0"/>
              <a:t>Reading tables of data is slow, hard, boring, and error prone. </a:t>
            </a:r>
          </a:p>
          <a:p>
            <a:r>
              <a:rPr lang="en-US" dirty="0"/>
              <a:t>Looking at pictures is easier and more fun. </a:t>
            </a:r>
          </a:p>
          <a:p>
            <a:r>
              <a:rPr lang="en-US" dirty="0"/>
              <a:t>We can use visualization to help us learn from our growing data sources. </a:t>
            </a:r>
          </a:p>
          <a:p>
            <a:pPr lvl="1"/>
            <a:r>
              <a:rPr lang="en-US" dirty="0"/>
              <a:t>We have a massive amount of data on what we did and what happened. </a:t>
            </a:r>
          </a:p>
          <a:p>
            <a:pPr lvl="1"/>
            <a:r>
              <a:rPr lang="en-US" dirty="0"/>
              <a:t>We hope to make sense of that so we can do better in the future. </a:t>
            </a:r>
          </a:p>
        </p:txBody>
      </p:sp>
    </p:spTree>
    <p:extLst>
      <p:ext uri="{BB962C8B-B14F-4D97-AF65-F5344CB8AC3E}">
        <p14:creationId xmlns:p14="http://schemas.microsoft.com/office/powerpoint/2010/main" val="710796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FA981-B7B9-A0DF-D8E8-441CC4484B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6B9CB0-6B3B-1674-A223-6C5BAE0C64BD}"/>
              </a:ext>
            </a:extLst>
          </p:cNvPr>
          <p:cNvSpPr>
            <a:spLocks noGrp="1"/>
          </p:cNvSpPr>
          <p:nvPr>
            <p:ph idx="1"/>
          </p:nvPr>
        </p:nvSpPr>
        <p:spPr/>
        <p:txBody>
          <a:bodyPr/>
          <a:lstStyle/>
          <a:p>
            <a:endParaRPr lang="en-US"/>
          </a:p>
        </p:txBody>
      </p:sp>
      <p:pic>
        <p:nvPicPr>
          <p:cNvPr id="2054" name="Picture 6" descr="Dashboards [SAIL Design System: Patterns]">
            <a:extLst>
              <a:ext uri="{FF2B5EF4-FFF2-40B4-BE49-F238E27FC236}">
                <a16:creationId xmlns:a16="http://schemas.microsoft.com/office/drawing/2014/main" id="{F905F210-70C8-1FF5-296E-BFB60751FD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0"/>
            <a:ext cx="10972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2396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67B4B-CD69-1E27-2729-9A6FF14BC9FE}"/>
              </a:ext>
            </a:extLst>
          </p:cNvPr>
          <p:cNvSpPr>
            <a:spLocks noGrp="1"/>
          </p:cNvSpPr>
          <p:nvPr>
            <p:ph type="title"/>
          </p:nvPr>
        </p:nvSpPr>
        <p:spPr/>
        <p:txBody>
          <a:bodyPr/>
          <a:lstStyle/>
          <a:p>
            <a:r>
              <a:rPr lang="en-US" dirty="0"/>
              <a:t>Reducing Friction</a:t>
            </a:r>
          </a:p>
        </p:txBody>
      </p:sp>
      <p:sp>
        <p:nvSpPr>
          <p:cNvPr id="3" name="Content Placeholder 2">
            <a:extLst>
              <a:ext uri="{FF2B5EF4-FFF2-40B4-BE49-F238E27FC236}">
                <a16:creationId xmlns:a16="http://schemas.microsoft.com/office/drawing/2014/main" id="{9BACA96A-284A-5F81-FF1B-3E07C6FC3D86}"/>
              </a:ext>
            </a:extLst>
          </p:cNvPr>
          <p:cNvSpPr>
            <a:spLocks noGrp="1"/>
          </p:cNvSpPr>
          <p:nvPr>
            <p:ph idx="1"/>
          </p:nvPr>
        </p:nvSpPr>
        <p:spPr>
          <a:xfrm>
            <a:off x="543697" y="1853754"/>
            <a:ext cx="8559115" cy="4199727"/>
          </a:xfrm>
        </p:spPr>
        <p:txBody>
          <a:bodyPr/>
          <a:lstStyle/>
          <a:p>
            <a:r>
              <a:rPr lang="en-US" dirty="0"/>
              <a:t>The reason to want to do this is to make information easier to digest. </a:t>
            </a:r>
          </a:p>
          <a:p>
            <a:r>
              <a:rPr lang="en-US" dirty="0"/>
              <a:t>We have lots of data to consume and it is increasing in importance. </a:t>
            </a:r>
          </a:p>
          <a:p>
            <a:pPr lvl="1"/>
            <a:r>
              <a:rPr lang="en-US" dirty="0"/>
              <a:t>It’s hard to keep all relevant data for Amazon or GM in your head. </a:t>
            </a:r>
          </a:p>
          <a:p>
            <a:r>
              <a:rPr lang="en-US" dirty="0"/>
              <a:t>We can try to reduce the friction of consuming data. </a:t>
            </a:r>
          </a:p>
          <a:p>
            <a:pPr lvl="1"/>
            <a:r>
              <a:rPr lang="en-US" dirty="0"/>
              <a:t>Friction is the excess work needed to consume data. </a:t>
            </a:r>
          </a:p>
          <a:p>
            <a:pPr lvl="1"/>
            <a:r>
              <a:rPr lang="en-US" dirty="0"/>
              <a:t>E.g. reading spreadsheets, needing to remember things, flipping pages, </a:t>
            </a:r>
            <a:r>
              <a:rPr lang="en-US" dirty="0" err="1"/>
              <a:t>etc</a:t>
            </a:r>
            <a:r>
              <a:rPr lang="en-US" dirty="0"/>
              <a:t>….</a:t>
            </a:r>
          </a:p>
          <a:p>
            <a:r>
              <a:rPr lang="en-US" dirty="0"/>
              <a:t>We want to make visualizations that present what people need, in the easiest format that lets them consume it without difficulty. </a:t>
            </a:r>
          </a:p>
          <a:p>
            <a:pPr lvl="1"/>
            <a:r>
              <a:rPr lang="en-US" dirty="0"/>
              <a:t>We will summarize the data and present the important bit conveniently. </a:t>
            </a:r>
          </a:p>
        </p:txBody>
      </p:sp>
      <p:pic>
        <p:nvPicPr>
          <p:cNvPr id="1026" name="Picture 2" descr="Gel Lubricant for Silky-Smooth Sensations | Astroglide">
            <a:extLst>
              <a:ext uri="{FF2B5EF4-FFF2-40B4-BE49-F238E27FC236}">
                <a16:creationId xmlns:a16="http://schemas.microsoft.com/office/drawing/2014/main" id="{FC098A2A-7C40-26D7-C5D6-02FCF0A8F2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624" r="40331"/>
          <a:stretch>
            <a:fillRect/>
          </a:stretch>
        </p:blipFill>
        <p:spPr bwMode="auto">
          <a:xfrm>
            <a:off x="9102811" y="0"/>
            <a:ext cx="308918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257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A9D842-CED6-FEAE-B116-D8AB655FFF2E}"/>
              </a:ext>
            </a:extLst>
          </p:cNvPr>
          <p:cNvSpPr>
            <a:spLocks noGrp="1"/>
          </p:cNvSpPr>
          <p:nvPr>
            <p:ph type="title"/>
          </p:nvPr>
        </p:nvSpPr>
        <p:spPr/>
        <p:txBody>
          <a:bodyPr/>
          <a:lstStyle/>
          <a:p>
            <a:r>
              <a:rPr lang="en-US" dirty="0"/>
              <a:t>Making Use of Visualizations</a:t>
            </a:r>
          </a:p>
        </p:txBody>
      </p:sp>
      <p:sp>
        <p:nvSpPr>
          <p:cNvPr id="6" name="Content Placeholder 5">
            <a:extLst>
              <a:ext uri="{FF2B5EF4-FFF2-40B4-BE49-F238E27FC236}">
                <a16:creationId xmlns:a16="http://schemas.microsoft.com/office/drawing/2014/main" id="{62126B82-559D-5E40-3C40-0F3884665016}"/>
              </a:ext>
            </a:extLst>
          </p:cNvPr>
          <p:cNvSpPr>
            <a:spLocks noGrp="1"/>
          </p:cNvSpPr>
          <p:nvPr>
            <p:ph idx="1"/>
          </p:nvPr>
        </p:nvSpPr>
        <p:spPr/>
        <p:txBody>
          <a:bodyPr/>
          <a:lstStyle/>
          <a:p>
            <a:r>
              <a:rPr lang="en-US" dirty="0"/>
              <a:t>We have a large amount of data. </a:t>
            </a:r>
          </a:p>
          <a:p>
            <a:r>
              <a:rPr lang="en-US" dirty="0"/>
              <a:t>We can potentially use it to make better decisions. </a:t>
            </a:r>
          </a:p>
          <a:p>
            <a:r>
              <a:rPr lang="en-US" dirty="0"/>
              <a:t>People need more than just raw data to make smart decisions. </a:t>
            </a:r>
          </a:p>
        </p:txBody>
      </p:sp>
    </p:spTree>
    <p:extLst>
      <p:ext uri="{BB962C8B-B14F-4D97-AF65-F5344CB8AC3E}">
        <p14:creationId xmlns:p14="http://schemas.microsoft.com/office/powerpoint/2010/main" val="3656861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Defining Knowledge, Information, Data">
            <a:extLst>
              <a:ext uri="{FF2B5EF4-FFF2-40B4-BE49-F238E27FC236}">
                <a16:creationId xmlns:a16="http://schemas.microsoft.com/office/drawing/2014/main" id="{78D3CB44-6B83-4094-178E-FFF654AC988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 y="258842"/>
            <a:ext cx="12241668" cy="5845396"/>
          </a:xfrm>
          <a:prstGeom prst="rect">
            <a:avLst/>
          </a:prstGeom>
          <a:solidFill>
            <a:srgbClr val="FFFFFF"/>
          </a:solidFill>
        </p:spPr>
      </p:pic>
    </p:spTree>
    <p:extLst>
      <p:ext uri="{BB962C8B-B14F-4D97-AF65-F5344CB8AC3E}">
        <p14:creationId xmlns:p14="http://schemas.microsoft.com/office/powerpoint/2010/main" val="127697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CA7A6A8-C6EF-8E78-F610-6E2512BDEB19}"/>
              </a:ext>
            </a:extLst>
          </p:cNvPr>
          <p:cNvSpPr>
            <a:spLocks noGrp="1"/>
          </p:cNvSpPr>
          <p:nvPr>
            <p:ph type="title"/>
          </p:nvPr>
        </p:nvSpPr>
        <p:spPr/>
        <p:txBody>
          <a:bodyPr/>
          <a:lstStyle/>
          <a:p>
            <a:r>
              <a:rPr lang="en-US" dirty="0"/>
              <a:t>Data-&gt;Info-&gt;Knowledge</a:t>
            </a:r>
          </a:p>
        </p:txBody>
      </p:sp>
      <p:sp>
        <p:nvSpPr>
          <p:cNvPr id="8" name="Content Placeholder 7">
            <a:extLst>
              <a:ext uri="{FF2B5EF4-FFF2-40B4-BE49-F238E27FC236}">
                <a16:creationId xmlns:a16="http://schemas.microsoft.com/office/drawing/2014/main" id="{473FD654-FBDE-F81F-CE4D-16E75D145B34}"/>
              </a:ext>
            </a:extLst>
          </p:cNvPr>
          <p:cNvSpPr>
            <a:spLocks noGrp="1"/>
          </p:cNvSpPr>
          <p:nvPr>
            <p:ph idx="1"/>
          </p:nvPr>
        </p:nvSpPr>
        <p:spPr>
          <a:xfrm>
            <a:off x="1981200" y="1853754"/>
            <a:ext cx="8229600" cy="4199727"/>
          </a:xfrm>
        </p:spPr>
        <p:txBody>
          <a:bodyPr>
            <a:normAutofit/>
          </a:bodyPr>
          <a:lstStyle/>
          <a:p>
            <a:r>
              <a:rPr lang="en-US" dirty="0"/>
              <a:t>2124656000 – This is a piece of data. </a:t>
            </a:r>
          </a:p>
          <a:p>
            <a:r>
              <a:rPr lang="en-US" dirty="0"/>
              <a:t>$ 2,124,656,000 or 212-465-6000 – These are pieces of information, we’ve added context (meaning). The data is now a phone number or account balance. </a:t>
            </a:r>
          </a:p>
          <a:p>
            <a:r>
              <a:rPr lang="en-US" dirty="0"/>
              <a:t>“Qualified for a loan*” or “from NYC” – This is knowledge – what the data means for our actions. </a:t>
            </a:r>
          </a:p>
          <a:p>
            <a:pPr lvl="1"/>
            <a:r>
              <a:rPr lang="en-US" dirty="0"/>
              <a:t>*Roughly, this would be one factor. </a:t>
            </a:r>
          </a:p>
        </p:txBody>
      </p:sp>
    </p:spTree>
    <p:extLst>
      <p:ext uri="{BB962C8B-B14F-4D97-AF65-F5344CB8AC3E}">
        <p14:creationId xmlns:p14="http://schemas.microsoft.com/office/powerpoint/2010/main" val="4241680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F073F5-6255-189C-09C7-7FC27FD3D234}"/>
              </a:ext>
            </a:extLst>
          </p:cNvPr>
          <p:cNvSpPr>
            <a:spLocks noGrp="1"/>
          </p:cNvSpPr>
          <p:nvPr>
            <p:ph type="title"/>
          </p:nvPr>
        </p:nvSpPr>
        <p:spPr/>
        <p:txBody>
          <a:bodyPr/>
          <a:lstStyle/>
          <a:p>
            <a:r>
              <a:rPr lang="en-US" dirty="0"/>
              <a:t>Example</a:t>
            </a:r>
          </a:p>
        </p:txBody>
      </p:sp>
      <p:sp>
        <p:nvSpPr>
          <p:cNvPr id="5" name="Content Placeholder 4">
            <a:extLst>
              <a:ext uri="{FF2B5EF4-FFF2-40B4-BE49-F238E27FC236}">
                <a16:creationId xmlns:a16="http://schemas.microsoft.com/office/drawing/2014/main" id="{80872AE5-05E3-2F9F-6E7C-691C0FBD8ACC}"/>
              </a:ext>
            </a:extLst>
          </p:cNvPr>
          <p:cNvSpPr>
            <a:spLocks noGrp="1"/>
          </p:cNvSpPr>
          <p:nvPr>
            <p:ph idx="1"/>
          </p:nvPr>
        </p:nvSpPr>
        <p:spPr/>
        <p:txBody>
          <a:bodyPr/>
          <a:lstStyle/>
          <a:p>
            <a:endParaRPr lang="en-US"/>
          </a:p>
        </p:txBody>
      </p:sp>
      <p:pic>
        <p:nvPicPr>
          <p:cNvPr id="2050" name="Picture 2" descr="Data, Information &amp; Knowledge | Dataloop">
            <a:extLst>
              <a:ext uri="{FF2B5EF4-FFF2-40B4-BE49-F238E27FC236}">
                <a16:creationId xmlns:a16="http://schemas.microsoft.com/office/drawing/2014/main" id="{3104AE18-855F-1D7B-9FE9-1474ECD83C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182814"/>
            <a:ext cx="9144000" cy="2492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6580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38C4CF-AAE3-5AD8-3D91-0A0590E9ABEB}"/>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429D04E2-99FE-16AE-761D-EBAEBF970329}"/>
              </a:ext>
            </a:extLst>
          </p:cNvPr>
          <p:cNvSpPr>
            <a:spLocks noGrp="1"/>
          </p:cNvSpPr>
          <p:nvPr>
            <p:ph idx="1"/>
          </p:nvPr>
        </p:nvSpPr>
        <p:spPr/>
        <p:txBody>
          <a:bodyPr/>
          <a:lstStyle/>
          <a:p>
            <a:endParaRPr lang="en-US"/>
          </a:p>
        </p:txBody>
      </p:sp>
      <p:pic>
        <p:nvPicPr>
          <p:cNvPr id="1026" name="Picture 2" descr="What are the valuable differences between knowledge, wisdom, and insight?  Beyond their basic definitions, what benefits do they hold? - Quora">
            <a:extLst>
              <a:ext uri="{FF2B5EF4-FFF2-40B4-BE49-F238E27FC236}">
                <a16:creationId xmlns:a16="http://schemas.microsoft.com/office/drawing/2014/main" id="{9C4545ED-B6BA-D327-F1DC-67A60AC27D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1764" y="0"/>
            <a:ext cx="68468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1643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FF0EDE-867A-4A9C-C79C-79562FDB9FF4}"/>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C80CF1AE-24F2-E263-BD97-FDC0C2D001F8}"/>
              </a:ext>
            </a:extLst>
          </p:cNvPr>
          <p:cNvSpPr>
            <a:spLocks noGrp="1"/>
          </p:cNvSpPr>
          <p:nvPr>
            <p:ph idx="1"/>
          </p:nvPr>
        </p:nvSpPr>
        <p:spPr/>
        <p:txBody>
          <a:bodyPr/>
          <a:lstStyle/>
          <a:p>
            <a:endParaRPr lang="en-US"/>
          </a:p>
        </p:txBody>
      </p:sp>
      <p:pic>
        <p:nvPicPr>
          <p:cNvPr id="1026" name="Picture 2" descr="Chart: Global Data Creation is About to Explode | Statista">
            <a:extLst>
              <a:ext uri="{FF2B5EF4-FFF2-40B4-BE49-F238E27FC236}">
                <a16:creationId xmlns:a16="http://schemas.microsoft.com/office/drawing/2014/main" id="{65284675-9B5A-09E6-6D17-96768D746D8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234"/>
          <a:stretch/>
        </p:blipFill>
        <p:spPr bwMode="auto">
          <a:xfrm>
            <a:off x="1524000" y="171450"/>
            <a:ext cx="9144000" cy="584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0653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1A7412-4B1B-E0FE-4A32-340E801ABE59}"/>
              </a:ext>
            </a:extLst>
          </p:cNvPr>
          <p:cNvSpPr>
            <a:spLocks noGrp="1"/>
          </p:cNvSpPr>
          <p:nvPr>
            <p:ph type="title"/>
          </p:nvPr>
        </p:nvSpPr>
        <p:spPr/>
        <p:txBody>
          <a:bodyPr/>
          <a:lstStyle/>
          <a:p>
            <a:r>
              <a:rPr lang="en-US" dirty="0"/>
              <a:t>Mo’ Data</a:t>
            </a:r>
          </a:p>
        </p:txBody>
      </p:sp>
      <p:sp>
        <p:nvSpPr>
          <p:cNvPr id="5" name="Content Placeholder 4">
            <a:extLst>
              <a:ext uri="{FF2B5EF4-FFF2-40B4-BE49-F238E27FC236}">
                <a16:creationId xmlns:a16="http://schemas.microsoft.com/office/drawing/2014/main" id="{F7226E99-E7A1-2B55-7629-CA03F44AA509}"/>
              </a:ext>
            </a:extLst>
          </p:cNvPr>
          <p:cNvSpPr>
            <a:spLocks noGrp="1"/>
          </p:cNvSpPr>
          <p:nvPr>
            <p:ph idx="1"/>
          </p:nvPr>
        </p:nvSpPr>
        <p:spPr>
          <a:xfrm>
            <a:off x="1981200" y="1853754"/>
            <a:ext cx="8534400" cy="4199727"/>
          </a:xfrm>
        </p:spPr>
        <p:txBody>
          <a:bodyPr/>
          <a:lstStyle/>
          <a:p>
            <a:r>
              <a:rPr lang="en-US" dirty="0"/>
              <a:t>Our ability to collect data is exploding. </a:t>
            </a:r>
          </a:p>
          <a:p>
            <a:pPr lvl="1"/>
            <a:r>
              <a:rPr lang="en-US" dirty="0"/>
              <a:t>Nearly every device that “does something” collects a stream of data now. Watches, phones, smart cars, ring doorbells, thermostats. </a:t>
            </a:r>
          </a:p>
          <a:p>
            <a:r>
              <a:rPr lang="en-US" dirty="0"/>
              <a:t>The value of data is increasing. </a:t>
            </a:r>
          </a:p>
          <a:p>
            <a:pPr lvl="1"/>
            <a:r>
              <a:rPr lang="en-US" dirty="0"/>
              <a:t>Being able to react to data correctly can lead to much better decisions. </a:t>
            </a:r>
          </a:p>
          <a:p>
            <a:r>
              <a:rPr lang="en-US" dirty="0"/>
              <a:t>Using data is increasingly hard. </a:t>
            </a:r>
          </a:p>
          <a:p>
            <a:pPr lvl="1"/>
            <a:r>
              <a:rPr lang="en-US" dirty="0"/>
              <a:t>There’s lots of data, coming from many sources, quickly – hard conceptualize. </a:t>
            </a:r>
          </a:p>
          <a:p>
            <a:r>
              <a:rPr lang="en-US" dirty="0"/>
              <a:t>Challenge is to navigate and use data to extract useful information. </a:t>
            </a:r>
          </a:p>
        </p:txBody>
      </p:sp>
    </p:spTree>
    <p:extLst>
      <p:ext uri="{BB962C8B-B14F-4D97-AF65-F5344CB8AC3E}">
        <p14:creationId xmlns:p14="http://schemas.microsoft.com/office/powerpoint/2010/main" val="4149778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0E683BD-AE4D-8CE5-9DA0-011203CEF4D6}"/>
              </a:ext>
            </a:extLst>
          </p:cNvPr>
          <p:cNvSpPr>
            <a:spLocks noGrp="1"/>
          </p:cNvSpPr>
          <p:nvPr>
            <p:ph type="title"/>
          </p:nvPr>
        </p:nvSpPr>
        <p:spPr/>
        <p:txBody>
          <a:bodyPr/>
          <a:lstStyle/>
          <a:p>
            <a:r>
              <a:rPr lang="en-US" dirty="0"/>
              <a:t>From Data to Knowledge</a:t>
            </a:r>
          </a:p>
        </p:txBody>
      </p:sp>
      <p:sp>
        <p:nvSpPr>
          <p:cNvPr id="5" name="Content Placeholder 4">
            <a:extLst>
              <a:ext uri="{FF2B5EF4-FFF2-40B4-BE49-F238E27FC236}">
                <a16:creationId xmlns:a16="http://schemas.microsoft.com/office/drawing/2014/main" id="{365A5DFD-9307-FABA-2AFE-0F58D463F14A}"/>
              </a:ext>
            </a:extLst>
          </p:cNvPr>
          <p:cNvSpPr>
            <a:spLocks noGrp="1"/>
          </p:cNvSpPr>
          <p:nvPr>
            <p:ph sz="half" idx="1"/>
          </p:nvPr>
        </p:nvSpPr>
        <p:spPr>
          <a:xfrm>
            <a:off x="1524000" y="1864194"/>
            <a:ext cx="3200400" cy="1992424"/>
          </a:xfrm>
        </p:spPr>
        <p:txBody>
          <a:bodyPr/>
          <a:lstStyle/>
          <a:p>
            <a:r>
              <a:rPr lang="en-US" dirty="0"/>
              <a:t>We have or can get a large amount of data. </a:t>
            </a:r>
          </a:p>
        </p:txBody>
      </p:sp>
      <p:sp>
        <p:nvSpPr>
          <p:cNvPr id="6" name="Content Placeholder 5">
            <a:extLst>
              <a:ext uri="{FF2B5EF4-FFF2-40B4-BE49-F238E27FC236}">
                <a16:creationId xmlns:a16="http://schemas.microsoft.com/office/drawing/2014/main" id="{D0897EF0-AD97-D3C8-893F-CEBDEA77F305}"/>
              </a:ext>
            </a:extLst>
          </p:cNvPr>
          <p:cNvSpPr>
            <a:spLocks noGrp="1"/>
          </p:cNvSpPr>
          <p:nvPr>
            <p:ph sz="half" idx="2"/>
          </p:nvPr>
        </p:nvSpPr>
        <p:spPr>
          <a:xfrm>
            <a:off x="7116679" y="1864194"/>
            <a:ext cx="3543300" cy="1992424"/>
          </a:xfrm>
        </p:spPr>
        <p:txBody>
          <a:bodyPr/>
          <a:lstStyle/>
          <a:p>
            <a:r>
              <a:rPr lang="en-US" dirty="0"/>
              <a:t>If we analyze it correctly, we can use it to make smart decisions. </a:t>
            </a:r>
          </a:p>
        </p:txBody>
      </p:sp>
      <p:sp>
        <p:nvSpPr>
          <p:cNvPr id="7" name="Right Arrow 6">
            <a:extLst>
              <a:ext uri="{FF2B5EF4-FFF2-40B4-BE49-F238E27FC236}">
                <a16:creationId xmlns:a16="http://schemas.microsoft.com/office/drawing/2014/main" id="{935F80FA-BC6B-3B98-6ABA-B4E41150AB5F}"/>
              </a:ext>
            </a:extLst>
          </p:cNvPr>
          <p:cNvSpPr/>
          <p:nvPr/>
        </p:nvSpPr>
        <p:spPr>
          <a:xfrm>
            <a:off x="4553284" y="3200400"/>
            <a:ext cx="2667000" cy="914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EATHER DATA | Energy-Models.com">
            <a:extLst>
              <a:ext uri="{FF2B5EF4-FFF2-40B4-BE49-F238E27FC236}">
                <a16:creationId xmlns:a16="http://schemas.microsoft.com/office/drawing/2014/main" id="{EC3B62BD-3228-B859-6563-EAB2E90E36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8358" y="3124200"/>
            <a:ext cx="2834927" cy="36503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presenting and Analyzing Weather and Climate Data - GEO CAR. /SOCIAL  STUDIES">
            <a:extLst>
              <a:ext uri="{FF2B5EF4-FFF2-40B4-BE49-F238E27FC236}">
                <a16:creationId xmlns:a16="http://schemas.microsoft.com/office/drawing/2014/main" id="{6D0D462D-41B6-AB3B-F5D4-18356C4049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8358" y="3913345"/>
            <a:ext cx="3279942" cy="2400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803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1E9A005-0492-63B6-8534-5E8B8356E744}"/>
              </a:ext>
            </a:extLst>
          </p:cNvPr>
          <p:cNvSpPr>
            <a:spLocks noGrp="1"/>
          </p:cNvSpPr>
          <p:nvPr>
            <p:ph type="title"/>
          </p:nvPr>
        </p:nvSpPr>
        <p:spPr/>
        <p:txBody>
          <a:bodyPr/>
          <a:lstStyle/>
          <a:p>
            <a:r>
              <a:rPr lang="en-US" dirty="0"/>
              <a:t>In Tableau…</a:t>
            </a:r>
          </a:p>
        </p:txBody>
      </p:sp>
      <p:sp>
        <p:nvSpPr>
          <p:cNvPr id="6" name="Content Placeholder 5">
            <a:extLst>
              <a:ext uri="{FF2B5EF4-FFF2-40B4-BE49-F238E27FC236}">
                <a16:creationId xmlns:a16="http://schemas.microsoft.com/office/drawing/2014/main" id="{FD4E0EAE-5B9A-7ACB-A237-5A2B7E76A532}"/>
              </a:ext>
            </a:extLst>
          </p:cNvPr>
          <p:cNvSpPr>
            <a:spLocks noGrp="1"/>
          </p:cNvSpPr>
          <p:nvPr>
            <p:ph idx="1"/>
          </p:nvPr>
        </p:nvSpPr>
        <p:spPr>
          <a:xfrm>
            <a:off x="1600199" y="1853754"/>
            <a:ext cx="9879227" cy="4199727"/>
          </a:xfrm>
        </p:spPr>
        <p:txBody>
          <a:bodyPr/>
          <a:lstStyle/>
          <a:p>
            <a:r>
              <a:rPr lang="en-US" dirty="0"/>
              <a:t>We are using Tableau as a tool to find, extract, and display useful knowledge from our data. </a:t>
            </a:r>
          </a:p>
          <a:p>
            <a:r>
              <a:rPr lang="en-US" dirty="0"/>
              <a:t>Our data will be about something. </a:t>
            </a:r>
          </a:p>
          <a:p>
            <a:pPr lvl="1"/>
            <a:r>
              <a:rPr lang="en-US" dirty="0"/>
              <a:t>There are things that we want to know, use the data to show that. E.g. highest selling by product.</a:t>
            </a:r>
          </a:p>
          <a:p>
            <a:pPr lvl="1"/>
            <a:r>
              <a:rPr lang="en-US" dirty="0"/>
              <a:t>Making predictions. E.g. use data on loans to estimate who will pay. </a:t>
            </a:r>
          </a:p>
          <a:p>
            <a:r>
              <a:rPr lang="en-US" dirty="0"/>
              <a:t>The visualization should show the info/know that the data contains. </a:t>
            </a:r>
          </a:p>
          <a:p>
            <a:pPr lvl="1"/>
            <a:r>
              <a:rPr lang="en-US" dirty="0"/>
              <a:t>Each of these takes the original data and uses it. </a:t>
            </a:r>
          </a:p>
          <a:p>
            <a:pPr lvl="1"/>
            <a:r>
              <a:rPr lang="en-US" dirty="0"/>
              <a:t>We choose type/style to communicate best. </a:t>
            </a:r>
          </a:p>
        </p:txBody>
      </p:sp>
    </p:spTree>
    <p:extLst>
      <p:ext uri="{BB962C8B-B14F-4D97-AF65-F5344CB8AC3E}">
        <p14:creationId xmlns:p14="http://schemas.microsoft.com/office/powerpoint/2010/main" val="4265524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06537-379F-E2F7-74C6-96C1C849D8B1}"/>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02637889-4C78-C970-6B03-ADDF813CED63}"/>
              </a:ext>
            </a:extLst>
          </p:cNvPr>
          <p:cNvSpPr>
            <a:spLocks noGrp="1"/>
          </p:cNvSpPr>
          <p:nvPr>
            <p:ph idx="1"/>
          </p:nvPr>
        </p:nvSpPr>
        <p:spPr>
          <a:xfrm>
            <a:off x="1451579" y="1853754"/>
            <a:ext cx="9603275" cy="4199727"/>
          </a:xfrm>
        </p:spPr>
        <p:txBody>
          <a:bodyPr/>
          <a:lstStyle/>
          <a:p>
            <a:r>
              <a:rPr lang="en-US" dirty="0"/>
              <a:t>Today (Read first 6 chapters of book by next week, it’s less volume than it sounds):</a:t>
            </a:r>
          </a:p>
          <a:p>
            <a:pPr lvl="1"/>
            <a:r>
              <a:rPr lang="en-US" dirty="0"/>
              <a:t>Data driven decision making. </a:t>
            </a:r>
          </a:p>
          <a:p>
            <a:pPr lvl="1"/>
            <a:r>
              <a:rPr lang="en-US" dirty="0"/>
              <a:t>Chart types and styles. </a:t>
            </a:r>
          </a:p>
          <a:p>
            <a:pPr lvl="1"/>
            <a:r>
              <a:rPr lang="en-US" dirty="0" err="1"/>
              <a:t>Preattentive</a:t>
            </a:r>
            <a:r>
              <a:rPr lang="en-US" dirty="0"/>
              <a:t> attributes, with focus on showing quantities. </a:t>
            </a:r>
          </a:p>
          <a:p>
            <a:pPr lvl="1"/>
            <a:r>
              <a:rPr lang="en-US" dirty="0"/>
              <a:t>Using outside files in Tableau, data dictionaries. </a:t>
            </a:r>
          </a:p>
          <a:p>
            <a:pPr lvl="1"/>
            <a:r>
              <a:rPr lang="en-US" dirty="0"/>
              <a:t>Intro to dashboards and a look at the first assignment. </a:t>
            </a:r>
          </a:p>
          <a:p>
            <a:r>
              <a:rPr lang="en-US" dirty="0"/>
              <a:t>Next week:</a:t>
            </a:r>
          </a:p>
          <a:p>
            <a:pPr lvl="1"/>
            <a:r>
              <a:rPr lang="en-US" dirty="0"/>
              <a:t>More dashboards, interactivity, layout. </a:t>
            </a:r>
          </a:p>
          <a:p>
            <a:pPr lvl="1"/>
            <a:r>
              <a:rPr lang="en-US" dirty="0"/>
              <a:t>Stats and the basics of data management. </a:t>
            </a:r>
          </a:p>
        </p:txBody>
      </p:sp>
    </p:spTree>
    <p:extLst>
      <p:ext uri="{BB962C8B-B14F-4D97-AF65-F5344CB8AC3E}">
        <p14:creationId xmlns:p14="http://schemas.microsoft.com/office/powerpoint/2010/main" val="2913187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1BD17-8901-FAD8-377E-1785C1F6A73A}"/>
              </a:ext>
            </a:extLst>
          </p:cNvPr>
          <p:cNvSpPr>
            <a:spLocks noGrp="1"/>
          </p:cNvSpPr>
          <p:nvPr>
            <p:ph type="title"/>
          </p:nvPr>
        </p:nvSpPr>
        <p:spPr/>
        <p:txBody>
          <a:bodyPr/>
          <a:lstStyle/>
          <a:p>
            <a:r>
              <a:rPr lang="en-US" dirty="0"/>
              <a:t>Logistics</a:t>
            </a:r>
          </a:p>
        </p:txBody>
      </p:sp>
      <p:sp>
        <p:nvSpPr>
          <p:cNvPr id="3" name="Content Placeholder 2">
            <a:extLst>
              <a:ext uri="{FF2B5EF4-FFF2-40B4-BE49-F238E27FC236}">
                <a16:creationId xmlns:a16="http://schemas.microsoft.com/office/drawing/2014/main" id="{4BB6908E-A52B-33D0-E2FB-DC8DFACAC9BD}"/>
              </a:ext>
            </a:extLst>
          </p:cNvPr>
          <p:cNvSpPr>
            <a:spLocks noGrp="1"/>
          </p:cNvSpPr>
          <p:nvPr>
            <p:ph idx="1"/>
          </p:nvPr>
        </p:nvSpPr>
        <p:spPr>
          <a:xfrm>
            <a:off x="5383777" y="2015732"/>
            <a:ext cx="6432402" cy="3908682"/>
          </a:xfrm>
        </p:spPr>
        <p:txBody>
          <a:bodyPr/>
          <a:lstStyle/>
          <a:p>
            <a:r>
              <a:rPr lang="en-US" dirty="0"/>
              <a:t>Reminder – we will get by with Tableau Public. </a:t>
            </a:r>
          </a:p>
          <a:p>
            <a:pPr lvl="1"/>
            <a:r>
              <a:rPr lang="en-US" dirty="0"/>
              <a:t>Google “tableau public download” and it should be the first or second link. </a:t>
            </a:r>
          </a:p>
          <a:p>
            <a:r>
              <a:rPr lang="en-US" dirty="0"/>
              <a:t>Tableau Desktop is the “full” version, slightly more complex with a few extra features. </a:t>
            </a:r>
          </a:p>
          <a:p>
            <a:pPr lvl="1"/>
            <a:r>
              <a:rPr lang="en-US" dirty="0"/>
              <a:t>If you really want to use desktop I can get you a 1 year key. </a:t>
            </a:r>
          </a:p>
          <a:p>
            <a:r>
              <a:rPr lang="en-US" dirty="0"/>
              <a:t>The two are mostly interchangeable, we’ll use the simpler version to make our lives easier. </a:t>
            </a:r>
          </a:p>
        </p:txBody>
      </p:sp>
      <p:pic>
        <p:nvPicPr>
          <p:cNvPr id="4" name="Picture 3">
            <a:extLst>
              <a:ext uri="{FF2B5EF4-FFF2-40B4-BE49-F238E27FC236}">
                <a16:creationId xmlns:a16="http://schemas.microsoft.com/office/drawing/2014/main" id="{CD84DA81-44EB-B05E-CBAB-DB26C387A1F3}"/>
              </a:ext>
            </a:extLst>
          </p:cNvPr>
          <p:cNvPicPr>
            <a:picLocks noChangeAspect="1"/>
          </p:cNvPicPr>
          <p:nvPr/>
        </p:nvPicPr>
        <p:blipFill>
          <a:blip r:embed="rId2"/>
          <a:stretch>
            <a:fillRect/>
          </a:stretch>
        </p:blipFill>
        <p:spPr>
          <a:xfrm>
            <a:off x="0" y="1853754"/>
            <a:ext cx="5383777" cy="4070660"/>
          </a:xfrm>
          <a:prstGeom prst="rect">
            <a:avLst/>
          </a:prstGeom>
        </p:spPr>
      </p:pic>
    </p:spTree>
    <p:extLst>
      <p:ext uri="{BB962C8B-B14F-4D97-AF65-F5344CB8AC3E}">
        <p14:creationId xmlns:p14="http://schemas.microsoft.com/office/powerpoint/2010/main" val="3428463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833AE-0131-8C6A-35EC-62B6B4988F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63EA25-27E0-9A62-A87A-5F9FFCBC5577}"/>
              </a:ext>
            </a:extLst>
          </p:cNvPr>
          <p:cNvSpPr>
            <a:spLocks noGrp="1"/>
          </p:cNvSpPr>
          <p:nvPr>
            <p:ph idx="1"/>
          </p:nvPr>
        </p:nvSpPr>
        <p:spPr/>
        <p:txBody>
          <a:bodyPr/>
          <a:lstStyle/>
          <a:p>
            <a:endParaRPr lang="en-US"/>
          </a:p>
        </p:txBody>
      </p:sp>
      <p:pic>
        <p:nvPicPr>
          <p:cNvPr id="4098" name="Picture 2" descr="Quick Guide to Data-Driven Management | Smartsheet">
            <a:extLst>
              <a:ext uri="{FF2B5EF4-FFF2-40B4-BE49-F238E27FC236}">
                <a16:creationId xmlns:a16="http://schemas.microsoft.com/office/drawing/2014/main" id="{D08E0946-97D7-EDFC-58A6-5E5E61124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9025" y="0"/>
            <a:ext cx="23939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698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Title 1">
            <a:extLst>
              <a:ext uri="{FF2B5EF4-FFF2-40B4-BE49-F238E27FC236}">
                <a16:creationId xmlns:a16="http://schemas.microsoft.com/office/drawing/2014/main" id="{75CB4D6C-9486-DBAE-87D9-0E87867C2F77}"/>
              </a:ext>
            </a:extLst>
          </p:cNvPr>
          <p:cNvSpPr>
            <a:spLocks noGrp="1"/>
          </p:cNvSpPr>
          <p:nvPr>
            <p:ph type="title"/>
          </p:nvPr>
        </p:nvSpPr>
        <p:spPr>
          <a:xfrm>
            <a:off x="1981200" y="741404"/>
            <a:ext cx="8229600" cy="676233"/>
          </a:xfrm>
        </p:spPr>
        <p:txBody>
          <a:bodyPr/>
          <a:lstStyle/>
          <a:p>
            <a:r>
              <a:rPr lang="en-US" dirty="0"/>
              <a:t>Data Over HIPPOs</a:t>
            </a:r>
          </a:p>
        </p:txBody>
      </p:sp>
      <p:pic>
        <p:nvPicPr>
          <p:cNvPr id="5122" name="Picture 2" descr="Building a Data-Driven Decision-Making Culture.">
            <a:extLst>
              <a:ext uri="{FF2B5EF4-FFF2-40B4-BE49-F238E27FC236}">
                <a16:creationId xmlns:a16="http://schemas.microsoft.com/office/drawing/2014/main" id="{391185D0-3438-160E-0364-89FA29CA358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80958" y="1939512"/>
            <a:ext cx="10230083" cy="4782564"/>
          </a:xfrm>
          <a:prstGeom prst="rect">
            <a:avLst/>
          </a:prstGeom>
          <a:solidFill>
            <a:srgbClr val="FFFFFF"/>
          </a:solidFill>
        </p:spPr>
      </p:pic>
    </p:spTree>
    <p:extLst>
      <p:ext uri="{BB962C8B-B14F-4D97-AF65-F5344CB8AC3E}">
        <p14:creationId xmlns:p14="http://schemas.microsoft.com/office/powerpoint/2010/main" val="3327759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977F1E1-2B6F-4BB6-899F-67D8764D83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5" name="Picture 4" descr="Magnifying glass and question mark">
            <a:extLst>
              <a:ext uri="{FF2B5EF4-FFF2-40B4-BE49-F238E27FC236}">
                <a16:creationId xmlns:a16="http://schemas.microsoft.com/office/drawing/2014/main" id="{EFC853C5-9BAF-B7AD-B7B7-5DE8BCE8D02C}"/>
              </a:ext>
            </a:extLst>
          </p:cNvPr>
          <p:cNvPicPr>
            <a:picLocks noChangeAspect="1"/>
          </p:cNvPicPr>
          <p:nvPr/>
        </p:nvPicPr>
        <p:blipFill>
          <a:blip r:embed="rId3"/>
          <a:srcRect l="2"/>
          <a:stretch>
            <a:fillRect/>
          </a:stretch>
        </p:blipFill>
        <p:spPr>
          <a:xfrm>
            <a:off x="2" y="10"/>
            <a:ext cx="12191695" cy="6857990"/>
          </a:xfrm>
          <a:prstGeom prst="rect">
            <a:avLst/>
          </a:prstGeom>
        </p:spPr>
      </p:pic>
      <p:sp>
        <p:nvSpPr>
          <p:cNvPr id="17" name="Rectangle 16">
            <a:extLst>
              <a:ext uri="{FF2B5EF4-FFF2-40B4-BE49-F238E27FC236}">
                <a16:creationId xmlns:a16="http://schemas.microsoft.com/office/drawing/2014/main" id="{6A0FFA78-985C-4F50-B21A-77045C7DF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9A9771-CCD7-BAEB-40C6-502374A8938F}"/>
              </a:ext>
            </a:extLst>
          </p:cNvPr>
          <p:cNvSpPr>
            <a:spLocks noGrp="1"/>
          </p:cNvSpPr>
          <p:nvPr>
            <p:ph type="title"/>
          </p:nvPr>
        </p:nvSpPr>
        <p:spPr>
          <a:xfrm>
            <a:off x="4065511" y="3236470"/>
            <a:ext cx="6832500" cy="1252601"/>
          </a:xfrm>
        </p:spPr>
        <p:txBody>
          <a:bodyPr vert="horz" lIns="91440" tIns="45720" rIns="91440" bIns="0" rtlCol="0" anchor="b">
            <a:normAutofit/>
          </a:bodyPr>
          <a:lstStyle/>
          <a:p>
            <a:r>
              <a:rPr lang="en-US" sz="4100">
                <a:solidFill>
                  <a:srgbClr val="FFFFFE"/>
                </a:solidFill>
              </a:rPr>
              <a:t>What Analysis Can we Do?</a:t>
            </a:r>
          </a:p>
        </p:txBody>
      </p:sp>
      <p:cxnSp>
        <p:nvCxnSpPr>
          <p:cNvPr id="19" name="Straight Connector 18">
            <a:extLst>
              <a:ext uri="{FF2B5EF4-FFF2-40B4-BE49-F238E27FC236}">
                <a16:creationId xmlns:a16="http://schemas.microsoft.com/office/drawing/2014/main" id="{65409EC7-69B1-45CC-8FB7-1964C1AB67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5509" y="4666480"/>
            <a:ext cx="6832499" cy="0"/>
          </a:xfrm>
          <a:prstGeom prst="line">
            <a:avLst/>
          </a:prstGeom>
          <a:ln w="31750">
            <a:solidFill>
              <a:srgbClr val="FDE50C"/>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81057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Title 1">
            <a:extLst>
              <a:ext uri="{FF2B5EF4-FFF2-40B4-BE49-F238E27FC236}">
                <a16:creationId xmlns:a16="http://schemas.microsoft.com/office/drawing/2014/main" id="{D7DA91DC-95D1-6B34-9044-6676B28CED08}"/>
              </a:ext>
            </a:extLst>
          </p:cNvPr>
          <p:cNvSpPr>
            <a:spLocks noGrp="1"/>
          </p:cNvSpPr>
          <p:nvPr>
            <p:ph type="title"/>
          </p:nvPr>
        </p:nvSpPr>
        <p:spPr>
          <a:xfrm>
            <a:off x="1981200" y="741404"/>
            <a:ext cx="8229600" cy="676233"/>
          </a:xfrm>
        </p:spPr>
        <p:txBody>
          <a:bodyPr/>
          <a:lstStyle/>
          <a:p>
            <a:r>
              <a:rPr lang="en-US" dirty="0"/>
              <a:t>Analytic Types</a:t>
            </a:r>
          </a:p>
        </p:txBody>
      </p:sp>
      <p:pic>
        <p:nvPicPr>
          <p:cNvPr id="6146" name="Picture 2" descr="4 Types of Data Analytics Every Analyst Should Know-Descriptive,  Diagnostic, Predictive, Prescriptive | by Co-Learner | Co-Learning Lounge |  Medium">
            <a:extLst>
              <a:ext uri="{FF2B5EF4-FFF2-40B4-BE49-F238E27FC236}">
                <a16:creationId xmlns:a16="http://schemas.microsoft.com/office/drawing/2014/main" id="{10C08AA2-A333-2ADC-0C29-F3996EC6161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58966" y="1723485"/>
            <a:ext cx="9874067" cy="5134515"/>
          </a:xfrm>
          <a:prstGeom prst="rect">
            <a:avLst/>
          </a:prstGeom>
          <a:solidFill>
            <a:srgbClr val="FFFFFF"/>
          </a:solidFill>
        </p:spPr>
      </p:pic>
    </p:spTree>
    <p:extLst>
      <p:ext uri="{BB962C8B-B14F-4D97-AF65-F5344CB8AC3E}">
        <p14:creationId xmlns:p14="http://schemas.microsoft.com/office/powerpoint/2010/main" val="1470069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7" name="Title 1">
            <a:extLst>
              <a:ext uri="{FF2B5EF4-FFF2-40B4-BE49-F238E27FC236}">
                <a16:creationId xmlns:a16="http://schemas.microsoft.com/office/drawing/2014/main" id="{72451406-0B73-497D-DA58-D18E4E55DEBE}"/>
              </a:ext>
            </a:extLst>
          </p:cNvPr>
          <p:cNvSpPr>
            <a:spLocks noGrp="1"/>
          </p:cNvSpPr>
          <p:nvPr>
            <p:ph type="title"/>
          </p:nvPr>
        </p:nvSpPr>
        <p:spPr>
          <a:xfrm>
            <a:off x="1981200" y="274638"/>
            <a:ext cx="8229600" cy="1143000"/>
          </a:xfrm>
        </p:spPr>
        <p:txBody>
          <a:bodyPr/>
          <a:lstStyle/>
          <a:p>
            <a:r>
              <a:rPr lang="en-US" dirty="0"/>
              <a:t>Put Simply…</a:t>
            </a:r>
          </a:p>
        </p:txBody>
      </p:sp>
      <p:pic>
        <p:nvPicPr>
          <p:cNvPr id="15362" name="Picture 2" descr="You're likely investing a lot in marketing analytics, but are you getting  the right insights?">
            <a:extLst>
              <a:ext uri="{FF2B5EF4-FFF2-40B4-BE49-F238E27FC236}">
                <a16:creationId xmlns:a16="http://schemas.microsoft.com/office/drawing/2014/main" id="{4C4EDAE3-E540-C905-7ED7-843747C2008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94308" y="1600201"/>
            <a:ext cx="7803384" cy="4525963"/>
          </a:xfrm>
          <a:prstGeom prst="rect">
            <a:avLst/>
          </a:prstGeom>
          <a:solidFill>
            <a:srgbClr val="FFFFFF"/>
          </a:solidFill>
        </p:spPr>
      </p:pic>
    </p:spTree>
    <p:extLst>
      <p:ext uri="{BB962C8B-B14F-4D97-AF65-F5344CB8AC3E}">
        <p14:creationId xmlns:p14="http://schemas.microsoft.com/office/powerpoint/2010/main" val="5884145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C3A8E-42C2-0C36-7AB6-E41CCF7AE9DF}"/>
              </a:ext>
            </a:extLst>
          </p:cNvPr>
          <p:cNvSpPr>
            <a:spLocks noGrp="1"/>
          </p:cNvSpPr>
          <p:nvPr>
            <p:ph type="title"/>
          </p:nvPr>
        </p:nvSpPr>
        <p:spPr/>
        <p:txBody>
          <a:bodyPr/>
          <a:lstStyle/>
          <a:p>
            <a:r>
              <a:rPr lang="en-US" dirty="0"/>
              <a:t>Types of Analysis</a:t>
            </a:r>
          </a:p>
        </p:txBody>
      </p:sp>
      <p:sp>
        <p:nvSpPr>
          <p:cNvPr id="3" name="Content Placeholder 2">
            <a:extLst>
              <a:ext uri="{FF2B5EF4-FFF2-40B4-BE49-F238E27FC236}">
                <a16:creationId xmlns:a16="http://schemas.microsoft.com/office/drawing/2014/main" id="{FA938278-0AB1-F8BE-BE63-BF1BE29F7398}"/>
              </a:ext>
            </a:extLst>
          </p:cNvPr>
          <p:cNvSpPr>
            <a:spLocks noGrp="1"/>
          </p:cNvSpPr>
          <p:nvPr>
            <p:ph idx="1"/>
          </p:nvPr>
        </p:nvSpPr>
        <p:spPr/>
        <p:txBody>
          <a:bodyPr/>
          <a:lstStyle/>
          <a:p>
            <a:r>
              <a:rPr lang="en-US" dirty="0"/>
              <a:t>A source of data can be used for several types of analysis, depending on goal. </a:t>
            </a:r>
          </a:p>
          <a:p>
            <a:pPr lvl="1"/>
            <a:r>
              <a:rPr lang="en-US" dirty="0"/>
              <a:t>We can summarize results and make a model to predict future outcomes. </a:t>
            </a:r>
          </a:p>
          <a:p>
            <a:r>
              <a:rPr lang="en-US" dirty="0"/>
              <a:t>Climbing the ladder leads to analysis that is generally more comprehensive. </a:t>
            </a:r>
          </a:p>
          <a:p>
            <a:pPr lvl="1"/>
            <a:r>
              <a:rPr lang="en-US" dirty="0"/>
              <a:t>Many/most companies are at or near the bottom. </a:t>
            </a:r>
          </a:p>
          <a:p>
            <a:r>
              <a:rPr lang="en-US" dirty="0"/>
              <a:t>Modern AI and related tools are built on predictive analytics. </a:t>
            </a:r>
          </a:p>
          <a:p>
            <a:r>
              <a:rPr lang="en-US" dirty="0"/>
              <a:t>Our work lives 95%+ in descriptive – what happened. </a:t>
            </a:r>
          </a:p>
        </p:txBody>
      </p:sp>
    </p:spTree>
    <p:extLst>
      <p:ext uri="{BB962C8B-B14F-4D97-AF65-F5344CB8AC3E}">
        <p14:creationId xmlns:p14="http://schemas.microsoft.com/office/powerpoint/2010/main" val="2204156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977F1E1-2B6F-4BB6-899F-67D8764D83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5" name="Picture 4" descr="Stack of old and new books">
            <a:extLst>
              <a:ext uri="{FF2B5EF4-FFF2-40B4-BE49-F238E27FC236}">
                <a16:creationId xmlns:a16="http://schemas.microsoft.com/office/drawing/2014/main" id="{FDC84B0C-932B-1516-A954-F566BE094AE8}"/>
              </a:ext>
            </a:extLst>
          </p:cNvPr>
          <p:cNvPicPr>
            <a:picLocks noChangeAspect="1"/>
          </p:cNvPicPr>
          <p:nvPr/>
        </p:nvPicPr>
        <p:blipFill>
          <a:blip r:embed="rId3"/>
          <a:srcRect t="13779" r="-1" b="1949"/>
          <a:stretch>
            <a:fillRect/>
          </a:stretch>
        </p:blipFill>
        <p:spPr>
          <a:xfrm>
            <a:off x="2" y="10"/>
            <a:ext cx="12191695" cy="6857990"/>
          </a:xfrm>
          <a:prstGeom prst="rect">
            <a:avLst/>
          </a:prstGeom>
        </p:spPr>
      </p:pic>
      <p:sp>
        <p:nvSpPr>
          <p:cNvPr id="17" name="Rectangle 16">
            <a:extLst>
              <a:ext uri="{FF2B5EF4-FFF2-40B4-BE49-F238E27FC236}">
                <a16:creationId xmlns:a16="http://schemas.microsoft.com/office/drawing/2014/main" id="{6A0FFA78-985C-4F50-B21A-77045C7DF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80337D-6F72-2005-B342-95F7AFDD75D5}"/>
              </a:ext>
            </a:extLst>
          </p:cNvPr>
          <p:cNvSpPr>
            <a:spLocks noGrp="1"/>
          </p:cNvSpPr>
          <p:nvPr>
            <p:ph type="title"/>
          </p:nvPr>
        </p:nvSpPr>
        <p:spPr>
          <a:xfrm>
            <a:off x="4065511" y="3236470"/>
            <a:ext cx="6832500" cy="1252601"/>
          </a:xfrm>
        </p:spPr>
        <p:txBody>
          <a:bodyPr vert="horz" lIns="91440" tIns="45720" rIns="91440" bIns="0" rtlCol="0" anchor="b">
            <a:normAutofit/>
          </a:bodyPr>
          <a:lstStyle/>
          <a:p>
            <a:r>
              <a:rPr lang="en-US" sz="4100">
                <a:solidFill>
                  <a:srgbClr val="FFFFFE"/>
                </a:solidFill>
              </a:rPr>
              <a:t>A (Brief) History of Visualization</a:t>
            </a:r>
          </a:p>
        </p:txBody>
      </p:sp>
      <p:cxnSp>
        <p:nvCxnSpPr>
          <p:cNvPr id="19" name="Straight Connector 18">
            <a:extLst>
              <a:ext uri="{FF2B5EF4-FFF2-40B4-BE49-F238E27FC236}">
                <a16:creationId xmlns:a16="http://schemas.microsoft.com/office/drawing/2014/main" id="{65409EC7-69B1-45CC-8FB7-1964C1AB67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5509" y="4666480"/>
            <a:ext cx="6832499" cy="0"/>
          </a:xfrm>
          <a:prstGeom prst="line">
            <a:avLst/>
          </a:prstGeom>
          <a:ln w="31750">
            <a:solidFill>
              <a:srgbClr val="EBDB3D"/>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3383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prstGeom prst="rect">
            <a:avLst/>
          </a:prstGeom>
        </p:spPr>
        <p:txBody>
          <a:bodyPr>
            <a:normAutofit/>
          </a:bodyPr>
          <a:lstStyle/>
          <a:p>
            <a:pPr eaLnBrk="1" hangingPunct="1">
              <a:defRPr/>
            </a:pPr>
            <a:r>
              <a:rPr lang="en-US" dirty="0"/>
              <a:t>Late 18</a:t>
            </a:r>
            <a:r>
              <a:rPr lang="en-US" baseline="30000" dirty="0"/>
              <a:t>th</a:t>
            </a:r>
            <a:r>
              <a:rPr lang="en-US" dirty="0"/>
              <a:t> – Early 19</a:t>
            </a:r>
            <a:r>
              <a:rPr lang="en-US" baseline="30000" dirty="0"/>
              <a:t>th</a:t>
            </a:r>
            <a:r>
              <a:rPr lang="en-US" dirty="0"/>
              <a:t> Century</a:t>
            </a:r>
          </a:p>
        </p:txBody>
      </p:sp>
      <p:sp>
        <p:nvSpPr>
          <p:cNvPr id="2" name="Content Placeholder 1"/>
          <p:cNvSpPr>
            <a:spLocks noGrp="1"/>
          </p:cNvSpPr>
          <p:nvPr>
            <p:ph idx="1"/>
          </p:nvPr>
        </p:nvSpPr>
        <p:spPr>
          <a:xfrm>
            <a:off x="1451579" y="2015732"/>
            <a:ext cx="6565795" cy="4105458"/>
          </a:xfrm>
          <a:prstGeom prst="rect">
            <a:avLst/>
          </a:prstGeom>
        </p:spPr>
        <p:txBody>
          <a:bodyPr>
            <a:normAutofit lnSpcReduction="10000"/>
          </a:bodyPr>
          <a:lstStyle/>
          <a:p>
            <a:pPr marL="0" indent="0">
              <a:buNone/>
            </a:pPr>
            <a:r>
              <a:rPr lang="en-US" dirty="0"/>
              <a:t>William Playfair</a:t>
            </a:r>
            <a:br>
              <a:rPr lang="en-US" dirty="0"/>
            </a:br>
            <a:r>
              <a:rPr lang="en-US" sz="1600" dirty="0">
                <a:sym typeface="Helvetica" charset="0"/>
              </a:rPr>
              <a:t>(1759-1823)</a:t>
            </a:r>
            <a:endParaRPr lang="en-US" sz="1600" dirty="0"/>
          </a:p>
          <a:p>
            <a:r>
              <a:rPr lang="en-US" sz="2400" dirty="0"/>
              <a:t>Scottish engineer and political economist</a:t>
            </a:r>
            <a:r>
              <a:rPr lang="en-US" sz="2400" baseline="30000" dirty="0"/>
              <a:t>5</a:t>
            </a:r>
          </a:p>
          <a:p>
            <a:r>
              <a:rPr lang="en-US" sz="2400" dirty="0"/>
              <a:t>Founder of graphical methods of statistics</a:t>
            </a:r>
          </a:p>
          <a:p>
            <a:r>
              <a:rPr lang="en-US" sz="2400" dirty="0"/>
              <a:t>Developed new designs and improved existing methods to provide “systematic visual representations of his ‘linear arithmetic.’”</a:t>
            </a:r>
            <a:r>
              <a:rPr lang="en-US" sz="2400" baseline="30000" dirty="0"/>
              <a:t>6</a:t>
            </a:r>
          </a:p>
          <a:p>
            <a:r>
              <a:rPr lang="en-US" sz="2400" dirty="0"/>
              <a:t>Created the time-series line graph, bar chart, and pie chart.</a:t>
            </a:r>
            <a:r>
              <a:rPr lang="en-US" sz="2400" baseline="30000" dirty="0"/>
              <a:t>7</a:t>
            </a:r>
          </a:p>
          <a:p>
            <a:endParaRPr lang="en-US" sz="2400" baseline="30000" dirty="0"/>
          </a:p>
        </p:txBody>
      </p:sp>
      <p:sp>
        <p:nvSpPr>
          <p:cNvPr id="5" name="Rectangle 7"/>
          <p:cNvSpPr>
            <a:spLocks/>
          </p:cNvSpPr>
          <p:nvPr/>
        </p:nvSpPr>
        <p:spPr bwMode="auto">
          <a:xfrm>
            <a:off x="7653021" y="6660865"/>
            <a:ext cx="4480560" cy="1476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nchor="ctr"/>
          <a:lstStyle/>
          <a:p>
            <a:pPr defTabSz="914363"/>
            <a:r>
              <a:rPr lang="en-US" sz="800" dirty="0">
                <a:solidFill>
                  <a:srgbClr val="4D4D4D"/>
                </a:solidFill>
                <a:latin typeface="Arial" charset="0"/>
              </a:rPr>
              <a:t>Images used under the Wikipedia Creative Commons license.  </a:t>
            </a:r>
            <a:r>
              <a:rPr lang="en-US" sz="800" i="1" u="sng" dirty="0">
                <a:solidFill>
                  <a:srgbClr val="4D4D4D"/>
                </a:solidFill>
                <a:latin typeface="Arial" charset="0"/>
                <a:hlinkClick r:id="rId3"/>
              </a:rPr>
              <a:t>http://www.wikipedia.com</a:t>
            </a:r>
            <a:endParaRPr lang="en-US" sz="800" i="1" u="sng" dirty="0">
              <a:solidFill>
                <a:srgbClr val="4D4D4D"/>
              </a:solidFill>
              <a:latin typeface="Arial" charset="0"/>
            </a:endParaRPr>
          </a:p>
        </p:txBody>
      </p:sp>
      <p:pic>
        <p:nvPicPr>
          <p:cNvPr id="6" name="Picture 5"/>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017374" y="804519"/>
            <a:ext cx="4007646" cy="27978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pic>
      <p:pic>
        <p:nvPicPr>
          <p:cNvPr id="7" name="Picture 6"/>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8017374" y="3776320"/>
            <a:ext cx="4038600" cy="2726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869472991"/>
      </p:ext>
    </p:extLst>
  </p:cSld>
  <p:clrMapOvr>
    <a:masterClrMapping/>
  </p:clrMapOvr>
  <p:transition spd="slow">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prstGeom prst="rect">
            <a:avLst/>
          </a:prstGeom>
        </p:spPr>
        <p:txBody>
          <a:bodyPr>
            <a:normAutofit/>
          </a:bodyPr>
          <a:lstStyle/>
          <a:p>
            <a:pPr eaLnBrk="1" hangingPunct="1">
              <a:defRPr/>
            </a:pPr>
            <a:r>
              <a:rPr lang="en-US" dirty="0"/>
              <a:t>Early 19</a:t>
            </a:r>
            <a:r>
              <a:rPr lang="en-US" baseline="30000" dirty="0"/>
              <a:t>th</a:t>
            </a:r>
            <a:r>
              <a:rPr lang="en-US" dirty="0"/>
              <a:t> Century</a:t>
            </a:r>
          </a:p>
        </p:txBody>
      </p:sp>
      <p:sp>
        <p:nvSpPr>
          <p:cNvPr id="2" name="Content Placeholder 1"/>
          <p:cNvSpPr>
            <a:spLocks noGrp="1"/>
          </p:cNvSpPr>
          <p:nvPr>
            <p:ph idx="1"/>
          </p:nvPr>
        </p:nvSpPr>
        <p:spPr>
          <a:xfrm>
            <a:off x="4070088" y="2015732"/>
            <a:ext cx="6984766" cy="4037749"/>
          </a:xfrm>
          <a:prstGeom prst="rect">
            <a:avLst/>
          </a:prstGeom>
        </p:spPr>
        <p:txBody>
          <a:bodyPr>
            <a:normAutofit lnSpcReduction="10000"/>
          </a:bodyPr>
          <a:lstStyle/>
          <a:p>
            <a:pPr marL="0" indent="0">
              <a:buNone/>
            </a:pPr>
            <a:r>
              <a:rPr lang="en-US" dirty="0"/>
              <a:t>Charles Minard</a:t>
            </a:r>
            <a:br>
              <a:rPr lang="en-US" dirty="0"/>
            </a:br>
            <a:r>
              <a:rPr lang="en-US" sz="1600" dirty="0">
                <a:sym typeface="Helvetica" charset="0"/>
              </a:rPr>
              <a:t>(1781-1870)</a:t>
            </a:r>
            <a:endParaRPr lang="en-US" sz="1600" dirty="0"/>
          </a:p>
          <a:p>
            <a:r>
              <a:rPr lang="en-US" sz="2400" dirty="0"/>
              <a:t>French civil engineer; produced an array of graphics that combine a many data points into a compelling visual story</a:t>
            </a:r>
          </a:p>
          <a:p>
            <a:r>
              <a:rPr lang="en-US" sz="2400" dirty="0"/>
              <a:t>Produced 70+ depictions including thematic maps and graphic tables between 1844-1870.</a:t>
            </a:r>
            <a:r>
              <a:rPr lang="en-US" sz="2400" baseline="30000" dirty="0"/>
              <a:t>7</a:t>
            </a:r>
          </a:p>
          <a:p>
            <a:r>
              <a:rPr lang="en-US" sz="2400" dirty="0"/>
              <a:t>Map of Napoleon’s Russian campaign regarded by some as the “best statistical graphic ever drawn.”</a:t>
            </a:r>
            <a:r>
              <a:rPr lang="en-US" sz="2400" baseline="30000" dirty="0"/>
              <a:t>8</a:t>
            </a:r>
          </a:p>
          <a:p>
            <a:endParaRPr lang="en-US" sz="2400" baseline="30000" dirty="0"/>
          </a:p>
        </p:txBody>
      </p:sp>
      <p:sp>
        <p:nvSpPr>
          <p:cNvPr id="5" name="Rectangle 7"/>
          <p:cNvSpPr>
            <a:spLocks/>
          </p:cNvSpPr>
          <p:nvPr/>
        </p:nvSpPr>
        <p:spPr bwMode="auto">
          <a:xfrm>
            <a:off x="7955926" y="6589849"/>
            <a:ext cx="4236074" cy="2364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nchor="ctr"/>
          <a:lstStyle/>
          <a:p>
            <a:pPr defTabSz="914363"/>
            <a:r>
              <a:rPr lang="en-US" sz="800" dirty="0">
                <a:solidFill>
                  <a:srgbClr val="4D4D4D"/>
                </a:solidFill>
                <a:latin typeface="Arial" charset="0"/>
              </a:rPr>
              <a:t>Images used under the Wikipedia Creative Commons license.  </a:t>
            </a:r>
            <a:r>
              <a:rPr lang="en-US" sz="800" i="1" u="sng" dirty="0">
                <a:solidFill>
                  <a:srgbClr val="4D4D4D"/>
                </a:solidFill>
                <a:latin typeface="Arial" charset="0"/>
                <a:hlinkClick r:id="rId3"/>
              </a:rPr>
              <a:t>http://www.wikipedia.com</a:t>
            </a:r>
            <a:endParaRPr lang="en-US" sz="800" i="1" u="sng" dirty="0">
              <a:solidFill>
                <a:srgbClr val="4D4D4D"/>
              </a:solidFill>
              <a:latin typeface="Arial" charset="0"/>
            </a:endParaRPr>
          </a:p>
        </p:txBody>
      </p:sp>
      <p:pic>
        <p:nvPicPr>
          <p:cNvPr id="8"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877" y="4757777"/>
            <a:ext cx="3998211" cy="1905000"/>
          </a:xfrm>
          <a:prstGeom prst="rect">
            <a:avLst/>
          </a:prstGeom>
          <a:noFill/>
          <a:ln w="127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pic>
      <p:pic>
        <p:nvPicPr>
          <p:cNvPr id="9" name="Picture 4"/>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564888" y="1481178"/>
            <a:ext cx="2937867" cy="2937867"/>
          </a:xfrm>
          <a:prstGeom prst="rect">
            <a:avLst/>
          </a:prstGeom>
          <a:solidFill>
            <a:schemeClr val="tx2"/>
          </a:solidFill>
          <a:ln>
            <a:solidFill>
              <a:schemeClr val="tx2"/>
            </a:solidFill>
          </a:ln>
        </p:spPr>
      </p:pic>
    </p:spTree>
    <p:extLst>
      <p:ext uri="{BB962C8B-B14F-4D97-AF65-F5344CB8AC3E}">
        <p14:creationId xmlns:p14="http://schemas.microsoft.com/office/powerpoint/2010/main" val="4227913033"/>
      </p:ext>
    </p:extLst>
  </p:cSld>
  <p:clrMapOvr>
    <a:masterClrMapping/>
  </p:clrMapOvr>
  <p:transition spd="slow">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prstGeom prst="rect">
            <a:avLst/>
          </a:prstGeom>
        </p:spPr>
        <p:txBody>
          <a:bodyPr>
            <a:normAutofit/>
          </a:bodyPr>
          <a:lstStyle/>
          <a:p>
            <a:pPr eaLnBrk="1" hangingPunct="1">
              <a:defRPr/>
            </a:pPr>
            <a:r>
              <a:rPr lang="en-US" dirty="0"/>
              <a:t>20</a:t>
            </a:r>
            <a:r>
              <a:rPr lang="en-US" baseline="30000" dirty="0"/>
              <a:t>th</a:t>
            </a:r>
            <a:r>
              <a:rPr lang="en-US" dirty="0"/>
              <a:t> Century</a:t>
            </a:r>
          </a:p>
        </p:txBody>
      </p:sp>
      <p:sp>
        <p:nvSpPr>
          <p:cNvPr id="28673" name="Rectangle 1"/>
          <p:cNvSpPr>
            <a:spLocks noGrp="1" noChangeArrowheads="1"/>
          </p:cNvSpPr>
          <p:nvPr>
            <p:ph idx="1"/>
          </p:nvPr>
        </p:nvSpPr>
        <p:spPr>
          <a:xfrm>
            <a:off x="1451579" y="1853754"/>
            <a:ext cx="6710635" cy="4199727"/>
          </a:xfrm>
          <a:prstGeom prst="rect">
            <a:avLst/>
          </a:prstGeom>
        </p:spPr>
        <p:txBody>
          <a:bodyPr>
            <a:normAutofit lnSpcReduction="10000"/>
          </a:bodyPr>
          <a:lstStyle/>
          <a:p>
            <a:pPr marL="0" indent="0">
              <a:buNone/>
            </a:pPr>
            <a:r>
              <a:rPr lang="en-US" dirty="0"/>
              <a:t>John Tukey</a:t>
            </a:r>
            <a:br>
              <a:rPr lang="en-US" dirty="0"/>
            </a:br>
            <a:r>
              <a:rPr lang="en-US" sz="1800" dirty="0">
                <a:sym typeface="Helvetica" charset="0"/>
              </a:rPr>
              <a:t>(1915-2000)</a:t>
            </a:r>
            <a:endParaRPr lang="en-US" sz="1800" dirty="0"/>
          </a:p>
          <a:p>
            <a:r>
              <a:rPr lang="en-US" sz="2400" dirty="0"/>
              <a:t>American statistician</a:t>
            </a:r>
          </a:p>
          <a:p>
            <a:r>
              <a:rPr lang="en-US" sz="2400" dirty="0"/>
              <a:t>Introduced the </a:t>
            </a:r>
            <a:r>
              <a:rPr lang="en-US" sz="2400" b="1" dirty="0"/>
              <a:t>box plot</a:t>
            </a:r>
            <a:r>
              <a:rPr lang="en-US" sz="2400" dirty="0"/>
              <a:t> in </a:t>
            </a:r>
            <a:r>
              <a:rPr lang="en-US" sz="2400" i="1" dirty="0"/>
              <a:t>Exploratory Data Analysis</a:t>
            </a:r>
            <a:r>
              <a:rPr lang="en-US" sz="2400" dirty="0"/>
              <a:t>, published in 1977</a:t>
            </a:r>
          </a:p>
          <a:p>
            <a:r>
              <a:rPr lang="en-US" sz="2400" dirty="0"/>
              <a:t>Exploratory Data Analysis (EDA) emphasized presentation of the main characteristics of a data set in a visual, easy to understand form, without using a statistical model or hypothesis</a:t>
            </a:r>
            <a:r>
              <a:rPr lang="en-US" sz="2400" baseline="30000" dirty="0"/>
              <a:t>10</a:t>
            </a:r>
          </a:p>
        </p:txBody>
      </p:sp>
      <p:sp>
        <p:nvSpPr>
          <p:cNvPr id="28677" name="Rectangle 5"/>
          <p:cNvSpPr>
            <a:spLocks/>
          </p:cNvSpPr>
          <p:nvPr/>
        </p:nvSpPr>
        <p:spPr bwMode="auto">
          <a:xfrm>
            <a:off x="8331398" y="6612434"/>
            <a:ext cx="3812977" cy="2053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nchor="ctr"/>
          <a:lstStyle/>
          <a:p>
            <a:pPr defTabSz="914363"/>
            <a:r>
              <a:rPr lang="en-US" sz="800" dirty="0">
                <a:solidFill>
                  <a:srgbClr val="4D4D4D"/>
                </a:solidFill>
                <a:latin typeface="Calibri"/>
                <a:cs typeface="Calibri"/>
              </a:rPr>
              <a:t>Images used under the Wikipedia Creative Commons license.  </a:t>
            </a:r>
            <a:r>
              <a:rPr lang="en-US" sz="800" i="1" u="sng" dirty="0">
                <a:solidFill>
                  <a:srgbClr val="4D4D4D"/>
                </a:solidFill>
                <a:latin typeface="Calibri"/>
                <a:cs typeface="Calibri"/>
                <a:hlinkClick r:id="rId3"/>
              </a:rPr>
              <a:t>http://www.wikipedia.com</a:t>
            </a:r>
            <a:endParaRPr lang="en-US" sz="800" i="1" u="sng" dirty="0">
              <a:solidFill>
                <a:srgbClr val="4D4D4D"/>
              </a:solidFill>
              <a:latin typeface="Calibri"/>
              <a:cs typeface="Calibri"/>
            </a:endParaRPr>
          </a:p>
        </p:txBody>
      </p:sp>
      <p:pic>
        <p:nvPicPr>
          <p:cNvPr id="4" name="Picture 3"/>
          <p:cNvPicPr>
            <a:picLocks noChangeAspect="1"/>
          </p:cNvPicPr>
          <p:nvPr/>
        </p:nvPicPr>
        <p:blipFill>
          <a:blip r:embed="rId4"/>
          <a:stretch>
            <a:fillRect/>
          </a:stretch>
        </p:blipFill>
        <p:spPr>
          <a:xfrm>
            <a:off x="8162213" y="1450517"/>
            <a:ext cx="3778553" cy="4602964"/>
          </a:xfrm>
          <a:prstGeom prst="rect">
            <a:avLst/>
          </a:prstGeom>
          <a:ln>
            <a:solidFill>
              <a:schemeClr val="tx2"/>
            </a:solidFill>
          </a:ln>
        </p:spPr>
      </p:pic>
    </p:spTree>
    <p:extLst>
      <p:ext uri="{BB962C8B-B14F-4D97-AF65-F5344CB8AC3E}">
        <p14:creationId xmlns:p14="http://schemas.microsoft.com/office/powerpoint/2010/main" val="2929672123"/>
      </p:ext>
    </p:extLst>
  </p:cSld>
  <p:clrMapOvr>
    <a:masterClrMapping/>
  </p:clrMapOvr>
  <p:transition spd="slow">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prstGeom prst="rect">
            <a:avLst/>
          </a:prstGeom>
        </p:spPr>
        <p:txBody>
          <a:bodyPr>
            <a:normAutofit/>
          </a:bodyPr>
          <a:lstStyle/>
          <a:p>
            <a:pPr eaLnBrk="1" hangingPunct="1">
              <a:defRPr/>
            </a:pPr>
            <a:r>
              <a:rPr lang="en-US" dirty="0"/>
              <a:t>20</a:t>
            </a:r>
            <a:r>
              <a:rPr lang="en-US" baseline="30000" dirty="0"/>
              <a:t>th</a:t>
            </a:r>
            <a:r>
              <a:rPr lang="en-US" dirty="0"/>
              <a:t> Century</a:t>
            </a:r>
          </a:p>
        </p:txBody>
      </p:sp>
      <p:sp>
        <p:nvSpPr>
          <p:cNvPr id="28673" name="Rectangle 1"/>
          <p:cNvSpPr>
            <a:spLocks noGrp="1" noChangeArrowheads="1"/>
          </p:cNvSpPr>
          <p:nvPr>
            <p:ph idx="1"/>
          </p:nvPr>
        </p:nvSpPr>
        <p:spPr>
          <a:xfrm>
            <a:off x="503853" y="1853754"/>
            <a:ext cx="5868955" cy="4167104"/>
          </a:xfrm>
          <a:prstGeom prst="rect">
            <a:avLst/>
          </a:prstGeom>
        </p:spPr>
        <p:txBody>
          <a:bodyPr>
            <a:normAutofit/>
          </a:bodyPr>
          <a:lstStyle/>
          <a:p>
            <a:pPr marL="0" indent="0">
              <a:buNone/>
            </a:pPr>
            <a:r>
              <a:rPr lang="en-US" sz="2400" dirty="0"/>
              <a:t>Visualization techniques used in EDA include:</a:t>
            </a:r>
          </a:p>
          <a:p>
            <a:r>
              <a:rPr lang="en-US" sz="2400" dirty="0"/>
              <a:t>Box plot</a:t>
            </a:r>
          </a:p>
          <a:p>
            <a:r>
              <a:rPr lang="en-US" sz="2400" dirty="0"/>
              <a:t>Histogram</a:t>
            </a:r>
          </a:p>
          <a:p>
            <a:r>
              <a:rPr lang="en-US" sz="2400" dirty="0"/>
              <a:t>Pareto chart</a:t>
            </a:r>
          </a:p>
          <a:p>
            <a:r>
              <a:rPr lang="en-US" sz="2400" dirty="0"/>
              <a:t>Scatter plot</a:t>
            </a:r>
          </a:p>
          <a:p>
            <a:r>
              <a:rPr lang="en-US" sz="2400" dirty="0"/>
              <a:t>Computers set off massive increases in visualization usage and capability. </a:t>
            </a:r>
          </a:p>
          <a:p>
            <a:pPr marL="0" indent="0">
              <a:buNone/>
            </a:pPr>
            <a:endParaRPr lang="en-US" sz="2400" dirty="0"/>
          </a:p>
        </p:txBody>
      </p:sp>
      <p:sp>
        <p:nvSpPr>
          <p:cNvPr id="10" name="Rectangle 1"/>
          <p:cNvSpPr>
            <a:spLocks noGrp="1" noChangeArrowheads="1"/>
          </p:cNvSpPr>
          <p:nvPr>
            <p:ph sz="half" idx="4294967295"/>
          </p:nvPr>
        </p:nvSpPr>
        <p:spPr>
          <a:xfrm>
            <a:off x="9321800" y="4500563"/>
            <a:ext cx="2870200" cy="381000"/>
          </a:xfrm>
          <a:prstGeom prst="rect">
            <a:avLst/>
          </a:prstGeom>
        </p:spPr>
        <p:txBody>
          <a:bodyPr/>
          <a:lstStyle/>
          <a:p>
            <a:pPr marL="0" indent="0">
              <a:buNone/>
            </a:pPr>
            <a:r>
              <a:rPr lang="en-US" sz="1400" i="1" dirty="0"/>
              <a:t>Sample box plot.</a:t>
            </a:r>
          </a:p>
        </p:txBody>
      </p:sp>
      <p:sp>
        <p:nvSpPr>
          <p:cNvPr id="12" name="Rectangle 1"/>
          <p:cNvSpPr>
            <a:spLocks noGrp="1" noChangeArrowheads="1"/>
          </p:cNvSpPr>
          <p:nvPr>
            <p:ph sz="half" idx="4294967295"/>
          </p:nvPr>
        </p:nvSpPr>
        <p:spPr>
          <a:xfrm>
            <a:off x="9321800" y="2786063"/>
            <a:ext cx="2870200" cy="381000"/>
          </a:xfrm>
          <a:prstGeom prst="rect">
            <a:avLst/>
          </a:prstGeom>
        </p:spPr>
        <p:txBody>
          <a:bodyPr/>
          <a:lstStyle/>
          <a:p>
            <a:pPr marL="0" indent="0">
              <a:buNone/>
            </a:pPr>
            <a:r>
              <a:rPr lang="en-US" sz="1400" i="1" dirty="0"/>
              <a:t>Sample histogram.</a:t>
            </a:r>
          </a:p>
        </p:txBody>
      </p:sp>
      <p:sp>
        <p:nvSpPr>
          <p:cNvPr id="14" name="Rectangle 1"/>
          <p:cNvSpPr>
            <a:spLocks noGrp="1" noChangeArrowheads="1"/>
          </p:cNvSpPr>
          <p:nvPr>
            <p:ph sz="half" idx="4294967295"/>
          </p:nvPr>
        </p:nvSpPr>
        <p:spPr>
          <a:xfrm>
            <a:off x="9321800" y="6108700"/>
            <a:ext cx="2870200" cy="381000"/>
          </a:xfrm>
          <a:prstGeom prst="rect">
            <a:avLst/>
          </a:prstGeom>
        </p:spPr>
        <p:txBody>
          <a:bodyPr/>
          <a:lstStyle/>
          <a:p>
            <a:pPr marL="0" indent="0">
              <a:buNone/>
            </a:pPr>
            <a:r>
              <a:rPr lang="en-US" sz="1400" i="1" dirty="0"/>
              <a:t>Sample scatter plot.</a:t>
            </a:r>
          </a:p>
        </p:txBody>
      </p:sp>
      <p:sp>
        <p:nvSpPr>
          <p:cNvPr id="28677" name="Rectangle 5"/>
          <p:cNvSpPr>
            <a:spLocks/>
          </p:cNvSpPr>
          <p:nvPr/>
        </p:nvSpPr>
        <p:spPr bwMode="auto">
          <a:xfrm>
            <a:off x="8336386" y="6577542"/>
            <a:ext cx="3776239" cy="2318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nchor="ctr"/>
          <a:lstStyle/>
          <a:p>
            <a:pPr defTabSz="914363"/>
            <a:r>
              <a:rPr lang="en-US" sz="800" dirty="0">
                <a:solidFill>
                  <a:srgbClr val="4D4D4D"/>
                </a:solidFill>
                <a:latin typeface="Calibri"/>
                <a:cs typeface="Calibri"/>
              </a:rPr>
              <a:t>Images used under the Wikipedia Creative Commons license.  </a:t>
            </a:r>
            <a:r>
              <a:rPr lang="en-US" sz="800" i="1" u="sng" dirty="0">
                <a:solidFill>
                  <a:srgbClr val="4D4D4D"/>
                </a:solidFill>
                <a:latin typeface="Calibri"/>
                <a:cs typeface="Calibri"/>
                <a:hlinkClick r:id="rId3"/>
              </a:rPr>
              <a:t>http://www.wikipedia.com</a:t>
            </a:r>
            <a:endParaRPr lang="en-US" sz="800" i="1" u="sng" dirty="0">
              <a:solidFill>
                <a:srgbClr val="4D4D4D"/>
              </a:solidFill>
              <a:latin typeface="Calibri"/>
              <a:cs typeface="Calibri"/>
            </a:endParaRPr>
          </a:p>
        </p:txBody>
      </p:sp>
      <p:pic>
        <p:nvPicPr>
          <p:cNvPr id="2" name="Picture 1"/>
          <p:cNvPicPr>
            <a:picLocks noChangeAspect="1"/>
          </p:cNvPicPr>
          <p:nvPr/>
        </p:nvPicPr>
        <p:blipFill>
          <a:blip r:embed="rId4"/>
          <a:stretch>
            <a:fillRect/>
          </a:stretch>
        </p:blipFill>
        <p:spPr>
          <a:xfrm>
            <a:off x="6270625" y="2195072"/>
            <a:ext cx="2971800" cy="2971800"/>
          </a:xfrm>
          <a:prstGeom prst="rect">
            <a:avLst/>
          </a:prstGeom>
        </p:spPr>
      </p:pic>
      <p:pic>
        <p:nvPicPr>
          <p:cNvPr id="5" name="Picture 4"/>
          <p:cNvPicPr>
            <a:picLocks noChangeAspect="1"/>
          </p:cNvPicPr>
          <p:nvPr/>
        </p:nvPicPr>
        <p:blipFill>
          <a:blip r:embed="rId5"/>
          <a:stretch>
            <a:fillRect/>
          </a:stretch>
        </p:blipFill>
        <p:spPr>
          <a:xfrm>
            <a:off x="9053488" y="3329041"/>
            <a:ext cx="3059137" cy="2590800"/>
          </a:xfrm>
          <a:prstGeom prst="rect">
            <a:avLst/>
          </a:prstGeom>
          <a:ln>
            <a:noFill/>
          </a:ln>
        </p:spPr>
      </p:pic>
      <p:pic>
        <p:nvPicPr>
          <p:cNvPr id="6" name="Picture 5"/>
          <p:cNvPicPr>
            <a:picLocks noChangeAspect="1"/>
          </p:cNvPicPr>
          <p:nvPr/>
        </p:nvPicPr>
        <p:blipFill rotWithShape="1">
          <a:blip r:embed="rId6"/>
          <a:srcRect l="1829" t="7162" r="7147" b="3557"/>
          <a:stretch/>
        </p:blipFill>
        <p:spPr>
          <a:xfrm>
            <a:off x="9155923" y="48616"/>
            <a:ext cx="2956702" cy="2892552"/>
          </a:xfrm>
          <a:prstGeom prst="rect">
            <a:avLst/>
          </a:prstGeom>
        </p:spPr>
      </p:pic>
    </p:spTree>
    <p:extLst>
      <p:ext uri="{BB962C8B-B14F-4D97-AF65-F5344CB8AC3E}">
        <p14:creationId xmlns:p14="http://schemas.microsoft.com/office/powerpoint/2010/main" val="3497565675"/>
      </p:ext>
    </p:extLst>
  </p:cSld>
  <p:clrMapOvr>
    <a:masterClrMapping/>
  </p:clrMapOvr>
  <p:transition spd="slow">
    <p:wipe dir="d"/>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A3BB9-ED09-86FD-626B-428FB0B6FC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779E08-2035-B51B-3F02-FC9A3B2C80A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905483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922DD-896B-B88A-2169-9C869473D090}"/>
              </a:ext>
            </a:extLst>
          </p:cNvPr>
          <p:cNvSpPr>
            <a:spLocks noGrp="1"/>
          </p:cNvSpPr>
          <p:nvPr>
            <p:ph type="title"/>
          </p:nvPr>
        </p:nvSpPr>
        <p:spPr/>
        <p:txBody>
          <a:bodyPr/>
          <a:lstStyle/>
          <a:p>
            <a:r>
              <a:rPr lang="en-US" dirty="0"/>
              <a:t>A Picture is Worth a Thousand Words…</a:t>
            </a:r>
          </a:p>
        </p:txBody>
      </p:sp>
      <p:sp>
        <p:nvSpPr>
          <p:cNvPr id="3" name="Content Placeholder 2">
            <a:extLst>
              <a:ext uri="{FF2B5EF4-FFF2-40B4-BE49-F238E27FC236}">
                <a16:creationId xmlns:a16="http://schemas.microsoft.com/office/drawing/2014/main" id="{EEC24CDE-2BE0-22DB-9E52-10B4ACB53EC4}"/>
              </a:ext>
            </a:extLst>
          </p:cNvPr>
          <p:cNvSpPr>
            <a:spLocks noGrp="1"/>
          </p:cNvSpPr>
          <p:nvPr>
            <p:ph idx="1"/>
          </p:nvPr>
        </p:nvSpPr>
        <p:spPr>
          <a:xfrm>
            <a:off x="1451579" y="2015732"/>
            <a:ext cx="10046738" cy="3450613"/>
          </a:xfrm>
        </p:spPr>
        <p:txBody>
          <a:bodyPr/>
          <a:lstStyle/>
          <a:p>
            <a:r>
              <a:rPr lang="en-US" dirty="0"/>
              <a:t>A primary reason we use visualization is to make it easier to process data. </a:t>
            </a:r>
          </a:p>
          <a:p>
            <a:pPr lvl="1"/>
            <a:r>
              <a:rPr lang="en-US" dirty="0"/>
              <a:t>We can compare sales totals in a bar graph far quicker than we can read and compare numbers. </a:t>
            </a:r>
          </a:p>
          <a:p>
            <a:pPr lvl="1"/>
            <a:r>
              <a:rPr lang="en-US" dirty="0"/>
              <a:t>We can spot a trend in a stock price easier on a line chart than reading a thousand daily numbers. </a:t>
            </a:r>
          </a:p>
          <a:p>
            <a:r>
              <a:rPr lang="en-US" dirty="0"/>
              <a:t>Modern companies/scenarios can have a lot of data to deal with. </a:t>
            </a:r>
          </a:p>
          <a:p>
            <a:r>
              <a:rPr lang="en-US" dirty="0"/>
              <a:t>Visualization reduces friction – it is easier to consume data. </a:t>
            </a:r>
          </a:p>
        </p:txBody>
      </p:sp>
      <p:pic>
        <p:nvPicPr>
          <p:cNvPr id="1026" name="Picture 2" descr="Ice And Snow Car Crash Compilation #4 - Black Ice ! on Make a GIF">
            <a:extLst>
              <a:ext uri="{FF2B5EF4-FFF2-40B4-BE49-F238E27FC236}">
                <a16:creationId xmlns:a16="http://schemas.microsoft.com/office/drawing/2014/main" id="{2E8CED39-64A5-24B4-7AA6-87E2D9F5EE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4198" y="4397000"/>
            <a:ext cx="4378036" cy="2462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0556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321F3-8A85-A223-085B-DBE36BE60D7C}"/>
              </a:ext>
            </a:extLst>
          </p:cNvPr>
          <p:cNvSpPr>
            <a:spLocks noGrp="1"/>
          </p:cNvSpPr>
          <p:nvPr>
            <p:ph type="title"/>
          </p:nvPr>
        </p:nvSpPr>
        <p:spPr/>
        <p:txBody>
          <a:bodyPr/>
          <a:lstStyle/>
          <a:p>
            <a:r>
              <a:rPr lang="en-US" dirty="0"/>
              <a:t>Reducing Friction in Tableau</a:t>
            </a:r>
          </a:p>
        </p:txBody>
      </p:sp>
      <p:sp>
        <p:nvSpPr>
          <p:cNvPr id="3" name="Content Placeholder 2">
            <a:extLst>
              <a:ext uri="{FF2B5EF4-FFF2-40B4-BE49-F238E27FC236}">
                <a16:creationId xmlns:a16="http://schemas.microsoft.com/office/drawing/2014/main" id="{EAF673C5-70F6-A038-9FDD-E16FA20CBD04}"/>
              </a:ext>
            </a:extLst>
          </p:cNvPr>
          <p:cNvSpPr>
            <a:spLocks noGrp="1"/>
          </p:cNvSpPr>
          <p:nvPr>
            <p:ph idx="1"/>
          </p:nvPr>
        </p:nvSpPr>
        <p:spPr>
          <a:xfrm>
            <a:off x="1451579" y="2015732"/>
            <a:ext cx="9603275" cy="3927868"/>
          </a:xfrm>
        </p:spPr>
        <p:txBody>
          <a:bodyPr/>
          <a:lstStyle/>
          <a:p>
            <a:r>
              <a:rPr lang="en-US" dirty="0"/>
              <a:t>Tableau has the ability to take in large amounts of data and produce nice visualizations. </a:t>
            </a:r>
          </a:p>
          <a:p>
            <a:r>
              <a:rPr lang="en-US" dirty="0"/>
              <a:t>We can use the tools in Tableau to make the key info visible. </a:t>
            </a:r>
          </a:p>
          <a:p>
            <a:r>
              <a:rPr lang="en-US" dirty="0"/>
              <a:t>We have many different types of charts and graphs. </a:t>
            </a:r>
          </a:p>
          <a:p>
            <a:r>
              <a:rPr lang="en-US" dirty="0"/>
              <a:t>All use some basic concepts of visualization, starting with </a:t>
            </a:r>
            <a:r>
              <a:rPr lang="en-US" dirty="0" err="1"/>
              <a:t>preattentive</a:t>
            </a:r>
            <a:r>
              <a:rPr lang="en-US" dirty="0"/>
              <a:t> attributes. </a:t>
            </a:r>
          </a:p>
          <a:p>
            <a:pPr lvl="1"/>
            <a:r>
              <a:rPr lang="en-US" dirty="0"/>
              <a:t>Things our brain notices and starts to process without conscious thought. </a:t>
            </a:r>
          </a:p>
          <a:p>
            <a:pPr lvl="1"/>
            <a:r>
              <a:rPr lang="en-US" dirty="0"/>
              <a:t>E.g. you see a lion moving out of the side of your eye, you can react immediately. </a:t>
            </a:r>
          </a:p>
        </p:txBody>
      </p:sp>
    </p:spTree>
    <p:extLst>
      <p:ext uri="{BB962C8B-B14F-4D97-AF65-F5344CB8AC3E}">
        <p14:creationId xmlns:p14="http://schemas.microsoft.com/office/powerpoint/2010/main" val="26204036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4294967295"/>
          </p:nvPr>
        </p:nvSpPr>
        <p:spPr>
          <a:xfrm>
            <a:off x="0" y="957263"/>
            <a:ext cx="5486400" cy="381000"/>
          </a:xfrm>
          <a:prstGeom prst="rect">
            <a:avLst/>
          </a:prstGeom>
        </p:spPr>
        <p:txBody>
          <a:bodyPr>
            <a:normAutofit fontScale="90000"/>
          </a:bodyPr>
          <a:lstStyle/>
          <a:p>
            <a:r>
              <a:rPr lang="en-US" sz="2100" dirty="0"/>
              <a:t>How many times does the digit 7 appear?</a:t>
            </a:r>
          </a:p>
        </p:txBody>
      </p:sp>
      <p:pic>
        <p:nvPicPr>
          <p:cNvPr id="2" name="Picture 1"/>
          <p:cNvPicPr>
            <a:picLocks noChangeAspect="1"/>
          </p:cNvPicPr>
          <p:nvPr/>
        </p:nvPicPr>
        <p:blipFill>
          <a:blip r:embed="rId3"/>
          <a:stretch>
            <a:fillRect/>
          </a:stretch>
        </p:blipFill>
        <p:spPr>
          <a:xfrm>
            <a:off x="3034378" y="1287489"/>
            <a:ext cx="6694750" cy="4789585"/>
          </a:xfrm>
          <a:prstGeom prst="rect">
            <a:avLst/>
          </a:prstGeom>
        </p:spPr>
      </p:pic>
    </p:spTree>
    <p:extLst>
      <p:ext uri="{BB962C8B-B14F-4D97-AF65-F5344CB8AC3E}">
        <p14:creationId xmlns:p14="http://schemas.microsoft.com/office/powerpoint/2010/main" val="18196867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032389" y="1287489"/>
            <a:ext cx="6633785" cy="4789585"/>
          </a:xfrm>
          <a:prstGeom prst="rect">
            <a:avLst/>
          </a:prstGeom>
        </p:spPr>
      </p:pic>
    </p:spTree>
    <p:extLst>
      <p:ext uri="{BB962C8B-B14F-4D97-AF65-F5344CB8AC3E}">
        <p14:creationId xmlns:p14="http://schemas.microsoft.com/office/powerpoint/2010/main" val="917865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032389" y="1287489"/>
            <a:ext cx="6633785" cy="4789585"/>
          </a:xfrm>
          <a:prstGeom prst="rect">
            <a:avLst/>
          </a:prstGeom>
        </p:spPr>
      </p:pic>
    </p:spTree>
    <p:extLst>
      <p:ext uri="{BB962C8B-B14F-4D97-AF65-F5344CB8AC3E}">
        <p14:creationId xmlns:p14="http://schemas.microsoft.com/office/powerpoint/2010/main" val="2268774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032389" y="1287489"/>
            <a:ext cx="6633785" cy="4789585"/>
          </a:xfrm>
          <a:prstGeom prst="rect">
            <a:avLst/>
          </a:prstGeom>
        </p:spPr>
      </p:pic>
    </p:spTree>
    <p:extLst>
      <p:ext uri="{BB962C8B-B14F-4D97-AF65-F5344CB8AC3E}">
        <p14:creationId xmlns:p14="http://schemas.microsoft.com/office/powerpoint/2010/main" val="8999218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253842" y="1254164"/>
            <a:ext cx="5658341" cy="4427604"/>
          </a:xfrm>
          <a:prstGeom prst="rect">
            <a:avLst/>
          </a:prstGeom>
        </p:spPr>
      </p:pic>
    </p:spTree>
    <p:extLst>
      <p:ext uri="{BB962C8B-B14F-4D97-AF65-F5344CB8AC3E}">
        <p14:creationId xmlns:p14="http://schemas.microsoft.com/office/powerpoint/2010/main" val="71123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6AC4A-5831-5147-5D3D-D21C45D84583}"/>
              </a:ext>
            </a:extLst>
          </p:cNvPr>
          <p:cNvSpPr>
            <a:spLocks noGrp="1"/>
          </p:cNvSpPr>
          <p:nvPr>
            <p:ph type="title"/>
          </p:nvPr>
        </p:nvSpPr>
        <p:spPr/>
        <p:txBody>
          <a:bodyPr/>
          <a:lstStyle/>
          <a:p>
            <a:r>
              <a:rPr lang="en-US" dirty="0" err="1"/>
              <a:t>preattentive</a:t>
            </a:r>
            <a:r>
              <a:rPr lang="en-US" dirty="0"/>
              <a:t> Magic</a:t>
            </a:r>
          </a:p>
        </p:txBody>
      </p:sp>
      <p:sp>
        <p:nvSpPr>
          <p:cNvPr id="3" name="Content Placeholder 2">
            <a:extLst>
              <a:ext uri="{FF2B5EF4-FFF2-40B4-BE49-F238E27FC236}">
                <a16:creationId xmlns:a16="http://schemas.microsoft.com/office/drawing/2014/main" id="{C8E4981B-6013-81D9-E6ED-A9FC50DA02D5}"/>
              </a:ext>
            </a:extLst>
          </p:cNvPr>
          <p:cNvSpPr>
            <a:spLocks noGrp="1"/>
          </p:cNvSpPr>
          <p:nvPr>
            <p:ph idx="1"/>
          </p:nvPr>
        </p:nvSpPr>
        <p:spPr>
          <a:xfrm>
            <a:off x="1451579" y="2015732"/>
            <a:ext cx="9603275" cy="3984546"/>
          </a:xfrm>
        </p:spPr>
        <p:txBody>
          <a:bodyPr/>
          <a:lstStyle/>
          <a:p>
            <a:r>
              <a:rPr lang="en-US" dirty="0"/>
              <a:t>The use of </a:t>
            </a:r>
            <a:r>
              <a:rPr lang="en-US" dirty="0" err="1"/>
              <a:t>preattentive</a:t>
            </a:r>
            <a:r>
              <a:rPr lang="en-US" dirty="0"/>
              <a:t> attributes is a shortcut to building understanding. </a:t>
            </a:r>
          </a:p>
          <a:p>
            <a:r>
              <a:rPr lang="en-US" dirty="0"/>
              <a:t>We can utilize visual attributes to guide a reader’s attention. </a:t>
            </a:r>
          </a:p>
          <a:p>
            <a:pPr lvl="1"/>
            <a:r>
              <a:rPr lang="en-US" dirty="0"/>
              <a:t>We can do so without forcing them to consciously think about it – no stress!</a:t>
            </a:r>
          </a:p>
          <a:p>
            <a:pPr lvl="1"/>
            <a:r>
              <a:rPr lang="en-US" dirty="0"/>
              <a:t>Doing this well can make reading complex visualizations feel more effortless. </a:t>
            </a:r>
          </a:p>
        </p:txBody>
      </p:sp>
    </p:spTree>
    <p:extLst>
      <p:ext uri="{BB962C8B-B14F-4D97-AF65-F5344CB8AC3E}">
        <p14:creationId xmlns:p14="http://schemas.microsoft.com/office/powerpoint/2010/main" val="5341881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588323" y="1576463"/>
            <a:ext cx="11037630" cy="473206"/>
          </a:xfrm>
        </p:spPr>
        <p:txBody>
          <a:bodyPr/>
          <a:lstStyle/>
          <a:p>
            <a:r>
              <a:rPr lang="en-US" dirty="0"/>
              <a:t>The Building Blocks of Data Visualization</a:t>
            </a:r>
          </a:p>
        </p:txBody>
      </p:sp>
    </p:spTree>
    <p:extLst>
      <p:ext uri="{BB962C8B-B14F-4D97-AF65-F5344CB8AC3E}">
        <p14:creationId xmlns:p14="http://schemas.microsoft.com/office/powerpoint/2010/main" val="4252492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We are born with an enhanced </a:t>
            </a:r>
            <a:br>
              <a:rPr lang="en-US" dirty="0"/>
            </a:br>
            <a:r>
              <a:rPr lang="en-US" dirty="0"/>
              <a:t>visual path to cognition</a:t>
            </a:r>
          </a:p>
        </p:txBody>
      </p:sp>
      <p:sp>
        <p:nvSpPr>
          <p:cNvPr id="16386" name="Rectangle 2"/>
          <p:cNvSpPr>
            <a:spLocks noGrp="1" noChangeArrowheads="1"/>
          </p:cNvSpPr>
          <p:nvPr>
            <p:ph idx="1"/>
          </p:nvPr>
        </p:nvSpPr>
        <p:spPr>
          <a:xfrm>
            <a:off x="1451579" y="2015732"/>
            <a:ext cx="9603275" cy="4037749"/>
          </a:xfrm>
          <a:prstGeom prst="rect">
            <a:avLst/>
          </a:prstGeom>
        </p:spPr>
        <p:txBody>
          <a:bodyPr>
            <a:normAutofit fontScale="92500"/>
          </a:bodyPr>
          <a:lstStyle/>
          <a:p>
            <a:pPr marL="331510" lvl="1" indent="-380985" defTabSz="914363">
              <a:defRPr/>
            </a:pPr>
            <a:r>
              <a:rPr lang="en-US" sz="2500" dirty="0"/>
              <a:t>Approximately 70% of sense receptors are in our eyes</a:t>
            </a:r>
          </a:p>
          <a:p>
            <a:pPr marL="331510" lvl="1" indent="-380985" defTabSz="914363">
              <a:defRPr/>
            </a:pPr>
            <a:r>
              <a:rPr lang="en-US" sz="2500" dirty="0"/>
              <a:t>40% of the cerebral cortex is involved in processing visual information</a:t>
            </a:r>
          </a:p>
          <a:p>
            <a:pPr marL="331510" lvl="1" indent="-380985" defTabSz="914363">
              <a:defRPr/>
            </a:pPr>
            <a:r>
              <a:rPr lang="en-US" sz="2500" dirty="0"/>
              <a:t>The visual connection to the brain has more bandwidth than other paths</a:t>
            </a:r>
          </a:p>
          <a:p>
            <a:pPr marL="331510" lvl="1" indent="-380985" defTabSz="914363">
              <a:defRPr/>
            </a:pPr>
            <a:r>
              <a:rPr lang="en-US" sz="2500" dirty="0"/>
              <a:t>Visual perception is intimately connected to understanding</a:t>
            </a:r>
          </a:p>
          <a:p>
            <a:pPr marL="331510" lvl="1" indent="-380985" defTabSz="914363">
              <a:defRPr/>
            </a:pPr>
            <a:r>
              <a:rPr lang="en-US" sz="2500" dirty="0"/>
              <a:t>This is reflected in language</a:t>
            </a:r>
          </a:p>
          <a:p>
            <a:pPr marL="419348" lvl="2" indent="0" defTabSz="914363">
              <a:buNone/>
              <a:defRPr/>
            </a:pPr>
            <a:r>
              <a:rPr lang="en-US" sz="2500" dirty="0"/>
              <a:t>- “I see what you’re talking about…”</a:t>
            </a:r>
            <a:endParaRPr lang="en-US" altLang="ja-JP" sz="2500" dirty="0"/>
          </a:p>
          <a:p>
            <a:pPr marL="419348" lvl="2" indent="0" defTabSz="914363">
              <a:buNone/>
              <a:defRPr/>
            </a:pPr>
            <a:r>
              <a:rPr lang="en-US" sz="2500" dirty="0"/>
              <a:t>- “Sketch out the idea…”</a:t>
            </a:r>
          </a:p>
          <a:p>
            <a:pPr marL="419348" lvl="2" indent="0" defTabSz="914363">
              <a:buNone/>
              <a:defRPr/>
            </a:pPr>
            <a:r>
              <a:rPr lang="en-US" sz="2500" dirty="0"/>
              <a:t>- “Seeing is believing</a:t>
            </a:r>
            <a:r>
              <a:rPr lang="en-US" sz="2600" dirty="0"/>
              <a:t>…”</a:t>
            </a:r>
          </a:p>
        </p:txBody>
      </p:sp>
    </p:spTree>
    <p:extLst>
      <p:ext uri="{BB962C8B-B14F-4D97-AF65-F5344CB8AC3E}">
        <p14:creationId xmlns:p14="http://schemas.microsoft.com/office/powerpoint/2010/main" val="17209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dirty="0"/>
              <a:t>Our brain is powerful…</a:t>
            </a:r>
            <a:br>
              <a:rPr lang="en-US" sz="4000" dirty="0"/>
            </a:br>
            <a:r>
              <a:rPr lang="en-US" sz="4000" dirty="0"/>
              <a:t>but working memory is limited</a:t>
            </a:r>
            <a:endParaRPr lang="en-US" dirty="0"/>
          </a:p>
        </p:txBody>
      </p:sp>
      <p:sp>
        <p:nvSpPr>
          <p:cNvPr id="16386" name="Rectangle 2"/>
          <p:cNvSpPr>
            <a:spLocks noGrp="1" noChangeArrowheads="1"/>
          </p:cNvSpPr>
          <p:nvPr>
            <p:ph idx="1"/>
          </p:nvPr>
        </p:nvSpPr>
        <p:spPr>
          <a:xfrm>
            <a:off x="1451579" y="2015732"/>
            <a:ext cx="9603275" cy="4037749"/>
          </a:xfrm>
          <a:prstGeom prst="rect">
            <a:avLst/>
          </a:prstGeom>
        </p:spPr>
        <p:txBody>
          <a:bodyPr>
            <a:normAutofit/>
          </a:bodyPr>
          <a:lstStyle/>
          <a:p>
            <a:pPr marL="331510" lvl="1" indent="-380985" defTabSz="914363">
              <a:defRPr/>
            </a:pPr>
            <a:r>
              <a:rPr lang="en-US" sz="2000" dirty="0"/>
              <a:t>Long-term memory is very important</a:t>
            </a:r>
          </a:p>
          <a:p>
            <a:pPr marL="331510" lvl="1" indent="-380985" defTabSz="914363">
              <a:defRPr/>
            </a:pPr>
            <a:r>
              <a:rPr lang="en-US" sz="2000" dirty="0"/>
              <a:t>Working memory limited to a small number of “chunks”</a:t>
            </a:r>
          </a:p>
          <a:p>
            <a:pPr marL="788710" lvl="2" indent="-380985" defTabSz="914363">
              <a:defRPr/>
            </a:pPr>
            <a:r>
              <a:rPr lang="en-US" sz="2000" dirty="0"/>
              <a:t>I’ve heard people can typically remember 7 +/- 2 things, but I don’t have a citation. </a:t>
            </a:r>
          </a:p>
          <a:p>
            <a:pPr marL="331510" lvl="1" indent="-380985" defTabSz="914363">
              <a:defRPr/>
            </a:pPr>
            <a:r>
              <a:rPr lang="en-US" sz="2000" dirty="0"/>
              <a:t>Visualization allows us to consolidate complex statistics so we can process more data simultaneously (seeing the forest along with the trees)</a:t>
            </a:r>
          </a:p>
          <a:p>
            <a:pPr marL="331510" lvl="1" indent="-380985" defTabSz="914363">
              <a:defRPr/>
            </a:pPr>
            <a:r>
              <a:rPr lang="en-US" sz="2000" dirty="0"/>
              <a:t>The picture is not the end goal – It’s what we do with it that is important</a:t>
            </a:r>
          </a:p>
          <a:p>
            <a:pPr marL="419348" lvl="2" indent="0" defTabSz="914363">
              <a:buNone/>
              <a:defRPr/>
            </a:pPr>
            <a:endParaRPr lang="en-US" sz="2000" dirty="0"/>
          </a:p>
        </p:txBody>
      </p:sp>
    </p:spTree>
    <p:extLst>
      <p:ext uri="{BB962C8B-B14F-4D97-AF65-F5344CB8AC3E}">
        <p14:creationId xmlns:p14="http://schemas.microsoft.com/office/powerpoint/2010/main" val="3875666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E3A36-0DCF-99DF-6FC5-0EFCB40DC342}"/>
              </a:ext>
            </a:extLst>
          </p:cNvPr>
          <p:cNvSpPr>
            <a:spLocks noGrp="1"/>
          </p:cNvSpPr>
          <p:nvPr>
            <p:ph type="title"/>
          </p:nvPr>
        </p:nvSpPr>
        <p:spPr/>
        <p:txBody>
          <a:bodyPr/>
          <a:lstStyle/>
          <a:p>
            <a:r>
              <a:rPr lang="en-US" dirty="0"/>
              <a:t>Making sense of our visual world…</a:t>
            </a:r>
            <a:br>
              <a:rPr lang="en-US" dirty="0"/>
            </a:br>
            <a:endParaRPr lang="en-US" dirty="0"/>
          </a:p>
        </p:txBody>
      </p:sp>
      <p:sp>
        <p:nvSpPr>
          <p:cNvPr id="5" name="Rectangle 1"/>
          <p:cNvSpPr>
            <a:spLocks noGrp="1" noChangeArrowheads="1"/>
          </p:cNvSpPr>
          <p:nvPr>
            <p:ph idx="1"/>
          </p:nvPr>
        </p:nvSpPr>
        <p:spPr>
          <a:prstGeom prst="rect">
            <a:avLst/>
          </a:prstGeom>
        </p:spPr>
        <p:txBody>
          <a:bodyPr>
            <a:normAutofit/>
          </a:bodyPr>
          <a:lstStyle/>
          <a:p>
            <a:pPr marL="251774" indent="0">
              <a:buNone/>
              <a:defRPr/>
            </a:pPr>
            <a:r>
              <a:rPr lang="en-US" i="1" baseline="30000" dirty="0">
                <a:solidFill>
                  <a:schemeClr val="accent5"/>
                </a:solidFill>
              </a:rPr>
              <a:t>We </a:t>
            </a:r>
          </a:p>
        </p:txBody>
      </p:sp>
      <p:sp>
        <p:nvSpPr>
          <p:cNvPr id="7" name="Rectangle 1"/>
          <p:cNvSpPr txBox="1">
            <a:spLocks noChangeArrowheads="1"/>
          </p:cNvSpPr>
          <p:nvPr/>
        </p:nvSpPr>
        <p:spPr bwMode="auto">
          <a:xfrm>
            <a:off x="2610134" y="1865194"/>
            <a:ext cx="3429000" cy="1600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a:solidFill>
                  <a:srgbClr val="080808"/>
                </a:solidFill>
                <a:latin typeface="Calibri"/>
                <a:ea typeface="+mn-ea"/>
                <a:cs typeface="Calibri"/>
              </a:defRPr>
            </a:lvl1pPr>
            <a:lvl2pPr marL="742950" indent="-285750" algn="l" rtl="0" eaLnBrk="1" fontAlgn="base" hangingPunct="1">
              <a:spcBef>
                <a:spcPct val="20000"/>
              </a:spcBef>
              <a:spcAft>
                <a:spcPct val="0"/>
              </a:spcAft>
              <a:buChar char="–"/>
              <a:defRPr sz="2400" b="1">
                <a:solidFill>
                  <a:srgbClr val="080808"/>
                </a:solidFill>
                <a:latin typeface="Calibri"/>
                <a:cs typeface="Calibri"/>
              </a:defRPr>
            </a:lvl2pPr>
            <a:lvl3pPr marL="1143000" indent="-228600" algn="l" rtl="0" eaLnBrk="1" fontAlgn="base" hangingPunct="1">
              <a:spcBef>
                <a:spcPct val="20000"/>
              </a:spcBef>
              <a:spcAft>
                <a:spcPct val="0"/>
              </a:spcAft>
              <a:buChar char="•"/>
              <a:defRPr sz="2400">
                <a:solidFill>
                  <a:srgbClr val="080808"/>
                </a:solidFill>
                <a:latin typeface="Calibri"/>
                <a:cs typeface="Calibri"/>
              </a:defRPr>
            </a:lvl3pPr>
            <a:lvl4pPr marL="1600200" indent="-228600" algn="l" rtl="0" eaLnBrk="1" fontAlgn="base" hangingPunct="1">
              <a:spcBef>
                <a:spcPct val="20000"/>
              </a:spcBef>
              <a:spcAft>
                <a:spcPct val="0"/>
              </a:spcAft>
              <a:buChar char="–"/>
              <a:defRPr sz="2000">
                <a:solidFill>
                  <a:srgbClr val="080808"/>
                </a:solidFill>
                <a:latin typeface="Calibri"/>
                <a:cs typeface="Calibri"/>
              </a:defRPr>
            </a:lvl4pPr>
            <a:lvl5pPr marL="2057400" indent="-228600" algn="l" rtl="0" eaLnBrk="1" fontAlgn="base" hangingPunct="1">
              <a:spcBef>
                <a:spcPct val="20000"/>
              </a:spcBef>
              <a:spcAft>
                <a:spcPct val="0"/>
              </a:spcAft>
              <a:buChar char="»"/>
              <a:defRPr sz="2000">
                <a:solidFill>
                  <a:srgbClr val="080808"/>
                </a:solidFill>
                <a:latin typeface="Calibri"/>
                <a:cs typeface="Calibri"/>
              </a:defRPr>
            </a:lvl5pPr>
            <a:lvl6pPr marL="2514600" indent="-228600" algn="l" rtl="0" eaLnBrk="1" fontAlgn="base" hangingPunct="1">
              <a:spcBef>
                <a:spcPct val="20000"/>
              </a:spcBef>
              <a:spcAft>
                <a:spcPct val="0"/>
              </a:spcAft>
              <a:buChar char="»"/>
              <a:defRPr sz="2000">
                <a:solidFill>
                  <a:srgbClr val="080808"/>
                </a:solidFill>
                <a:latin typeface="+mn-lt"/>
              </a:defRPr>
            </a:lvl6pPr>
            <a:lvl7pPr marL="2971800" indent="-228600" algn="l" rtl="0" eaLnBrk="1" fontAlgn="base" hangingPunct="1">
              <a:spcBef>
                <a:spcPct val="20000"/>
              </a:spcBef>
              <a:spcAft>
                <a:spcPct val="0"/>
              </a:spcAft>
              <a:buChar char="»"/>
              <a:defRPr sz="2000">
                <a:solidFill>
                  <a:srgbClr val="080808"/>
                </a:solidFill>
                <a:latin typeface="+mn-lt"/>
              </a:defRPr>
            </a:lvl7pPr>
            <a:lvl8pPr marL="3429000" indent="-228600" algn="l" rtl="0" eaLnBrk="1" fontAlgn="base" hangingPunct="1">
              <a:spcBef>
                <a:spcPct val="20000"/>
              </a:spcBef>
              <a:spcAft>
                <a:spcPct val="0"/>
              </a:spcAft>
              <a:buChar char="»"/>
              <a:defRPr sz="2000">
                <a:solidFill>
                  <a:srgbClr val="080808"/>
                </a:solidFill>
                <a:latin typeface="+mn-lt"/>
              </a:defRPr>
            </a:lvl8pPr>
            <a:lvl9pPr marL="3886200" indent="-228600" algn="l" rtl="0" eaLnBrk="1" fontAlgn="base" hangingPunct="1">
              <a:spcBef>
                <a:spcPct val="20000"/>
              </a:spcBef>
              <a:spcAft>
                <a:spcPct val="0"/>
              </a:spcAft>
              <a:buChar char="»"/>
              <a:defRPr sz="2000">
                <a:solidFill>
                  <a:srgbClr val="080808"/>
                </a:solidFill>
                <a:latin typeface="+mn-lt"/>
              </a:defRPr>
            </a:lvl9pPr>
          </a:lstStyle>
          <a:p>
            <a:pPr marL="937547" lvl="1" defTabSz="914363">
              <a:defRPr/>
            </a:pPr>
            <a:r>
              <a:rPr lang="en-US" sz="2083" dirty="0">
                <a:latin typeface="Merriweather Light"/>
              </a:rPr>
              <a:t>Shape</a:t>
            </a:r>
          </a:p>
          <a:p>
            <a:pPr marL="937547" lvl="1" defTabSz="914363">
              <a:defRPr/>
            </a:pPr>
            <a:r>
              <a:rPr lang="en-US" sz="2083" dirty="0">
                <a:latin typeface="Merriweather Light"/>
              </a:rPr>
              <a:t>Orientation</a:t>
            </a:r>
          </a:p>
          <a:p>
            <a:pPr marL="937547" lvl="1" defTabSz="914363">
              <a:defRPr/>
            </a:pPr>
            <a:r>
              <a:rPr lang="en-US" sz="2083" dirty="0">
                <a:latin typeface="Merriweather Light"/>
              </a:rPr>
              <a:t>Color</a:t>
            </a:r>
          </a:p>
        </p:txBody>
      </p:sp>
      <p:sp>
        <p:nvSpPr>
          <p:cNvPr id="10" name="Rectangle 1"/>
          <p:cNvSpPr txBox="1">
            <a:spLocks noChangeArrowheads="1"/>
          </p:cNvSpPr>
          <p:nvPr/>
        </p:nvSpPr>
        <p:spPr bwMode="auto">
          <a:xfrm>
            <a:off x="4543567" y="1865194"/>
            <a:ext cx="3429000" cy="1600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a:solidFill>
                  <a:srgbClr val="080808"/>
                </a:solidFill>
                <a:latin typeface="Calibri"/>
                <a:ea typeface="+mn-ea"/>
                <a:cs typeface="Calibri"/>
              </a:defRPr>
            </a:lvl1pPr>
            <a:lvl2pPr marL="742950" indent="-285750" algn="l" rtl="0" eaLnBrk="1" fontAlgn="base" hangingPunct="1">
              <a:spcBef>
                <a:spcPct val="20000"/>
              </a:spcBef>
              <a:spcAft>
                <a:spcPct val="0"/>
              </a:spcAft>
              <a:buChar char="–"/>
              <a:defRPr sz="2400" b="1">
                <a:solidFill>
                  <a:srgbClr val="080808"/>
                </a:solidFill>
                <a:latin typeface="Calibri"/>
                <a:cs typeface="Calibri"/>
              </a:defRPr>
            </a:lvl2pPr>
            <a:lvl3pPr marL="1143000" indent="-228600" algn="l" rtl="0" eaLnBrk="1" fontAlgn="base" hangingPunct="1">
              <a:spcBef>
                <a:spcPct val="20000"/>
              </a:spcBef>
              <a:spcAft>
                <a:spcPct val="0"/>
              </a:spcAft>
              <a:buChar char="•"/>
              <a:defRPr sz="2400">
                <a:solidFill>
                  <a:srgbClr val="080808"/>
                </a:solidFill>
                <a:latin typeface="Calibri"/>
                <a:cs typeface="Calibri"/>
              </a:defRPr>
            </a:lvl3pPr>
            <a:lvl4pPr marL="1600200" indent="-228600" algn="l" rtl="0" eaLnBrk="1" fontAlgn="base" hangingPunct="1">
              <a:spcBef>
                <a:spcPct val="20000"/>
              </a:spcBef>
              <a:spcAft>
                <a:spcPct val="0"/>
              </a:spcAft>
              <a:buChar char="–"/>
              <a:defRPr sz="2000">
                <a:solidFill>
                  <a:srgbClr val="080808"/>
                </a:solidFill>
                <a:latin typeface="Calibri"/>
                <a:cs typeface="Calibri"/>
              </a:defRPr>
            </a:lvl4pPr>
            <a:lvl5pPr marL="2057400" indent="-228600" algn="l" rtl="0" eaLnBrk="1" fontAlgn="base" hangingPunct="1">
              <a:spcBef>
                <a:spcPct val="20000"/>
              </a:spcBef>
              <a:spcAft>
                <a:spcPct val="0"/>
              </a:spcAft>
              <a:buChar char="»"/>
              <a:defRPr sz="2000">
                <a:solidFill>
                  <a:srgbClr val="080808"/>
                </a:solidFill>
                <a:latin typeface="Calibri"/>
                <a:cs typeface="Calibri"/>
              </a:defRPr>
            </a:lvl5pPr>
            <a:lvl6pPr marL="2514600" indent="-228600" algn="l" rtl="0" eaLnBrk="1" fontAlgn="base" hangingPunct="1">
              <a:spcBef>
                <a:spcPct val="20000"/>
              </a:spcBef>
              <a:spcAft>
                <a:spcPct val="0"/>
              </a:spcAft>
              <a:buChar char="»"/>
              <a:defRPr sz="2000">
                <a:solidFill>
                  <a:srgbClr val="080808"/>
                </a:solidFill>
                <a:latin typeface="+mn-lt"/>
              </a:defRPr>
            </a:lvl6pPr>
            <a:lvl7pPr marL="2971800" indent="-228600" algn="l" rtl="0" eaLnBrk="1" fontAlgn="base" hangingPunct="1">
              <a:spcBef>
                <a:spcPct val="20000"/>
              </a:spcBef>
              <a:spcAft>
                <a:spcPct val="0"/>
              </a:spcAft>
              <a:buChar char="»"/>
              <a:defRPr sz="2000">
                <a:solidFill>
                  <a:srgbClr val="080808"/>
                </a:solidFill>
                <a:latin typeface="+mn-lt"/>
              </a:defRPr>
            </a:lvl7pPr>
            <a:lvl8pPr marL="3429000" indent="-228600" algn="l" rtl="0" eaLnBrk="1" fontAlgn="base" hangingPunct="1">
              <a:spcBef>
                <a:spcPct val="20000"/>
              </a:spcBef>
              <a:spcAft>
                <a:spcPct val="0"/>
              </a:spcAft>
              <a:buChar char="»"/>
              <a:defRPr sz="2000">
                <a:solidFill>
                  <a:srgbClr val="080808"/>
                </a:solidFill>
                <a:latin typeface="+mn-lt"/>
              </a:defRPr>
            </a:lvl8pPr>
            <a:lvl9pPr marL="3886200" indent="-228600" algn="l" rtl="0" eaLnBrk="1" fontAlgn="base" hangingPunct="1">
              <a:spcBef>
                <a:spcPct val="20000"/>
              </a:spcBef>
              <a:spcAft>
                <a:spcPct val="0"/>
              </a:spcAft>
              <a:buChar char="»"/>
              <a:defRPr sz="2000">
                <a:solidFill>
                  <a:srgbClr val="080808"/>
                </a:solidFill>
                <a:latin typeface="+mn-lt"/>
              </a:defRPr>
            </a:lvl9pPr>
          </a:lstStyle>
          <a:p>
            <a:pPr marL="937547" lvl="1" defTabSz="914363">
              <a:defRPr/>
            </a:pPr>
            <a:r>
              <a:rPr lang="en-US" sz="2083" dirty="0">
                <a:latin typeface="Merriweather Light"/>
              </a:rPr>
              <a:t>Texture</a:t>
            </a:r>
          </a:p>
          <a:p>
            <a:pPr marL="937547" lvl="1" defTabSz="914363">
              <a:defRPr/>
            </a:pPr>
            <a:r>
              <a:rPr lang="en-US" sz="2083" dirty="0">
                <a:latin typeface="Merriweather Light"/>
              </a:rPr>
              <a:t>Value</a:t>
            </a:r>
          </a:p>
          <a:p>
            <a:pPr marL="937547" lvl="1" defTabSz="914363">
              <a:defRPr/>
            </a:pPr>
            <a:r>
              <a:rPr lang="en-US" sz="2083" dirty="0">
                <a:latin typeface="Merriweather Light"/>
              </a:rPr>
              <a:t>Size</a:t>
            </a:r>
          </a:p>
        </p:txBody>
      </p:sp>
      <p:sp>
        <p:nvSpPr>
          <p:cNvPr id="11" name="Rectangle 1"/>
          <p:cNvSpPr txBox="1">
            <a:spLocks noChangeArrowheads="1"/>
          </p:cNvSpPr>
          <p:nvPr/>
        </p:nvSpPr>
        <p:spPr bwMode="auto">
          <a:xfrm>
            <a:off x="-119683" y="4331033"/>
            <a:ext cx="7696200" cy="76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a:solidFill>
                  <a:srgbClr val="080808"/>
                </a:solidFill>
                <a:latin typeface="Calibri"/>
                <a:ea typeface="+mn-ea"/>
                <a:cs typeface="Calibri"/>
              </a:defRPr>
            </a:lvl1pPr>
            <a:lvl2pPr marL="742950" indent="-285750" algn="l" rtl="0" eaLnBrk="1" fontAlgn="base" hangingPunct="1">
              <a:spcBef>
                <a:spcPct val="20000"/>
              </a:spcBef>
              <a:spcAft>
                <a:spcPct val="0"/>
              </a:spcAft>
              <a:buChar char="–"/>
              <a:defRPr sz="2400" b="1">
                <a:solidFill>
                  <a:srgbClr val="080808"/>
                </a:solidFill>
                <a:latin typeface="Calibri"/>
                <a:cs typeface="Calibri"/>
              </a:defRPr>
            </a:lvl2pPr>
            <a:lvl3pPr marL="1143000" indent="-228600" algn="l" rtl="0" eaLnBrk="1" fontAlgn="base" hangingPunct="1">
              <a:spcBef>
                <a:spcPct val="20000"/>
              </a:spcBef>
              <a:spcAft>
                <a:spcPct val="0"/>
              </a:spcAft>
              <a:buChar char="•"/>
              <a:defRPr sz="2400">
                <a:solidFill>
                  <a:srgbClr val="080808"/>
                </a:solidFill>
                <a:latin typeface="Calibri"/>
                <a:cs typeface="Calibri"/>
              </a:defRPr>
            </a:lvl3pPr>
            <a:lvl4pPr marL="1600200" indent="-228600" algn="l" rtl="0" eaLnBrk="1" fontAlgn="base" hangingPunct="1">
              <a:spcBef>
                <a:spcPct val="20000"/>
              </a:spcBef>
              <a:spcAft>
                <a:spcPct val="0"/>
              </a:spcAft>
              <a:buChar char="–"/>
              <a:defRPr sz="2000">
                <a:solidFill>
                  <a:srgbClr val="080808"/>
                </a:solidFill>
                <a:latin typeface="Calibri"/>
                <a:cs typeface="Calibri"/>
              </a:defRPr>
            </a:lvl4pPr>
            <a:lvl5pPr marL="2057400" indent="-228600" algn="l" rtl="0" eaLnBrk="1" fontAlgn="base" hangingPunct="1">
              <a:spcBef>
                <a:spcPct val="20000"/>
              </a:spcBef>
              <a:spcAft>
                <a:spcPct val="0"/>
              </a:spcAft>
              <a:buChar char="»"/>
              <a:defRPr sz="2000">
                <a:solidFill>
                  <a:srgbClr val="080808"/>
                </a:solidFill>
                <a:latin typeface="Calibri"/>
                <a:cs typeface="Calibri"/>
              </a:defRPr>
            </a:lvl5pPr>
            <a:lvl6pPr marL="2514600" indent="-228600" algn="l" rtl="0" eaLnBrk="1" fontAlgn="base" hangingPunct="1">
              <a:spcBef>
                <a:spcPct val="20000"/>
              </a:spcBef>
              <a:spcAft>
                <a:spcPct val="0"/>
              </a:spcAft>
              <a:buChar char="»"/>
              <a:defRPr sz="2000">
                <a:solidFill>
                  <a:srgbClr val="080808"/>
                </a:solidFill>
                <a:latin typeface="+mn-lt"/>
              </a:defRPr>
            </a:lvl6pPr>
            <a:lvl7pPr marL="2971800" indent="-228600" algn="l" rtl="0" eaLnBrk="1" fontAlgn="base" hangingPunct="1">
              <a:spcBef>
                <a:spcPct val="20000"/>
              </a:spcBef>
              <a:spcAft>
                <a:spcPct val="0"/>
              </a:spcAft>
              <a:buChar char="»"/>
              <a:defRPr sz="2000">
                <a:solidFill>
                  <a:srgbClr val="080808"/>
                </a:solidFill>
                <a:latin typeface="+mn-lt"/>
              </a:defRPr>
            </a:lvl7pPr>
            <a:lvl8pPr marL="3429000" indent="-228600" algn="l" rtl="0" eaLnBrk="1" fontAlgn="base" hangingPunct="1">
              <a:spcBef>
                <a:spcPct val="20000"/>
              </a:spcBef>
              <a:spcAft>
                <a:spcPct val="0"/>
              </a:spcAft>
              <a:buChar char="»"/>
              <a:defRPr sz="2000">
                <a:solidFill>
                  <a:srgbClr val="080808"/>
                </a:solidFill>
                <a:latin typeface="+mn-lt"/>
              </a:defRPr>
            </a:lvl8pPr>
            <a:lvl9pPr marL="3886200" indent="-228600" algn="l" rtl="0" eaLnBrk="1" fontAlgn="base" hangingPunct="1">
              <a:spcBef>
                <a:spcPct val="20000"/>
              </a:spcBef>
              <a:spcAft>
                <a:spcPct val="0"/>
              </a:spcAft>
              <a:buChar char="»"/>
              <a:defRPr sz="2000">
                <a:solidFill>
                  <a:srgbClr val="080808"/>
                </a:solidFill>
                <a:latin typeface="+mn-lt"/>
              </a:defRPr>
            </a:lvl9pPr>
          </a:lstStyle>
          <a:p>
            <a:pPr marL="251774" indent="0" defTabSz="914363">
              <a:buNone/>
              <a:defRPr/>
            </a:pPr>
            <a:r>
              <a:rPr lang="en-US" sz="2000" i="1" dirty="0">
                <a:latin typeface="Merriweather Light"/>
              </a:rPr>
              <a:t>Based on the contemporary preponderance of digital technology, these factors have also become critical:</a:t>
            </a:r>
            <a:endParaRPr lang="en-US" i="1" dirty="0">
              <a:latin typeface="Merriweather Light"/>
            </a:endParaRPr>
          </a:p>
        </p:txBody>
      </p:sp>
      <p:sp>
        <p:nvSpPr>
          <p:cNvPr id="12" name="Rectangle 1"/>
          <p:cNvSpPr txBox="1">
            <a:spLocks noChangeArrowheads="1"/>
          </p:cNvSpPr>
          <p:nvPr/>
        </p:nvSpPr>
        <p:spPr bwMode="auto">
          <a:xfrm>
            <a:off x="2382762" y="5141414"/>
            <a:ext cx="8305800" cy="1600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a:solidFill>
                  <a:srgbClr val="080808"/>
                </a:solidFill>
                <a:latin typeface="Calibri"/>
                <a:ea typeface="+mn-ea"/>
                <a:cs typeface="Calibri"/>
              </a:defRPr>
            </a:lvl1pPr>
            <a:lvl2pPr marL="742950" indent="-285750" algn="l" rtl="0" eaLnBrk="1" fontAlgn="base" hangingPunct="1">
              <a:spcBef>
                <a:spcPct val="20000"/>
              </a:spcBef>
              <a:spcAft>
                <a:spcPct val="0"/>
              </a:spcAft>
              <a:buChar char="–"/>
              <a:defRPr sz="2400" b="1">
                <a:solidFill>
                  <a:srgbClr val="080808"/>
                </a:solidFill>
                <a:latin typeface="Calibri"/>
                <a:cs typeface="Calibri"/>
              </a:defRPr>
            </a:lvl2pPr>
            <a:lvl3pPr marL="1143000" indent="-228600" algn="l" rtl="0" eaLnBrk="1" fontAlgn="base" hangingPunct="1">
              <a:spcBef>
                <a:spcPct val="20000"/>
              </a:spcBef>
              <a:spcAft>
                <a:spcPct val="0"/>
              </a:spcAft>
              <a:buChar char="•"/>
              <a:defRPr sz="2400">
                <a:solidFill>
                  <a:srgbClr val="080808"/>
                </a:solidFill>
                <a:latin typeface="Calibri"/>
                <a:cs typeface="Calibri"/>
              </a:defRPr>
            </a:lvl3pPr>
            <a:lvl4pPr marL="1600200" indent="-228600" algn="l" rtl="0" eaLnBrk="1" fontAlgn="base" hangingPunct="1">
              <a:spcBef>
                <a:spcPct val="20000"/>
              </a:spcBef>
              <a:spcAft>
                <a:spcPct val="0"/>
              </a:spcAft>
              <a:buChar char="–"/>
              <a:defRPr sz="2000">
                <a:solidFill>
                  <a:srgbClr val="080808"/>
                </a:solidFill>
                <a:latin typeface="Calibri"/>
                <a:cs typeface="Calibri"/>
              </a:defRPr>
            </a:lvl4pPr>
            <a:lvl5pPr marL="2057400" indent="-228600" algn="l" rtl="0" eaLnBrk="1" fontAlgn="base" hangingPunct="1">
              <a:spcBef>
                <a:spcPct val="20000"/>
              </a:spcBef>
              <a:spcAft>
                <a:spcPct val="0"/>
              </a:spcAft>
              <a:buChar char="»"/>
              <a:defRPr sz="2000">
                <a:solidFill>
                  <a:srgbClr val="080808"/>
                </a:solidFill>
                <a:latin typeface="Calibri"/>
                <a:cs typeface="Calibri"/>
              </a:defRPr>
            </a:lvl5pPr>
            <a:lvl6pPr marL="2514600" indent="-228600" algn="l" rtl="0" eaLnBrk="1" fontAlgn="base" hangingPunct="1">
              <a:spcBef>
                <a:spcPct val="20000"/>
              </a:spcBef>
              <a:spcAft>
                <a:spcPct val="0"/>
              </a:spcAft>
              <a:buChar char="»"/>
              <a:defRPr sz="2000">
                <a:solidFill>
                  <a:srgbClr val="080808"/>
                </a:solidFill>
                <a:latin typeface="+mn-lt"/>
              </a:defRPr>
            </a:lvl6pPr>
            <a:lvl7pPr marL="2971800" indent="-228600" algn="l" rtl="0" eaLnBrk="1" fontAlgn="base" hangingPunct="1">
              <a:spcBef>
                <a:spcPct val="20000"/>
              </a:spcBef>
              <a:spcAft>
                <a:spcPct val="0"/>
              </a:spcAft>
              <a:buChar char="»"/>
              <a:defRPr sz="2000">
                <a:solidFill>
                  <a:srgbClr val="080808"/>
                </a:solidFill>
                <a:latin typeface="+mn-lt"/>
              </a:defRPr>
            </a:lvl7pPr>
            <a:lvl8pPr marL="3429000" indent="-228600" algn="l" rtl="0" eaLnBrk="1" fontAlgn="base" hangingPunct="1">
              <a:spcBef>
                <a:spcPct val="20000"/>
              </a:spcBef>
              <a:spcAft>
                <a:spcPct val="0"/>
              </a:spcAft>
              <a:buChar char="»"/>
              <a:defRPr sz="2000">
                <a:solidFill>
                  <a:srgbClr val="080808"/>
                </a:solidFill>
                <a:latin typeface="+mn-lt"/>
              </a:defRPr>
            </a:lvl8pPr>
            <a:lvl9pPr marL="3886200" indent="-228600" algn="l" rtl="0" eaLnBrk="1" fontAlgn="base" hangingPunct="1">
              <a:spcBef>
                <a:spcPct val="20000"/>
              </a:spcBef>
              <a:spcAft>
                <a:spcPct val="0"/>
              </a:spcAft>
              <a:buChar char="»"/>
              <a:defRPr sz="2000">
                <a:solidFill>
                  <a:srgbClr val="080808"/>
                </a:solidFill>
                <a:latin typeface="+mn-lt"/>
              </a:defRPr>
            </a:lvl9pPr>
          </a:lstStyle>
          <a:p>
            <a:pPr marL="937547" lvl="1" defTabSz="914363">
              <a:defRPr/>
            </a:pPr>
            <a:r>
              <a:rPr lang="en-US" sz="2083" dirty="0">
                <a:latin typeface="Merriweather Light"/>
              </a:rPr>
              <a:t>Motion</a:t>
            </a:r>
            <a:r>
              <a:rPr lang="en-US" sz="2083" b="0" dirty="0">
                <a:latin typeface="Merriweather Light"/>
              </a:rPr>
              <a:t> – animated presentation of frames of data</a:t>
            </a:r>
          </a:p>
          <a:p>
            <a:pPr marL="937547" lvl="1" defTabSz="914363">
              <a:defRPr/>
            </a:pPr>
            <a:r>
              <a:rPr lang="en-US" sz="2083" dirty="0">
                <a:latin typeface="Merriweather Light"/>
              </a:rPr>
              <a:t>Medium </a:t>
            </a:r>
            <a:r>
              <a:rPr lang="en-US" sz="2083" b="0" dirty="0">
                <a:latin typeface="Merriweather Light"/>
              </a:rPr>
              <a:t>– the physical strata on which data is displayed</a:t>
            </a:r>
          </a:p>
          <a:p>
            <a:pPr marL="937547" lvl="1" defTabSz="914363">
              <a:defRPr/>
            </a:pPr>
            <a:r>
              <a:rPr lang="en-US" sz="2083" dirty="0">
                <a:latin typeface="Merriweather Light"/>
              </a:rPr>
              <a:t>Context</a:t>
            </a:r>
            <a:r>
              <a:rPr lang="en-US" sz="2083" b="0" dirty="0">
                <a:latin typeface="Merriweather Light"/>
              </a:rPr>
              <a:t> – the sensory and emotional environment</a:t>
            </a:r>
          </a:p>
        </p:txBody>
      </p:sp>
      <p:sp>
        <p:nvSpPr>
          <p:cNvPr id="9" name="Rectangle 1"/>
          <p:cNvSpPr txBox="1">
            <a:spLocks noChangeArrowheads="1"/>
          </p:cNvSpPr>
          <p:nvPr/>
        </p:nvSpPr>
        <p:spPr bwMode="auto">
          <a:xfrm>
            <a:off x="2367886" y="3158779"/>
            <a:ext cx="7924800" cy="990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a:solidFill>
                  <a:srgbClr val="080808"/>
                </a:solidFill>
                <a:latin typeface="Calibri"/>
                <a:ea typeface="+mn-ea"/>
                <a:cs typeface="Calibri"/>
              </a:defRPr>
            </a:lvl1pPr>
            <a:lvl2pPr marL="742950" indent="-285750" algn="l" rtl="0" eaLnBrk="1" fontAlgn="base" hangingPunct="1">
              <a:spcBef>
                <a:spcPct val="20000"/>
              </a:spcBef>
              <a:spcAft>
                <a:spcPct val="0"/>
              </a:spcAft>
              <a:buChar char="–"/>
              <a:defRPr sz="2400" b="1">
                <a:solidFill>
                  <a:srgbClr val="080808"/>
                </a:solidFill>
                <a:latin typeface="Calibri"/>
                <a:cs typeface="Calibri"/>
              </a:defRPr>
            </a:lvl2pPr>
            <a:lvl3pPr marL="1143000" indent="-228600" algn="l" rtl="0" eaLnBrk="1" fontAlgn="base" hangingPunct="1">
              <a:spcBef>
                <a:spcPct val="20000"/>
              </a:spcBef>
              <a:spcAft>
                <a:spcPct val="0"/>
              </a:spcAft>
              <a:buChar char="•"/>
              <a:defRPr sz="2400">
                <a:solidFill>
                  <a:srgbClr val="080808"/>
                </a:solidFill>
                <a:latin typeface="Calibri"/>
                <a:cs typeface="Calibri"/>
              </a:defRPr>
            </a:lvl3pPr>
            <a:lvl4pPr marL="1600200" indent="-228600" algn="l" rtl="0" eaLnBrk="1" fontAlgn="base" hangingPunct="1">
              <a:spcBef>
                <a:spcPct val="20000"/>
              </a:spcBef>
              <a:spcAft>
                <a:spcPct val="0"/>
              </a:spcAft>
              <a:buChar char="–"/>
              <a:defRPr sz="2000">
                <a:solidFill>
                  <a:srgbClr val="080808"/>
                </a:solidFill>
                <a:latin typeface="Calibri"/>
                <a:cs typeface="Calibri"/>
              </a:defRPr>
            </a:lvl4pPr>
            <a:lvl5pPr marL="2057400" indent="-228600" algn="l" rtl="0" eaLnBrk="1" fontAlgn="base" hangingPunct="1">
              <a:spcBef>
                <a:spcPct val="20000"/>
              </a:spcBef>
              <a:spcAft>
                <a:spcPct val="0"/>
              </a:spcAft>
              <a:buChar char="»"/>
              <a:defRPr sz="2000">
                <a:solidFill>
                  <a:srgbClr val="080808"/>
                </a:solidFill>
                <a:latin typeface="Calibri"/>
                <a:cs typeface="Calibri"/>
              </a:defRPr>
            </a:lvl5pPr>
            <a:lvl6pPr marL="2514600" indent="-228600" algn="l" rtl="0" eaLnBrk="1" fontAlgn="base" hangingPunct="1">
              <a:spcBef>
                <a:spcPct val="20000"/>
              </a:spcBef>
              <a:spcAft>
                <a:spcPct val="0"/>
              </a:spcAft>
              <a:buChar char="»"/>
              <a:defRPr sz="2000">
                <a:solidFill>
                  <a:srgbClr val="080808"/>
                </a:solidFill>
                <a:latin typeface="+mn-lt"/>
              </a:defRPr>
            </a:lvl6pPr>
            <a:lvl7pPr marL="2971800" indent="-228600" algn="l" rtl="0" eaLnBrk="1" fontAlgn="base" hangingPunct="1">
              <a:spcBef>
                <a:spcPct val="20000"/>
              </a:spcBef>
              <a:spcAft>
                <a:spcPct val="0"/>
              </a:spcAft>
              <a:buChar char="»"/>
              <a:defRPr sz="2000">
                <a:solidFill>
                  <a:srgbClr val="080808"/>
                </a:solidFill>
                <a:latin typeface="+mn-lt"/>
              </a:defRPr>
            </a:lvl7pPr>
            <a:lvl8pPr marL="3429000" indent="-228600" algn="l" rtl="0" eaLnBrk="1" fontAlgn="base" hangingPunct="1">
              <a:spcBef>
                <a:spcPct val="20000"/>
              </a:spcBef>
              <a:spcAft>
                <a:spcPct val="0"/>
              </a:spcAft>
              <a:buChar char="»"/>
              <a:defRPr sz="2000">
                <a:solidFill>
                  <a:srgbClr val="080808"/>
                </a:solidFill>
                <a:latin typeface="+mn-lt"/>
              </a:defRPr>
            </a:lvl8pPr>
            <a:lvl9pPr marL="3886200" indent="-228600" algn="l" rtl="0" eaLnBrk="1" fontAlgn="base" hangingPunct="1">
              <a:spcBef>
                <a:spcPct val="20000"/>
              </a:spcBef>
              <a:spcAft>
                <a:spcPct val="0"/>
              </a:spcAft>
              <a:buChar char="»"/>
              <a:defRPr sz="2000">
                <a:solidFill>
                  <a:srgbClr val="080808"/>
                </a:solidFill>
                <a:latin typeface="+mn-lt"/>
              </a:defRPr>
            </a:lvl9pPr>
          </a:lstStyle>
          <a:p>
            <a:pPr marL="651808" lvl="1" indent="0" defTabSz="914363">
              <a:buNone/>
              <a:defRPr/>
            </a:pPr>
            <a:r>
              <a:rPr lang="en-US" sz="2083" b="0" dirty="0">
                <a:latin typeface="Merriweather Light"/>
              </a:rPr>
              <a:t>…and the two planar dimensions (x and y)</a:t>
            </a:r>
            <a:br>
              <a:rPr lang="en-US" sz="2083" b="0" dirty="0">
                <a:latin typeface="Merriweather Light"/>
              </a:rPr>
            </a:br>
            <a:r>
              <a:rPr lang="en-US" sz="2083" b="0" dirty="0">
                <a:latin typeface="Merriweather Light"/>
              </a:rPr>
              <a:t>which are encoded in </a:t>
            </a:r>
            <a:r>
              <a:rPr lang="en-US" sz="2083" dirty="0">
                <a:latin typeface="Merriweather Light"/>
              </a:rPr>
              <a:t>Position </a:t>
            </a:r>
            <a:r>
              <a:rPr lang="en-US" sz="2083" b="0" dirty="0">
                <a:latin typeface="Merriweather Light"/>
              </a:rPr>
              <a:t>and</a:t>
            </a:r>
            <a:r>
              <a:rPr lang="en-US" sz="2083" dirty="0">
                <a:latin typeface="Merriweather Light"/>
              </a:rPr>
              <a:t> Order.</a:t>
            </a:r>
          </a:p>
        </p:txBody>
      </p:sp>
    </p:spTree>
    <p:extLst>
      <p:ext uri="{BB962C8B-B14F-4D97-AF65-F5344CB8AC3E}">
        <p14:creationId xmlns:p14="http://schemas.microsoft.com/office/powerpoint/2010/main" val="1859016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76D46-874D-0680-BBD0-1B8FEB8B7CE1}"/>
              </a:ext>
            </a:extLst>
          </p:cNvPr>
          <p:cNvSpPr>
            <a:spLocks noGrp="1"/>
          </p:cNvSpPr>
          <p:nvPr>
            <p:ph type="title"/>
          </p:nvPr>
        </p:nvSpPr>
        <p:spPr/>
        <p:txBody>
          <a:bodyPr/>
          <a:lstStyle/>
          <a:p>
            <a:r>
              <a:rPr lang="en-US" dirty="0"/>
              <a:t>Use our </a:t>
            </a:r>
            <a:r>
              <a:rPr lang="en-US" dirty="0" err="1"/>
              <a:t>PreWiring</a:t>
            </a:r>
            <a:endParaRPr lang="en-US" dirty="0"/>
          </a:p>
        </p:txBody>
      </p:sp>
      <p:sp>
        <p:nvSpPr>
          <p:cNvPr id="3" name="Content Placeholder 2">
            <a:extLst>
              <a:ext uri="{FF2B5EF4-FFF2-40B4-BE49-F238E27FC236}">
                <a16:creationId xmlns:a16="http://schemas.microsoft.com/office/drawing/2014/main" id="{39B284ED-2E00-A138-13DF-45F68807EA32}"/>
              </a:ext>
            </a:extLst>
          </p:cNvPr>
          <p:cNvSpPr>
            <a:spLocks noGrp="1"/>
          </p:cNvSpPr>
          <p:nvPr>
            <p:ph idx="1"/>
          </p:nvPr>
        </p:nvSpPr>
        <p:spPr>
          <a:xfrm>
            <a:off x="1451579" y="1942155"/>
            <a:ext cx="9603275" cy="4111325"/>
          </a:xfrm>
        </p:spPr>
        <p:txBody>
          <a:bodyPr/>
          <a:lstStyle/>
          <a:p>
            <a:r>
              <a:rPr lang="en-US" dirty="0"/>
              <a:t>We are prewired to digest things visually, notably:</a:t>
            </a:r>
          </a:p>
          <a:p>
            <a:pPr lvl="1"/>
            <a:r>
              <a:rPr lang="en-US" dirty="0"/>
              <a:t>Shape, Orientation, Color, Texture, Value, Size and Position (</a:t>
            </a:r>
            <a:r>
              <a:rPr lang="en-US" dirty="0" err="1"/>
              <a:t>x,y</a:t>
            </a:r>
            <a:r>
              <a:rPr lang="en-US" dirty="0"/>
              <a:t>). </a:t>
            </a:r>
          </a:p>
          <a:p>
            <a:pPr lvl="1"/>
            <a:r>
              <a:rPr lang="en-US" dirty="0"/>
              <a:t>Also - Motion, context, and medium. </a:t>
            </a:r>
          </a:p>
          <a:p>
            <a:r>
              <a:rPr lang="en-US" dirty="0"/>
              <a:t>All of these things are what we can control in a tool like Tableau. </a:t>
            </a:r>
          </a:p>
          <a:p>
            <a:pPr lvl="1"/>
            <a:r>
              <a:rPr lang="en-US" dirty="0"/>
              <a:t>Take in large amounts of data. </a:t>
            </a:r>
          </a:p>
          <a:p>
            <a:pPr lvl="1"/>
            <a:r>
              <a:rPr lang="en-US" dirty="0"/>
              <a:t>Process, filter, organize it to get the valuable bits (info, knowledge) out. </a:t>
            </a:r>
          </a:p>
          <a:p>
            <a:pPr lvl="1"/>
            <a:r>
              <a:rPr lang="en-US" dirty="0"/>
              <a:t>Present that data in a way that is digestible by the user. </a:t>
            </a:r>
          </a:p>
          <a:p>
            <a:pPr lvl="2"/>
            <a:r>
              <a:rPr lang="en-US" dirty="0"/>
              <a:t>Use visual attributes to make that as easy and low effort as possible. </a:t>
            </a:r>
          </a:p>
          <a:p>
            <a:pPr lvl="1"/>
            <a:endParaRPr lang="en-US" dirty="0"/>
          </a:p>
          <a:p>
            <a:pPr lvl="1"/>
            <a:endParaRPr lang="en-US" dirty="0"/>
          </a:p>
        </p:txBody>
      </p:sp>
    </p:spTree>
    <p:extLst>
      <p:ext uri="{BB962C8B-B14F-4D97-AF65-F5344CB8AC3E}">
        <p14:creationId xmlns:p14="http://schemas.microsoft.com/office/powerpoint/2010/main" val="25294689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43434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5" name="Oval 4"/>
          <p:cNvSpPr/>
          <p:nvPr/>
        </p:nvSpPr>
        <p:spPr>
          <a:xfrm>
            <a:off x="43434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6" name="Oval 5"/>
          <p:cNvSpPr/>
          <p:nvPr/>
        </p:nvSpPr>
        <p:spPr>
          <a:xfrm>
            <a:off x="43434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7" name="Oval 6"/>
          <p:cNvSpPr/>
          <p:nvPr/>
        </p:nvSpPr>
        <p:spPr>
          <a:xfrm>
            <a:off x="43434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8" name="Oval 7"/>
          <p:cNvSpPr/>
          <p:nvPr/>
        </p:nvSpPr>
        <p:spPr>
          <a:xfrm>
            <a:off x="43434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9" name="Oval 8"/>
          <p:cNvSpPr/>
          <p:nvPr/>
        </p:nvSpPr>
        <p:spPr>
          <a:xfrm>
            <a:off x="43434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0" name="Oval 9"/>
          <p:cNvSpPr/>
          <p:nvPr/>
        </p:nvSpPr>
        <p:spPr>
          <a:xfrm>
            <a:off x="49530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1" name="Oval 10"/>
          <p:cNvSpPr/>
          <p:nvPr/>
        </p:nvSpPr>
        <p:spPr>
          <a:xfrm>
            <a:off x="49530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2" name="Oval 11"/>
          <p:cNvSpPr/>
          <p:nvPr/>
        </p:nvSpPr>
        <p:spPr>
          <a:xfrm>
            <a:off x="49530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3" name="Oval 12"/>
          <p:cNvSpPr/>
          <p:nvPr/>
        </p:nvSpPr>
        <p:spPr>
          <a:xfrm>
            <a:off x="49530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4" name="Oval 13"/>
          <p:cNvSpPr/>
          <p:nvPr/>
        </p:nvSpPr>
        <p:spPr>
          <a:xfrm>
            <a:off x="49530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5" name="Oval 14"/>
          <p:cNvSpPr/>
          <p:nvPr/>
        </p:nvSpPr>
        <p:spPr>
          <a:xfrm>
            <a:off x="49530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6" name="Oval 15"/>
          <p:cNvSpPr/>
          <p:nvPr/>
        </p:nvSpPr>
        <p:spPr>
          <a:xfrm>
            <a:off x="55626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7" name="Oval 16"/>
          <p:cNvSpPr/>
          <p:nvPr/>
        </p:nvSpPr>
        <p:spPr>
          <a:xfrm>
            <a:off x="55626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8" name="Oval 17"/>
          <p:cNvSpPr/>
          <p:nvPr/>
        </p:nvSpPr>
        <p:spPr>
          <a:xfrm>
            <a:off x="55626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9" name="Oval 18"/>
          <p:cNvSpPr/>
          <p:nvPr/>
        </p:nvSpPr>
        <p:spPr>
          <a:xfrm>
            <a:off x="55626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0" name="Oval 19"/>
          <p:cNvSpPr/>
          <p:nvPr/>
        </p:nvSpPr>
        <p:spPr>
          <a:xfrm>
            <a:off x="55626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1" name="Oval 20"/>
          <p:cNvSpPr/>
          <p:nvPr/>
        </p:nvSpPr>
        <p:spPr>
          <a:xfrm>
            <a:off x="55626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2" name="Oval 21"/>
          <p:cNvSpPr/>
          <p:nvPr/>
        </p:nvSpPr>
        <p:spPr>
          <a:xfrm>
            <a:off x="61722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3" name="Oval 22"/>
          <p:cNvSpPr/>
          <p:nvPr/>
        </p:nvSpPr>
        <p:spPr>
          <a:xfrm>
            <a:off x="61722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5" name="Oval 24"/>
          <p:cNvSpPr/>
          <p:nvPr/>
        </p:nvSpPr>
        <p:spPr>
          <a:xfrm>
            <a:off x="61722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6" name="Oval 25"/>
          <p:cNvSpPr/>
          <p:nvPr/>
        </p:nvSpPr>
        <p:spPr>
          <a:xfrm>
            <a:off x="61722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7" name="Oval 26"/>
          <p:cNvSpPr/>
          <p:nvPr/>
        </p:nvSpPr>
        <p:spPr>
          <a:xfrm>
            <a:off x="61722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8" name="Oval 27"/>
          <p:cNvSpPr/>
          <p:nvPr/>
        </p:nvSpPr>
        <p:spPr>
          <a:xfrm>
            <a:off x="67818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9" name="Oval 28"/>
          <p:cNvSpPr/>
          <p:nvPr/>
        </p:nvSpPr>
        <p:spPr>
          <a:xfrm>
            <a:off x="67818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0" name="Oval 29"/>
          <p:cNvSpPr/>
          <p:nvPr/>
        </p:nvSpPr>
        <p:spPr>
          <a:xfrm>
            <a:off x="67818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1" name="Oval 30"/>
          <p:cNvSpPr/>
          <p:nvPr/>
        </p:nvSpPr>
        <p:spPr>
          <a:xfrm>
            <a:off x="67818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2" name="Oval 31"/>
          <p:cNvSpPr/>
          <p:nvPr/>
        </p:nvSpPr>
        <p:spPr>
          <a:xfrm>
            <a:off x="67818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3" name="Oval 32"/>
          <p:cNvSpPr/>
          <p:nvPr/>
        </p:nvSpPr>
        <p:spPr>
          <a:xfrm>
            <a:off x="67818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4" name="Oval 33"/>
          <p:cNvSpPr/>
          <p:nvPr/>
        </p:nvSpPr>
        <p:spPr>
          <a:xfrm>
            <a:off x="73914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5" name="Oval 34"/>
          <p:cNvSpPr/>
          <p:nvPr/>
        </p:nvSpPr>
        <p:spPr>
          <a:xfrm>
            <a:off x="73914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6" name="Oval 35"/>
          <p:cNvSpPr/>
          <p:nvPr/>
        </p:nvSpPr>
        <p:spPr>
          <a:xfrm>
            <a:off x="73914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7" name="Oval 36"/>
          <p:cNvSpPr/>
          <p:nvPr/>
        </p:nvSpPr>
        <p:spPr>
          <a:xfrm>
            <a:off x="73914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8" name="Oval 37"/>
          <p:cNvSpPr/>
          <p:nvPr/>
        </p:nvSpPr>
        <p:spPr>
          <a:xfrm>
            <a:off x="73914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9" name="Oval 38"/>
          <p:cNvSpPr/>
          <p:nvPr/>
        </p:nvSpPr>
        <p:spPr>
          <a:xfrm>
            <a:off x="73914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1" name="Oval 40"/>
          <p:cNvSpPr/>
          <p:nvPr/>
        </p:nvSpPr>
        <p:spPr>
          <a:xfrm>
            <a:off x="61722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0" name="Title 1"/>
          <p:cNvSpPr txBox="1">
            <a:spLocks/>
          </p:cNvSpPr>
          <p:nvPr/>
        </p:nvSpPr>
        <p:spPr bwMode="auto">
          <a:xfrm>
            <a:off x="2" y="664288"/>
            <a:ext cx="12191999" cy="525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spAutoFit/>
          </a:bodyPr>
          <a:lst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a:lstStyle>
          <a:p>
            <a:pPr algn="ctr" defTabSz="1087351"/>
            <a:r>
              <a:rPr lang="en-US" sz="4167" dirty="0"/>
              <a:t>Some Data</a:t>
            </a:r>
          </a:p>
        </p:txBody>
      </p:sp>
    </p:spTree>
    <p:extLst>
      <p:ext uri="{BB962C8B-B14F-4D97-AF65-F5344CB8AC3E}">
        <p14:creationId xmlns:p14="http://schemas.microsoft.com/office/powerpoint/2010/main" val="357816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43434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5" name="Oval 4"/>
          <p:cNvSpPr/>
          <p:nvPr/>
        </p:nvSpPr>
        <p:spPr>
          <a:xfrm>
            <a:off x="43434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6" name="Oval 5"/>
          <p:cNvSpPr/>
          <p:nvPr/>
        </p:nvSpPr>
        <p:spPr>
          <a:xfrm>
            <a:off x="43434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7" name="Oval 6"/>
          <p:cNvSpPr/>
          <p:nvPr/>
        </p:nvSpPr>
        <p:spPr>
          <a:xfrm>
            <a:off x="43434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8" name="Oval 7"/>
          <p:cNvSpPr/>
          <p:nvPr/>
        </p:nvSpPr>
        <p:spPr>
          <a:xfrm>
            <a:off x="43434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9" name="Oval 8"/>
          <p:cNvSpPr/>
          <p:nvPr/>
        </p:nvSpPr>
        <p:spPr>
          <a:xfrm>
            <a:off x="43434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0" name="Oval 9"/>
          <p:cNvSpPr/>
          <p:nvPr/>
        </p:nvSpPr>
        <p:spPr>
          <a:xfrm>
            <a:off x="49530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1" name="Oval 10"/>
          <p:cNvSpPr/>
          <p:nvPr/>
        </p:nvSpPr>
        <p:spPr>
          <a:xfrm>
            <a:off x="49530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2" name="Oval 11"/>
          <p:cNvSpPr/>
          <p:nvPr/>
        </p:nvSpPr>
        <p:spPr>
          <a:xfrm>
            <a:off x="49530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3" name="Oval 12"/>
          <p:cNvSpPr/>
          <p:nvPr/>
        </p:nvSpPr>
        <p:spPr>
          <a:xfrm>
            <a:off x="49530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4" name="Oval 13"/>
          <p:cNvSpPr/>
          <p:nvPr/>
        </p:nvSpPr>
        <p:spPr>
          <a:xfrm>
            <a:off x="49530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5" name="Oval 14"/>
          <p:cNvSpPr/>
          <p:nvPr/>
        </p:nvSpPr>
        <p:spPr>
          <a:xfrm>
            <a:off x="49530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6" name="Oval 15"/>
          <p:cNvSpPr/>
          <p:nvPr/>
        </p:nvSpPr>
        <p:spPr>
          <a:xfrm>
            <a:off x="55626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7" name="Oval 16"/>
          <p:cNvSpPr/>
          <p:nvPr/>
        </p:nvSpPr>
        <p:spPr>
          <a:xfrm>
            <a:off x="55626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8" name="Oval 17"/>
          <p:cNvSpPr/>
          <p:nvPr/>
        </p:nvSpPr>
        <p:spPr>
          <a:xfrm>
            <a:off x="55626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9" name="Oval 18"/>
          <p:cNvSpPr/>
          <p:nvPr/>
        </p:nvSpPr>
        <p:spPr>
          <a:xfrm>
            <a:off x="55626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0" name="Oval 19"/>
          <p:cNvSpPr/>
          <p:nvPr/>
        </p:nvSpPr>
        <p:spPr>
          <a:xfrm>
            <a:off x="55626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1" name="Oval 20"/>
          <p:cNvSpPr/>
          <p:nvPr/>
        </p:nvSpPr>
        <p:spPr>
          <a:xfrm>
            <a:off x="55626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2" name="Oval 21"/>
          <p:cNvSpPr/>
          <p:nvPr/>
        </p:nvSpPr>
        <p:spPr>
          <a:xfrm>
            <a:off x="61722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3" name="Oval 22"/>
          <p:cNvSpPr/>
          <p:nvPr/>
        </p:nvSpPr>
        <p:spPr>
          <a:xfrm>
            <a:off x="61722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5" name="Oval 24"/>
          <p:cNvSpPr/>
          <p:nvPr/>
        </p:nvSpPr>
        <p:spPr>
          <a:xfrm>
            <a:off x="61722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6" name="Oval 25"/>
          <p:cNvSpPr/>
          <p:nvPr/>
        </p:nvSpPr>
        <p:spPr>
          <a:xfrm>
            <a:off x="61722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7" name="Oval 26"/>
          <p:cNvSpPr/>
          <p:nvPr/>
        </p:nvSpPr>
        <p:spPr>
          <a:xfrm>
            <a:off x="61722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8" name="Oval 27"/>
          <p:cNvSpPr/>
          <p:nvPr/>
        </p:nvSpPr>
        <p:spPr>
          <a:xfrm>
            <a:off x="67818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9" name="Oval 28"/>
          <p:cNvSpPr/>
          <p:nvPr/>
        </p:nvSpPr>
        <p:spPr>
          <a:xfrm>
            <a:off x="67818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0" name="Oval 29"/>
          <p:cNvSpPr/>
          <p:nvPr/>
        </p:nvSpPr>
        <p:spPr>
          <a:xfrm>
            <a:off x="67818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1" name="Oval 30"/>
          <p:cNvSpPr/>
          <p:nvPr/>
        </p:nvSpPr>
        <p:spPr>
          <a:xfrm>
            <a:off x="67818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2" name="Oval 31"/>
          <p:cNvSpPr/>
          <p:nvPr/>
        </p:nvSpPr>
        <p:spPr>
          <a:xfrm>
            <a:off x="67818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3" name="Oval 32"/>
          <p:cNvSpPr/>
          <p:nvPr/>
        </p:nvSpPr>
        <p:spPr>
          <a:xfrm>
            <a:off x="67818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4" name="Oval 33"/>
          <p:cNvSpPr/>
          <p:nvPr/>
        </p:nvSpPr>
        <p:spPr>
          <a:xfrm>
            <a:off x="73914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5" name="Oval 34"/>
          <p:cNvSpPr/>
          <p:nvPr/>
        </p:nvSpPr>
        <p:spPr>
          <a:xfrm>
            <a:off x="73914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6" name="Oval 35"/>
          <p:cNvSpPr/>
          <p:nvPr/>
        </p:nvSpPr>
        <p:spPr>
          <a:xfrm>
            <a:off x="73914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7" name="Oval 36"/>
          <p:cNvSpPr/>
          <p:nvPr/>
        </p:nvSpPr>
        <p:spPr>
          <a:xfrm>
            <a:off x="73914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8" name="Oval 37"/>
          <p:cNvSpPr/>
          <p:nvPr/>
        </p:nvSpPr>
        <p:spPr>
          <a:xfrm>
            <a:off x="73914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9" name="Oval 38"/>
          <p:cNvSpPr/>
          <p:nvPr/>
        </p:nvSpPr>
        <p:spPr>
          <a:xfrm>
            <a:off x="73914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0" name="Isosceles Triangle 39"/>
          <p:cNvSpPr/>
          <p:nvPr/>
        </p:nvSpPr>
        <p:spPr>
          <a:xfrm>
            <a:off x="6172200" y="2895600"/>
            <a:ext cx="457200" cy="457200"/>
          </a:xfrm>
          <a:prstGeom prst="triangle">
            <a:avLst/>
          </a:prstGeom>
          <a:solidFill>
            <a:srgbClr val="5B6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1" name="Title 1"/>
          <p:cNvSpPr txBox="1">
            <a:spLocks/>
          </p:cNvSpPr>
          <p:nvPr/>
        </p:nvSpPr>
        <p:spPr bwMode="auto">
          <a:xfrm>
            <a:off x="2" y="664288"/>
            <a:ext cx="12191999" cy="525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spAutoFit/>
          </a:bodyPr>
          <a:lst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a:lstStyle>
          <a:p>
            <a:pPr algn="ctr" defTabSz="1087351"/>
            <a:r>
              <a:rPr lang="en-US" sz="4167"/>
              <a:t>Shape</a:t>
            </a:r>
            <a:endParaRPr lang="en-US" sz="4167" dirty="0"/>
          </a:p>
        </p:txBody>
      </p:sp>
    </p:spTree>
    <p:extLst>
      <p:ext uri="{BB962C8B-B14F-4D97-AF65-F5344CB8AC3E}">
        <p14:creationId xmlns:p14="http://schemas.microsoft.com/office/powerpoint/2010/main" val="1031461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43434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5" name="Oval 4"/>
          <p:cNvSpPr/>
          <p:nvPr/>
        </p:nvSpPr>
        <p:spPr>
          <a:xfrm>
            <a:off x="43434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6" name="Oval 5"/>
          <p:cNvSpPr/>
          <p:nvPr/>
        </p:nvSpPr>
        <p:spPr>
          <a:xfrm>
            <a:off x="43434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7" name="Oval 6"/>
          <p:cNvSpPr/>
          <p:nvPr/>
        </p:nvSpPr>
        <p:spPr>
          <a:xfrm>
            <a:off x="43434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8" name="Oval 7"/>
          <p:cNvSpPr/>
          <p:nvPr/>
        </p:nvSpPr>
        <p:spPr>
          <a:xfrm>
            <a:off x="43434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9" name="Oval 8"/>
          <p:cNvSpPr/>
          <p:nvPr/>
        </p:nvSpPr>
        <p:spPr>
          <a:xfrm>
            <a:off x="43434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0" name="Oval 9"/>
          <p:cNvSpPr/>
          <p:nvPr/>
        </p:nvSpPr>
        <p:spPr>
          <a:xfrm>
            <a:off x="49530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1" name="Oval 10"/>
          <p:cNvSpPr/>
          <p:nvPr/>
        </p:nvSpPr>
        <p:spPr>
          <a:xfrm>
            <a:off x="49530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2" name="Oval 11"/>
          <p:cNvSpPr/>
          <p:nvPr/>
        </p:nvSpPr>
        <p:spPr>
          <a:xfrm>
            <a:off x="49530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3" name="Oval 12"/>
          <p:cNvSpPr/>
          <p:nvPr/>
        </p:nvSpPr>
        <p:spPr>
          <a:xfrm>
            <a:off x="49530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4" name="Oval 13"/>
          <p:cNvSpPr/>
          <p:nvPr/>
        </p:nvSpPr>
        <p:spPr>
          <a:xfrm>
            <a:off x="49530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5" name="Oval 14"/>
          <p:cNvSpPr/>
          <p:nvPr/>
        </p:nvSpPr>
        <p:spPr>
          <a:xfrm>
            <a:off x="49530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6" name="Oval 15"/>
          <p:cNvSpPr/>
          <p:nvPr/>
        </p:nvSpPr>
        <p:spPr>
          <a:xfrm>
            <a:off x="55626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7" name="Oval 16"/>
          <p:cNvSpPr/>
          <p:nvPr/>
        </p:nvSpPr>
        <p:spPr>
          <a:xfrm>
            <a:off x="55626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8" name="Oval 17"/>
          <p:cNvSpPr/>
          <p:nvPr/>
        </p:nvSpPr>
        <p:spPr>
          <a:xfrm>
            <a:off x="55626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9" name="Oval 18"/>
          <p:cNvSpPr/>
          <p:nvPr/>
        </p:nvSpPr>
        <p:spPr>
          <a:xfrm>
            <a:off x="55626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0" name="Oval 19"/>
          <p:cNvSpPr/>
          <p:nvPr/>
        </p:nvSpPr>
        <p:spPr>
          <a:xfrm>
            <a:off x="55626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1" name="Oval 20"/>
          <p:cNvSpPr/>
          <p:nvPr/>
        </p:nvSpPr>
        <p:spPr>
          <a:xfrm>
            <a:off x="55626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2" name="Oval 21"/>
          <p:cNvSpPr/>
          <p:nvPr/>
        </p:nvSpPr>
        <p:spPr>
          <a:xfrm>
            <a:off x="61722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3" name="Oval 22"/>
          <p:cNvSpPr/>
          <p:nvPr/>
        </p:nvSpPr>
        <p:spPr>
          <a:xfrm>
            <a:off x="61722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5" name="Oval 24"/>
          <p:cNvSpPr/>
          <p:nvPr/>
        </p:nvSpPr>
        <p:spPr>
          <a:xfrm>
            <a:off x="61722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6" name="Oval 25"/>
          <p:cNvSpPr/>
          <p:nvPr/>
        </p:nvSpPr>
        <p:spPr>
          <a:xfrm>
            <a:off x="61722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7" name="Oval 26"/>
          <p:cNvSpPr/>
          <p:nvPr/>
        </p:nvSpPr>
        <p:spPr>
          <a:xfrm>
            <a:off x="61722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8" name="Oval 27"/>
          <p:cNvSpPr/>
          <p:nvPr/>
        </p:nvSpPr>
        <p:spPr>
          <a:xfrm>
            <a:off x="67818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9" name="Oval 28"/>
          <p:cNvSpPr/>
          <p:nvPr/>
        </p:nvSpPr>
        <p:spPr>
          <a:xfrm>
            <a:off x="67818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0" name="Oval 29"/>
          <p:cNvSpPr/>
          <p:nvPr/>
        </p:nvSpPr>
        <p:spPr>
          <a:xfrm>
            <a:off x="67818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1" name="Oval 30"/>
          <p:cNvSpPr/>
          <p:nvPr/>
        </p:nvSpPr>
        <p:spPr>
          <a:xfrm>
            <a:off x="67818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2" name="Oval 31"/>
          <p:cNvSpPr/>
          <p:nvPr/>
        </p:nvSpPr>
        <p:spPr>
          <a:xfrm>
            <a:off x="6781800" y="4114800"/>
            <a:ext cx="457200" cy="457200"/>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3" name="Oval 32"/>
          <p:cNvSpPr/>
          <p:nvPr/>
        </p:nvSpPr>
        <p:spPr>
          <a:xfrm>
            <a:off x="67818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4" name="Oval 33"/>
          <p:cNvSpPr/>
          <p:nvPr/>
        </p:nvSpPr>
        <p:spPr>
          <a:xfrm>
            <a:off x="73914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5" name="Oval 34"/>
          <p:cNvSpPr/>
          <p:nvPr/>
        </p:nvSpPr>
        <p:spPr>
          <a:xfrm>
            <a:off x="73914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6" name="Oval 35"/>
          <p:cNvSpPr/>
          <p:nvPr/>
        </p:nvSpPr>
        <p:spPr>
          <a:xfrm>
            <a:off x="73914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7" name="Oval 36"/>
          <p:cNvSpPr/>
          <p:nvPr/>
        </p:nvSpPr>
        <p:spPr>
          <a:xfrm>
            <a:off x="73914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8" name="Oval 37"/>
          <p:cNvSpPr/>
          <p:nvPr/>
        </p:nvSpPr>
        <p:spPr>
          <a:xfrm>
            <a:off x="73914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9" name="Oval 38"/>
          <p:cNvSpPr/>
          <p:nvPr/>
        </p:nvSpPr>
        <p:spPr>
          <a:xfrm>
            <a:off x="73914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1" name="Oval 40"/>
          <p:cNvSpPr/>
          <p:nvPr/>
        </p:nvSpPr>
        <p:spPr>
          <a:xfrm>
            <a:off x="61722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0" name="Title 1"/>
          <p:cNvSpPr txBox="1">
            <a:spLocks/>
          </p:cNvSpPr>
          <p:nvPr/>
        </p:nvSpPr>
        <p:spPr bwMode="auto">
          <a:xfrm>
            <a:off x="2" y="664288"/>
            <a:ext cx="12191999" cy="525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spAutoFit/>
          </a:bodyPr>
          <a:lst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a:lstStyle>
          <a:p>
            <a:pPr algn="ctr" defTabSz="1087351"/>
            <a:r>
              <a:rPr lang="en-US" sz="4167" dirty="0"/>
              <a:t>Color (Hue)</a:t>
            </a:r>
          </a:p>
        </p:txBody>
      </p:sp>
    </p:spTree>
    <p:extLst>
      <p:ext uri="{BB962C8B-B14F-4D97-AF65-F5344CB8AC3E}">
        <p14:creationId xmlns:p14="http://schemas.microsoft.com/office/powerpoint/2010/main" val="392463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43400" y="1676400"/>
            <a:ext cx="457200" cy="457200"/>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5" name="Rectangle 4"/>
          <p:cNvSpPr/>
          <p:nvPr/>
        </p:nvSpPr>
        <p:spPr>
          <a:xfrm>
            <a:off x="4343400" y="3505200"/>
            <a:ext cx="457200" cy="457200"/>
          </a:xfrm>
          <a:prstGeom prst="rect">
            <a:avLst/>
          </a:prstGeom>
          <a:solidFill>
            <a:srgbClr val="E2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0" name="Rectangle 9"/>
          <p:cNvSpPr/>
          <p:nvPr/>
        </p:nvSpPr>
        <p:spPr>
          <a:xfrm>
            <a:off x="4953000" y="1676400"/>
            <a:ext cx="457200" cy="4572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1" name="Rectangle 10"/>
          <p:cNvSpPr/>
          <p:nvPr/>
        </p:nvSpPr>
        <p:spPr>
          <a:xfrm>
            <a:off x="4953000" y="3505200"/>
            <a:ext cx="457200" cy="457200"/>
          </a:xfrm>
          <a:prstGeom prst="rect">
            <a:avLst/>
          </a:prstGeom>
          <a:solidFill>
            <a:srgbClr val="C1C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0" name="Rectangle 19"/>
          <p:cNvSpPr/>
          <p:nvPr/>
        </p:nvSpPr>
        <p:spPr>
          <a:xfrm>
            <a:off x="5562600" y="3505200"/>
            <a:ext cx="457200" cy="457200"/>
          </a:xfrm>
          <a:prstGeom prst="rect">
            <a:avLst/>
          </a:prstGeom>
          <a:solidFill>
            <a:srgbClr val="87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1" name="Rectangle 20"/>
          <p:cNvSpPr/>
          <p:nvPr/>
        </p:nvSpPr>
        <p:spPr>
          <a:xfrm>
            <a:off x="5562600" y="1676400"/>
            <a:ext cx="457200" cy="457200"/>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2" name="Rectangle 21"/>
          <p:cNvSpPr/>
          <p:nvPr/>
        </p:nvSpPr>
        <p:spPr>
          <a:xfrm>
            <a:off x="6172200" y="1676400"/>
            <a:ext cx="457200" cy="45720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8" name="Rectangle 27"/>
          <p:cNvSpPr/>
          <p:nvPr/>
        </p:nvSpPr>
        <p:spPr>
          <a:xfrm>
            <a:off x="6781800" y="1676400"/>
            <a:ext cx="457200" cy="457200"/>
          </a:xfrm>
          <a:prstGeom prst="rect">
            <a:avLst/>
          </a:prstGeom>
          <a:solidFill>
            <a:srgbClr val="33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9" name="Rectangle 28"/>
          <p:cNvSpPr/>
          <p:nvPr/>
        </p:nvSpPr>
        <p:spPr>
          <a:xfrm>
            <a:off x="6781800" y="3505200"/>
            <a:ext cx="457200" cy="457200"/>
          </a:xfrm>
          <a:prstGeom prst="rect">
            <a:avLst/>
          </a:prstGeom>
          <a:solidFill>
            <a:srgbClr val="250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8" name="Rectangle 37"/>
          <p:cNvSpPr/>
          <p:nvPr/>
        </p:nvSpPr>
        <p:spPr>
          <a:xfrm>
            <a:off x="7391400" y="3505200"/>
            <a:ext cx="457200" cy="457200"/>
          </a:xfrm>
          <a:prstGeom prst="rect">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9" name="Rectangle 38"/>
          <p:cNvSpPr/>
          <p:nvPr/>
        </p:nvSpPr>
        <p:spPr>
          <a:xfrm>
            <a:off x="7391400" y="1676400"/>
            <a:ext cx="457200" cy="457200"/>
          </a:xfrm>
          <a:prstGeom prst="rect">
            <a:avLst/>
          </a:prstGeom>
          <a:solidFill>
            <a:srgbClr val="66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1" name="Rectangle 40"/>
          <p:cNvSpPr/>
          <p:nvPr/>
        </p:nvSpPr>
        <p:spPr>
          <a:xfrm>
            <a:off x="6172200" y="3505200"/>
            <a:ext cx="457200" cy="457200"/>
          </a:xfrm>
          <a:prstGeom prst="rect">
            <a:avLst/>
          </a:prstGeom>
          <a:solidFill>
            <a:srgbClr val="52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0" name="Rectangle 1"/>
          <p:cNvSpPr txBox="1">
            <a:spLocks noChangeArrowheads="1"/>
          </p:cNvSpPr>
          <p:nvPr/>
        </p:nvSpPr>
        <p:spPr bwMode="auto">
          <a:xfrm>
            <a:off x="1981200" y="990600"/>
            <a:ext cx="83820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a:solidFill>
                  <a:srgbClr val="080808"/>
                </a:solidFill>
                <a:latin typeface="Calibri"/>
                <a:ea typeface="+mn-ea"/>
                <a:cs typeface="Calibri"/>
              </a:defRPr>
            </a:lvl1pPr>
            <a:lvl2pPr marL="742950" indent="-285750" algn="l" rtl="0" eaLnBrk="1" fontAlgn="base" hangingPunct="1">
              <a:spcBef>
                <a:spcPct val="20000"/>
              </a:spcBef>
              <a:spcAft>
                <a:spcPct val="0"/>
              </a:spcAft>
              <a:buChar char="–"/>
              <a:defRPr sz="2400" b="1">
                <a:solidFill>
                  <a:srgbClr val="080808"/>
                </a:solidFill>
                <a:latin typeface="Calibri"/>
                <a:cs typeface="Calibri"/>
              </a:defRPr>
            </a:lvl2pPr>
            <a:lvl3pPr marL="1143000" indent="-228600" algn="l" rtl="0" eaLnBrk="1" fontAlgn="base" hangingPunct="1">
              <a:spcBef>
                <a:spcPct val="20000"/>
              </a:spcBef>
              <a:spcAft>
                <a:spcPct val="0"/>
              </a:spcAft>
              <a:buChar char="•"/>
              <a:defRPr sz="2400">
                <a:solidFill>
                  <a:srgbClr val="080808"/>
                </a:solidFill>
                <a:latin typeface="Calibri"/>
                <a:cs typeface="Calibri"/>
              </a:defRPr>
            </a:lvl3pPr>
            <a:lvl4pPr marL="1600200" indent="-228600" algn="l" rtl="0" eaLnBrk="1" fontAlgn="base" hangingPunct="1">
              <a:spcBef>
                <a:spcPct val="20000"/>
              </a:spcBef>
              <a:spcAft>
                <a:spcPct val="0"/>
              </a:spcAft>
              <a:buChar char="–"/>
              <a:defRPr sz="2000">
                <a:solidFill>
                  <a:srgbClr val="080808"/>
                </a:solidFill>
                <a:latin typeface="Calibri"/>
                <a:cs typeface="Calibri"/>
              </a:defRPr>
            </a:lvl4pPr>
            <a:lvl5pPr marL="2057400" indent="-228600" algn="l" rtl="0" eaLnBrk="1" fontAlgn="base" hangingPunct="1">
              <a:spcBef>
                <a:spcPct val="20000"/>
              </a:spcBef>
              <a:spcAft>
                <a:spcPct val="0"/>
              </a:spcAft>
              <a:buChar char="»"/>
              <a:defRPr sz="2000">
                <a:solidFill>
                  <a:srgbClr val="080808"/>
                </a:solidFill>
                <a:latin typeface="Calibri"/>
                <a:cs typeface="Calibri"/>
              </a:defRPr>
            </a:lvl5pPr>
            <a:lvl6pPr marL="2514600" indent="-228600" algn="l" rtl="0" eaLnBrk="1" fontAlgn="base" hangingPunct="1">
              <a:spcBef>
                <a:spcPct val="20000"/>
              </a:spcBef>
              <a:spcAft>
                <a:spcPct val="0"/>
              </a:spcAft>
              <a:buChar char="»"/>
              <a:defRPr sz="2000">
                <a:solidFill>
                  <a:srgbClr val="080808"/>
                </a:solidFill>
                <a:latin typeface="+mn-lt"/>
              </a:defRPr>
            </a:lvl6pPr>
            <a:lvl7pPr marL="2971800" indent="-228600" algn="l" rtl="0" eaLnBrk="1" fontAlgn="base" hangingPunct="1">
              <a:spcBef>
                <a:spcPct val="20000"/>
              </a:spcBef>
              <a:spcAft>
                <a:spcPct val="0"/>
              </a:spcAft>
              <a:buChar char="»"/>
              <a:defRPr sz="2000">
                <a:solidFill>
                  <a:srgbClr val="080808"/>
                </a:solidFill>
                <a:latin typeface="+mn-lt"/>
              </a:defRPr>
            </a:lvl7pPr>
            <a:lvl8pPr marL="3429000" indent="-228600" algn="l" rtl="0" eaLnBrk="1" fontAlgn="base" hangingPunct="1">
              <a:spcBef>
                <a:spcPct val="20000"/>
              </a:spcBef>
              <a:spcAft>
                <a:spcPct val="0"/>
              </a:spcAft>
              <a:buChar char="»"/>
              <a:defRPr sz="2000">
                <a:solidFill>
                  <a:srgbClr val="080808"/>
                </a:solidFill>
                <a:latin typeface="+mn-lt"/>
              </a:defRPr>
            </a:lvl8pPr>
            <a:lvl9pPr marL="3886200" indent="-228600" algn="l" rtl="0" eaLnBrk="1" fontAlgn="base" hangingPunct="1">
              <a:spcBef>
                <a:spcPct val="20000"/>
              </a:spcBef>
              <a:spcAft>
                <a:spcPct val="0"/>
              </a:spcAft>
              <a:buChar char="»"/>
              <a:defRPr sz="2000">
                <a:solidFill>
                  <a:srgbClr val="080808"/>
                </a:solidFill>
                <a:latin typeface="+mn-lt"/>
              </a:defRPr>
            </a:lvl9pPr>
          </a:lstStyle>
          <a:p>
            <a:pPr marL="3175" lvl="1" indent="0" algn="ctr" defTabSz="914327">
              <a:buNone/>
              <a:defRPr/>
            </a:pPr>
            <a:r>
              <a:rPr lang="en-US" b="0" dirty="0">
                <a:latin typeface="Avenir LT Std 45 Book" panose="020B0502020203020204" pitchFamily="34" charset="0"/>
              </a:rPr>
              <a:t>Changes to the </a:t>
            </a:r>
            <a:r>
              <a:rPr lang="en-US" dirty="0">
                <a:latin typeface="Avenir LT Std 45 Book" panose="020B0502020203020204" pitchFamily="34" charset="0"/>
              </a:rPr>
              <a:t>HUE (color)</a:t>
            </a:r>
          </a:p>
        </p:txBody>
      </p:sp>
      <p:sp>
        <p:nvSpPr>
          <p:cNvPr id="42" name="Rectangle 1"/>
          <p:cNvSpPr txBox="1">
            <a:spLocks noChangeArrowheads="1"/>
          </p:cNvSpPr>
          <p:nvPr/>
        </p:nvSpPr>
        <p:spPr bwMode="auto">
          <a:xfrm>
            <a:off x="1981200" y="2819400"/>
            <a:ext cx="83820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a:solidFill>
                  <a:srgbClr val="080808"/>
                </a:solidFill>
                <a:latin typeface="Calibri"/>
                <a:ea typeface="+mn-ea"/>
                <a:cs typeface="Calibri"/>
              </a:defRPr>
            </a:lvl1pPr>
            <a:lvl2pPr marL="742950" indent="-285750" algn="l" rtl="0" eaLnBrk="1" fontAlgn="base" hangingPunct="1">
              <a:spcBef>
                <a:spcPct val="20000"/>
              </a:spcBef>
              <a:spcAft>
                <a:spcPct val="0"/>
              </a:spcAft>
              <a:buChar char="–"/>
              <a:defRPr sz="2400" b="1">
                <a:solidFill>
                  <a:srgbClr val="080808"/>
                </a:solidFill>
                <a:latin typeface="Calibri"/>
                <a:cs typeface="Calibri"/>
              </a:defRPr>
            </a:lvl2pPr>
            <a:lvl3pPr marL="1143000" indent="-228600" algn="l" rtl="0" eaLnBrk="1" fontAlgn="base" hangingPunct="1">
              <a:spcBef>
                <a:spcPct val="20000"/>
              </a:spcBef>
              <a:spcAft>
                <a:spcPct val="0"/>
              </a:spcAft>
              <a:buChar char="•"/>
              <a:defRPr sz="2400">
                <a:solidFill>
                  <a:srgbClr val="080808"/>
                </a:solidFill>
                <a:latin typeface="Calibri"/>
                <a:cs typeface="Calibri"/>
              </a:defRPr>
            </a:lvl3pPr>
            <a:lvl4pPr marL="1600200" indent="-228600" algn="l" rtl="0" eaLnBrk="1" fontAlgn="base" hangingPunct="1">
              <a:spcBef>
                <a:spcPct val="20000"/>
              </a:spcBef>
              <a:spcAft>
                <a:spcPct val="0"/>
              </a:spcAft>
              <a:buChar char="–"/>
              <a:defRPr sz="2000">
                <a:solidFill>
                  <a:srgbClr val="080808"/>
                </a:solidFill>
                <a:latin typeface="Calibri"/>
                <a:cs typeface="Calibri"/>
              </a:defRPr>
            </a:lvl4pPr>
            <a:lvl5pPr marL="2057400" indent="-228600" algn="l" rtl="0" eaLnBrk="1" fontAlgn="base" hangingPunct="1">
              <a:spcBef>
                <a:spcPct val="20000"/>
              </a:spcBef>
              <a:spcAft>
                <a:spcPct val="0"/>
              </a:spcAft>
              <a:buChar char="»"/>
              <a:defRPr sz="2000">
                <a:solidFill>
                  <a:srgbClr val="080808"/>
                </a:solidFill>
                <a:latin typeface="Calibri"/>
                <a:cs typeface="Calibri"/>
              </a:defRPr>
            </a:lvl5pPr>
            <a:lvl6pPr marL="2514600" indent="-228600" algn="l" rtl="0" eaLnBrk="1" fontAlgn="base" hangingPunct="1">
              <a:spcBef>
                <a:spcPct val="20000"/>
              </a:spcBef>
              <a:spcAft>
                <a:spcPct val="0"/>
              </a:spcAft>
              <a:buChar char="»"/>
              <a:defRPr sz="2000">
                <a:solidFill>
                  <a:srgbClr val="080808"/>
                </a:solidFill>
                <a:latin typeface="+mn-lt"/>
              </a:defRPr>
            </a:lvl6pPr>
            <a:lvl7pPr marL="2971800" indent="-228600" algn="l" rtl="0" eaLnBrk="1" fontAlgn="base" hangingPunct="1">
              <a:spcBef>
                <a:spcPct val="20000"/>
              </a:spcBef>
              <a:spcAft>
                <a:spcPct val="0"/>
              </a:spcAft>
              <a:buChar char="»"/>
              <a:defRPr sz="2000">
                <a:solidFill>
                  <a:srgbClr val="080808"/>
                </a:solidFill>
                <a:latin typeface="+mn-lt"/>
              </a:defRPr>
            </a:lvl7pPr>
            <a:lvl8pPr marL="3429000" indent="-228600" algn="l" rtl="0" eaLnBrk="1" fontAlgn="base" hangingPunct="1">
              <a:spcBef>
                <a:spcPct val="20000"/>
              </a:spcBef>
              <a:spcAft>
                <a:spcPct val="0"/>
              </a:spcAft>
              <a:buChar char="»"/>
              <a:defRPr sz="2000">
                <a:solidFill>
                  <a:srgbClr val="080808"/>
                </a:solidFill>
                <a:latin typeface="+mn-lt"/>
              </a:defRPr>
            </a:lvl8pPr>
            <a:lvl9pPr marL="3886200" indent="-228600" algn="l" rtl="0" eaLnBrk="1" fontAlgn="base" hangingPunct="1">
              <a:spcBef>
                <a:spcPct val="20000"/>
              </a:spcBef>
              <a:spcAft>
                <a:spcPct val="0"/>
              </a:spcAft>
              <a:buChar char="»"/>
              <a:defRPr sz="2000">
                <a:solidFill>
                  <a:srgbClr val="080808"/>
                </a:solidFill>
                <a:latin typeface="+mn-lt"/>
              </a:defRPr>
            </a:lvl9pPr>
          </a:lstStyle>
          <a:p>
            <a:pPr marL="3175" lvl="1" indent="0" algn="ctr" defTabSz="914327">
              <a:buNone/>
              <a:defRPr/>
            </a:pPr>
            <a:r>
              <a:rPr lang="en-US" b="0" dirty="0">
                <a:latin typeface="Avenir LT Std 45 Book" panose="020B0502020203020204" pitchFamily="34" charset="0"/>
              </a:rPr>
              <a:t>Changes to the </a:t>
            </a:r>
            <a:r>
              <a:rPr lang="en-US" dirty="0">
                <a:latin typeface="Avenir LT Std 45 Book" panose="020B0502020203020204" pitchFamily="34" charset="0"/>
              </a:rPr>
              <a:t>SATURATION (intensity)</a:t>
            </a:r>
          </a:p>
        </p:txBody>
      </p:sp>
      <p:sp>
        <p:nvSpPr>
          <p:cNvPr id="43" name="Rectangle 42"/>
          <p:cNvSpPr/>
          <p:nvPr/>
        </p:nvSpPr>
        <p:spPr>
          <a:xfrm>
            <a:off x="4343400" y="5181600"/>
            <a:ext cx="457200" cy="457200"/>
          </a:xfrm>
          <a:prstGeom prst="rect">
            <a:avLst/>
          </a:prstGeom>
          <a:solidFill>
            <a:srgbClr val="00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4" name="Rectangle 43"/>
          <p:cNvSpPr/>
          <p:nvPr/>
        </p:nvSpPr>
        <p:spPr>
          <a:xfrm>
            <a:off x="4953000" y="5181600"/>
            <a:ext cx="457200" cy="457200"/>
          </a:xfrm>
          <a:prstGeom prst="rect">
            <a:avLst/>
          </a:prstGeom>
          <a:solidFill>
            <a:srgbClr val="0000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5" name="Rectangle 44"/>
          <p:cNvSpPr/>
          <p:nvPr/>
        </p:nvSpPr>
        <p:spPr>
          <a:xfrm>
            <a:off x="5562600" y="5181600"/>
            <a:ext cx="457200" cy="457200"/>
          </a:xfrm>
          <a:prstGeom prst="rect">
            <a:avLst/>
          </a:prstGeom>
          <a:solidFill>
            <a:srgbClr val="000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6" name="Rectangle 45"/>
          <p:cNvSpPr/>
          <p:nvPr/>
        </p:nvSpPr>
        <p:spPr>
          <a:xfrm>
            <a:off x="6781800" y="5181600"/>
            <a:ext cx="457200" cy="457200"/>
          </a:xfrm>
          <a:prstGeom prst="rect">
            <a:avLst/>
          </a:prstGeom>
          <a:solidFill>
            <a:srgbClr val="000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7" name="Rectangle 46"/>
          <p:cNvSpPr/>
          <p:nvPr/>
        </p:nvSpPr>
        <p:spPr>
          <a:xfrm>
            <a:off x="7391400" y="5181600"/>
            <a:ext cx="457200" cy="4572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8" name="Rectangle 47"/>
          <p:cNvSpPr/>
          <p:nvPr/>
        </p:nvSpPr>
        <p:spPr>
          <a:xfrm>
            <a:off x="6172200" y="5181600"/>
            <a:ext cx="457200" cy="457200"/>
          </a:xfrm>
          <a:prstGeom prst="rect">
            <a:avLst/>
          </a:prstGeom>
          <a:solidFill>
            <a:srgbClr val="0000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9" name="Rectangle 1"/>
          <p:cNvSpPr txBox="1">
            <a:spLocks noChangeArrowheads="1"/>
          </p:cNvSpPr>
          <p:nvPr/>
        </p:nvSpPr>
        <p:spPr bwMode="auto">
          <a:xfrm>
            <a:off x="1981200" y="4495800"/>
            <a:ext cx="83820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a:solidFill>
                  <a:srgbClr val="080808"/>
                </a:solidFill>
                <a:latin typeface="Calibri"/>
                <a:ea typeface="+mn-ea"/>
                <a:cs typeface="Calibri"/>
              </a:defRPr>
            </a:lvl1pPr>
            <a:lvl2pPr marL="742950" indent="-285750" algn="l" rtl="0" eaLnBrk="1" fontAlgn="base" hangingPunct="1">
              <a:spcBef>
                <a:spcPct val="20000"/>
              </a:spcBef>
              <a:spcAft>
                <a:spcPct val="0"/>
              </a:spcAft>
              <a:buChar char="–"/>
              <a:defRPr sz="2400" b="1">
                <a:solidFill>
                  <a:srgbClr val="080808"/>
                </a:solidFill>
                <a:latin typeface="Calibri"/>
                <a:cs typeface="Calibri"/>
              </a:defRPr>
            </a:lvl2pPr>
            <a:lvl3pPr marL="1143000" indent="-228600" algn="l" rtl="0" eaLnBrk="1" fontAlgn="base" hangingPunct="1">
              <a:spcBef>
                <a:spcPct val="20000"/>
              </a:spcBef>
              <a:spcAft>
                <a:spcPct val="0"/>
              </a:spcAft>
              <a:buChar char="•"/>
              <a:defRPr sz="2400">
                <a:solidFill>
                  <a:srgbClr val="080808"/>
                </a:solidFill>
                <a:latin typeface="Calibri"/>
                <a:cs typeface="Calibri"/>
              </a:defRPr>
            </a:lvl3pPr>
            <a:lvl4pPr marL="1600200" indent="-228600" algn="l" rtl="0" eaLnBrk="1" fontAlgn="base" hangingPunct="1">
              <a:spcBef>
                <a:spcPct val="20000"/>
              </a:spcBef>
              <a:spcAft>
                <a:spcPct val="0"/>
              </a:spcAft>
              <a:buChar char="–"/>
              <a:defRPr sz="2000">
                <a:solidFill>
                  <a:srgbClr val="080808"/>
                </a:solidFill>
                <a:latin typeface="Calibri"/>
                <a:cs typeface="Calibri"/>
              </a:defRPr>
            </a:lvl4pPr>
            <a:lvl5pPr marL="2057400" indent="-228600" algn="l" rtl="0" eaLnBrk="1" fontAlgn="base" hangingPunct="1">
              <a:spcBef>
                <a:spcPct val="20000"/>
              </a:spcBef>
              <a:spcAft>
                <a:spcPct val="0"/>
              </a:spcAft>
              <a:buChar char="»"/>
              <a:defRPr sz="2000">
                <a:solidFill>
                  <a:srgbClr val="080808"/>
                </a:solidFill>
                <a:latin typeface="Calibri"/>
                <a:cs typeface="Calibri"/>
              </a:defRPr>
            </a:lvl5pPr>
            <a:lvl6pPr marL="2514600" indent="-228600" algn="l" rtl="0" eaLnBrk="1" fontAlgn="base" hangingPunct="1">
              <a:spcBef>
                <a:spcPct val="20000"/>
              </a:spcBef>
              <a:spcAft>
                <a:spcPct val="0"/>
              </a:spcAft>
              <a:buChar char="»"/>
              <a:defRPr sz="2000">
                <a:solidFill>
                  <a:srgbClr val="080808"/>
                </a:solidFill>
                <a:latin typeface="+mn-lt"/>
              </a:defRPr>
            </a:lvl6pPr>
            <a:lvl7pPr marL="2971800" indent="-228600" algn="l" rtl="0" eaLnBrk="1" fontAlgn="base" hangingPunct="1">
              <a:spcBef>
                <a:spcPct val="20000"/>
              </a:spcBef>
              <a:spcAft>
                <a:spcPct val="0"/>
              </a:spcAft>
              <a:buChar char="»"/>
              <a:defRPr sz="2000">
                <a:solidFill>
                  <a:srgbClr val="080808"/>
                </a:solidFill>
                <a:latin typeface="+mn-lt"/>
              </a:defRPr>
            </a:lvl7pPr>
            <a:lvl8pPr marL="3429000" indent="-228600" algn="l" rtl="0" eaLnBrk="1" fontAlgn="base" hangingPunct="1">
              <a:spcBef>
                <a:spcPct val="20000"/>
              </a:spcBef>
              <a:spcAft>
                <a:spcPct val="0"/>
              </a:spcAft>
              <a:buChar char="»"/>
              <a:defRPr sz="2000">
                <a:solidFill>
                  <a:srgbClr val="080808"/>
                </a:solidFill>
                <a:latin typeface="+mn-lt"/>
              </a:defRPr>
            </a:lvl8pPr>
            <a:lvl9pPr marL="3886200" indent="-228600" algn="l" rtl="0" eaLnBrk="1" fontAlgn="base" hangingPunct="1">
              <a:spcBef>
                <a:spcPct val="20000"/>
              </a:spcBef>
              <a:spcAft>
                <a:spcPct val="0"/>
              </a:spcAft>
              <a:buChar char="»"/>
              <a:defRPr sz="2000">
                <a:solidFill>
                  <a:srgbClr val="080808"/>
                </a:solidFill>
                <a:latin typeface="+mn-lt"/>
              </a:defRPr>
            </a:lvl9pPr>
          </a:lstStyle>
          <a:p>
            <a:pPr marL="3175" lvl="1" indent="0" algn="ctr" defTabSz="914327">
              <a:buNone/>
              <a:defRPr/>
            </a:pPr>
            <a:r>
              <a:rPr lang="en-US" b="0" dirty="0">
                <a:latin typeface="Avenir LT Std 45 Book" panose="020B0502020203020204" pitchFamily="34" charset="0"/>
              </a:rPr>
              <a:t>Changes to the </a:t>
            </a:r>
            <a:r>
              <a:rPr lang="en-US" dirty="0">
                <a:latin typeface="Avenir LT Std 45 Book" panose="020B0502020203020204" pitchFamily="34" charset="0"/>
              </a:rPr>
              <a:t>Value (brightness)</a:t>
            </a:r>
          </a:p>
        </p:txBody>
      </p:sp>
    </p:spTree>
    <p:extLst>
      <p:ext uri="{BB962C8B-B14F-4D97-AF65-F5344CB8AC3E}">
        <p14:creationId xmlns:p14="http://schemas.microsoft.com/office/powerpoint/2010/main" val="1161958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500"/>
                                        <p:tgtEl>
                                          <p:spTgt spid="3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500"/>
                                        <p:tgtEl>
                                          <p:spTgt spid="4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fade">
                                      <p:cBhvr>
                                        <p:cTn id="36" dur="500"/>
                                        <p:tgtEl>
                                          <p:spTgt spid="4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fade">
                                      <p:cBhvr>
                                        <p:cTn id="39" dur="500"/>
                                        <p:tgtEl>
                                          <p:spTgt spid="4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500"/>
                                        <p:tgtEl>
                                          <p:spTgt spid="4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animEffect transition="in" filter="fade">
                                      <p:cBhvr>
                                        <p:cTn id="45" dur="500"/>
                                        <p:tgtEl>
                                          <p:spTgt spid="4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fade">
                                      <p:cBhvr>
                                        <p:cTn id="48"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20" grpId="0" animBg="1"/>
      <p:bldP spid="29" grpId="0" animBg="1"/>
      <p:bldP spid="38" grpId="0" animBg="1"/>
      <p:bldP spid="41" grpId="0" animBg="1"/>
      <p:bldP spid="42" grpId="0"/>
      <p:bldP spid="43" grpId="0" animBg="1"/>
      <p:bldP spid="44" grpId="0" animBg="1"/>
      <p:bldP spid="45" grpId="0" animBg="1"/>
      <p:bldP spid="46" grpId="0" animBg="1"/>
      <p:bldP spid="47" grpId="0" animBg="1"/>
      <p:bldP spid="48" grpId="0" animBg="1"/>
      <p:bldP spid="49" grpId="0"/>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3211" y="1219200"/>
            <a:ext cx="4616648" cy="46166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pic>
    </p:spTree>
    <p:extLst>
      <p:ext uri="{BB962C8B-B14F-4D97-AF65-F5344CB8AC3E}">
        <p14:creationId xmlns:p14="http://schemas.microsoft.com/office/powerpoint/2010/main" val="442136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2587625" y="804863"/>
            <a:ext cx="9604375" cy="1049337"/>
          </a:xfrm>
          <a:prstGeom prst="rect">
            <a:avLst/>
          </a:prstGeom>
        </p:spPr>
        <p:txBody>
          <a:bodyPr>
            <a:normAutofit/>
          </a:bodyPr>
          <a:lstStyle/>
          <a:p>
            <a:pPr algn="ctr"/>
            <a:r>
              <a:rPr lang="en-US" dirty="0">
                <a:solidFill>
                  <a:schemeClr val="accent5"/>
                </a:solidFill>
              </a:rPr>
              <a:t>Relationships on a Traditional Color Wheel</a:t>
            </a:r>
          </a:p>
        </p:txBody>
      </p:sp>
      <p:pic>
        <p:nvPicPr>
          <p:cNvPr id="2" name="Picture 1"/>
          <p:cNvPicPr>
            <a:picLocks noChangeAspect="1"/>
          </p:cNvPicPr>
          <p:nvPr/>
        </p:nvPicPr>
        <p:blipFill>
          <a:blip r:embed="rId3"/>
          <a:stretch>
            <a:fillRect/>
          </a:stretch>
        </p:blipFill>
        <p:spPr>
          <a:xfrm>
            <a:off x="2895600" y="381000"/>
            <a:ext cx="6248400" cy="6248400"/>
          </a:xfrm>
          <a:prstGeom prst="rect">
            <a:avLst/>
          </a:prstGeom>
        </p:spPr>
      </p:pic>
      <p:sp>
        <p:nvSpPr>
          <p:cNvPr id="4" name="Rectangle 3"/>
          <p:cNvSpPr/>
          <p:nvPr/>
        </p:nvSpPr>
        <p:spPr>
          <a:xfrm>
            <a:off x="1905000" y="6172201"/>
            <a:ext cx="8458200" cy="656462"/>
          </a:xfrm>
          <a:prstGeom prst="rect">
            <a:avLst/>
          </a:prstGeom>
        </p:spPr>
        <p:txBody>
          <a:bodyPr wrap="square">
            <a:spAutoFit/>
          </a:bodyPr>
          <a:lstStyle/>
          <a:p>
            <a:pPr algn="ctr" defTabSz="914327"/>
            <a:r>
              <a:rPr lang="en-US" sz="1833" i="1" dirty="0">
                <a:solidFill>
                  <a:srgbClr val="4D4D4D"/>
                </a:solidFill>
                <a:latin typeface="Merriweather Light"/>
              </a:rPr>
              <a:t>The primary colors are red, yellow, and blue.</a:t>
            </a:r>
            <a:br>
              <a:rPr lang="en-US" sz="1833" i="1" dirty="0">
                <a:solidFill>
                  <a:srgbClr val="4D4D4D"/>
                </a:solidFill>
                <a:latin typeface="Merriweather Light"/>
              </a:rPr>
            </a:br>
            <a:r>
              <a:rPr lang="en-US" sz="1833" i="1" dirty="0">
                <a:solidFill>
                  <a:srgbClr val="4D4D4D"/>
                </a:solidFill>
                <a:latin typeface="Merriweather Light"/>
              </a:rPr>
              <a:t>Classical painters would have used this arrangement to find compliments.</a:t>
            </a:r>
            <a:endParaRPr lang="en-US" sz="1833" dirty="0">
              <a:solidFill>
                <a:srgbClr val="4D4D4D"/>
              </a:solidFill>
              <a:latin typeface="Merriweather Light"/>
            </a:endParaRPr>
          </a:p>
        </p:txBody>
      </p:sp>
    </p:spTree>
    <p:extLst>
      <p:ext uri="{BB962C8B-B14F-4D97-AF65-F5344CB8AC3E}">
        <p14:creationId xmlns:p14="http://schemas.microsoft.com/office/powerpoint/2010/main" val="588167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2587625" y="804863"/>
            <a:ext cx="9604375" cy="1049337"/>
          </a:xfrm>
          <a:prstGeom prst="rect">
            <a:avLst/>
          </a:prstGeom>
        </p:spPr>
        <p:txBody>
          <a:bodyPr>
            <a:normAutofit/>
          </a:bodyPr>
          <a:lstStyle/>
          <a:p>
            <a:pPr algn="ctr"/>
            <a:r>
              <a:rPr lang="en-US" dirty="0"/>
              <a:t>Relationships on a RGB Color Wheel</a:t>
            </a:r>
          </a:p>
        </p:txBody>
      </p:sp>
      <p:pic>
        <p:nvPicPr>
          <p:cNvPr id="4" name="Picture 3"/>
          <p:cNvPicPr>
            <a:picLocks noChangeAspect="1"/>
          </p:cNvPicPr>
          <p:nvPr/>
        </p:nvPicPr>
        <p:blipFill>
          <a:blip r:embed="rId3"/>
          <a:stretch>
            <a:fillRect/>
          </a:stretch>
        </p:blipFill>
        <p:spPr>
          <a:xfrm>
            <a:off x="2743200" y="838200"/>
            <a:ext cx="6522720" cy="5435600"/>
          </a:xfrm>
          <a:prstGeom prst="rect">
            <a:avLst/>
          </a:prstGeom>
        </p:spPr>
      </p:pic>
    </p:spTree>
    <p:extLst>
      <p:ext uri="{BB962C8B-B14F-4D97-AF65-F5344CB8AC3E}">
        <p14:creationId xmlns:p14="http://schemas.microsoft.com/office/powerpoint/2010/main" val="2381397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16963545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4343400" y="16764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5" name="Oval 4"/>
          <p:cNvSpPr/>
          <p:nvPr/>
        </p:nvSpPr>
        <p:spPr>
          <a:xfrm>
            <a:off x="4343400" y="22860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6" name="Oval 5"/>
          <p:cNvSpPr/>
          <p:nvPr/>
        </p:nvSpPr>
        <p:spPr>
          <a:xfrm>
            <a:off x="4343400" y="28956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7" name="Oval 6"/>
          <p:cNvSpPr/>
          <p:nvPr/>
        </p:nvSpPr>
        <p:spPr>
          <a:xfrm>
            <a:off x="4343400" y="35052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8" name="Oval 7"/>
          <p:cNvSpPr/>
          <p:nvPr/>
        </p:nvSpPr>
        <p:spPr>
          <a:xfrm>
            <a:off x="4343400" y="41148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9" name="Oval 8"/>
          <p:cNvSpPr/>
          <p:nvPr/>
        </p:nvSpPr>
        <p:spPr>
          <a:xfrm>
            <a:off x="4343400" y="47244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0" name="Oval 9"/>
          <p:cNvSpPr/>
          <p:nvPr/>
        </p:nvSpPr>
        <p:spPr>
          <a:xfrm>
            <a:off x="4953000" y="16764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1" name="Oval 10"/>
          <p:cNvSpPr/>
          <p:nvPr/>
        </p:nvSpPr>
        <p:spPr>
          <a:xfrm>
            <a:off x="4953000" y="22860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2" name="Oval 11"/>
          <p:cNvSpPr/>
          <p:nvPr/>
        </p:nvSpPr>
        <p:spPr>
          <a:xfrm>
            <a:off x="4953000" y="28956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3" name="Oval 12"/>
          <p:cNvSpPr/>
          <p:nvPr/>
        </p:nvSpPr>
        <p:spPr>
          <a:xfrm>
            <a:off x="4953000" y="3505200"/>
            <a:ext cx="457200" cy="457200"/>
          </a:xfrm>
          <a:prstGeom prst="ellipse">
            <a:avLst/>
          </a:prstGeom>
          <a:pattFill prst="pct70">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4" name="Oval 13"/>
          <p:cNvSpPr/>
          <p:nvPr/>
        </p:nvSpPr>
        <p:spPr>
          <a:xfrm>
            <a:off x="4953000" y="41148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5" name="Oval 14"/>
          <p:cNvSpPr/>
          <p:nvPr/>
        </p:nvSpPr>
        <p:spPr>
          <a:xfrm>
            <a:off x="4953000" y="47244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6" name="Oval 15"/>
          <p:cNvSpPr/>
          <p:nvPr/>
        </p:nvSpPr>
        <p:spPr>
          <a:xfrm>
            <a:off x="5562600" y="47244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7" name="Oval 16"/>
          <p:cNvSpPr/>
          <p:nvPr/>
        </p:nvSpPr>
        <p:spPr>
          <a:xfrm>
            <a:off x="5562600" y="4114800"/>
            <a:ext cx="457200" cy="457200"/>
          </a:xfrm>
          <a:prstGeom prst="ellipse">
            <a:avLst/>
          </a:prstGeom>
          <a:pattFill prst="pct70">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8" name="Oval 17"/>
          <p:cNvSpPr/>
          <p:nvPr/>
        </p:nvSpPr>
        <p:spPr>
          <a:xfrm>
            <a:off x="5562600" y="3505200"/>
            <a:ext cx="457200" cy="457200"/>
          </a:xfrm>
          <a:prstGeom prst="ellipse">
            <a:avLst/>
          </a:prstGeom>
          <a:pattFill prst="pct70">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9" name="Oval 18"/>
          <p:cNvSpPr/>
          <p:nvPr/>
        </p:nvSpPr>
        <p:spPr>
          <a:xfrm>
            <a:off x="5562600" y="28956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0" name="Oval 19"/>
          <p:cNvSpPr/>
          <p:nvPr/>
        </p:nvSpPr>
        <p:spPr>
          <a:xfrm>
            <a:off x="5562600" y="22860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1" name="Oval 20"/>
          <p:cNvSpPr/>
          <p:nvPr/>
        </p:nvSpPr>
        <p:spPr>
          <a:xfrm>
            <a:off x="5562600" y="16764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2" name="Oval 21"/>
          <p:cNvSpPr/>
          <p:nvPr/>
        </p:nvSpPr>
        <p:spPr>
          <a:xfrm>
            <a:off x="6172200" y="16764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3" name="Oval 22"/>
          <p:cNvSpPr/>
          <p:nvPr/>
        </p:nvSpPr>
        <p:spPr>
          <a:xfrm>
            <a:off x="6172200" y="2895600"/>
            <a:ext cx="457200" cy="457200"/>
          </a:xfrm>
          <a:prstGeom prst="ellipse">
            <a:avLst/>
          </a:prstGeom>
          <a:pattFill prst="pct70">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5" name="Oval 24"/>
          <p:cNvSpPr/>
          <p:nvPr/>
        </p:nvSpPr>
        <p:spPr>
          <a:xfrm>
            <a:off x="6172200" y="3505200"/>
            <a:ext cx="457200" cy="457200"/>
          </a:xfrm>
          <a:prstGeom prst="ellipse">
            <a:avLst/>
          </a:prstGeom>
          <a:pattFill prst="pct70">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6" name="Oval 25"/>
          <p:cNvSpPr/>
          <p:nvPr/>
        </p:nvSpPr>
        <p:spPr>
          <a:xfrm>
            <a:off x="6172200" y="4114800"/>
            <a:ext cx="457200" cy="457200"/>
          </a:xfrm>
          <a:prstGeom prst="ellipse">
            <a:avLst/>
          </a:prstGeom>
          <a:pattFill prst="pct70">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7" name="Oval 26"/>
          <p:cNvSpPr/>
          <p:nvPr/>
        </p:nvSpPr>
        <p:spPr>
          <a:xfrm>
            <a:off x="6172200" y="47244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8" name="Oval 27"/>
          <p:cNvSpPr/>
          <p:nvPr/>
        </p:nvSpPr>
        <p:spPr>
          <a:xfrm>
            <a:off x="6781800" y="16764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9" name="Oval 28"/>
          <p:cNvSpPr/>
          <p:nvPr/>
        </p:nvSpPr>
        <p:spPr>
          <a:xfrm>
            <a:off x="6781800" y="22860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0" name="Oval 29"/>
          <p:cNvSpPr/>
          <p:nvPr/>
        </p:nvSpPr>
        <p:spPr>
          <a:xfrm>
            <a:off x="6781800" y="2895600"/>
            <a:ext cx="457200" cy="457200"/>
          </a:xfrm>
          <a:prstGeom prst="ellipse">
            <a:avLst/>
          </a:prstGeom>
          <a:pattFill prst="pct70">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1" name="Oval 30"/>
          <p:cNvSpPr/>
          <p:nvPr/>
        </p:nvSpPr>
        <p:spPr>
          <a:xfrm>
            <a:off x="6781800" y="35052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2" name="Oval 31"/>
          <p:cNvSpPr/>
          <p:nvPr/>
        </p:nvSpPr>
        <p:spPr>
          <a:xfrm>
            <a:off x="6781800" y="41148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3" name="Oval 32"/>
          <p:cNvSpPr/>
          <p:nvPr/>
        </p:nvSpPr>
        <p:spPr>
          <a:xfrm>
            <a:off x="6781800" y="47244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4" name="Oval 33"/>
          <p:cNvSpPr/>
          <p:nvPr/>
        </p:nvSpPr>
        <p:spPr>
          <a:xfrm>
            <a:off x="7391400" y="47244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5" name="Oval 34"/>
          <p:cNvSpPr/>
          <p:nvPr/>
        </p:nvSpPr>
        <p:spPr>
          <a:xfrm>
            <a:off x="7391400" y="41148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6" name="Oval 35"/>
          <p:cNvSpPr/>
          <p:nvPr/>
        </p:nvSpPr>
        <p:spPr>
          <a:xfrm>
            <a:off x="7391400" y="35052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7" name="Oval 36"/>
          <p:cNvSpPr/>
          <p:nvPr/>
        </p:nvSpPr>
        <p:spPr>
          <a:xfrm>
            <a:off x="7391400" y="28956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8" name="Oval 37"/>
          <p:cNvSpPr/>
          <p:nvPr/>
        </p:nvSpPr>
        <p:spPr>
          <a:xfrm>
            <a:off x="7391400" y="22860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9" name="Oval 38"/>
          <p:cNvSpPr/>
          <p:nvPr/>
        </p:nvSpPr>
        <p:spPr>
          <a:xfrm>
            <a:off x="7391400" y="1676400"/>
            <a:ext cx="457200" cy="457200"/>
          </a:xfrm>
          <a:prstGeom prst="ellipse">
            <a:avLst/>
          </a:prstGeom>
          <a:pattFill prst="pct70">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1" name="Oval 40"/>
          <p:cNvSpPr/>
          <p:nvPr/>
        </p:nvSpPr>
        <p:spPr>
          <a:xfrm>
            <a:off x="6172200" y="2286000"/>
            <a:ext cx="457200" cy="457200"/>
          </a:xfrm>
          <a:prstGeom prst="ellipse">
            <a:avLst/>
          </a:prstGeom>
          <a:pattFill prst="pct5">
            <a:fgClr>
              <a:prstClr val="black"/>
            </a:fgClr>
            <a:bgClr>
              <a:prstClr val="white"/>
            </a:bgClr>
          </a:patt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0" name="Title 1"/>
          <p:cNvSpPr txBox="1">
            <a:spLocks/>
          </p:cNvSpPr>
          <p:nvPr/>
        </p:nvSpPr>
        <p:spPr bwMode="auto">
          <a:xfrm>
            <a:off x="2" y="664288"/>
            <a:ext cx="12191999" cy="525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spAutoFit/>
          </a:bodyPr>
          <a:lst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a:lstStyle>
          <a:p>
            <a:pPr algn="ctr" defTabSz="1087351"/>
            <a:r>
              <a:rPr lang="en-US" sz="4167" dirty="0"/>
              <a:t>Texture</a:t>
            </a:r>
          </a:p>
        </p:txBody>
      </p:sp>
    </p:spTree>
    <p:extLst>
      <p:ext uri="{BB962C8B-B14F-4D97-AF65-F5344CB8AC3E}">
        <p14:creationId xmlns:p14="http://schemas.microsoft.com/office/powerpoint/2010/main" val="1357656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43434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5" name="Oval 4"/>
          <p:cNvSpPr/>
          <p:nvPr/>
        </p:nvSpPr>
        <p:spPr>
          <a:xfrm>
            <a:off x="43434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6" name="Oval 5"/>
          <p:cNvSpPr/>
          <p:nvPr/>
        </p:nvSpPr>
        <p:spPr>
          <a:xfrm>
            <a:off x="43434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7" name="Oval 6"/>
          <p:cNvSpPr/>
          <p:nvPr/>
        </p:nvSpPr>
        <p:spPr>
          <a:xfrm>
            <a:off x="43434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8" name="Oval 7"/>
          <p:cNvSpPr/>
          <p:nvPr/>
        </p:nvSpPr>
        <p:spPr>
          <a:xfrm>
            <a:off x="43434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9" name="Oval 8"/>
          <p:cNvSpPr/>
          <p:nvPr/>
        </p:nvSpPr>
        <p:spPr>
          <a:xfrm>
            <a:off x="43434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0" name="Oval 9"/>
          <p:cNvSpPr/>
          <p:nvPr/>
        </p:nvSpPr>
        <p:spPr>
          <a:xfrm>
            <a:off x="49530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1" name="Oval 10"/>
          <p:cNvSpPr/>
          <p:nvPr/>
        </p:nvSpPr>
        <p:spPr>
          <a:xfrm>
            <a:off x="49530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2" name="Oval 11"/>
          <p:cNvSpPr/>
          <p:nvPr/>
        </p:nvSpPr>
        <p:spPr>
          <a:xfrm>
            <a:off x="49530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3" name="Oval 12"/>
          <p:cNvSpPr/>
          <p:nvPr/>
        </p:nvSpPr>
        <p:spPr>
          <a:xfrm>
            <a:off x="5050670" y="3614354"/>
            <a:ext cx="266700" cy="2667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4" name="Oval 13"/>
          <p:cNvSpPr/>
          <p:nvPr/>
        </p:nvSpPr>
        <p:spPr>
          <a:xfrm>
            <a:off x="49530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5" name="Oval 14"/>
          <p:cNvSpPr/>
          <p:nvPr/>
        </p:nvSpPr>
        <p:spPr>
          <a:xfrm>
            <a:off x="49530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6" name="Oval 15"/>
          <p:cNvSpPr/>
          <p:nvPr/>
        </p:nvSpPr>
        <p:spPr>
          <a:xfrm>
            <a:off x="55626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7" name="Oval 16"/>
          <p:cNvSpPr/>
          <p:nvPr/>
        </p:nvSpPr>
        <p:spPr>
          <a:xfrm>
            <a:off x="55626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8" name="Oval 17"/>
          <p:cNvSpPr/>
          <p:nvPr/>
        </p:nvSpPr>
        <p:spPr>
          <a:xfrm>
            <a:off x="55626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9" name="Oval 18"/>
          <p:cNvSpPr/>
          <p:nvPr/>
        </p:nvSpPr>
        <p:spPr>
          <a:xfrm>
            <a:off x="55626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0" name="Oval 19"/>
          <p:cNvSpPr/>
          <p:nvPr/>
        </p:nvSpPr>
        <p:spPr>
          <a:xfrm>
            <a:off x="55626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1" name="Oval 20"/>
          <p:cNvSpPr/>
          <p:nvPr/>
        </p:nvSpPr>
        <p:spPr>
          <a:xfrm>
            <a:off x="55626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2" name="Oval 21"/>
          <p:cNvSpPr/>
          <p:nvPr/>
        </p:nvSpPr>
        <p:spPr>
          <a:xfrm>
            <a:off x="61722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3" name="Oval 22"/>
          <p:cNvSpPr/>
          <p:nvPr/>
        </p:nvSpPr>
        <p:spPr>
          <a:xfrm>
            <a:off x="61722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5" name="Oval 24"/>
          <p:cNvSpPr/>
          <p:nvPr/>
        </p:nvSpPr>
        <p:spPr>
          <a:xfrm>
            <a:off x="61722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6" name="Oval 25"/>
          <p:cNvSpPr/>
          <p:nvPr/>
        </p:nvSpPr>
        <p:spPr>
          <a:xfrm>
            <a:off x="61722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7" name="Oval 26"/>
          <p:cNvSpPr/>
          <p:nvPr/>
        </p:nvSpPr>
        <p:spPr>
          <a:xfrm>
            <a:off x="61722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8" name="Oval 27"/>
          <p:cNvSpPr/>
          <p:nvPr/>
        </p:nvSpPr>
        <p:spPr>
          <a:xfrm>
            <a:off x="67818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9" name="Oval 28"/>
          <p:cNvSpPr/>
          <p:nvPr/>
        </p:nvSpPr>
        <p:spPr>
          <a:xfrm>
            <a:off x="67818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0" name="Oval 29"/>
          <p:cNvSpPr/>
          <p:nvPr/>
        </p:nvSpPr>
        <p:spPr>
          <a:xfrm>
            <a:off x="67818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1" name="Oval 30"/>
          <p:cNvSpPr/>
          <p:nvPr/>
        </p:nvSpPr>
        <p:spPr>
          <a:xfrm>
            <a:off x="67818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2" name="Oval 31"/>
          <p:cNvSpPr/>
          <p:nvPr/>
        </p:nvSpPr>
        <p:spPr>
          <a:xfrm>
            <a:off x="67818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3" name="Oval 32"/>
          <p:cNvSpPr/>
          <p:nvPr/>
        </p:nvSpPr>
        <p:spPr>
          <a:xfrm>
            <a:off x="67818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4" name="Oval 33"/>
          <p:cNvSpPr/>
          <p:nvPr/>
        </p:nvSpPr>
        <p:spPr>
          <a:xfrm>
            <a:off x="73914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5" name="Oval 34"/>
          <p:cNvSpPr/>
          <p:nvPr/>
        </p:nvSpPr>
        <p:spPr>
          <a:xfrm>
            <a:off x="73914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6" name="Oval 35"/>
          <p:cNvSpPr/>
          <p:nvPr/>
        </p:nvSpPr>
        <p:spPr>
          <a:xfrm>
            <a:off x="73914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7" name="Oval 36"/>
          <p:cNvSpPr/>
          <p:nvPr/>
        </p:nvSpPr>
        <p:spPr>
          <a:xfrm>
            <a:off x="73914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8" name="Oval 37"/>
          <p:cNvSpPr/>
          <p:nvPr/>
        </p:nvSpPr>
        <p:spPr>
          <a:xfrm>
            <a:off x="73914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9" name="Oval 38"/>
          <p:cNvSpPr/>
          <p:nvPr/>
        </p:nvSpPr>
        <p:spPr>
          <a:xfrm>
            <a:off x="7391401" y="1412776"/>
            <a:ext cx="720824" cy="720824"/>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1" name="Oval 40"/>
          <p:cNvSpPr/>
          <p:nvPr/>
        </p:nvSpPr>
        <p:spPr>
          <a:xfrm>
            <a:off x="61722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0" name="Title 1"/>
          <p:cNvSpPr txBox="1">
            <a:spLocks/>
          </p:cNvSpPr>
          <p:nvPr/>
        </p:nvSpPr>
        <p:spPr bwMode="auto">
          <a:xfrm>
            <a:off x="2" y="664288"/>
            <a:ext cx="12191999" cy="525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spAutoFit/>
          </a:bodyPr>
          <a:lst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a:lstStyle>
          <a:p>
            <a:pPr algn="ctr" defTabSz="1087351"/>
            <a:r>
              <a:rPr lang="en-US" sz="4167" dirty="0"/>
              <a:t>Size</a:t>
            </a:r>
          </a:p>
        </p:txBody>
      </p:sp>
    </p:spTree>
    <p:extLst>
      <p:ext uri="{BB962C8B-B14F-4D97-AF65-F5344CB8AC3E}">
        <p14:creationId xmlns:p14="http://schemas.microsoft.com/office/powerpoint/2010/main" val="4250609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43434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5" name="Oval 4"/>
          <p:cNvSpPr/>
          <p:nvPr/>
        </p:nvSpPr>
        <p:spPr>
          <a:xfrm>
            <a:off x="43434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6" name="Oval 5"/>
          <p:cNvSpPr/>
          <p:nvPr/>
        </p:nvSpPr>
        <p:spPr>
          <a:xfrm>
            <a:off x="43434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7" name="Oval 6"/>
          <p:cNvSpPr/>
          <p:nvPr/>
        </p:nvSpPr>
        <p:spPr>
          <a:xfrm>
            <a:off x="43434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8" name="Oval 7"/>
          <p:cNvSpPr/>
          <p:nvPr/>
        </p:nvSpPr>
        <p:spPr>
          <a:xfrm>
            <a:off x="43434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9" name="Oval 8"/>
          <p:cNvSpPr/>
          <p:nvPr/>
        </p:nvSpPr>
        <p:spPr>
          <a:xfrm>
            <a:off x="43434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0" name="Oval 9"/>
          <p:cNvSpPr/>
          <p:nvPr/>
        </p:nvSpPr>
        <p:spPr>
          <a:xfrm>
            <a:off x="49530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1" name="Oval 10"/>
          <p:cNvSpPr/>
          <p:nvPr/>
        </p:nvSpPr>
        <p:spPr>
          <a:xfrm>
            <a:off x="49530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2" name="Oval 11"/>
          <p:cNvSpPr/>
          <p:nvPr/>
        </p:nvSpPr>
        <p:spPr>
          <a:xfrm>
            <a:off x="49530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3" name="Oval 12"/>
          <p:cNvSpPr/>
          <p:nvPr/>
        </p:nvSpPr>
        <p:spPr>
          <a:xfrm>
            <a:off x="49530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4" name="Oval 13"/>
          <p:cNvSpPr/>
          <p:nvPr/>
        </p:nvSpPr>
        <p:spPr>
          <a:xfrm>
            <a:off x="49530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5" name="Oval 14"/>
          <p:cNvSpPr/>
          <p:nvPr/>
        </p:nvSpPr>
        <p:spPr>
          <a:xfrm>
            <a:off x="49530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6" name="Oval 15"/>
          <p:cNvSpPr/>
          <p:nvPr/>
        </p:nvSpPr>
        <p:spPr>
          <a:xfrm>
            <a:off x="55626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7" name="Oval 16"/>
          <p:cNvSpPr/>
          <p:nvPr/>
        </p:nvSpPr>
        <p:spPr>
          <a:xfrm>
            <a:off x="55626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8" name="Oval 17"/>
          <p:cNvSpPr/>
          <p:nvPr/>
        </p:nvSpPr>
        <p:spPr>
          <a:xfrm>
            <a:off x="55626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9" name="Oval 18"/>
          <p:cNvSpPr/>
          <p:nvPr/>
        </p:nvSpPr>
        <p:spPr>
          <a:xfrm>
            <a:off x="55626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0" name="Oval 19"/>
          <p:cNvSpPr/>
          <p:nvPr/>
        </p:nvSpPr>
        <p:spPr>
          <a:xfrm>
            <a:off x="55626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1" name="Oval 20"/>
          <p:cNvSpPr/>
          <p:nvPr/>
        </p:nvSpPr>
        <p:spPr>
          <a:xfrm>
            <a:off x="55626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2" name="Oval 21"/>
          <p:cNvSpPr/>
          <p:nvPr/>
        </p:nvSpPr>
        <p:spPr>
          <a:xfrm>
            <a:off x="61722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3" name="Oval 22"/>
          <p:cNvSpPr/>
          <p:nvPr/>
        </p:nvSpPr>
        <p:spPr>
          <a:xfrm>
            <a:off x="61722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5" name="Oval 24"/>
          <p:cNvSpPr/>
          <p:nvPr/>
        </p:nvSpPr>
        <p:spPr>
          <a:xfrm>
            <a:off x="61722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6" name="Oval 25"/>
          <p:cNvSpPr/>
          <p:nvPr/>
        </p:nvSpPr>
        <p:spPr>
          <a:xfrm>
            <a:off x="61722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7" name="Oval 26"/>
          <p:cNvSpPr/>
          <p:nvPr/>
        </p:nvSpPr>
        <p:spPr>
          <a:xfrm>
            <a:off x="61722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8" name="Oval 27"/>
          <p:cNvSpPr/>
          <p:nvPr/>
        </p:nvSpPr>
        <p:spPr>
          <a:xfrm>
            <a:off x="67818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9" name="Oval 28"/>
          <p:cNvSpPr/>
          <p:nvPr/>
        </p:nvSpPr>
        <p:spPr>
          <a:xfrm>
            <a:off x="67818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0" name="Oval 29"/>
          <p:cNvSpPr/>
          <p:nvPr/>
        </p:nvSpPr>
        <p:spPr>
          <a:xfrm>
            <a:off x="6781800"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1" name="Oval 30"/>
          <p:cNvSpPr/>
          <p:nvPr/>
        </p:nvSpPr>
        <p:spPr>
          <a:xfrm>
            <a:off x="6781800"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2" name="Oval 31"/>
          <p:cNvSpPr/>
          <p:nvPr/>
        </p:nvSpPr>
        <p:spPr>
          <a:xfrm>
            <a:off x="67818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3" name="Oval 32"/>
          <p:cNvSpPr/>
          <p:nvPr/>
        </p:nvSpPr>
        <p:spPr>
          <a:xfrm>
            <a:off x="67818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4" name="Oval 33"/>
          <p:cNvSpPr/>
          <p:nvPr/>
        </p:nvSpPr>
        <p:spPr>
          <a:xfrm>
            <a:off x="7391400" y="4724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5" name="Oval 34"/>
          <p:cNvSpPr/>
          <p:nvPr/>
        </p:nvSpPr>
        <p:spPr>
          <a:xfrm>
            <a:off x="7391400" y="41148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6" name="Oval 35"/>
          <p:cNvSpPr/>
          <p:nvPr/>
        </p:nvSpPr>
        <p:spPr>
          <a:xfrm>
            <a:off x="7392144" y="35052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7" name="Oval 36"/>
          <p:cNvSpPr/>
          <p:nvPr/>
        </p:nvSpPr>
        <p:spPr>
          <a:xfrm>
            <a:off x="8327805" y="28956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8" name="Oval 37"/>
          <p:cNvSpPr/>
          <p:nvPr/>
        </p:nvSpPr>
        <p:spPr>
          <a:xfrm>
            <a:off x="73914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9" name="Oval 38"/>
          <p:cNvSpPr/>
          <p:nvPr/>
        </p:nvSpPr>
        <p:spPr>
          <a:xfrm>
            <a:off x="7391400" y="16764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1" name="Oval 40"/>
          <p:cNvSpPr/>
          <p:nvPr/>
        </p:nvSpPr>
        <p:spPr>
          <a:xfrm>
            <a:off x="6172200" y="2286000"/>
            <a:ext cx="457200" cy="4572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0" name="Title 1"/>
          <p:cNvSpPr txBox="1">
            <a:spLocks/>
          </p:cNvSpPr>
          <p:nvPr/>
        </p:nvSpPr>
        <p:spPr bwMode="auto">
          <a:xfrm>
            <a:off x="2" y="664288"/>
            <a:ext cx="12191999" cy="525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spAutoFit/>
          </a:bodyPr>
          <a:lst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a:lstStyle>
          <a:p>
            <a:pPr algn="ctr" defTabSz="1087351"/>
            <a:r>
              <a:rPr lang="en-US" sz="4167" dirty="0"/>
              <a:t>Position</a:t>
            </a:r>
          </a:p>
        </p:txBody>
      </p:sp>
    </p:spTree>
    <p:extLst>
      <p:ext uri="{BB962C8B-B14F-4D97-AF65-F5344CB8AC3E}">
        <p14:creationId xmlns:p14="http://schemas.microsoft.com/office/powerpoint/2010/main" val="2383482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11022E-16 2.71605E-6 L 0.08778 -0.00058 " pathEditMode="relative" rAng="0" ptsTypes="AA">
                                      <p:cBhvr>
                                        <p:cTn id="6" dur="2000" fill="hold"/>
                                        <p:tgtEl>
                                          <p:spTgt spid="36"/>
                                        </p:tgtEl>
                                        <p:attrNameLst>
                                          <p:attrName>ppt_x</p:attrName>
                                          <p:attrName>ppt_y</p:attrName>
                                        </p:attrNameLst>
                                      </p:cBhvr>
                                      <p:rCtr x="4384" y="-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inus Sign 3"/>
          <p:cNvSpPr/>
          <p:nvPr/>
        </p:nvSpPr>
        <p:spPr>
          <a:xfrm>
            <a:off x="4343400" y="16764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5" name="Minus Sign 4"/>
          <p:cNvSpPr/>
          <p:nvPr/>
        </p:nvSpPr>
        <p:spPr>
          <a:xfrm>
            <a:off x="4343400" y="22860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6" name="Minus Sign 5"/>
          <p:cNvSpPr/>
          <p:nvPr/>
        </p:nvSpPr>
        <p:spPr>
          <a:xfrm>
            <a:off x="4343400" y="28956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7" name="Minus Sign 6"/>
          <p:cNvSpPr/>
          <p:nvPr/>
        </p:nvSpPr>
        <p:spPr>
          <a:xfrm>
            <a:off x="4343400" y="35052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8" name="Minus Sign 7"/>
          <p:cNvSpPr/>
          <p:nvPr/>
        </p:nvSpPr>
        <p:spPr>
          <a:xfrm>
            <a:off x="4343400" y="41148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9" name="Minus Sign 8"/>
          <p:cNvSpPr/>
          <p:nvPr/>
        </p:nvSpPr>
        <p:spPr>
          <a:xfrm>
            <a:off x="4343400" y="47244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0" name="Minus Sign 9"/>
          <p:cNvSpPr/>
          <p:nvPr/>
        </p:nvSpPr>
        <p:spPr>
          <a:xfrm>
            <a:off x="4953000" y="16764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1" name="Minus Sign 10"/>
          <p:cNvSpPr/>
          <p:nvPr/>
        </p:nvSpPr>
        <p:spPr>
          <a:xfrm rot="1469914">
            <a:off x="4953000" y="22860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2" name="Minus Sign 11"/>
          <p:cNvSpPr/>
          <p:nvPr/>
        </p:nvSpPr>
        <p:spPr>
          <a:xfrm>
            <a:off x="4953000" y="28956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3" name="Minus Sign 12"/>
          <p:cNvSpPr/>
          <p:nvPr/>
        </p:nvSpPr>
        <p:spPr>
          <a:xfrm>
            <a:off x="4953000" y="35052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4" name="Minus Sign 13"/>
          <p:cNvSpPr/>
          <p:nvPr/>
        </p:nvSpPr>
        <p:spPr>
          <a:xfrm>
            <a:off x="4953000" y="41148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5" name="Minus Sign 14"/>
          <p:cNvSpPr/>
          <p:nvPr/>
        </p:nvSpPr>
        <p:spPr>
          <a:xfrm>
            <a:off x="4953000" y="47244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6" name="Minus Sign 15"/>
          <p:cNvSpPr/>
          <p:nvPr/>
        </p:nvSpPr>
        <p:spPr>
          <a:xfrm>
            <a:off x="5562600" y="47244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7" name="Minus Sign 16"/>
          <p:cNvSpPr/>
          <p:nvPr/>
        </p:nvSpPr>
        <p:spPr>
          <a:xfrm>
            <a:off x="5562600" y="41148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8" name="Minus Sign 17"/>
          <p:cNvSpPr/>
          <p:nvPr/>
        </p:nvSpPr>
        <p:spPr>
          <a:xfrm>
            <a:off x="5562600" y="35052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19" name="Minus Sign 18"/>
          <p:cNvSpPr/>
          <p:nvPr/>
        </p:nvSpPr>
        <p:spPr>
          <a:xfrm>
            <a:off x="5562600" y="28956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0" name="Minus Sign 19"/>
          <p:cNvSpPr/>
          <p:nvPr/>
        </p:nvSpPr>
        <p:spPr>
          <a:xfrm>
            <a:off x="5562600" y="22860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1" name="Minus Sign 20"/>
          <p:cNvSpPr/>
          <p:nvPr/>
        </p:nvSpPr>
        <p:spPr>
          <a:xfrm>
            <a:off x="5562600" y="16764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2" name="Minus Sign 21"/>
          <p:cNvSpPr/>
          <p:nvPr/>
        </p:nvSpPr>
        <p:spPr>
          <a:xfrm>
            <a:off x="6172200" y="16764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3" name="Minus Sign 22"/>
          <p:cNvSpPr/>
          <p:nvPr/>
        </p:nvSpPr>
        <p:spPr>
          <a:xfrm>
            <a:off x="6172200" y="28956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4" name="Minus Sign 23"/>
          <p:cNvSpPr/>
          <p:nvPr/>
        </p:nvSpPr>
        <p:spPr>
          <a:xfrm>
            <a:off x="6172200" y="35052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5" name="Minus Sign 24"/>
          <p:cNvSpPr/>
          <p:nvPr/>
        </p:nvSpPr>
        <p:spPr>
          <a:xfrm>
            <a:off x="6172200" y="41148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6" name="Minus Sign 25"/>
          <p:cNvSpPr/>
          <p:nvPr/>
        </p:nvSpPr>
        <p:spPr>
          <a:xfrm>
            <a:off x="6172200" y="47244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7" name="Minus Sign 26"/>
          <p:cNvSpPr/>
          <p:nvPr/>
        </p:nvSpPr>
        <p:spPr>
          <a:xfrm>
            <a:off x="6781800" y="16764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8" name="Minus Sign 27"/>
          <p:cNvSpPr/>
          <p:nvPr/>
        </p:nvSpPr>
        <p:spPr>
          <a:xfrm>
            <a:off x="6781800" y="22860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29" name="Minus Sign 28"/>
          <p:cNvSpPr/>
          <p:nvPr/>
        </p:nvSpPr>
        <p:spPr>
          <a:xfrm>
            <a:off x="6781800" y="28956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0" name="Minus Sign 29"/>
          <p:cNvSpPr/>
          <p:nvPr/>
        </p:nvSpPr>
        <p:spPr>
          <a:xfrm>
            <a:off x="6781800" y="35052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1" name="Minus Sign 30"/>
          <p:cNvSpPr/>
          <p:nvPr/>
        </p:nvSpPr>
        <p:spPr>
          <a:xfrm>
            <a:off x="6781800" y="41148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2" name="Minus Sign 31"/>
          <p:cNvSpPr/>
          <p:nvPr/>
        </p:nvSpPr>
        <p:spPr>
          <a:xfrm>
            <a:off x="6781800" y="47244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3" name="Minus Sign 32"/>
          <p:cNvSpPr/>
          <p:nvPr/>
        </p:nvSpPr>
        <p:spPr>
          <a:xfrm>
            <a:off x="7391400" y="47244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4" name="Minus Sign 33"/>
          <p:cNvSpPr/>
          <p:nvPr/>
        </p:nvSpPr>
        <p:spPr>
          <a:xfrm>
            <a:off x="7391400" y="41148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5" name="Minus Sign 34"/>
          <p:cNvSpPr/>
          <p:nvPr/>
        </p:nvSpPr>
        <p:spPr>
          <a:xfrm>
            <a:off x="7391400" y="35052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6" name="Minus Sign 35"/>
          <p:cNvSpPr/>
          <p:nvPr/>
        </p:nvSpPr>
        <p:spPr>
          <a:xfrm>
            <a:off x="7391400" y="28956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7" name="Minus Sign 36"/>
          <p:cNvSpPr/>
          <p:nvPr/>
        </p:nvSpPr>
        <p:spPr>
          <a:xfrm>
            <a:off x="7391400" y="22860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8" name="Minus Sign 37"/>
          <p:cNvSpPr/>
          <p:nvPr/>
        </p:nvSpPr>
        <p:spPr>
          <a:xfrm>
            <a:off x="7391400" y="16764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39" name="Minus Sign 38"/>
          <p:cNvSpPr/>
          <p:nvPr/>
        </p:nvSpPr>
        <p:spPr>
          <a:xfrm>
            <a:off x="6172200" y="2286000"/>
            <a:ext cx="457200" cy="457200"/>
          </a:xfrm>
          <a:prstGeom prst="mathMinus">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327"/>
            <a:endParaRPr lang="en-US">
              <a:solidFill>
                <a:srgbClr val="FFFFFF"/>
              </a:solidFill>
            </a:endParaRPr>
          </a:p>
        </p:txBody>
      </p:sp>
      <p:sp>
        <p:nvSpPr>
          <p:cNvPr id="40" name="Title 1"/>
          <p:cNvSpPr txBox="1">
            <a:spLocks/>
          </p:cNvSpPr>
          <p:nvPr/>
        </p:nvSpPr>
        <p:spPr bwMode="auto">
          <a:xfrm>
            <a:off x="2" y="664288"/>
            <a:ext cx="12191999" cy="525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spAutoFit/>
          </a:bodyPr>
          <a:lst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a:lstStyle>
          <a:p>
            <a:pPr algn="ctr" defTabSz="1087351"/>
            <a:r>
              <a:rPr lang="en-US" sz="4167" dirty="0"/>
              <a:t>Orientation</a:t>
            </a:r>
          </a:p>
        </p:txBody>
      </p:sp>
    </p:spTree>
    <p:extLst>
      <p:ext uri="{BB962C8B-B14F-4D97-AF65-F5344CB8AC3E}">
        <p14:creationId xmlns:p14="http://schemas.microsoft.com/office/powerpoint/2010/main" val="565100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764972" y="1024899"/>
            <a:ext cx="6662057" cy="5827386"/>
          </a:xfrm>
          <a:prstGeom prst="rect">
            <a:avLst/>
          </a:prstGeom>
        </p:spPr>
      </p:pic>
      <p:sp>
        <p:nvSpPr>
          <p:cNvPr id="5" name="Title 1"/>
          <p:cNvSpPr txBox="1">
            <a:spLocks/>
          </p:cNvSpPr>
          <p:nvPr/>
        </p:nvSpPr>
        <p:spPr bwMode="auto">
          <a:xfrm>
            <a:off x="1" y="326828"/>
            <a:ext cx="12191999" cy="525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spAutoFit/>
          </a:bodyPr>
          <a:lst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a:lstStyle>
          <a:p>
            <a:pPr algn="ctr"/>
            <a:r>
              <a:rPr lang="en-US" sz="4167" dirty="0"/>
              <a:t>Order</a:t>
            </a:r>
          </a:p>
        </p:txBody>
      </p:sp>
    </p:spTree>
    <p:extLst>
      <p:ext uri="{BB962C8B-B14F-4D97-AF65-F5344CB8AC3E}">
        <p14:creationId xmlns:p14="http://schemas.microsoft.com/office/powerpoint/2010/main" val="19516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590801" y="865823"/>
            <a:ext cx="6887789" cy="5992178"/>
          </a:xfrm>
          <a:prstGeom prst="rect">
            <a:avLst/>
          </a:prstGeom>
        </p:spPr>
      </p:pic>
      <p:sp>
        <p:nvSpPr>
          <p:cNvPr id="4" name="Title 1"/>
          <p:cNvSpPr txBox="1">
            <a:spLocks/>
          </p:cNvSpPr>
          <p:nvPr/>
        </p:nvSpPr>
        <p:spPr bwMode="auto">
          <a:xfrm>
            <a:off x="1" y="326828"/>
            <a:ext cx="12191999" cy="525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spAutoFit/>
          </a:bodyPr>
          <a:lst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a:lstStyle>
          <a:p>
            <a:pPr algn="ctr"/>
            <a:r>
              <a:rPr lang="en-US" sz="4167" dirty="0"/>
              <a:t>Order</a:t>
            </a:r>
          </a:p>
        </p:txBody>
      </p:sp>
    </p:spTree>
    <p:extLst>
      <p:ext uri="{BB962C8B-B14F-4D97-AF65-F5344CB8AC3E}">
        <p14:creationId xmlns:p14="http://schemas.microsoft.com/office/powerpoint/2010/main" val="384995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3123942" y="1738924"/>
            <a:ext cx="5944115" cy="4770534"/>
          </a:xfrm>
          <a:prstGeom prst="rect">
            <a:avLst/>
          </a:prstGeom>
        </p:spPr>
      </p:pic>
      <p:sp>
        <p:nvSpPr>
          <p:cNvPr id="2" name="Title 1">
            <a:extLst>
              <a:ext uri="{FF2B5EF4-FFF2-40B4-BE49-F238E27FC236}">
                <a16:creationId xmlns:a16="http://schemas.microsoft.com/office/drawing/2014/main" id="{EC29744C-C2D1-EF3B-76F8-EF8FE44E3DD8}"/>
              </a:ext>
            </a:extLst>
          </p:cNvPr>
          <p:cNvSpPr>
            <a:spLocks noGrp="1"/>
          </p:cNvSpPr>
          <p:nvPr>
            <p:ph type="title"/>
          </p:nvPr>
        </p:nvSpPr>
        <p:spPr/>
        <p:txBody>
          <a:bodyPr/>
          <a:lstStyle/>
          <a:p>
            <a:r>
              <a:rPr lang="en-US" dirty="0"/>
              <a:t>What can We Manipulate?</a:t>
            </a:r>
          </a:p>
        </p:txBody>
      </p:sp>
      <p:sp>
        <p:nvSpPr>
          <p:cNvPr id="3" name="Content Placeholder 2">
            <a:extLst>
              <a:ext uri="{FF2B5EF4-FFF2-40B4-BE49-F238E27FC236}">
                <a16:creationId xmlns:a16="http://schemas.microsoft.com/office/drawing/2014/main" id="{65C4DD35-258D-AB18-B03C-B1C73E974A3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7498663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01BD258-4C9D-D400-34F7-B62157DD03C3}"/>
              </a:ext>
            </a:extLst>
          </p:cNvPr>
          <p:cNvGrpSpPr/>
          <p:nvPr/>
        </p:nvGrpSpPr>
        <p:grpSpPr>
          <a:xfrm>
            <a:off x="1679756" y="757717"/>
            <a:ext cx="9144000" cy="1039108"/>
            <a:chOff x="1524000" y="5061427"/>
            <a:chExt cx="9144000" cy="1039108"/>
          </a:xfrm>
        </p:grpSpPr>
        <p:sp>
          <p:nvSpPr>
            <p:cNvPr id="2" name="Rectangle 1"/>
            <p:cNvSpPr/>
            <p:nvPr/>
          </p:nvSpPr>
          <p:spPr>
            <a:xfrm>
              <a:off x="1524000" y="5061427"/>
              <a:ext cx="9144000" cy="10391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3700"/>
              <a:endParaRPr lang="en-US" sz="985">
                <a:solidFill>
                  <a:srgbClr val="FFFFFF"/>
                </a:solidFill>
              </a:endParaRPr>
            </a:p>
          </p:txBody>
        </p:sp>
        <p:sp>
          <p:nvSpPr>
            <p:cNvPr id="3" name="TextBox 2"/>
            <p:cNvSpPr txBox="1"/>
            <p:nvPr/>
          </p:nvSpPr>
          <p:spPr>
            <a:xfrm>
              <a:off x="2667000" y="5379735"/>
              <a:ext cx="6858000" cy="415498"/>
            </a:xfrm>
            <a:prstGeom prst="rect">
              <a:avLst/>
            </a:prstGeom>
            <a:noFill/>
          </p:spPr>
          <p:txBody>
            <a:bodyPr wrap="square" rtlCol="0">
              <a:spAutoFit/>
            </a:bodyPr>
            <a:lstStyle/>
            <a:p>
              <a:pPr algn="ctr" defTabSz="513700"/>
              <a:r>
                <a:rPr lang="en-US" sz="2100" dirty="0">
                  <a:solidFill>
                    <a:srgbClr val="FFFFFF"/>
                  </a:solidFill>
                  <a:latin typeface="Calibri" panose="020F0502020204030204" pitchFamily="34" charset="0"/>
                </a:rPr>
                <a:t>Preattentive attributes of visual perception and use of color</a:t>
              </a:r>
            </a:p>
          </p:txBody>
        </p:sp>
      </p:grpSp>
      <p:pic>
        <p:nvPicPr>
          <p:cNvPr id="4" name="Picture 3"/>
          <p:cNvPicPr>
            <a:picLocks noChangeAspect="1"/>
          </p:cNvPicPr>
          <p:nvPr/>
        </p:nvPicPr>
        <p:blipFill>
          <a:blip r:embed="rId3"/>
          <a:stretch>
            <a:fillRect/>
          </a:stretch>
        </p:blipFill>
        <p:spPr>
          <a:xfrm>
            <a:off x="1996703" y="1900556"/>
            <a:ext cx="8510106" cy="3947514"/>
          </a:xfrm>
          <a:prstGeom prst="rect">
            <a:avLst/>
          </a:prstGeom>
        </p:spPr>
      </p:pic>
      <p:sp>
        <p:nvSpPr>
          <p:cNvPr id="5" name="Title 4">
            <a:extLst>
              <a:ext uri="{FF2B5EF4-FFF2-40B4-BE49-F238E27FC236}">
                <a16:creationId xmlns:a16="http://schemas.microsoft.com/office/drawing/2014/main" id="{6886F446-E5E9-A6AE-EF79-71E35D0A2F9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9639441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1BE29-731C-2F75-D337-B6B9E059F487}"/>
              </a:ext>
            </a:extLst>
          </p:cNvPr>
          <p:cNvSpPr>
            <a:spLocks noGrp="1"/>
          </p:cNvSpPr>
          <p:nvPr>
            <p:ph type="title"/>
          </p:nvPr>
        </p:nvSpPr>
        <p:spPr/>
        <p:txBody>
          <a:bodyPr/>
          <a:lstStyle/>
          <a:p>
            <a:r>
              <a:rPr lang="en-US" dirty="0"/>
              <a:t>If we do a Good Job, Meaning is Clear</a:t>
            </a:r>
          </a:p>
        </p:txBody>
      </p:sp>
      <p:sp>
        <p:nvSpPr>
          <p:cNvPr id="3" name="Content Placeholder 2">
            <a:extLst>
              <a:ext uri="{FF2B5EF4-FFF2-40B4-BE49-F238E27FC236}">
                <a16:creationId xmlns:a16="http://schemas.microsoft.com/office/drawing/2014/main" id="{1568591A-A8C7-F381-9959-FFBD4A3C7E27}"/>
              </a:ext>
            </a:extLst>
          </p:cNvPr>
          <p:cNvSpPr>
            <a:spLocks noGrp="1"/>
          </p:cNvSpPr>
          <p:nvPr>
            <p:ph idx="1"/>
          </p:nvPr>
        </p:nvSpPr>
        <p:spPr/>
        <p:txBody>
          <a:bodyPr/>
          <a:lstStyle/>
          <a:p>
            <a:endParaRPr lang="en-US" dirty="0"/>
          </a:p>
        </p:txBody>
      </p:sp>
      <p:pic>
        <p:nvPicPr>
          <p:cNvPr id="2056" name="Picture 8" descr="Activity: Creating line charts from Yahoo Finance stock market data –  Perkins School for the Blind">
            <a:extLst>
              <a:ext uri="{FF2B5EF4-FFF2-40B4-BE49-F238E27FC236}">
                <a16:creationId xmlns:a16="http://schemas.microsoft.com/office/drawing/2014/main" id="{7CC7D64D-B579-1B47-D7DD-9BAE58721F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5200" y="1645713"/>
            <a:ext cx="6116799" cy="440776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Bar Charts : An easy guide for beginners">
            <a:extLst>
              <a:ext uri="{FF2B5EF4-FFF2-40B4-BE49-F238E27FC236}">
                <a16:creationId xmlns:a16="http://schemas.microsoft.com/office/drawing/2014/main" id="{2BE5C809-9610-C1F6-F885-93F1ED9B9E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200400"/>
            <a:ext cx="60960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64249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EC154-B094-6C79-211C-5E970697F984}"/>
              </a:ext>
            </a:extLst>
          </p:cNvPr>
          <p:cNvSpPr>
            <a:spLocks noGrp="1"/>
          </p:cNvSpPr>
          <p:nvPr>
            <p:ph type="title"/>
          </p:nvPr>
        </p:nvSpPr>
        <p:spPr/>
        <p:txBody>
          <a:bodyPr/>
          <a:lstStyle/>
          <a:p>
            <a:r>
              <a:rPr lang="en-US" dirty="0"/>
              <a:t>Even as we Add Complexity</a:t>
            </a:r>
          </a:p>
        </p:txBody>
      </p:sp>
      <p:sp>
        <p:nvSpPr>
          <p:cNvPr id="3" name="Content Placeholder 2">
            <a:extLst>
              <a:ext uri="{FF2B5EF4-FFF2-40B4-BE49-F238E27FC236}">
                <a16:creationId xmlns:a16="http://schemas.microsoft.com/office/drawing/2014/main" id="{9AF989D1-17C1-D1D2-7B42-F4855ABE4421}"/>
              </a:ext>
            </a:extLst>
          </p:cNvPr>
          <p:cNvSpPr>
            <a:spLocks noGrp="1"/>
          </p:cNvSpPr>
          <p:nvPr>
            <p:ph idx="1"/>
          </p:nvPr>
        </p:nvSpPr>
        <p:spPr/>
        <p:txBody>
          <a:bodyPr/>
          <a:lstStyle/>
          <a:p>
            <a:endParaRPr lang="en-US"/>
          </a:p>
        </p:txBody>
      </p:sp>
      <p:pic>
        <p:nvPicPr>
          <p:cNvPr id="3076" name="Picture 4" descr="How to Read Stock Charts: A Beginner's Step-by-Step Guide">
            <a:extLst>
              <a:ext uri="{FF2B5EF4-FFF2-40B4-BE49-F238E27FC236}">
                <a16:creationId xmlns:a16="http://schemas.microsoft.com/office/drawing/2014/main" id="{169D532D-E1D1-B0C6-75FB-4F41342284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4700" y="1853754"/>
            <a:ext cx="8102600" cy="5016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2681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945149" y="804863"/>
            <a:ext cx="8265653" cy="1049337"/>
          </a:xfrm>
          <a:prstGeom prst="rect">
            <a:avLst/>
          </a:prstGeom>
        </p:spPr>
        <p:txBody>
          <a:bodyPr>
            <a:normAutofit/>
          </a:bodyPr>
          <a:lstStyle/>
          <a:p>
            <a:pPr algn="ctr"/>
            <a:r>
              <a:rPr lang="en-US" dirty="0"/>
              <a:t>If we do A bad Job…</a:t>
            </a:r>
          </a:p>
        </p:txBody>
      </p:sp>
      <p:pic>
        <p:nvPicPr>
          <p:cNvPr id="2" name="Picture 1"/>
          <p:cNvPicPr>
            <a:picLocks noChangeAspect="1"/>
          </p:cNvPicPr>
          <p:nvPr/>
        </p:nvPicPr>
        <p:blipFill>
          <a:blip r:embed="rId3"/>
          <a:stretch>
            <a:fillRect/>
          </a:stretch>
        </p:blipFill>
        <p:spPr>
          <a:xfrm>
            <a:off x="1945149" y="1534520"/>
            <a:ext cx="8265653" cy="3951880"/>
          </a:xfrm>
          <a:prstGeom prst="rect">
            <a:avLst/>
          </a:prstGeom>
        </p:spPr>
      </p:pic>
      <p:sp>
        <p:nvSpPr>
          <p:cNvPr id="5" name="Rectangle 3"/>
          <p:cNvSpPr>
            <a:spLocks/>
          </p:cNvSpPr>
          <p:nvPr/>
        </p:nvSpPr>
        <p:spPr bwMode="auto">
          <a:xfrm>
            <a:off x="5184775" y="6631190"/>
            <a:ext cx="7117333" cy="1923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nchor="ctr">
            <a:spAutoFit/>
          </a:bodyPr>
          <a:lstStyle/>
          <a:p>
            <a:pPr defTabSz="914327"/>
            <a:r>
              <a:rPr lang="en-US" sz="1250" dirty="0">
                <a:solidFill>
                  <a:srgbClr val="4C4C4C"/>
                </a:solidFill>
                <a:latin typeface="Merriweather Light"/>
              </a:rPr>
              <a:t>From </a:t>
            </a:r>
            <a:r>
              <a:rPr lang="en-US" sz="1250" i="1" dirty="0">
                <a:solidFill>
                  <a:srgbClr val="4C4C4C"/>
                </a:solidFill>
                <a:latin typeface="Merriweather Light"/>
                <a:hlinkClick r:id="rId4"/>
              </a:rPr>
              <a:t>http://online.wsj.com</a:t>
            </a:r>
            <a:r>
              <a:rPr lang="en-US" sz="1250" i="1" dirty="0">
                <a:solidFill>
                  <a:srgbClr val="4C4C4C"/>
                </a:solidFill>
                <a:latin typeface="Merriweather Light"/>
              </a:rPr>
              <a:t> - The Wall Street Journal Online, originally published August 7, 2010</a:t>
            </a:r>
          </a:p>
        </p:txBody>
      </p:sp>
    </p:spTree>
    <p:extLst>
      <p:ext uri="{BB962C8B-B14F-4D97-AF65-F5344CB8AC3E}">
        <p14:creationId xmlns:p14="http://schemas.microsoft.com/office/powerpoint/2010/main" val="3214951831"/>
      </p:ext>
    </p:extLst>
  </p:cSld>
  <p:clrMapOvr>
    <a:masterClrMapping/>
  </p:clrMapOvr>
  <p:transition spd="slow">
    <p:wipe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077CE-8F11-FA33-E622-9ED7BF23C28C}"/>
              </a:ext>
            </a:extLst>
          </p:cNvPr>
          <p:cNvSpPr>
            <a:spLocks noGrp="1"/>
          </p:cNvSpPr>
          <p:nvPr>
            <p:ph type="title"/>
          </p:nvPr>
        </p:nvSpPr>
        <p:spPr/>
        <p:txBody>
          <a:bodyPr/>
          <a:lstStyle/>
          <a:p>
            <a:r>
              <a:rPr lang="en-US" dirty="0"/>
              <a:t>Data Density</a:t>
            </a:r>
          </a:p>
        </p:txBody>
      </p:sp>
      <p:sp>
        <p:nvSpPr>
          <p:cNvPr id="3" name="Content Placeholder 2">
            <a:extLst>
              <a:ext uri="{FF2B5EF4-FFF2-40B4-BE49-F238E27FC236}">
                <a16:creationId xmlns:a16="http://schemas.microsoft.com/office/drawing/2014/main" id="{B5F35F88-9BA6-7852-2D26-F67F25F82779}"/>
              </a:ext>
            </a:extLst>
          </p:cNvPr>
          <p:cNvSpPr>
            <a:spLocks noGrp="1"/>
          </p:cNvSpPr>
          <p:nvPr>
            <p:ph idx="1"/>
          </p:nvPr>
        </p:nvSpPr>
        <p:spPr>
          <a:xfrm>
            <a:off x="6279888" y="1853754"/>
            <a:ext cx="5912112" cy="4199727"/>
          </a:xfrm>
        </p:spPr>
        <p:txBody>
          <a:bodyPr>
            <a:normAutofit lnSpcReduction="10000"/>
          </a:bodyPr>
          <a:lstStyle/>
          <a:p>
            <a:r>
              <a:rPr lang="en-US" dirty="0"/>
              <a:t>These attributes can be used to add density to a visualization. </a:t>
            </a:r>
          </a:p>
          <a:p>
            <a:pPr lvl="1"/>
            <a:r>
              <a:rPr lang="en-US" dirty="0"/>
              <a:t>We can make a chart contain more data than it does in its ‘raw’ form. </a:t>
            </a:r>
          </a:p>
          <a:p>
            <a:r>
              <a:rPr lang="en-US" dirty="0"/>
              <a:t>Each attribute can represent some variable. </a:t>
            </a:r>
          </a:p>
          <a:p>
            <a:r>
              <a:rPr lang="en-US" dirty="0"/>
              <a:t>This can make our charts more ‘efficient’. </a:t>
            </a:r>
          </a:p>
          <a:p>
            <a:pPr lvl="1"/>
            <a:r>
              <a:rPr lang="en-US" dirty="0"/>
              <a:t>Density is good, as long as it helps. </a:t>
            </a:r>
          </a:p>
          <a:p>
            <a:pPr lvl="1"/>
            <a:r>
              <a:rPr lang="en-US" dirty="0"/>
              <a:t>Must be clear, relevant, and useful to reader. </a:t>
            </a:r>
          </a:p>
          <a:p>
            <a:r>
              <a:rPr lang="en-US" dirty="0"/>
              <a:t>Need to be careful to not just use because it is there. </a:t>
            </a:r>
          </a:p>
          <a:p>
            <a:r>
              <a:rPr lang="en-US" dirty="0"/>
              <a:t>Visualizations can be more flexible in usage. </a:t>
            </a:r>
          </a:p>
        </p:txBody>
      </p:sp>
      <p:pic>
        <p:nvPicPr>
          <p:cNvPr id="4" name="Picture 3">
            <a:extLst>
              <a:ext uri="{FF2B5EF4-FFF2-40B4-BE49-F238E27FC236}">
                <a16:creationId xmlns:a16="http://schemas.microsoft.com/office/drawing/2014/main" id="{9C07D770-9D2E-3524-AD3F-81A2A8BC30EF}"/>
              </a:ext>
            </a:extLst>
          </p:cNvPr>
          <p:cNvPicPr>
            <a:picLocks noChangeAspect="1"/>
          </p:cNvPicPr>
          <p:nvPr/>
        </p:nvPicPr>
        <p:blipFill>
          <a:blip r:embed="rId2"/>
          <a:stretch>
            <a:fillRect/>
          </a:stretch>
        </p:blipFill>
        <p:spPr>
          <a:xfrm>
            <a:off x="0" y="2015732"/>
            <a:ext cx="6335486" cy="3676239"/>
          </a:xfrm>
          <a:prstGeom prst="rect">
            <a:avLst/>
          </a:prstGeom>
        </p:spPr>
      </p:pic>
    </p:spTree>
    <p:extLst>
      <p:ext uri="{BB962C8B-B14F-4D97-AF65-F5344CB8AC3E}">
        <p14:creationId xmlns:p14="http://schemas.microsoft.com/office/powerpoint/2010/main" val="16697118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C7BA1-A5E2-7ED6-1B17-6318F54D82C4}"/>
              </a:ext>
            </a:extLst>
          </p:cNvPr>
          <p:cNvSpPr>
            <a:spLocks noGrp="1"/>
          </p:cNvSpPr>
          <p:nvPr>
            <p:ph type="title"/>
          </p:nvPr>
        </p:nvSpPr>
        <p:spPr/>
        <p:txBody>
          <a:bodyPr/>
          <a:lstStyle/>
          <a:p>
            <a:r>
              <a:rPr lang="en-US" dirty="0"/>
              <a:t>In Tableau</a:t>
            </a:r>
          </a:p>
        </p:txBody>
      </p:sp>
      <p:sp>
        <p:nvSpPr>
          <p:cNvPr id="3" name="Content Placeholder 2">
            <a:extLst>
              <a:ext uri="{FF2B5EF4-FFF2-40B4-BE49-F238E27FC236}">
                <a16:creationId xmlns:a16="http://schemas.microsoft.com/office/drawing/2014/main" id="{9A55FEB8-7516-6F02-C792-F67BDB690CAB}"/>
              </a:ext>
            </a:extLst>
          </p:cNvPr>
          <p:cNvSpPr>
            <a:spLocks noGrp="1"/>
          </p:cNvSpPr>
          <p:nvPr>
            <p:ph idx="1"/>
          </p:nvPr>
        </p:nvSpPr>
        <p:spPr>
          <a:xfrm>
            <a:off x="1451579" y="1916724"/>
            <a:ext cx="9603275" cy="4136758"/>
          </a:xfrm>
        </p:spPr>
        <p:txBody>
          <a:bodyPr/>
          <a:lstStyle/>
          <a:p>
            <a:r>
              <a:rPr lang="en-US" dirty="0"/>
              <a:t>What would a user of this visualization need to know?</a:t>
            </a:r>
          </a:p>
          <a:p>
            <a:r>
              <a:rPr lang="en-US" dirty="0"/>
              <a:t>Do I have data needed to show/generate that information?</a:t>
            </a:r>
          </a:p>
          <a:p>
            <a:r>
              <a:rPr lang="en-US" dirty="0"/>
              <a:t>What is the easiest way to present that information?</a:t>
            </a:r>
          </a:p>
          <a:p>
            <a:pPr lvl="1"/>
            <a:r>
              <a:rPr lang="en-US" dirty="0"/>
              <a:t>Bar chart, map, scatter plot, </a:t>
            </a:r>
            <a:r>
              <a:rPr lang="en-US" dirty="0" err="1"/>
              <a:t>etc</a:t>
            </a:r>
            <a:r>
              <a:rPr lang="en-US" dirty="0"/>
              <a:t>…</a:t>
            </a:r>
          </a:p>
          <a:p>
            <a:r>
              <a:rPr lang="en-US" dirty="0"/>
              <a:t>What ‘other stuff’ can I use to make things more clear?</a:t>
            </a:r>
          </a:p>
          <a:p>
            <a:pPr lvl="1"/>
            <a:r>
              <a:rPr lang="en-US" dirty="0"/>
              <a:t>Attributes like color/size/shape.</a:t>
            </a:r>
          </a:p>
          <a:p>
            <a:pPr lvl="1"/>
            <a:r>
              <a:rPr lang="en-US" dirty="0"/>
              <a:t>Features like filters, animation, </a:t>
            </a:r>
            <a:r>
              <a:rPr lang="en-US" dirty="0" err="1"/>
              <a:t>etc</a:t>
            </a:r>
            <a:r>
              <a:rPr lang="en-US" dirty="0"/>
              <a:t>…</a:t>
            </a:r>
          </a:p>
          <a:p>
            <a:r>
              <a:rPr lang="en-US" dirty="0"/>
              <a:t>There’s no set answer, there are good guidelines though…</a:t>
            </a:r>
          </a:p>
          <a:p>
            <a:pPr lvl="1"/>
            <a:r>
              <a:rPr lang="en-US" dirty="0"/>
              <a:t>You can say something with many different words, you can show it with different charts. </a:t>
            </a:r>
          </a:p>
        </p:txBody>
      </p:sp>
    </p:spTree>
    <p:extLst>
      <p:ext uri="{BB962C8B-B14F-4D97-AF65-F5344CB8AC3E}">
        <p14:creationId xmlns:p14="http://schemas.microsoft.com/office/powerpoint/2010/main" val="34493740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4FC08-E796-4DD3-D994-2348448CE1E3}"/>
              </a:ext>
            </a:extLst>
          </p:cNvPr>
          <p:cNvSpPr>
            <a:spLocks noGrp="1"/>
          </p:cNvSpPr>
          <p:nvPr>
            <p:ph type="title"/>
          </p:nvPr>
        </p:nvSpPr>
        <p:spPr/>
        <p:txBody>
          <a:bodyPr/>
          <a:lstStyle/>
          <a:p>
            <a:r>
              <a:rPr lang="en-US" dirty="0"/>
              <a:t>The </a:t>
            </a:r>
            <a:r>
              <a:rPr lang="en-US" dirty="0" err="1"/>
              <a:t>TablAsics</a:t>
            </a:r>
            <a:endParaRPr lang="en-US" dirty="0"/>
          </a:p>
        </p:txBody>
      </p:sp>
      <p:sp>
        <p:nvSpPr>
          <p:cNvPr id="3" name="Content Placeholder 2">
            <a:extLst>
              <a:ext uri="{FF2B5EF4-FFF2-40B4-BE49-F238E27FC236}">
                <a16:creationId xmlns:a16="http://schemas.microsoft.com/office/drawing/2014/main" id="{2804F696-2C01-CB8A-5A9A-B85256F8EA3C}"/>
              </a:ext>
            </a:extLst>
          </p:cNvPr>
          <p:cNvSpPr>
            <a:spLocks noGrp="1"/>
          </p:cNvSpPr>
          <p:nvPr>
            <p:ph idx="1"/>
          </p:nvPr>
        </p:nvSpPr>
        <p:spPr>
          <a:xfrm>
            <a:off x="1451579" y="1942156"/>
            <a:ext cx="9603275" cy="4111326"/>
          </a:xfrm>
        </p:spPr>
        <p:txBody>
          <a:bodyPr/>
          <a:lstStyle/>
          <a:p>
            <a:r>
              <a:rPr lang="en-US" dirty="0"/>
              <a:t>Tableau makes charts and graphs out of data sources. </a:t>
            </a:r>
          </a:p>
          <a:p>
            <a:r>
              <a:rPr lang="en-US" dirty="0"/>
              <a:t>We need to:</a:t>
            </a:r>
          </a:p>
          <a:p>
            <a:pPr lvl="1"/>
            <a:r>
              <a:rPr lang="en-US" dirty="0"/>
              <a:t>Source and prepare data. </a:t>
            </a:r>
          </a:p>
          <a:p>
            <a:pPr lvl="1"/>
            <a:r>
              <a:rPr lang="en-US" dirty="0"/>
              <a:t>Make sense of it – what do I need to know from this data? Information and knowledge. </a:t>
            </a:r>
          </a:p>
          <a:p>
            <a:pPr lvl="1"/>
            <a:r>
              <a:rPr lang="en-US" dirty="0"/>
              <a:t>How can I show that in charts/graphs?</a:t>
            </a:r>
          </a:p>
          <a:p>
            <a:pPr lvl="1"/>
            <a:r>
              <a:rPr lang="en-US" dirty="0"/>
              <a:t>What can I use to make it better – more dense, lower friction, more clear – </a:t>
            </a:r>
            <a:r>
              <a:rPr lang="en-US" dirty="0" err="1"/>
              <a:t>preattentive</a:t>
            </a:r>
            <a:r>
              <a:rPr lang="en-US" dirty="0"/>
              <a:t> attributes and other features like animation. </a:t>
            </a:r>
          </a:p>
          <a:p>
            <a:r>
              <a:rPr lang="en-US" dirty="0"/>
              <a:t>Only the last two points are Tableau – the others are just thinking. </a:t>
            </a:r>
          </a:p>
        </p:txBody>
      </p:sp>
    </p:spTree>
    <p:extLst>
      <p:ext uri="{BB962C8B-B14F-4D97-AF65-F5344CB8AC3E}">
        <p14:creationId xmlns:p14="http://schemas.microsoft.com/office/powerpoint/2010/main" val="26480097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FF89D-DC9A-FA91-978C-DA8089E9DE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4848D45-50B4-DAE0-F1A9-CBD20615EFA2}"/>
              </a:ext>
            </a:extLst>
          </p:cNvPr>
          <p:cNvSpPr>
            <a:spLocks noGrp="1"/>
          </p:cNvSpPr>
          <p:nvPr>
            <p:ph idx="1"/>
          </p:nvPr>
        </p:nvSpPr>
        <p:spPr/>
        <p:txBody>
          <a:bodyPr/>
          <a:lstStyle/>
          <a:p>
            <a:endParaRPr lang="en-US"/>
          </a:p>
        </p:txBody>
      </p:sp>
      <p:pic>
        <p:nvPicPr>
          <p:cNvPr id="3074" name="Picture 2" descr="Study Glance | SKILL DEVELOPMENT COURSE (DATA VISUALIZATION - R  PROGRAMMING/ POWER BI)">
            <a:extLst>
              <a:ext uri="{FF2B5EF4-FFF2-40B4-BE49-F238E27FC236}">
                <a16:creationId xmlns:a16="http://schemas.microsoft.com/office/drawing/2014/main" id="{F5875006-9828-89A0-5C49-217D58D6ED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0" y="0"/>
            <a:ext cx="1168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5822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D6C02-270C-0063-5642-C5C948B67AB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429C475-9B83-1BA6-2443-C414D0A803A4}"/>
              </a:ext>
            </a:extLst>
          </p:cNvPr>
          <p:cNvSpPr>
            <a:spLocks noGrp="1"/>
          </p:cNvSpPr>
          <p:nvPr>
            <p:ph idx="1"/>
          </p:nvPr>
        </p:nvSpPr>
        <p:spPr>
          <a:xfrm>
            <a:off x="1451579" y="2015732"/>
            <a:ext cx="9603275" cy="3967057"/>
          </a:xfrm>
        </p:spPr>
        <p:txBody>
          <a:bodyPr/>
          <a:lstStyle/>
          <a:p>
            <a:r>
              <a:rPr lang="en-US" dirty="0"/>
              <a:t>Visualization is a tool to make it easier to present and understand data. </a:t>
            </a:r>
          </a:p>
          <a:p>
            <a:r>
              <a:rPr lang="en-US" dirty="0"/>
              <a:t>Our visualizations can transform raw data into charts that present info and knowledge in an understandable way. </a:t>
            </a:r>
          </a:p>
          <a:p>
            <a:r>
              <a:rPr lang="en-US" dirty="0"/>
              <a:t>Tableau is one of several visualization tools that makes this convenient. </a:t>
            </a:r>
          </a:p>
          <a:p>
            <a:pPr lvl="1"/>
            <a:r>
              <a:rPr lang="en-US" dirty="0"/>
              <a:t>We are communicating, just using charts instead of words. </a:t>
            </a:r>
          </a:p>
          <a:p>
            <a:pPr lvl="1"/>
            <a:r>
              <a:rPr lang="en-US" dirty="0"/>
              <a:t>We want to make sure we say what we intended. </a:t>
            </a:r>
          </a:p>
          <a:p>
            <a:pPr lvl="1"/>
            <a:r>
              <a:rPr lang="en-US" dirty="0"/>
              <a:t>We can manipulate attributes to help us do that. </a:t>
            </a:r>
          </a:p>
        </p:txBody>
      </p:sp>
    </p:spTree>
    <p:extLst>
      <p:ext uri="{BB962C8B-B14F-4D97-AF65-F5344CB8AC3E}">
        <p14:creationId xmlns:p14="http://schemas.microsoft.com/office/powerpoint/2010/main" val="318413248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21534</TotalTime>
  <Words>3733</Words>
  <Application>Microsoft Macintosh PowerPoint</Application>
  <PresentationFormat>Widescreen</PresentationFormat>
  <Paragraphs>309</Paragraphs>
  <Slides>69</Slides>
  <Notes>27</Notes>
  <HiddenSlides>8</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Aptos</vt:lpstr>
      <vt:lpstr>Arial</vt:lpstr>
      <vt:lpstr>Avenir LT Std 45 Book</vt:lpstr>
      <vt:lpstr>BentonSans Book</vt:lpstr>
      <vt:lpstr>Calibri</vt:lpstr>
      <vt:lpstr>Gill Sans MT</vt:lpstr>
      <vt:lpstr>Helvetica</vt:lpstr>
      <vt:lpstr>Merriweather Light</vt:lpstr>
      <vt:lpstr>Gallery</vt:lpstr>
      <vt:lpstr>Introduction to Visualization</vt:lpstr>
      <vt:lpstr>Visualization</vt:lpstr>
      <vt:lpstr>Data – It Matters</vt:lpstr>
      <vt:lpstr>What is Data?</vt:lpstr>
      <vt:lpstr>We keep Getting More Data, More Quickly</vt:lpstr>
      <vt:lpstr>Data – We kind of hAve Too Much</vt:lpstr>
      <vt:lpstr>Visualization to the Rescue!</vt:lpstr>
      <vt:lpstr>PowerPoint Presentation</vt:lpstr>
      <vt:lpstr>Reducing Friction</vt:lpstr>
      <vt:lpstr>Making Use of Visualizations</vt:lpstr>
      <vt:lpstr>PowerPoint Presentation</vt:lpstr>
      <vt:lpstr>Data-&gt;Info-&gt;Knowledge</vt:lpstr>
      <vt:lpstr>Example</vt:lpstr>
      <vt:lpstr>PowerPoint Presentation</vt:lpstr>
      <vt:lpstr>PowerPoint Presentation</vt:lpstr>
      <vt:lpstr>Mo’ Data</vt:lpstr>
      <vt:lpstr>From Data to Knowledge</vt:lpstr>
      <vt:lpstr>In Tableau…</vt:lpstr>
      <vt:lpstr>Housekeeping</vt:lpstr>
      <vt:lpstr>Logistics</vt:lpstr>
      <vt:lpstr>PowerPoint Presentation</vt:lpstr>
      <vt:lpstr>Data Over HIPPOs</vt:lpstr>
      <vt:lpstr>What Analysis Can we Do?</vt:lpstr>
      <vt:lpstr>Analytic Types</vt:lpstr>
      <vt:lpstr>Put Simply…</vt:lpstr>
      <vt:lpstr>Types of Analysis</vt:lpstr>
      <vt:lpstr>A (Brief) History of Visualization</vt:lpstr>
      <vt:lpstr>Late 18th – Early 19th Century</vt:lpstr>
      <vt:lpstr>Early 19th Century</vt:lpstr>
      <vt:lpstr>20th Century</vt:lpstr>
      <vt:lpstr>20th Century</vt:lpstr>
      <vt:lpstr>PowerPoint Presentation</vt:lpstr>
      <vt:lpstr>A Picture is Worth a Thousand Words…</vt:lpstr>
      <vt:lpstr>Reducing Friction in Tableau</vt:lpstr>
      <vt:lpstr>How many times does the digit 7 appear?</vt:lpstr>
      <vt:lpstr>PowerPoint Presentation</vt:lpstr>
      <vt:lpstr>PowerPoint Presentation</vt:lpstr>
      <vt:lpstr>PowerPoint Presentation</vt:lpstr>
      <vt:lpstr>PowerPoint Presentation</vt:lpstr>
      <vt:lpstr>preattentive Magic</vt:lpstr>
      <vt:lpstr>PowerPoint Presentation</vt:lpstr>
      <vt:lpstr>We are born with an enhanced  visual path to cognition</vt:lpstr>
      <vt:lpstr>Our brain is powerful… but working memory is limited</vt:lpstr>
      <vt:lpstr>Making sense of our visual world… </vt:lpstr>
      <vt:lpstr>Use our PreWiring</vt:lpstr>
      <vt:lpstr>PowerPoint Presentation</vt:lpstr>
      <vt:lpstr>PowerPoint Presentation</vt:lpstr>
      <vt:lpstr>PowerPoint Presentation</vt:lpstr>
      <vt:lpstr>PowerPoint Presentation</vt:lpstr>
      <vt:lpstr>PowerPoint Presentation</vt:lpstr>
      <vt:lpstr>Relationships on a Traditional Color Wheel</vt:lpstr>
      <vt:lpstr>Relationships on a RGB Color Wheel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can We Manipulate?</vt:lpstr>
      <vt:lpstr>PowerPoint Presentation</vt:lpstr>
      <vt:lpstr>If we do a Good Job, Meaning is Clear</vt:lpstr>
      <vt:lpstr>Even as we Add Complexity</vt:lpstr>
      <vt:lpstr>If we do A bad Job…</vt:lpstr>
      <vt:lpstr>Data Density</vt:lpstr>
      <vt:lpstr>In Tableau</vt:lpstr>
      <vt:lpstr>The TablAsics</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Akeem Semper</dc:creator>
  <cp:lastModifiedBy>Akeem Semper</cp:lastModifiedBy>
  <cp:revision>30</cp:revision>
  <dcterms:created xsi:type="dcterms:W3CDTF">2025-08-22T02:40:02Z</dcterms:created>
  <dcterms:modified xsi:type="dcterms:W3CDTF">2026-09-16T19:55:52Z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2025-08-22T02:41:32Z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d50d6477-b1fd-4297-a7ca-491aee459ae5</vt:lpwstr>
  </property>
  <property fmtid="{D5CDD505-2E9C-101B-9397-08002B2CF9AE}" pid="8" name="MSIP_Label_10877899-02b0-462c-b2a9-b7d15c4f96fe_ContentBits">
    <vt:lpwstr>0</vt:lpwstr>
  </property>
  <property fmtid="{D5CDD505-2E9C-101B-9397-08002B2CF9AE}" pid="9" name="MSIP_Label_10877899-02b0-462c-b2a9-b7d15c4f96fe_Tag">
    <vt:lpwstr>50, 3, 0, 1</vt:lpwstr>
  </property>
</Properties>
</file>