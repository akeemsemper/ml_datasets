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558" r:id="rId2"/>
    <p:sldId id="256" r:id="rId3"/>
    <p:sldId id="546" r:id="rId4"/>
    <p:sldId id="547" r:id="rId5"/>
    <p:sldId id="548" r:id="rId6"/>
    <p:sldId id="549" r:id="rId7"/>
    <p:sldId id="257" r:id="rId8"/>
    <p:sldId id="273" r:id="rId9"/>
    <p:sldId id="545" r:id="rId10"/>
    <p:sldId id="260" r:id="rId11"/>
    <p:sldId id="267" r:id="rId12"/>
    <p:sldId id="261" r:id="rId13"/>
    <p:sldId id="561" r:id="rId14"/>
    <p:sldId id="272" r:id="rId15"/>
    <p:sldId id="262" r:id="rId16"/>
    <p:sldId id="266" r:id="rId17"/>
    <p:sldId id="263" r:id="rId18"/>
    <p:sldId id="258" r:id="rId19"/>
    <p:sldId id="559" r:id="rId20"/>
    <p:sldId id="259" r:id="rId21"/>
    <p:sldId id="264" r:id="rId22"/>
    <p:sldId id="265" r:id="rId23"/>
    <p:sldId id="271" r:id="rId24"/>
    <p:sldId id="269" r:id="rId25"/>
    <p:sldId id="270" r:id="rId26"/>
    <p:sldId id="268" r:id="rId27"/>
    <p:sldId id="551" r:id="rId28"/>
    <p:sldId id="360" r:id="rId29"/>
    <p:sldId id="554" r:id="rId30"/>
    <p:sldId id="555" r:id="rId31"/>
    <p:sldId id="552" r:id="rId32"/>
    <p:sldId id="392" r:id="rId33"/>
    <p:sldId id="393" r:id="rId34"/>
    <p:sldId id="556" r:id="rId35"/>
    <p:sldId id="426" r:id="rId36"/>
    <p:sldId id="560" r:id="rId37"/>
    <p:sldId id="341" r:id="rId38"/>
    <p:sldId id="438" r:id="rId39"/>
    <p:sldId id="416" r:id="rId40"/>
    <p:sldId id="387" r:id="rId41"/>
    <p:sldId id="417" r:id="rId42"/>
    <p:sldId id="394" r:id="rId43"/>
    <p:sldId id="414" r:id="rId44"/>
    <p:sldId id="429" r:id="rId45"/>
    <p:sldId id="431" r:id="rId46"/>
    <p:sldId id="415" r:id="rId47"/>
    <p:sldId id="557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E8E1D04-FFB7-A443-96E8-8EF43C6560A0}">
          <p14:sldIdLst>
            <p14:sldId id="558"/>
            <p14:sldId id="256"/>
          </p14:sldIdLst>
        </p14:section>
        <p14:section name="Anscombe" id="{C3BE5ABF-69C6-BD4E-A82D-E68ADE59AC47}">
          <p14:sldIdLst>
            <p14:sldId id="546"/>
            <p14:sldId id="547"/>
            <p14:sldId id="548"/>
            <p14:sldId id="549"/>
          </p14:sldIdLst>
        </p14:section>
        <p14:section name="Coord Plane" id="{DA92CEE8-6C91-014B-82B5-3C204EA48DCA}">
          <p14:sldIdLst>
            <p14:sldId id="257"/>
            <p14:sldId id="273"/>
            <p14:sldId id="545"/>
          </p14:sldIdLst>
        </p14:section>
        <p14:section name="Scatter Plot" id="{D6B8943E-8C11-254E-B116-05625603106C}">
          <p14:sldIdLst>
            <p14:sldId id="260"/>
            <p14:sldId id="267"/>
            <p14:sldId id="261"/>
            <p14:sldId id="561"/>
            <p14:sldId id="272"/>
            <p14:sldId id="262"/>
            <p14:sldId id="266"/>
            <p14:sldId id="263"/>
            <p14:sldId id="258"/>
          </p14:sldIdLst>
        </p14:section>
        <p14:section name="Non-scatter" id="{48C5913D-336C-724C-B779-809999C4F817}">
          <p14:sldIdLst>
            <p14:sldId id="559"/>
          </p14:sldIdLst>
        </p14:section>
        <p14:section name="Mapping" id="{45BDE52D-7DFF-9E4C-9AE3-55BDCDE50100}">
          <p14:sldIdLst>
            <p14:sldId id="259"/>
            <p14:sldId id="264"/>
          </p14:sldIdLst>
        </p14:section>
        <p14:section name="Trig and Coords" id="{7610224A-8B74-C046-AAD2-DB5F12C09567}">
          <p14:sldIdLst>
            <p14:sldId id="265"/>
            <p14:sldId id="271"/>
          </p14:sldIdLst>
        </p14:section>
        <p14:section name="Axes" id="{0656B8A9-A5A9-0646-A3DD-68C6BA4EFAED}">
          <p14:sldIdLst>
            <p14:sldId id="269"/>
            <p14:sldId id="270"/>
          </p14:sldIdLst>
        </p14:section>
        <p14:section name="Conclusion" id="{DF00E891-914E-4642-9CCF-7E0D8CEC5079}">
          <p14:sldIdLst>
            <p14:sldId id="268"/>
            <p14:sldId id="551"/>
            <p14:sldId id="360"/>
            <p14:sldId id="554"/>
            <p14:sldId id="555"/>
            <p14:sldId id="552"/>
            <p14:sldId id="392"/>
            <p14:sldId id="393"/>
            <p14:sldId id="556"/>
            <p14:sldId id="426"/>
            <p14:sldId id="560"/>
            <p14:sldId id="341"/>
            <p14:sldId id="438"/>
            <p14:sldId id="416"/>
            <p14:sldId id="387"/>
            <p14:sldId id="417"/>
            <p14:sldId id="394"/>
            <p14:sldId id="414"/>
            <p14:sldId id="429"/>
            <p14:sldId id="431"/>
            <p14:sldId id="415"/>
            <p14:sldId id="5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762"/>
  </p:normalViewPr>
  <p:slideViewPr>
    <p:cSldViewPr snapToGrid="0">
      <p:cViewPr>
        <p:scale>
          <a:sx n="100" d="100"/>
          <a:sy n="100" d="100"/>
        </p:scale>
        <p:origin x="7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C488-0008-CA42-9496-D262A63F87EA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15121A4-63F6-E943-8149-BD8026ACBF4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843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C488-0008-CA42-9496-D262A63F87EA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21A4-63F6-E943-8149-BD8026ACBF4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915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C488-0008-CA42-9496-D262A63F87EA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21A4-63F6-E943-8149-BD8026ACBF4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539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C488-0008-CA42-9496-D262A63F87EA}" type="datetimeFigureOut">
              <a:rPr lang="en-US" smtClean="0"/>
              <a:t>9/3/25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21A4-63F6-E943-8149-BD8026ACBF43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46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C488-0008-CA42-9496-D262A63F87EA}" type="datetimeFigureOut">
              <a:rPr lang="en-US" smtClean="0"/>
              <a:t>9/3/25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21A4-63F6-E943-8149-BD8026ACBF43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180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C488-0008-CA42-9496-D262A63F87EA}" type="datetimeFigureOut">
              <a:rPr lang="en-US" smtClean="0"/>
              <a:t>9/3/25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21A4-63F6-E943-8149-BD8026ACBF43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11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C488-0008-CA42-9496-D262A63F87EA}" type="datetimeFigureOut">
              <a:rPr lang="en-US" smtClean="0"/>
              <a:t>9/3/25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21A4-63F6-E943-8149-BD8026ACB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8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C488-0008-CA42-9496-D262A63F87EA}" type="datetimeFigureOut">
              <a:rPr lang="en-US" smtClean="0"/>
              <a:t>9/3/25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21A4-63F6-E943-8149-BD8026ACBF43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013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2EAC488-0008-CA42-9496-D262A63F87EA}" type="datetimeFigureOut">
              <a:rPr lang="en-US" smtClean="0"/>
              <a:t>9/3/25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21A4-63F6-E943-8149-BD8026ACBF43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54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C488-0008-CA42-9496-D262A63F87EA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21A4-63F6-E943-8149-BD8026ACBF43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876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C488-0008-CA42-9496-D262A63F87EA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21A4-63F6-E943-8149-BD8026ACBF4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977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gress Check_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A91B-89D1-4439-B203-39C7360BA7E9}" type="datetime1">
              <a:rPr lang="en-US" smtClean="0"/>
              <a:t>9/10/25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0C05DD-EBDD-493C-852D-9C8145ABB6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9268" y="873253"/>
            <a:ext cx="7315200" cy="108807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Progress Check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2EE0AC-6DF6-4F86-AC83-FDAEFF22C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2093842"/>
            <a:ext cx="7315200" cy="3890905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502920" indent="0">
              <a:buNone/>
              <a:defRPr sz="3600"/>
            </a:lvl2pPr>
            <a:lvl3pPr marL="960120" indent="0">
              <a:buNone/>
              <a:defRPr sz="3600"/>
            </a:lvl3pPr>
            <a:lvl4pPr marL="1417320" indent="0">
              <a:buNone/>
              <a:defRPr sz="3600"/>
            </a:lvl4pPr>
            <a:lvl5pPr marL="1874520" indent="0">
              <a:buNone/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3973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AC488-0008-CA42-9496-D262A63F87EA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15121A4-63F6-E943-8149-BD8026ACBF4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93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3C8C7-2926-CB89-A984-BE336BADD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82266-51D1-6C01-8A74-5C7C8D255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Today:</a:t>
            </a:r>
          </a:p>
          <a:p>
            <a:pPr lvl="1"/>
            <a:r>
              <a:rPr lang="en-US" dirty="0"/>
              <a:t>Chapter 3 – coordinate systems. Short and pretty simple. </a:t>
            </a:r>
          </a:p>
          <a:p>
            <a:pPr lvl="1"/>
            <a:r>
              <a:rPr lang="en-US" dirty="0"/>
              <a:t>Database structure basics – part 1 of 2. Datasheets, tables, structure, keys. </a:t>
            </a:r>
          </a:p>
          <a:p>
            <a:pPr lvl="2"/>
            <a:r>
              <a:rPr lang="en-US" dirty="0"/>
              <a:t>Reading:</a:t>
            </a:r>
          </a:p>
          <a:p>
            <a:r>
              <a:rPr lang="en-US" dirty="0"/>
              <a:t>Dashboards:</a:t>
            </a:r>
          </a:p>
          <a:p>
            <a:pPr lvl="1"/>
            <a:r>
              <a:rPr lang="en-US" dirty="0"/>
              <a:t>More dashboarding. </a:t>
            </a:r>
          </a:p>
          <a:p>
            <a:pPr lvl="1"/>
            <a:r>
              <a:rPr lang="en-US" dirty="0"/>
              <a:t>Actions and interactivity. </a:t>
            </a:r>
          </a:p>
          <a:p>
            <a:pPr lvl="1"/>
            <a:r>
              <a:rPr lang="en-US" dirty="0"/>
              <a:t>Filters and such. </a:t>
            </a:r>
          </a:p>
        </p:txBody>
      </p:sp>
    </p:spTree>
    <p:extLst>
      <p:ext uri="{BB962C8B-B14F-4D97-AF65-F5344CB8AC3E}">
        <p14:creationId xmlns:p14="http://schemas.microsoft.com/office/powerpoint/2010/main" val="2352366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D5C1-6153-57DF-62BD-0312F52DA2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Coordinate Systems and Axes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370B5-F879-F8C0-56BA-2555EF993B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78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0F98-F60C-32DD-19D6-24FC050D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Anscombe Quartet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5283D-25A9-F055-F99A-9B823A5CD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3" y="2015732"/>
            <a:ext cx="3856583" cy="40377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Anscombe’s Quartet is a nerd famous set of data sets. </a:t>
            </a:r>
          </a:p>
          <a:p>
            <a:r>
              <a:rPr lang="en-US" dirty="0"/>
              <a:t>Each data set (x/y) has the same:</a:t>
            </a:r>
          </a:p>
          <a:p>
            <a:pPr lvl="1"/>
            <a:r>
              <a:rPr lang="en-US" dirty="0"/>
              <a:t>Sum. </a:t>
            </a:r>
          </a:p>
          <a:p>
            <a:pPr lvl="1"/>
            <a:r>
              <a:rPr lang="en-US" dirty="0"/>
              <a:t>Mean</a:t>
            </a:r>
          </a:p>
          <a:p>
            <a:pPr lvl="1"/>
            <a:r>
              <a:rPr lang="en-US" dirty="0"/>
              <a:t>Standard deviation. </a:t>
            </a:r>
          </a:p>
          <a:p>
            <a:pPr lvl="1"/>
            <a:r>
              <a:rPr lang="en-US"/>
              <a:t>Correlation. </a:t>
            </a:r>
            <a:endParaRPr lang="en-US" dirty="0"/>
          </a:p>
          <a:p>
            <a:r>
              <a:rPr lang="en-US" dirty="0"/>
              <a:t>One would assume the data sets are very similar. </a:t>
            </a:r>
          </a:p>
          <a:p>
            <a:r>
              <a:rPr lang="en-US" dirty="0"/>
              <a:t>But…</a:t>
            </a:r>
          </a:p>
        </p:txBody>
      </p:sp>
      <p:pic>
        <p:nvPicPr>
          <p:cNvPr id="1026" name="Picture 2" descr="Articles - London SODA">
            <a:extLst>
              <a:ext uri="{FF2B5EF4-FFF2-40B4-BE49-F238E27FC236}">
                <a16:creationId xmlns:a16="http://schemas.microsoft.com/office/drawing/2014/main" id="{198E7EDD-E11B-9578-6B45-BEEA9727D8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46"/>
          <a:stretch>
            <a:fillRect/>
          </a:stretch>
        </p:blipFill>
        <p:spPr bwMode="auto">
          <a:xfrm>
            <a:off x="3961086" y="1853754"/>
            <a:ext cx="8230914" cy="435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2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8DBB4-B120-D042-A2C7-A8512708E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if We Visualize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8EF90-6539-ABFC-9AEF-A98CE9B3E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Anscombe's quartet - Wikipedia">
            <a:extLst>
              <a:ext uri="{FF2B5EF4-FFF2-40B4-BE49-F238E27FC236}">
                <a16:creationId xmlns:a16="http://schemas.microsoft.com/office/drawing/2014/main" id="{34090B7A-D9B5-AD88-1597-A0C7D0DB4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996" y="1455448"/>
            <a:ext cx="7426008" cy="540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695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E3C09-89C8-C337-77C3-E1EE64093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Going on Here? Chaos!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CDEB5-DDC9-EE74-758C-7586C98E1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We have a lot of data. </a:t>
            </a:r>
          </a:p>
          <a:p>
            <a:r>
              <a:rPr lang="en-US" dirty="0"/>
              <a:t>We can analyze that data in many different ways. </a:t>
            </a:r>
          </a:p>
          <a:p>
            <a:r>
              <a:rPr lang="en-US" dirty="0"/>
              <a:t>The type of analysis we do will change what we can learn from our data. </a:t>
            </a:r>
          </a:p>
          <a:p>
            <a:r>
              <a:rPr lang="en-US" dirty="0"/>
              <a:t>Visual analysis is powerful because it can help us see things that are difficult otherwise. </a:t>
            </a:r>
          </a:p>
          <a:p>
            <a:r>
              <a:rPr lang="en-US" dirty="0"/>
              <a:t>To analyze data well (like if this was your job):</a:t>
            </a:r>
          </a:p>
          <a:p>
            <a:pPr lvl="1"/>
            <a:r>
              <a:rPr lang="en-US" dirty="0"/>
              <a:t>We need a toolkit of analytical tools, of which visualization is an important one. </a:t>
            </a:r>
          </a:p>
          <a:p>
            <a:pPr lvl="1"/>
            <a:r>
              <a:rPr lang="en-US" dirty="0"/>
              <a:t>We need to ensure we present data in a way that allows us to see what we care about. </a:t>
            </a:r>
          </a:p>
        </p:txBody>
      </p:sp>
    </p:spTree>
    <p:extLst>
      <p:ext uri="{BB962C8B-B14F-4D97-AF65-F5344CB8AC3E}">
        <p14:creationId xmlns:p14="http://schemas.microsoft.com/office/powerpoint/2010/main" val="2389286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43ED3-56F8-1B98-CFE4-DA416007B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vs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037FC-109E-8375-5DE1-6B4522717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Encode. </a:t>
            </a:r>
          </a:p>
          <a:p>
            <a:pPr lvl="1"/>
            <a:r>
              <a:rPr lang="en-US" dirty="0"/>
              <a:t>We have a bunch of data to analyze and sort through. </a:t>
            </a:r>
          </a:p>
          <a:p>
            <a:pPr lvl="1"/>
            <a:r>
              <a:rPr lang="en-US" dirty="0"/>
              <a:t>We will create a visual representation of that in our charts – encoding. </a:t>
            </a:r>
          </a:p>
          <a:p>
            <a:r>
              <a:rPr lang="en-US" dirty="0"/>
              <a:t>Decode. </a:t>
            </a:r>
          </a:p>
          <a:p>
            <a:pPr lvl="1"/>
            <a:r>
              <a:rPr lang="en-US" dirty="0"/>
              <a:t>The reader will look at our visualization to get the information – decoding. </a:t>
            </a:r>
          </a:p>
          <a:p>
            <a:pPr lvl="1"/>
            <a:r>
              <a:rPr lang="en-US" dirty="0"/>
              <a:t>We want to make sure that they get what we intended. </a:t>
            </a:r>
          </a:p>
          <a:p>
            <a:pPr lvl="1"/>
            <a:r>
              <a:rPr lang="en-US" dirty="0"/>
              <a:t>We also want to make that as easy, or friction free, as possible. </a:t>
            </a:r>
          </a:p>
          <a:p>
            <a:r>
              <a:rPr lang="en-US" dirty="0"/>
              <a:t>We translate data into charts, the reader transforms charts into info/knowledge. </a:t>
            </a:r>
          </a:p>
          <a:p>
            <a:pPr lvl="1"/>
            <a:r>
              <a:rPr lang="en-US" dirty="0"/>
              <a:t>The better we are, the better this works. </a:t>
            </a:r>
          </a:p>
          <a:p>
            <a:r>
              <a:rPr lang="en-US" dirty="0"/>
              <a:t>Also don’t want to accidentally encode info - order, size, shade may convey meaning. </a:t>
            </a:r>
          </a:p>
        </p:txBody>
      </p:sp>
    </p:spTree>
    <p:extLst>
      <p:ext uri="{BB962C8B-B14F-4D97-AF65-F5344CB8AC3E}">
        <p14:creationId xmlns:p14="http://schemas.microsoft.com/office/powerpoint/2010/main" val="3236604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AED8F-D7B6-00DA-9BB9-CC467AFA3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Coordinate Planes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F58A3-C2D0-1EC3-0333-70E5D404C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548" y="1853754"/>
            <a:ext cx="6889641" cy="4199727"/>
          </a:xfrm>
        </p:spPr>
        <p:txBody>
          <a:bodyPr>
            <a:normAutofit/>
          </a:bodyPr>
          <a:lstStyle/>
          <a:p>
            <a:r>
              <a:rPr lang="en-US" dirty="0"/>
              <a:t>One of the foundational ideas of graphing is the coordinate plane. </a:t>
            </a:r>
          </a:p>
          <a:p>
            <a:r>
              <a:rPr lang="en-US" dirty="0"/>
              <a:t>Allows us to define exact position in 2D (</a:t>
            </a:r>
            <a:r>
              <a:rPr lang="en-US" dirty="0" err="1"/>
              <a:t>x,y</a:t>
            </a:r>
            <a:r>
              <a:rPr lang="en-US" dirty="0"/>
              <a:t>). </a:t>
            </a:r>
          </a:p>
          <a:p>
            <a:r>
              <a:rPr lang="en-US" dirty="0"/>
              <a:t>We can plot pretty much anything here. </a:t>
            </a:r>
          </a:p>
          <a:p>
            <a:pPr lvl="1"/>
            <a:r>
              <a:rPr lang="en-US" dirty="0"/>
              <a:t>We can define the positions arithmetically. </a:t>
            </a:r>
          </a:p>
          <a:p>
            <a:r>
              <a:rPr lang="en-US" dirty="0"/>
              <a:t>Tableau works by creating planes and plotting points on them. </a:t>
            </a:r>
          </a:p>
          <a:p>
            <a:pPr lvl="1"/>
            <a:r>
              <a:rPr lang="en-US" dirty="0"/>
              <a:t>Often this is transparent to us – e.g. bar graph or map. </a:t>
            </a:r>
          </a:p>
          <a:p>
            <a:pPr lvl="1"/>
            <a:r>
              <a:rPr lang="en-US" dirty="0"/>
              <a:t>In more complex examples, we can manipulate it to do things like curves. </a:t>
            </a:r>
          </a:p>
        </p:txBody>
      </p:sp>
      <p:pic>
        <p:nvPicPr>
          <p:cNvPr id="1026" name="Picture 2" descr="Coordinate Plane Stock Illustrations – 912 Coordinate Plane Stock  Illustrations, Vectors &amp; Clipart - Dreamstime">
            <a:extLst>
              <a:ext uri="{FF2B5EF4-FFF2-40B4-BE49-F238E27FC236}">
                <a16:creationId xmlns:a16="http://schemas.microsoft.com/office/drawing/2014/main" id="{6CA77E98-C740-7035-2B66-EE672DD3A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79190" y="2015734"/>
            <a:ext cx="4527466" cy="4527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499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9E895-B1B2-2CA4-61BB-BA639B9E0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6241" y="804519"/>
            <a:ext cx="8208613" cy="1049235"/>
          </a:xfrm>
        </p:spPr>
        <p:txBody>
          <a:bodyPr/>
          <a:lstStyle/>
          <a:p>
            <a:r>
              <a:rPr lang="en-US" dirty="0"/>
              <a:t>Styles Make 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997C-F392-7576-AB79-767501B7F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6241" y="2015732"/>
            <a:ext cx="8208613" cy="4037749"/>
          </a:xfrm>
        </p:spPr>
        <p:txBody>
          <a:bodyPr/>
          <a:lstStyle/>
          <a:p>
            <a:r>
              <a:rPr lang="en-US" dirty="0"/>
              <a:t>Each chart style uses the plane to display results differently. </a:t>
            </a:r>
          </a:p>
          <a:p>
            <a:r>
              <a:rPr lang="en-US" dirty="0"/>
              <a:t>Different charts are good at different things. </a:t>
            </a:r>
          </a:p>
          <a:p>
            <a:r>
              <a:rPr lang="en-US" dirty="0"/>
              <a:t>Different charts need different values (type and number) to work. </a:t>
            </a:r>
          </a:p>
          <a:p>
            <a:r>
              <a:rPr lang="en-US" dirty="0"/>
              <a:t>“When I read this, do I get that?” </a:t>
            </a:r>
          </a:p>
          <a:p>
            <a:r>
              <a:rPr lang="en-US" dirty="0"/>
              <a:t>In Tableau, the Show Me changes chart types all-at-once:</a:t>
            </a:r>
          </a:p>
          <a:p>
            <a:pPr lvl="1"/>
            <a:r>
              <a:rPr lang="en-US" dirty="0"/>
              <a:t>We can reformat our data into a totally new style. </a:t>
            </a:r>
          </a:p>
          <a:p>
            <a:pPr lvl="1"/>
            <a:r>
              <a:rPr lang="en-US" dirty="0"/>
              <a:t>Tableau makes assumptions, it may make mistakes. </a:t>
            </a:r>
          </a:p>
        </p:txBody>
      </p:sp>
      <p:pic>
        <p:nvPicPr>
          <p:cNvPr id="7170" name="Picture 2" descr="Tableau - Show Me">
            <a:extLst>
              <a:ext uri="{FF2B5EF4-FFF2-40B4-BE49-F238E27FC236}">
                <a16:creationId xmlns:a16="http://schemas.microsoft.com/office/drawing/2014/main" id="{B33B7390-1EA0-E7CE-5DB2-CDA3A0A437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59"/>
          <a:stretch>
            <a:fillRect/>
          </a:stretch>
        </p:blipFill>
        <p:spPr bwMode="auto">
          <a:xfrm>
            <a:off x="56917" y="0"/>
            <a:ext cx="278932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117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BAAD8-3C26-8A04-97D7-048EF7F81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Visual Vocabulary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D2E3B8-CACB-A93A-3974-9ACD7E0FE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85" y="2221905"/>
            <a:ext cx="6255637" cy="383157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A9C4D-9F90-06C4-35A8-70DDC5F26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2023" y="2015734"/>
            <a:ext cx="5779978" cy="414799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There’s a link on Brightspace to a visual vocabulary.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This gives an example of good chart types to display certain things you may want to show.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These are good starting points – you can change anything, but these are examples of what we know works well. </a:t>
            </a:r>
          </a:p>
        </p:txBody>
      </p:sp>
    </p:spTree>
    <p:extLst>
      <p:ext uri="{BB962C8B-B14F-4D97-AF65-F5344CB8AC3E}">
        <p14:creationId xmlns:p14="http://schemas.microsoft.com/office/powerpoint/2010/main" val="3353865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0A923-5539-D86F-D258-F7C4AC458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Scatter Plots</a:t>
            </a:r>
          </a:p>
        </p:txBody>
      </p:sp>
      <p:pic>
        <p:nvPicPr>
          <p:cNvPr id="3074" name="Picture 2" descr="how to make a scatter plot in Excel — storytelling with data">
            <a:extLst>
              <a:ext uri="{FF2B5EF4-FFF2-40B4-BE49-F238E27FC236}">
                <a16:creationId xmlns:a16="http://schemas.microsoft.com/office/drawing/2014/main" id="{AB6A9B96-8D79-4155-508E-3086838C4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5544" y="1896061"/>
            <a:ext cx="5820455" cy="4961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408-8EF6-ECA4-E367-8FF3A0F3F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2015734"/>
            <a:ext cx="5602015" cy="403774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Scatter plots are the most coordinate plane-</a:t>
            </a:r>
            <a:r>
              <a:rPr lang="en-US" dirty="0" err="1"/>
              <a:t>ish</a:t>
            </a:r>
            <a:r>
              <a:rPr lang="en-US" dirty="0"/>
              <a:t> type of plot. </a:t>
            </a:r>
          </a:p>
          <a:p>
            <a:pPr>
              <a:lnSpc>
                <a:spcPct val="110000"/>
              </a:lnSpc>
            </a:pPr>
            <a:r>
              <a:rPr lang="en-US" dirty="0"/>
              <a:t>Scatter plots are most commonly used to show relationships between numeric variables. </a:t>
            </a:r>
          </a:p>
          <a:p>
            <a:pPr>
              <a:lnSpc>
                <a:spcPct val="110000"/>
              </a:lnSpc>
            </a:pPr>
            <a:r>
              <a:rPr lang="en-US" dirty="0"/>
              <a:t>Scatter plots easily allow other attributes to add density: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We can use shape/color/size/pattern to encode other data in addition to position. 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This makes a plot more dense – same # of charts, more information. </a:t>
            </a:r>
          </a:p>
        </p:txBody>
      </p:sp>
    </p:spTree>
    <p:extLst>
      <p:ext uri="{BB962C8B-B14F-4D97-AF65-F5344CB8AC3E}">
        <p14:creationId xmlns:p14="http://schemas.microsoft.com/office/powerpoint/2010/main" val="2132236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0EB8B-8CA0-5240-D4E8-2F73AE16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Plots are Simple!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274CA-B5A2-0141-A4EB-F6B67297F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6533827" cy="3952102"/>
          </a:xfrm>
        </p:spPr>
        <p:txBody>
          <a:bodyPr/>
          <a:lstStyle/>
          <a:p>
            <a:r>
              <a:rPr lang="en-US" dirty="0"/>
              <a:t>Scatter plots are very simple, yet powerful. </a:t>
            </a:r>
          </a:p>
          <a:p>
            <a:r>
              <a:rPr lang="en-US" dirty="0"/>
              <a:t>Generally, we just use quadrant 1. </a:t>
            </a:r>
          </a:p>
          <a:p>
            <a:r>
              <a:rPr lang="en-US" dirty="0"/>
              <a:t>Require two numeric measures. </a:t>
            </a:r>
          </a:p>
          <a:p>
            <a:pPr lvl="1"/>
            <a:r>
              <a:rPr lang="en-US" dirty="0"/>
              <a:t>One is X, one is Y. (Whatever you pick maps to these). </a:t>
            </a:r>
          </a:p>
          <a:p>
            <a:pPr lvl="1"/>
            <a:r>
              <a:rPr lang="en-US" dirty="0"/>
              <a:t>Think – if one is categorical, what is the result?</a:t>
            </a:r>
          </a:p>
          <a:p>
            <a:r>
              <a:rPr lang="en-US" dirty="0"/>
              <a:t>Can show relationships between variables. </a:t>
            </a:r>
          </a:p>
          <a:p>
            <a:r>
              <a:rPr lang="en-US" dirty="0"/>
              <a:t>Basis of predictive analytics – linear regression (best fit). </a:t>
            </a:r>
          </a:p>
        </p:txBody>
      </p:sp>
      <p:pic>
        <p:nvPicPr>
          <p:cNvPr id="1026" name="Picture 2" descr="History of Scatterplots: A Timeline – Information Visualization">
            <a:extLst>
              <a:ext uri="{FF2B5EF4-FFF2-40B4-BE49-F238E27FC236}">
                <a16:creationId xmlns:a16="http://schemas.microsoft.com/office/drawing/2014/main" id="{64570A20-80BC-9FA9-9CF0-EB1E3AF85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406" y="2119914"/>
            <a:ext cx="4206594" cy="395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2456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32F91-0526-1606-584D-0DE7C75F7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Coordinate Planes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8E0A5-6884-3608-1957-1D9CCBD30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10088780" cy="4199727"/>
          </a:xfrm>
        </p:spPr>
        <p:txBody>
          <a:bodyPr>
            <a:normAutofit/>
          </a:bodyPr>
          <a:lstStyle/>
          <a:p>
            <a:r>
              <a:rPr lang="en-US" dirty="0"/>
              <a:t>Coordinate planes are useful for visualization because we can encode any position. </a:t>
            </a:r>
          </a:p>
          <a:p>
            <a:pPr lvl="1"/>
            <a:r>
              <a:rPr lang="en-US" dirty="0"/>
              <a:t>I.e. we have a specific number (</a:t>
            </a:r>
            <a:r>
              <a:rPr lang="en-US" dirty="0" err="1"/>
              <a:t>x,y</a:t>
            </a:r>
            <a:r>
              <a:rPr lang="en-US" dirty="0"/>
              <a:t>) for any point on the plane. </a:t>
            </a:r>
          </a:p>
          <a:p>
            <a:pPr lvl="1"/>
            <a:r>
              <a:rPr lang="en-US" dirty="0"/>
              <a:t>We can position things at any point. </a:t>
            </a:r>
          </a:p>
          <a:p>
            <a:r>
              <a:rPr lang="en-US" dirty="0"/>
              <a:t>When plotting, Tableau generates and uses these positions to plot stuff (sometime invisibly). </a:t>
            </a:r>
          </a:p>
          <a:p>
            <a:pPr lvl="1"/>
            <a:r>
              <a:rPr lang="en-US" dirty="0"/>
              <a:t>E.g. the x (or y) is used with a number to generate the length of bar charts. </a:t>
            </a:r>
          </a:p>
          <a:p>
            <a:pPr lvl="1"/>
            <a:r>
              <a:rPr lang="en-US" dirty="0"/>
              <a:t>A line chart is a bunch of points, connected. </a:t>
            </a:r>
          </a:p>
          <a:p>
            <a:r>
              <a:rPr lang="en-US" dirty="0"/>
              <a:t>With a coordinate plane as a background, we can create pretty much any chart. </a:t>
            </a:r>
          </a:p>
          <a:p>
            <a:pPr lvl="1"/>
            <a:r>
              <a:rPr lang="en-US" dirty="0"/>
              <a:t>We are showing values, the plane gives a visual representation of value, we can choose any way to visualize our values on the plane. </a:t>
            </a:r>
          </a:p>
          <a:p>
            <a:pPr lvl="1"/>
            <a:r>
              <a:rPr lang="en-US" dirty="0"/>
              <a:t>Different chart types or styles just maps the data on the plane differently. </a:t>
            </a:r>
          </a:p>
        </p:txBody>
      </p:sp>
    </p:spTree>
    <p:extLst>
      <p:ext uri="{BB962C8B-B14F-4D97-AF65-F5344CB8AC3E}">
        <p14:creationId xmlns:p14="http://schemas.microsoft.com/office/powerpoint/2010/main" val="3994089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1A9E5-1AE6-A320-EAB0-CEF3DB64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Shelf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BE4D0-A1EE-0717-6AE6-2062EB51C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1919593"/>
          </a:xfrm>
        </p:spPr>
        <p:txBody>
          <a:bodyPr/>
          <a:lstStyle/>
          <a:p>
            <a:r>
              <a:rPr lang="en-US" dirty="0"/>
              <a:t>Whatever is in the shelf will be mapped to the x and y axis. </a:t>
            </a:r>
          </a:p>
          <a:p>
            <a:pPr lvl="1"/>
            <a:r>
              <a:rPr lang="en-US" dirty="0"/>
              <a:t>Columns will be the X axis. If there’s an independent variable, it should probably be here. </a:t>
            </a:r>
          </a:p>
          <a:p>
            <a:pPr lvl="1"/>
            <a:r>
              <a:rPr lang="en-US" dirty="0"/>
              <a:t>Rows will be in the Y axis. </a:t>
            </a:r>
          </a:p>
          <a:p>
            <a:r>
              <a:rPr lang="en-US" dirty="0"/>
              <a:t>Other charts are similar – things are scaled (num) or grouped </a:t>
            </a:r>
            <a:r>
              <a:rPr lang="en-US"/>
              <a:t>(cat) along </a:t>
            </a:r>
            <a:r>
              <a:rPr lang="en-US" dirty="0"/>
              <a:t>that axis.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CE23EA-ABAD-5D8A-01B5-464777919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354" y="181417"/>
            <a:ext cx="4635500" cy="1587500"/>
          </a:xfrm>
          <a:prstGeom prst="rect">
            <a:avLst/>
          </a:prstGeom>
        </p:spPr>
      </p:pic>
      <p:pic>
        <p:nvPicPr>
          <p:cNvPr id="3076" name="Picture 4" descr="how to make a scatter plot in Excel — storytelling with data">
            <a:extLst>
              <a:ext uri="{FF2B5EF4-FFF2-40B4-BE49-F238E27FC236}">
                <a16:creationId xmlns:a16="http://schemas.microsoft.com/office/drawing/2014/main" id="{3E7F5CEC-83DC-0F64-B198-E20399198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31" y="3607483"/>
            <a:ext cx="3808070" cy="325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Bar Charts — The Tableau Student Guide">
            <a:extLst>
              <a:ext uri="{FF2B5EF4-FFF2-40B4-BE49-F238E27FC236}">
                <a16:creationId xmlns:a16="http://schemas.microsoft.com/office/drawing/2014/main" id="{2352B738-6381-39BF-0544-1856FC326A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35" t="9520" r="13671" b="19338"/>
          <a:stretch>
            <a:fillRect/>
          </a:stretch>
        </p:blipFill>
        <p:spPr bwMode="auto">
          <a:xfrm>
            <a:off x="5551253" y="3679260"/>
            <a:ext cx="4788800" cy="3178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586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463A-9079-2CB6-84B0-9BA8D2931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planes Behind the Scenes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6F9EE-F4DF-747F-C7CA-A3C5591E8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8670" y="1933903"/>
            <a:ext cx="3487716" cy="4119577"/>
          </a:xfrm>
        </p:spPr>
        <p:txBody>
          <a:bodyPr/>
          <a:lstStyle/>
          <a:p>
            <a:r>
              <a:rPr lang="en-US" dirty="0"/>
              <a:t>We can sometimes layer charts on top of each other. </a:t>
            </a:r>
          </a:p>
          <a:p>
            <a:r>
              <a:rPr lang="en-US" dirty="0"/>
              <a:t>The coord. Plane is the same, just reused to draw more than one chart. </a:t>
            </a:r>
          </a:p>
        </p:txBody>
      </p:sp>
      <p:pic>
        <p:nvPicPr>
          <p:cNvPr id="6146" name="Picture 2" descr="Bar and line graph in Excel | Excelchat">
            <a:extLst>
              <a:ext uri="{FF2B5EF4-FFF2-40B4-BE49-F238E27FC236}">
                <a16:creationId xmlns:a16="http://schemas.microsoft.com/office/drawing/2014/main" id="{16B74DE3-6A5B-FA63-EE36-F26EAC651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60743"/>
            <a:ext cx="8588670" cy="5097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3342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2D259-6020-07B0-6700-49F92D785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Data Density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BA296-BA94-92C8-6110-14C0B2D07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178" y="1853754"/>
            <a:ext cx="6097589" cy="428755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Data density is the amount of data contained in one visualization. 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Density of information is one key benefit of modern visualization tools. 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We can pack one plot full of lots of data.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Primary tools are color/shape/size/pattern of marks.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Use interactivity in modern tools to make things even better.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Pop-up/out things like tooltips that appear conditionally.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Plots that change to show more detail dynamically.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Ability to drill down/roll up to different levels of detail.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Note: this is different than the density of data </a:t>
            </a:r>
            <a:r>
              <a:rPr lang="en-US" sz="1800" i="1" dirty="0"/>
              <a:t>inside</a:t>
            </a:r>
            <a:r>
              <a:rPr lang="en-US" sz="1800" dirty="0"/>
              <a:t> a plot. </a:t>
            </a:r>
          </a:p>
        </p:txBody>
      </p:sp>
      <p:pic>
        <p:nvPicPr>
          <p:cNvPr id="5122" name="Picture 2" descr="In Defence of Data-Dense Visualizations | richardbrath">
            <a:extLst>
              <a:ext uri="{FF2B5EF4-FFF2-40B4-BE49-F238E27FC236}">
                <a16:creationId xmlns:a16="http://schemas.microsoft.com/office/drawing/2014/main" id="{73230E9C-0710-5024-57C9-345FA07D9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11" y="2423156"/>
            <a:ext cx="6097589" cy="288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024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286BD-CB2B-8BCD-1CA7-9FC916DCD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0503A-1774-410E-9901-17B344F40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Our favorite data visualization projects of 2017">
            <a:extLst>
              <a:ext uri="{FF2B5EF4-FFF2-40B4-BE49-F238E27FC236}">
                <a16:creationId xmlns:a16="http://schemas.microsoft.com/office/drawing/2014/main" id="{7DB5F763-E5D8-D04A-6D03-2306A33E3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2677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FF529-7A39-F8AF-87F5-F257A4264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D741B-02EF-13D8-A8BF-13CDD848F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828519" cy="4199727"/>
          </a:xfrm>
        </p:spPr>
        <p:txBody>
          <a:bodyPr/>
          <a:lstStyle/>
          <a:p>
            <a:r>
              <a:rPr lang="en-US" dirty="0"/>
              <a:t>The concerns against adding density are pretty practical. </a:t>
            </a:r>
          </a:p>
          <a:p>
            <a:r>
              <a:rPr lang="en-US" dirty="0"/>
              <a:t>Relevance – we don’t want to add data that is irrelevant to the user. </a:t>
            </a:r>
          </a:p>
          <a:p>
            <a:r>
              <a:rPr lang="en-US" dirty="0"/>
              <a:t>Clarity – depending on the chart, we can comfortably accommodate only a certain amount.</a:t>
            </a:r>
          </a:p>
          <a:p>
            <a:r>
              <a:rPr lang="en-US" dirty="0"/>
              <a:t>Usability – whatever additional data we add should be usable, i.e. someone can get the benefit of reading that information. </a:t>
            </a:r>
          </a:p>
          <a:p>
            <a:r>
              <a:rPr lang="en-US" dirty="0"/>
              <a:t>Does adding density make it easier to consume than adding another chart? </a:t>
            </a:r>
          </a:p>
          <a:p>
            <a:r>
              <a:rPr lang="en-US" dirty="0"/>
              <a:t>Make things as dense as they can be while being easy to consume, and no denser. </a:t>
            </a:r>
          </a:p>
          <a:p>
            <a:pPr lvl="1"/>
            <a:r>
              <a:rPr lang="en-US" dirty="0"/>
              <a:t>Visualizations for ‘specialization’ may be more dense, and require more knowledge. </a:t>
            </a:r>
          </a:p>
          <a:p>
            <a:pPr lvl="1"/>
            <a:r>
              <a:rPr lang="en-US" dirty="0"/>
              <a:t>Visualizations that are seen once, by the public, or without context are less dense. </a:t>
            </a:r>
          </a:p>
        </p:txBody>
      </p:sp>
    </p:spTree>
    <p:extLst>
      <p:ext uri="{BB962C8B-B14F-4D97-AF65-F5344CB8AC3E}">
        <p14:creationId xmlns:p14="http://schemas.microsoft.com/office/powerpoint/2010/main" val="3427959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D2BE1-A0FE-FC3F-F86A-F2749DFD8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903" y="804519"/>
            <a:ext cx="10738021" cy="1049235"/>
          </a:xfrm>
        </p:spPr>
        <p:txBody>
          <a:bodyPr/>
          <a:lstStyle/>
          <a:p>
            <a:r>
              <a:rPr lang="en-US" dirty="0"/>
              <a:t>Bloomberg Terminals – Dense, but with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5B060-E49A-E552-DCE6-2394ED3A5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Designing the Terminal for color accessibility - Bloomberg UX">
            <a:extLst>
              <a:ext uri="{FF2B5EF4-FFF2-40B4-BE49-F238E27FC236}">
                <a16:creationId xmlns:a16="http://schemas.microsoft.com/office/drawing/2014/main" id="{40EA6006-E90D-D5C7-F018-2269FD914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1651000"/>
            <a:ext cx="8890000" cy="520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699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9A253-561D-4728-E66A-00FD1F50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 Scatter Plot Plane 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C037D-BCFE-7AC9-B229-9A5C8E8EF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24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8E8E8-A63F-7177-55B2-8AD171E98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Coordinate Planes and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0F208-429D-882D-127B-1BB55531F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184" y="2015734"/>
            <a:ext cx="5508383" cy="4037747"/>
          </a:xfrm>
        </p:spPr>
        <p:txBody>
          <a:bodyPr>
            <a:normAutofit/>
          </a:bodyPr>
          <a:lstStyle/>
          <a:p>
            <a:r>
              <a:rPr lang="en-US" dirty="0"/>
              <a:t>Mapping is a special example of a coordinate plane. </a:t>
            </a:r>
          </a:p>
          <a:p>
            <a:pPr lvl="1"/>
            <a:r>
              <a:rPr lang="en-US" dirty="0"/>
              <a:t>Latitude and longitude are x and y values. </a:t>
            </a:r>
          </a:p>
          <a:p>
            <a:pPr lvl="1"/>
            <a:r>
              <a:rPr lang="en-US" dirty="0"/>
              <a:t>Origin is equator and prime meridian. </a:t>
            </a:r>
          </a:p>
          <a:p>
            <a:r>
              <a:rPr lang="en-US" dirty="0"/>
              <a:t>In Tableau, maps are images of earth on a plane. </a:t>
            </a:r>
          </a:p>
          <a:p>
            <a:pPr lvl="1"/>
            <a:r>
              <a:rPr lang="en-US" dirty="0"/>
              <a:t>The map is just a picture or image. </a:t>
            </a:r>
          </a:p>
          <a:p>
            <a:pPr lvl="1"/>
            <a:r>
              <a:rPr lang="en-US" dirty="0"/>
              <a:t>There are specific </a:t>
            </a:r>
            <a:r>
              <a:rPr lang="en-US" dirty="0" err="1"/>
              <a:t>lat</a:t>
            </a:r>
            <a:r>
              <a:rPr lang="en-US" dirty="0"/>
              <a:t>/</a:t>
            </a:r>
            <a:r>
              <a:rPr lang="en-US" dirty="0" err="1"/>
              <a:t>lon</a:t>
            </a:r>
            <a:r>
              <a:rPr lang="en-US" dirty="0"/>
              <a:t> to plot it in place. </a:t>
            </a:r>
          </a:p>
          <a:p>
            <a:pPr lvl="1"/>
            <a:r>
              <a:rPr lang="en-US" dirty="0"/>
              <a:t>Points drawn on it are just like a scatter plot. </a:t>
            </a:r>
          </a:p>
        </p:txBody>
      </p:sp>
      <p:pic>
        <p:nvPicPr>
          <p:cNvPr id="2052" name="Picture 4" descr="Free Printable Large World Map with Coordinates &amp; Countries [PDF]">
            <a:extLst>
              <a:ext uri="{FF2B5EF4-FFF2-40B4-BE49-F238E27FC236}">
                <a16:creationId xmlns:a16="http://schemas.microsoft.com/office/drawing/2014/main" id="{AD878AF6-24D2-9946-C32C-0D4E7BF07D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9" b="6171"/>
          <a:stretch>
            <a:fillRect/>
          </a:stretch>
        </p:blipFill>
        <p:spPr bwMode="auto">
          <a:xfrm>
            <a:off x="5837567" y="2219514"/>
            <a:ext cx="6354433" cy="346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131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1B260-0FE9-D088-3D64-29AB72562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Remixing my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0AA22-3F24-A8E7-A615-4E0C8D962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29" y="2015732"/>
            <a:ext cx="7615735" cy="4037749"/>
          </a:xfrm>
        </p:spPr>
        <p:txBody>
          <a:bodyPr/>
          <a:lstStyle/>
          <a:p>
            <a:r>
              <a:rPr lang="en-US" dirty="0"/>
              <a:t>This adds flexibility in a few ways:</a:t>
            </a:r>
          </a:p>
          <a:p>
            <a:pPr lvl="1"/>
            <a:r>
              <a:rPr lang="en-US" dirty="0"/>
              <a:t>Anything can be the background to a map, as long as someone can locate it via </a:t>
            </a:r>
            <a:r>
              <a:rPr lang="en-US" dirty="0" err="1"/>
              <a:t>lat</a:t>
            </a:r>
            <a:r>
              <a:rPr lang="en-US" dirty="0"/>
              <a:t>/</a:t>
            </a:r>
            <a:r>
              <a:rPr lang="en-US" dirty="0" err="1"/>
              <a:t>lon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We can use anything ‘as a map’ and position points anywhere on a background. </a:t>
            </a:r>
          </a:p>
          <a:p>
            <a:r>
              <a:rPr lang="en-US" dirty="0"/>
              <a:t>Many fancy Tableau things use these ideas to customize mark position. </a:t>
            </a:r>
          </a:p>
          <a:p>
            <a:pPr lvl="1"/>
            <a:r>
              <a:rPr lang="en-US" dirty="0"/>
              <a:t>Use a custom image as a background to a scatter plot. </a:t>
            </a:r>
          </a:p>
          <a:p>
            <a:pPr lvl="1"/>
            <a:r>
              <a:rPr lang="en-US" dirty="0"/>
              <a:t>Define or calculate custom </a:t>
            </a:r>
            <a:r>
              <a:rPr lang="en-US" dirty="0" err="1"/>
              <a:t>x,y</a:t>
            </a:r>
            <a:r>
              <a:rPr lang="en-US" dirty="0"/>
              <a:t> positions for points to align them on the plot. </a:t>
            </a:r>
          </a:p>
        </p:txBody>
      </p:sp>
      <p:pic>
        <p:nvPicPr>
          <p:cNvPr id="4098" name="Picture 2" descr="How to Map Anything in Tableau">
            <a:extLst>
              <a:ext uri="{FF2B5EF4-FFF2-40B4-BE49-F238E27FC236}">
                <a16:creationId xmlns:a16="http://schemas.microsoft.com/office/drawing/2014/main" id="{6DBEBB75-C1D7-E216-A52B-8A438E02B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564" y="2441542"/>
            <a:ext cx="4425435" cy="4416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891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06ED7-DAC4-7292-29BF-2D0B327A7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Crazier with Coordinates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6278E-F594-EF64-2C8C-CF1D4AFF6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2816311"/>
          </a:xfrm>
        </p:spPr>
        <p:txBody>
          <a:bodyPr/>
          <a:lstStyle/>
          <a:p>
            <a:r>
              <a:rPr lang="en-US" dirty="0"/>
              <a:t>Making complex things in Tableau often involves manipulating things on the plane. </a:t>
            </a:r>
          </a:p>
          <a:p>
            <a:r>
              <a:rPr lang="en-US" dirty="0"/>
              <a:t>Every mark has some </a:t>
            </a:r>
            <a:r>
              <a:rPr lang="en-US" dirty="0" err="1"/>
              <a:t>x,y</a:t>
            </a:r>
            <a:r>
              <a:rPr lang="en-US" dirty="0"/>
              <a:t> coordinates based on some variables. </a:t>
            </a:r>
          </a:p>
          <a:p>
            <a:pPr lvl="1"/>
            <a:r>
              <a:rPr lang="en-US" dirty="0"/>
              <a:t>That mark will show at the </a:t>
            </a:r>
            <a:r>
              <a:rPr lang="en-US" dirty="0" err="1"/>
              <a:t>x,y</a:t>
            </a:r>
            <a:r>
              <a:rPr lang="en-US" dirty="0"/>
              <a:t> location by default. </a:t>
            </a:r>
          </a:p>
          <a:p>
            <a:pPr lvl="1"/>
            <a:r>
              <a:rPr lang="en-US" dirty="0"/>
              <a:t>We can do things to transform those actual values into other location, for plotting. </a:t>
            </a:r>
          </a:p>
          <a:p>
            <a:r>
              <a:rPr lang="en-US" dirty="0"/>
              <a:t>We commonly see curves done with trigonometry. </a:t>
            </a:r>
          </a:p>
          <a:p>
            <a:pPr lvl="1"/>
            <a:r>
              <a:rPr lang="en-US" dirty="0"/>
              <a:t>Take the original </a:t>
            </a:r>
            <a:r>
              <a:rPr lang="en-US" dirty="0" err="1"/>
              <a:t>x,y</a:t>
            </a:r>
            <a:r>
              <a:rPr lang="en-US" dirty="0"/>
              <a:t> values, do a trig calculation (sin/cos), get a new coordinate for the mark. </a:t>
            </a:r>
          </a:p>
          <a:p>
            <a:pPr lvl="1"/>
            <a:endParaRPr lang="en-US" dirty="0"/>
          </a:p>
        </p:txBody>
      </p:sp>
      <p:pic>
        <p:nvPicPr>
          <p:cNvPr id="2050" name="Picture 2" descr="Arcs and Curves in Tableau - The Data School Down Under">
            <a:extLst>
              <a:ext uri="{FF2B5EF4-FFF2-40B4-BE49-F238E27FC236}">
                <a16:creationId xmlns:a16="http://schemas.microsoft.com/office/drawing/2014/main" id="{2F706F21-FD9A-073A-D5A9-5924EEE8D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248" y="4473145"/>
            <a:ext cx="5667504" cy="2273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60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C2875-91C7-D1F9-C439-7F97C4520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Parliament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27ED1-3DF7-6400-B163-2F81FB75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53754"/>
            <a:ext cx="7164370" cy="4199727"/>
          </a:xfrm>
        </p:spPr>
        <p:txBody>
          <a:bodyPr>
            <a:normAutofit/>
          </a:bodyPr>
          <a:lstStyle/>
          <a:p>
            <a:r>
              <a:rPr lang="en-US" dirty="0"/>
              <a:t>Each block is one mark, and it has an x and y coordinate set. </a:t>
            </a:r>
          </a:p>
          <a:p>
            <a:pPr lvl="1"/>
            <a:r>
              <a:rPr lang="en-US" dirty="0"/>
              <a:t>Each mark is one representative in parliament in this case. </a:t>
            </a:r>
          </a:p>
          <a:p>
            <a:r>
              <a:rPr lang="en-US" dirty="0"/>
              <a:t>X and y are transformed through trig to create new x and y. </a:t>
            </a:r>
          </a:p>
          <a:p>
            <a:pPr lvl="1"/>
            <a:r>
              <a:rPr lang="en-US" dirty="0"/>
              <a:t>These new values are what are actually plotted. </a:t>
            </a:r>
          </a:p>
          <a:p>
            <a:pPr lvl="1"/>
            <a:r>
              <a:rPr lang="en-US" dirty="0"/>
              <a:t>These are in a curve due to the trig-ness of the calculation. </a:t>
            </a:r>
          </a:p>
          <a:p>
            <a:r>
              <a:rPr lang="en-US" dirty="0"/>
              <a:t>This type of thing isn’t easy to do off the top of your head. </a:t>
            </a:r>
          </a:p>
          <a:p>
            <a:pPr lvl="1"/>
            <a:r>
              <a:rPr lang="en-US" dirty="0"/>
              <a:t>May require manual, custom data to be added. </a:t>
            </a:r>
          </a:p>
          <a:p>
            <a:pPr lvl="1"/>
            <a:r>
              <a:rPr lang="en-US" dirty="0"/>
              <a:t>We can follow guides and adapt to our data. </a:t>
            </a:r>
          </a:p>
          <a:p>
            <a:pPr lvl="1"/>
            <a:r>
              <a:rPr lang="en-US" dirty="0"/>
              <a:t>Trying to adapt things to yours is a very good way to get good. </a:t>
            </a:r>
          </a:p>
        </p:txBody>
      </p:sp>
      <p:pic>
        <p:nvPicPr>
          <p:cNvPr id="5122" name="Picture 2" descr="Workbook: Automated Parliament Chart">
            <a:extLst>
              <a:ext uri="{FF2B5EF4-FFF2-40B4-BE49-F238E27FC236}">
                <a16:creationId xmlns:a16="http://schemas.microsoft.com/office/drawing/2014/main" id="{05820A2A-D7A7-D4D3-00D4-88DA7FDA9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042" y="2348913"/>
            <a:ext cx="5290958" cy="3263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5400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C257F-BF74-AAB3-3920-382826CA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Axis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5445B-B3E7-3511-B788-88E41AB49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60862"/>
          </a:xfrm>
        </p:spPr>
        <p:txBody>
          <a:bodyPr/>
          <a:lstStyle/>
          <a:p>
            <a:r>
              <a:rPr lang="en-US" dirty="0"/>
              <a:t>Our axis define the scale and layout of a coordinate plane. </a:t>
            </a:r>
          </a:p>
          <a:p>
            <a:r>
              <a:rPr lang="en-US" dirty="0"/>
              <a:t>Tick marks show intervals:</a:t>
            </a:r>
          </a:p>
          <a:p>
            <a:pPr lvl="1"/>
            <a:r>
              <a:rPr lang="en-US" dirty="0"/>
              <a:t>Major tick marks are typically labeled. </a:t>
            </a:r>
          </a:p>
          <a:p>
            <a:pPr lvl="1"/>
            <a:r>
              <a:rPr lang="en-US" dirty="0"/>
              <a:t>Minor tick marks are not. </a:t>
            </a:r>
          </a:p>
          <a:p>
            <a:r>
              <a:rPr lang="en-US" dirty="0"/>
              <a:t>Right click -&gt; edit in Tableau. If not available, you don’t have an axis…</a:t>
            </a:r>
          </a:p>
          <a:p>
            <a:pPr lvl="1"/>
            <a:r>
              <a:rPr lang="en-US" dirty="0"/>
              <a:t>Hint: what does a scatter plot require? </a:t>
            </a:r>
          </a:p>
        </p:txBody>
      </p:sp>
    </p:spTree>
    <p:extLst>
      <p:ext uri="{BB962C8B-B14F-4D97-AF65-F5344CB8AC3E}">
        <p14:creationId xmlns:p14="http://schemas.microsoft.com/office/powerpoint/2010/main" val="718169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55E14-2E03-03F5-E19C-D5667BDDC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Axis Scales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38C0-4902-6BB6-806C-B8E1CCA18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2236331"/>
          </a:xfrm>
        </p:spPr>
        <p:txBody>
          <a:bodyPr/>
          <a:lstStyle/>
          <a:p>
            <a:r>
              <a:rPr lang="en-US" dirty="0"/>
              <a:t>Sometimes the scales on an axis are transformed from linear. </a:t>
            </a:r>
          </a:p>
          <a:p>
            <a:r>
              <a:rPr lang="en-US" dirty="0"/>
              <a:t>Common changes:</a:t>
            </a:r>
          </a:p>
          <a:p>
            <a:pPr lvl="1"/>
            <a:r>
              <a:rPr lang="en-US" dirty="0"/>
              <a:t>Reversed. </a:t>
            </a:r>
          </a:p>
          <a:p>
            <a:pPr lvl="1"/>
            <a:r>
              <a:rPr lang="en-US" dirty="0"/>
              <a:t>Logarithmic – shows linear with exponential data. </a:t>
            </a:r>
          </a:p>
          <a:p>
            <a:r>
              <a:rPr lang="en-US" dirty="0"/>
              <a:t>In Tableau – right click on axis to edit details. </a:t>
            </a:r>
          </a:p>
        </p:txBody>
      </p:sp>
      <p:pic>
        <p:nvPicPr>
          <p:cNvPr id="3074" name="Picture 2" descr="GraphPad Prism 10 User Guide - When to use a logarithmic axis">
            <a:extLst>
              <a:ext uri="{FF2B5EF4-FFF2-40B4-BE49-F238E27FC236}">
                <a16:creationId xmlns:a16="http://schemas.microsoft.com/office/drawing/2014/main" id="{8E54C168-ABEC-0F06-399A-5CBBBE6CFE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3" b="6168"/>
          <a:stretch>
            <a:fillRect/>
          </a:stretch>
        </p:blipFill>
        <p:spPr bwMode="auto">
          <a:xfrm>
            <a:off x="0" y="4090085"/>
            <a:ext cx="7975600" cy="276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Understanding the Richter Scale">
            <a:extLst>
              <a:ext uri="{FF2B5EF4-FFF2-40B4-BE49-F238E27FC236}">
                <a16:creationId xmlns:a16="http://schemas.microsoft.com/office/drawing/2014/main" id="{573898B5-2E60-513C-C26B-2CF5E7D2BC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67" r="7652"/>
          <a:stretch>
            <a:fillRect/>
          </a:stretch>
        </p:blipFill>
        <p:spPr bwMode="auto">
          <a:xfrm>
            <a:off x="7975600" y="2434279"/>
            <a:ext cx="4219515" cy="389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2070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77A72-D188-A819-4009-282413334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1E98E-AE55-6CAE-AA74-89849FF8A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Coordinates are a foundational feature that define visualizations. </a:t>
            </a:r>
          </a:p>
          <a:p>
            <a:r>
              <a:rPr lang="en-US" dirty="0"/>
              <a:t>We can use coordinates to place items in an exact spot – defined by data or custom. </a:t>
            </a:r>
          </a:p>
          <a:p>
            <a:r>
              <a:rPr lang="en-US" dirty="0"/>
              <a:t>Alignment, scale, and comparison all flow from coordinates. </a:t>
            </a:r>
          </a:p>
          <a:p>
            <a:r>
              <a:rPr lang="en-US" dirty="0"/>
              <a:t>We use coordinates to encode information. </a:t>
            </a:r>
          </a:p>
          <a:p>
            <a:pPr lvl="1"/>
            <a:r>
              <a:rPr lang="en-US" dirty="0"/>
              <a:t>E.g. the </a:t>
            </a:r>
          </a:p>
        </p:txBody>
      </p:sp>
    </p:spTree>
    <p:extLst>
      <p:ext uri="{BB962C8B-B14F-4D97-AF65-F5344CB8AC3E}">
        <p14:creationId xmlns:p14="http://schemas.microsoft.com/office/powerpoint/2010/main" val="19601393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279E5-7DE1-B5EB-5117-E6495D1E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61ABA-E1A5-6F76-E5C1-2E3388415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804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B141E4-5EF5-40F0-AD72-0097561A27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Datasheets, Databases, and Data Structure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3F2DD73-494E-F6A6-E1C8-EE8012D148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7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82"/>
    </mc:Choice>
    <mc:Fallback xmlns="">
      <p:transition spd="slow" advTm="6482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EF96A-C8CE-8FB4-7D6A-B99B1D76A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490E0-D212-301D-6910-14CD7063E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Many things in the data world are interoperable because things follow a set structure. </a:t>
            </a:r>
          </a:p>
          <a:p>
            <a:pPr lvl="1"/>
            <a:r>
              <a:rPr lang="en-US" dirty="0"/>
              <a:t>You can open any text file in any text editor as long as the file is the correct type. </a:t>
            </a:r>
          </a:p>
          <a:p>
            <a:pPr lvl="1"/>
            <a:r>
              <a:rPr lang="en-US" dirty="0"/>
              <a:t>In Tableau, we can load data from many sources as long as it is in the correct format. </a:t>
            </a:r>
          </a:p>
          <a:p>
            <a:r>
              <a:rPr lang="en-US" dirty="0"/>
              <a:t>For data, most structured data is stored in relational database tables. </a:t>
            </a:r>
          </a:p>
          <a:p>
            <a:pPr lvl="1"/>
            <a:r>
              <a:rPr lang="en-US" dirty="0"/>
              <a:t>Any* program can manipulate the same data. </a:t>
            </a:r>
          </a:p>
          <a:p>
            <a:pPr lvl="1"/>
            <a:r>
              <a:rPr lang="en-US" dirty="0"/>
              <a:t>E.g. Brightspace writes your grade data down after the semester, another system (</a:t>
            </a:r>
            <a:r>
              <a:rPr lang="en-US" dirty="0" err="1"/>
              <a:t>peoplesoft</a:t>
            </a:r>
            <a:r>
              <a:rPr lang="en-US" dirty="0"/>
              <a:t>?) reads that data to put you on academic parole, the honor roll, or let you graduate. </a:t>
            </a:r>
          </a:p>
          <a:p>
            <a:r>
              <a:rPr lang="en-US" dirty="0"/>
              <a:t>An individual table/extract is a datasheet. </a:t>
            </a:r>
          </a:p>
          <a:p>
            <a:pPr lvl="1"/>
            <a:r>
              <a:rPr lang="en-US" dirty="0"/>
              <a:t>This is what we load in Tableau. </a:t>
            </a:r>
          </a:p>
          <a:p>
            <a:pPr lvl="1"/>
            <a:r>
              <a:rPr lang="en-US" dirty="0"/>
              <a:t>Looks like a spreadsheet wall-o-numbers. </a:t>
            </a:r>
          </a:p>
        </p:txBody>
      </p:sp>
    </p:spTree>
    <p:extLst>
      <p:ext uri="{BB962C8B-B14F-4D97-AF65-F5344CB8AC3E}">
        <p14:creationId xmlns:p14="http://schemas.microsoft.com/office/powerpoint/2010/main" val="298250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A63B2-F415-798E-B349-0D59E2B75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Table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95499-5B29-55B1-95F0-A05CE2048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3" y="1853754"/>
            <a:ext cx="3662341" cy="4199727"/>
          </a:xfrm>
        </p:spPr>
        <p:txBody>
          <a:bodyPr/>
          <a:lstStyle/>
          <a:p>
            <a:r>
              <a:rPr lang="en-US" dirty="0"/>
              <a:t>RDBs look like this. </a:t>
            </a:r>
          </a:p>
          <a:p>
            <a:pPr lvl="1"/>
            <a:r>
              <a:rPr lang="en-US" dirty="0"/>
              <a:t>Should be familiar... </a:t>
            </a:r>
          </a:p>
          <a:p>
            <a:pPr lvl="1"/>
            <a:r>
              <a:rPr lang="en-US" dirty="0"/>
              <a:t>May be thousands of tables.</a:t>
            </a:r>
          </a:p>
          <a:p>
            <a:r>
              <a:rPr lang="en-US" dirty="0"/>
              <a:t>Table (sheet) is a list of a thing (an entity). </a:t>
            </a:r>
          </a:p>
          <a:p>
            <a:r>
              <a:rPr lang="en-US" dirty="0"/>
              <a:t>Each row is one instance of that thing. </a:t>
            </a:r>
          </a:p>
          <a:p>
            <a:r>
              <a:rPr lang="en-US" dirty="0"/>
              <a:t>Each column is one value (var) tracked about the thing. </a:t>
            </a:r>
          </a:p>
          <a:p>
            <a:endParaRPr lang="en-US" dirty="0"/>
          </a:p>
        </p:txBody>
      </p:sp>
      <p:pic>
        <p:nvPicPr>
          <p:cNvPr id="1026" name="Picture 2" descr="Key Components in Databases with Multiple Tables - Genspark">
            <a:extLst>
              <a:ext uri="{FF2B5EF4-FFF2-40B4-BE49-F238E27FC236}">
                <a16:creationId xmlns:a16="http://schemas.microsoft.com/office/drawing/2014/main" id="{F272D5A6-9318-48CE-49D1-2BC2C0CFF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6844" y="2015732"/>
            <a:ext cx="8425156" cy="367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9437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Databases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Database that stores data using an entity-relationship model. </a:t>
            </a:r>
          </a:p>
          <a:p>
            <a:pPr marL="8458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Entities are the “business objects” we want to track. E.g. Customers, sales, products, employees, </a:t>
            </a:r>
            <a:r>
              <a:rPr lang="en-US" sz="2200" dirty="0" err="1"/>
              <a:t>etc</a:t>
            </a:r>
            <a:r>
              <a:rPr lang="en-US" sz="2200" dirty="0"/>
              <a:t>…</a:t>
            </a:r>
          </a:p>
          <a:p>
            <a:pPr marL="84582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Relationships are the interactions between those entities. E.g. a customer makes a purchase, an employee fills a role, </a:t>
            </a:r>
            <a:r>
              <a:rPr lang="en-US" sz="2200" dirty="0" err="1"/>
              <a:t>etc</a:t>
            </a:r>
            <a:r>
              <a:rPr lang="en-US" sz="2200" dirty="0"/>
              <a:t>…</a:t>
            </a:r>
            <a:r>
              <a:rPr lang="en-US" sz="2400" dirty="0"/>
              <a:t>	</a:t>
            </a:r>
          </a:p>
          <a:p>
            <a:pPr marL="388620" indent="-342900"/>
            <a:r>
              <a:rPr lang="en-US" sz="2600" dirty="0"/>
              <a:t>A database will have many tables, one per entity (“thing”). </a:t>
            </a:r>
          </a:p>
          <a:p>
            <a:pPr marL="845820" lvl="1" indent="-342900"/>
            <a:r>
              <a:rPr lang="en-US" sz="2400" dirty="0"/>
              <a:t>Students, customers, products, purchases, </a:t>
            </a:r>
            <a:r>
              <a:rPr lang="en-US" sz="2400" dirty="0" err="1"/>
              <a:t>etc</a:t>
            </a:r>
            <a:r>
              <a:rPr lang="en-US" sz="2400" dirty="0"/>
              <a:t>…</a:t>
            </a:r>
          </a:p>
          <a:p>
            <a:pPr marL="388620" indent="-342900"/>
            <a:r>
              <a:rPr lang="en-US" sz="2600" dirty="0"/>
              <a:t>There can be connections (joins) to model reality. </a:t>
            </a:r>
          </a:p>
          <a:p>
            <a:pPr marL="845820" lvl="1" indent="-342900"/>
            <a:r>
              <a:rPr lang="en-US" sz="2400" dirty="0"/>
              <a:t>Customer makes purchase, employee assigned laptop, </a:t>
            </a:r>
            <a:r>
              <a:rPr lang="en-US" sz="2400" dirty="0" err="1"/>
              <a:t>etc</a:t>
            </a:r>
            <a:r>
              <a:rPr lang="en-US" sz="2400" dirty="0"/>
              <a:t>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861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16"/>
    </mc:Choice>
    <mc:Fallback xmlns="">
      <p:transition spd="slow" advTm="19316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Basic Components of a Relational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b="1" dirty="0"/>
              <a:t>Tables</a:t>
            </a:r>
            <a:r>
              <a:rPr lang="en-US" dirty="0"/>
              <a:t> – data organized into sets of columns (fields) and rows (records).</a:t>
            </a:r>
          </a:p>
          <a:p>
            <a:r>
              <a:rPr lang="en-US" b="1" dirty="0"/>
              <a:t>Fields</a:t>
            </a:r>
            <a:r>
              <a:rPr lang="en-US" dirty="0"/>
              <a:t> – these are the columns that contain descriptive information about the observations in the table (including primary and foreign keys).</a:t>
            </a:r>
          </a:p>
          <a:p>
            <a:r>
              <a:rPr lang="en-US" b="1" dirty="0"/>
              <a:t>Records</a:t>
            </a:r>
            <a:r>
              <a:rPr lang="en-US" dirty="0"/>
              <a:t> – these are the rows in a table; each row, or record, corresponds to a unique instance of what is being described in the table. </a:t>
            </a:r>
          </a:p>
          <a:p>
            <a:endParaRPr lang="en-US" dirty="0"/>
          </a:p>
          <a:p>
            <a:r>
              <a:rPr lang="en-US" dirty="0"/>
              <a:t>A typical ‘enterprise’ database may have hundreds or thousands of tables. </a:t>
            </a:r>
          </a:p>
          <a:p>
            <a:r>
              <a:rPr lang="en-US" dirty="0"/>
              <a:t>The things we directly use are usually a combination of data that would be in many tables.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25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335"/>
    </mc:Choice>
    <mc:Fallback xmlns="">
      <p:transition spd="slow" advTm="33335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Keys and Foreign Keys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9A157A-6EDA-4A78-ACB5-1198AA902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2541735"/>
          </a:xfrm>
        </p:spPr>
        <p:txBody>
          <a:bodyPr anchor="t">
            <a:normAutofit lnSpcReduction="10000"/>
          </a:bodyPr>
          <a:lstStyle/>
          <a:p>
            <a:r>
              <a:rPr lang="en-US" dirty="0"/>
              <a:t>Keys (unique identifiers) facilitate joining (connecting) different entities together. </a:t>
            </a:r>
          </a:p>
          <a:p>
            <a:pPr lvl="1"/>
            <a:r>
              <a:rPr lang="en-US" dirty="0"/>
              <a:t>The key (usually) allows for us to join data when the key matches. </a:t>
            </a:r>
          </a:p>
          <a:p>
            <a:pPr lvl="1"/>
            <a:r>
              <a:rPr lang="en-US" dirty="0"/>
              <a:t>E.g. We join data from Students and Registrations using the student ID on both. </a:t>
            </a:r>
          </a:p>
          <a:p>
            <a:r>
              <a:rPr lang="en-US" b="1" dirty="0"/>
              <a:t>Primary Key </a:t>
            </a:r>
            <a:r>
              <a:rPr lang="en-US" dirty="0"/>
              <a:t>– Unique identifier in each table, Transaction_ID in Transaction Table; CustomerID in Customer Table</a:t>
            </a:r>
          </a:p>
          <a:p>
            <a:r>
              <a:rPr lang="en-US" b="1" dirty="0"/>
              <a:t>Foreign Key </a:t>
            </a:r>
            <a:r>
              <a:rPr lang="en-US" dirty="0"/>
              <a:t>- Exist to create relationships or links between two tables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6C895E-8D8D-4FEA-AD50-53D5A88BF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378" y="4349568"/>
            <a:ext cx="12237378" cy="197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674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613"/>
    </mc:Choice>
    <mc:Fallback xmlns="">
      <p:transition spd="slow" advTm="58613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QL JOIN (With Examples)">
            <a:extLst>
              <a:ext uri="{FF2B5EF4-FFF2-40B4-BE49-F238E27FC236}">
                <a16:creationId xmlns:a16="http://schemas.microsoft.com/office/drawing/2014/main" id="{5377473A-FFAC-81D5-CFD2-44A8C675DB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76"/>
          <a:stretch>
            <a:fillRect/>
          </a:stretch>
        </p:blipFill>
        <p:spPr bwMode="auto">
          <a:xfrm>
            <a:off x="2320925" y="0"/>
            <a:ext cx="7550150" cy="613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19804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F17812-7AFC-219D-E3ED-68933DCE6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our Keys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ED8C5-75E4-8791-3780-98B645069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93842"/>
            <a:ext cx="9603275" cy="3890905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keys are the key to connecting entities.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Entity-relationship structure requires dividing data. </a:t>
            </a:r>
          </a:p>
          <a:p>
            <a:pPr marL="845820" lvl="1" indent="-342900">
              <a:buFont typeface="Arial" panose="020B0604020202020204" pitchFamily="34" charset="0"/>
              <a:buChar char="•"/>
            </a:pPr>
            <a:r>
              <a:rPr lang="en-US" dirty="0"/>
              <a:t>Each “thing” is stored in its own table.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Relationships are how those entities are joined.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Keys allow us to connect entities correctly. </a:t>
            </a:r>
          </a:p>
          <a:p>
            <a:pPr marL="845820" lvl="1" indent="-342900">
              <a:buFont typeface="Arial" panose="020B0604020202020204" pitchFamily="34" charset="0"/>
              <a:buChar char="•"/>
            </a:pPr>
            <a:r>
              <a:rPr lang="en-US" dirty="0"/>
              <a:t>We can look up the part of the other table to connect. </a:t>
            </a:r>
          </a:p>
          <a:p>
            <a:pPr marL="845820" lvl="1" indent="-342900">
              <a:buFont typeface="Arial" panose="020B0604020202020204" pitchFamily="34" charset="0"/>
              <a:buChar char="•"/>
            </a:pPr>
            <a:r>
              <a:rPr lang="en-US" dirty="0"/>
              <a:t>E.g. your transcript is looking up your ID from the “registrations” table. The foreign key in that table is the ID. </a:t>
            </a:r>
          </a:p>
          <a:p>
            <a:pPr marL="845820" lvl="1" indent="-342900">
              <a:buFont typeface="Arial" panose="020B0604020202020204" pitchFamily="34" charset="0"/>
              <a:buChar char="•"/>
            </a:pPr>
            <a:r>
              <a:rPr lang="en-US" dirty="0"/>
              <a:t>We find the student, then look up all the matching courses you’ve registered in and completed.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Joins are possible without connecting keys, but more rare. </a:t>
            </a:r>
          </a:p>
        </p:txBody>
      </p:sp>
    </p:spTree>
    <p:extLst>
      <p:ext uri="{BB962C8B-B14F-4D97-AF65-F5344CB8AC3E}">
        <p14:creationId xmlns:p14="http://schemas.microsoft.com/office/powerpoint/2010/main" val="26738037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7C82C-C396-92B3-66B9-587A13DCB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Practice…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339AC-D4D2-2C85-6AA1-247F31A81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In most cases, in real life usage, we will have some central database (a data warehouse). </a:t>
            </a:r>
          </a:p>
          <a:p>
            <a:r>
              <a:rPr lang="en-US" dirty="0"/>
              <a:t>Many systems that generate data (sales, website, HR, </a:t>
            </a:r>
            <a:r>
              <a:rPr lang="en-US" dirty="0" err="1"/>
              <a:t>etc</a:t>
            </a:r>
            <a:r>
              <a:rPr lang="en-US" dirty="0"/>
              <a:t>…) will dump data in. </a:t>
            </a:r>
          </a:p>
          <a:p>
            <a:pPr lvl="1"/>
            <a:r>
              <a:rPr lang="en-US" dirty="0"/>
              <a:t>There is an ETL process (later) to move the data in. </a:t>
            </a:r>
          </a:p>
          <a:p>
            <a:r>
              <a:rPr lang="en-US" dirty="0"/>
              <a:t>This warehouse is effectively a central repository of all data. </a:t>
            </a:r>
          </a:p>
          <a:p>
            <a:r>
              <a:rPr lang="en-US" dirty="0"/>
              <a:t>When doing analysis, we connect to that warehouse and slice out what we need. </a:t>
            </a:r>
          </a:p>
          <a:p>
            <a:pPr lvl="1"/>
            <a:r>
              <a:rPr lang="en-US" dirty="0"/>
              <a:t>Join together the tables that hold the parts we care about. </a:t>
            </a:r>
          </a:p>
          <a:p>
            <a:pPr lvl="1"/>
            <a:r>
              <a:rPr lang="en-US" dirty="0"/>
              <a:t>Slice out the relevant columns that are useful. </a:t>
            </a:r>
          </a:p>
          <a:p>
            <a:pPr lvl="1"/>
            <a:r>
              <a:rPr lang="en-US" dirty="0"/>
              <a:t>This is more or less what we get in many Kaggle downloads. </a:t>
            </a:r>
          </a:p>
          <a:p>
            <a:r>
              <a:rPr lang="en-US" dirty="0"/>
              <a:t>Setting up the starting point of the data is often/usually work, not just adding a csv!</a:t>
            </a:r>
          </a:p>
        </p:txBody>
      </p:sp>
    </p:spTree>
    <p:extLst>
      <p:ext uri="{BB962C8B-B14F-4D97-AF65-F5344CB8AC3E}">
        <p14:creationId xmlns:p14="http://schemas.microsoft.com/office/powerpoint/2010/main" val="26457909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77F1E1-2B6F-4BB6-899F-67D8764D8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nancial graphs on a dark display">
            <a:extLst>
              <a:ext uri="{FF2B5EF4-FFF2-40B4-BE49-F238E27FC236}">
                <a16:creationId xmlns:a16="http://schemas.microsoft.com/office/drawing/2014/main" id="{C41BE355-D75E-3F0D-AB57-95266AE95C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998" r="-1" b="-1"/>
          <a:stretch>
            <a:fillRect/>
          </a:stretch>
        </p:blipFill>
        <p:spPr>
          <a:xfrm>
            <a:off x="2" y="10"/>
            <a:ext cx="12191695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A0FFA78-985C-4F50-B21A-77045C7DF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55FAA6-7C03-4FE2-840B-00F215037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5511" y="3236470"/>
            <a:ext cx="6832500" cy="1252601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100">
                <a:solidFill>
                  <a:srgbClr val="FFFFFE"/>
                </a:solidFill>
              </a:rPr>
              <a:t>RDB Data Dictionaries and ER Diagrams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5409EC7-69B1-45CC-8FB7-1964C1AB6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5509" y="4666480"/>
            <a:ext cx="6832499" cy="0"/>
          </a:xfrm>
          <a:prstGeom prst="line">
            <a:avLst/>
          </a:prstGeom>
          <a:ln w="31750">
            <a:solidFill>
              <a:srgbClr val="158BA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96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05"/>
    </mc:Choice>
    <mc:Fallback xmlns="">
      <p:transition spd="slow" advTm="5305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A14696-1FF5-01CE-F942-F88B0E8B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Documenting a Database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BDDA3-3D6A-B688-E180-6DCA8CB15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With small and simple datasets we can often gain an understanding by looking at it. </a:t>
            </a:r>
          </a:p>
          <a:p>
            <a:pPr marL="845820" lvl="1" indent="-342900">
              <a:buFont typeface="Arial" panose="020B0604020202020204" pitchFamily="34" charset="0"/>
              <a:buChar char="•"/>
            </a:pPr>
            <a:r>
              <a:rPr lang="en-US" dirty="0"/>
              <a:t>E.g. much of what we use in Tableau.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With large databases, that’s less practical. </a:t>
            </a:r>
          </a:p>
          <a:p>
            <a:pPr marL="845820" lvl="1" indent="-342900">
              <a:buFont typeface="Arial" panose="020B0604020202020204" pitchFamily="34" charset="0"/>
              <a:buChar char="•"/>
            </a:pPr>
            <a:r>
              <a:rPr lang="en-US" dirty="0"/>
              <a:t>Databases may contain thousands of tables. </a:t>
            </a:r>
          </a:p>
          <a:p>
            <a:pPr marL="845820" lvl="1" indent="-342900">
              <a:buFont typeface="Arial" panose="020B0604020202020204" pitchFamily="34" charset="0"/>
              <a:buChar char="•"/>
            </a:pPr>
            <a:r>
              <a:rPr lang="en-US" dirty="0"/>
              <a:t>There can be thousands more relationships. </a:t>
            </a:r>
          </a:p>
          <a:p>
            <a:pPr marL="845820" lvl="1" indent="-342900">
              <a:buFont typeface="Arial" panose="020B0604020202020204" pitchFamily="34" charset="0"/>
              <a:buChar char="•"/>
            </a:pPr>
            <a:r>
              <a:rPr lang="en-US" dirty="0"/>
              <a:t>Each table can contain 10s to 100s or more fields. </a:t>
            </a:r>
          </a:p>
          <a:p>
            <a:pPr marL="845820" lvl="1" indent="-342900">
              <a:buFont typeface="Arial" panose="020B0604020202020204" pitchFamily="34" charset="0"/>
              <a:buChar char="•"/>
            </a:pPr>
            <a:r>
              <a:rPr lang="en-US" dirty="0"/>
              <a:t>On system I used had a 900+ page document describing it. That wasn’t a super large DB.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need things to help us understand the DB. </a:t>
            </a:r>
          </a:p>
          <a:p>
            <a:pPr marL="845820" lvl="1" indent="-342900">
              <a:buFont typeface="Arial" panose="020B0604020202020204" pitchFamily="34" charset="0"/>
              <a:buChar char="•"/>
            </a:pPr>
            <a:r>
              <a:rPr lang="en-US" dirty="0"/>
              <a:t>Data dictionary. </a:t>
            </a:r>
          </a:p>
          <a:p>
            <a:pPr marL="845820" lvl="1" indent="-342900">
              <a:buFont typeface="Arial" panose="020B0604020202020204" pitchFamily="34" charset="0"/>
              <a:buChar char="•"/>
            </a:pPr>
            <a:r>
              <a:rPr lang="en-US" dirty="0"/>
              <a:t>Entity-relationship diagram. </a:t>
            </a:r>
          </a:p>
        </p:txBody>
      </p:sp>
    </p:spTree>
    <p:extLst>
      <p:ext uri="{BB962C8B-B14F-4D97-AF65-F5344CB8AC3E}">
        <p14:creationId xmlns:p14="http://schemas.microsoft.com/office/powerpoint/2010/main" val="15450191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64D9434-E6EF-7AC2-67D9-69BD842F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Dictionaries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CFC047-411C-9C75-FFFB-4AEEF2797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dictionaries provide an explanation of what is in a dataset.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Typically include information on:</a:t>
            </a:r>
          </a:p>
          <a:p>
            <a:pPr marL="845820" lvl="1" indent="-342900">
              <a:buFont typeface="Arial" panose="020B0604020202020204" pitchFamily="34" charset="0"/>
              <a:buChar char="•"/>
            </a:pPr>
            <a:r>
              <a:rPr lang="en-US" dirty="0"/>
              <a:t>Data types. (Number, string, date,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pPr marL="845820" lvl="1" indent="-342900">
              <a:buFont typeface="Arial" panose="020B0604020202020204" pitchFamily="34" charset="0"/>
              <a:buChar char="•"/>
            </a:pPr>
            <a:r>
              <a:rPr lang="en-US" dirty="0"/>
              <a:t>Context/description on what each variable is. </a:t>
            </a:r>
          </a:p>
          <a:p>
            <a:pPr marL="845820" lvl="1" indent="-342900">
              <a:buFont typeface="Arial" panose="020B0604020202020204" pitchFamily="34" charset="0"/>
              <a:buChar char="•"/>
            </a:pPr>
            <a:r>
              <a:rPr lang="en-US" dirty="0"/>
              <a:t>Rules on content (length, format,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pPr marL="845820" lvl="1" indent="-342900">
              <a:buFont typeface="Arial" panose="020B0604020202020204" pitchFamily="34" charset="0"/>
              <a:buChar char="•"/>
            </a:pPr>
            <a:r>
              <a:rPr lang="en-US" dirty="0"/>
              <a:t>DB “details” – keys, default values, “is required”, etc..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data dictionary helps someone using data to understand that data more easily.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is often, but not always, on the download page in Kaggle/</a:t>
            </a:r>
            <a:r>
              <a:rPr lang="en-US" dirty="0" err="1"/>
              <a:t>CoE</a:t>
            </a:r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0516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9F932E7-A806-43CB-BE25-ADEE62AD2C0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5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974"/>
    </mc:Choice>
    <mc:Fallback xmlns="">
      <p:transition spd="slow" advTm="32974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47D78C-C344-11C0-C527-89762158C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83AD0-33A0-A1E4-65E5-ECFAFCAFF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CB7B3D-CB97-9AA9-65B6-E7F0CC0CC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161" y="0"/>
            <a:ext cx="52356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986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Relational Database Diagrams - ER Diagram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b="1" dirty="0"/>
              <a:t>ER (Entity-Relationship) Diagram </a:t>
            </a:r>
            <a:r>
              <a:rPr lang="en-US" dirty="0"/>
              <a:t>– graphical representation of an information system, illustrating relationships among people, objects, places and events within that system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437" y="3395737"/>
            <a:ext cx="7407125" cy="265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00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586"/>
    </mc:Choice>
    <mc:Fallback xmlns="">
      <p:transition spd="slow" advTm="57586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B07865-F12B-979F-28A0-005B27AE0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5A72BF-2D9A-507C-5884-785E326D8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2" name="Picture 4" descr="Cardinality in Database Design: Examples and Crow's Foot Notation |  Study.com">
            <a:extLst>
              <a:ext uri="{FF2B5EF4-FFF2-40B4-BE49-F238E27FC236}">
                <a16:creationId xmlns:a16="http://schemas.microsoft.com/office/drawing/2014/main" id="{FB764D61-A34C-4512-BC63-DB7BB4DD8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560" y="0"/>
            <a:ext cx="9641840" cy="674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6856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F3E332-900C-371E-EEAB-AA3BC976F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6CE97-C15D-27CA-EF48-DE41C79F9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Entity-relationship Model for Delegation | Download Scientific Diagram">
            <a:extLst>
              <a:ext uri="{FF2B5EF4-FFF2-40B4-BE49-F238E27FC236}">
                <a16:creationId xmlns:a16="http://schemas.microsoft.com/office/drawing/2014/main" id="{475D4A01-858D-FC0C-DEE5-91237B634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400" y="120981"/>
            <a:ext cx="7061200" cy="6616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1628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E28EAD-0701-2426-90B3-54C28FEF1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 </a:t>
            </a:r>
            <a:r>
              <a:rPr lang="en-US" dirty="0" err="1"/>
              <a:t>Stylez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750883-74EF-144B-B457-849BA6A68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There are a lot of different styles of ERDs.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show fields in each table, some don’t.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have a diamond for the relationship between entities, some don’t.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core thing is that they all show the entities, and relationships between them. Everything else can be varied. </a:t>
            </a:r>
          </a:p>
        </p:txBody>
      </p:sp>
    </p:spTree>
    <p:extLst>
      <p:ext uri="{BB962C8B-B14F-4D97-AF65-F5344CB8AC3E}">
        <p14:creationId xmlns:p14="http://schemas.microsoft.com/office/powerpoint/2010/main" val="30644053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00712D-1676-903D-D2DA-7C323736E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I need with an ERD?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B0FB6-E15C-52F3-FADF-D2B3CB0AB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Entity relationship diagrams are extremely common when dealing with databases.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don’t need to be an expert in them, but we should know:</a:t>
            </a:r>
          </a:p>
          <a:p>
            <a:pPr marL="788670" lvl="1" indent="-285750">
              <a:buFont typeface="Arial" panose="020B0604020202020204" pitchFamily="34" charset="0"/>
              <a:buChar char="•"/>
            </a:pPr>
            <a:r>
              <a:rPr lang="en-US" dirty="0"/>
              <a:t>How to interpret an ERD, at a high level. </a:t>
            </a:r>
          </a:p>
          <a:p>
            <a:pPr marL="788670" lvl="1" indent="-285750">
              <a:buFont typeface="Arial" panose="020B0604020202020204" pitchFamily="34" charset="0"/>
              <a:buChar char="•"/>
            </a:pPr>
            <a:r>
              <a:rPr lang="en-US" dirty="0"/>
              <a:t>How to take an ERD and understand it with the help of time and the ability to research. </a:t>
            </a:r>
          </a:p>
          <a:p>
            <a:pPr marL="788670" lvl="1" indent="-285750">
              <a:buFont typeface="Arial" panose="020B0604020202020204" pitchFamily="34" charset="0"/>
              <a:buChar char="•"/>
            </a:pPr>
            <a:r>
              <a:rPr lang="en-US" dirty="0"/>
              <a:t>An understanding of relationships, as that is really important in joining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using “new” data, we need to gain an understanding of it to use it.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we try to join data sources together, this becomes important.</a:t>
            </a:r>
          </a:p>
          <a:p>
            <a:pPr marL="742950" lvl="1" indent="-285750"/>
            <a:r>
              <a:rPr lang="en-US" dirty="0"/>
              <a:t>Next week we’ll do some joining…</a:t>
            </a:r>
          </a:p>
        </p:txBody>
      </p:sp>
    </p:spTree>
    <p:extLst>
      <p:ext uri="{BB962C8B-B14F-4D97-AF65-F5344CB8AC3E}">
        <p14:creationId xmlns:p14="http://schemas.microsoft.com/office/powerpoint/2010/main" val="26262652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978A-48FA-6E23-235F-00076DA68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A0D91-F7E7-7E0E-D3A4-01FF9714E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4414"/>
            <a:ext cx="9603275" cy="4109067"/>
          </a:xfrm>
        </p:spPr>
        <p:txBody>
          <a:bodyPr/>
          <a:lstStyle/>
          <a:p>
            <a:r>
              <a:rPr lang="en-US" dirty="0"/>
              <a:t>Understanding the structure of our data is important. </a:t>
            </a:r>
          </a:p>
          <a:p>
            <a:pPr lvl="1"/>
            <a:r>
              <a:rPr lang="en-US" dirty="0"/>
              <a:t>If you want/need to use non-curated data sources, you’ll need to be able to navigate. </a:t>
            </a:r>
          </a:p>
          <a:p>
            <a:pPr lvl="1"/>
            <a:r>
              <a:rPr lang="en-US" dirty="0"/>
              <a:t>You’ll need to prepare and connect to data. </a:t>
            </a:r>
          </a:p>
          <a:p>
            <a:pPr lvl="1"/>
            <a:r>
              <a:rPr lang="en-US" dirty="0"/>
              <a:t>Joining data tables to get all the data you need is common. </a:t>
            </a:r>
          </a:p>
          <a:p>
            <a:r>
              <a:rPr lang="en-US" dirty="0"/>
              <a:t>Get some practice reading the documentation, checking data, and seeing if it adds up…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63004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20154</TotalTime>
  <Words>2931</Words>
  <Application>Microsoft Macintosh PowerPoint</Application>
  <PresentationFormat>Widescreen</PresentationFormat>
  <Paragraphs>267</Paragraphs>
  <Slides>47</Slides>
  <Notes>0</Notes>
  <HiddenSlides>8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Gill Sans MT</vt:lpstr>
      <vt:lpstr>Gallery</vt:lpstr>
      <vt:lpstr>Housekeeping</vt:lpstr>
      <vt:lpstr>Coordinate Systems and Axes</vt:lpstr>
      <vt:lpstr>Anscombe Quartet</vt:lpstr>
      <vt:lpstr>But if We Visualize them</vt:lpstr>
      <vt:lpstr>What is Going on Here? Chaos!</vt:lpstr>
      <vt:lpstr>Encoding vs Decoding</vt:lpstr>
      <vt:lpstr>Coordinate Planes</vt:lpstr>
      <vt:lpstr>Styles Make Charts</vt:lpstr>
      <vt:lpstr>Visual Vocabulary</vt:lpstr>
      <vt:lpstr>Scatter Plots</vt:lpstr>
      <vt:lpstr>Scatter Plots are Simple!</vt:lpstr>
      <vt:lpstr>Using Coordinate Planes</vt:lpstr>
      <vt:lpstr>the Shelf</vt:lpstr>
      <vt:lpstr>Coordinate planes Behind the Scenes</vt:lpstr>
      <vt:lpstr>Data Density</vt:lpstr>
      <vt:lpstr>PowerPoint Presentation</vt:lpstr>
      <vt:lpstr>Density Concerns</vt:lpstr>
      <vt:lpstr>Bloomberg Terminals – Dense, but with Training</vt:lpstr>
      <vt:lpstr>Non Scatter Plot Plane uses</vt:lpstr>
      <vt:lpstr>Coordinate Planes and Mapping</vt:lpstr>
      <vt:lpstr>Remixing my Maps</vt:lpstr>
      <vt:lpstr>Crazier with Coordinates</vt:lpstr>
      <vt:lpstr>Example – Parliament Chart</vt:lpstr>
      <vt:lpstr>Chart Axis</vt:lpstr>
      <vt:lpstr>Axis Scales</vt:lpstr>
      <vt:lpstr>Conclusion</vt:lpstr>
      <vt:lpstr>PowerPoint Presentation</vt:lpstr>
      <vt:lpstr>Datasheets, Databases, and Data Structure</vt:lpstr>
      <vt:lpstr>Structure of Data</vt:lpstr>
      <vt:lpstr>A Table of Data</vt:lpstr>
      <vt:lpstr>Relational Databases</vt:lpstr>
      <vt:lpstr>Three Basic Components of a Relational Database</vt:lpstr>
      <vt:lpstr>Primary Keys and Foreign Keys</vt:lpstr>
      <vt:lpstr>PowerPoint Presentation</vt:lpstr>
      <vt:lpstr>Using our Keys</vt:lpstr>
      <vt:lpstr>In Practice…</vt:lpstr>
      <vt:lpstr>RDB Data Dictionaries and ER Diagrams</vt:lpstr>
      <vt:lpstr>Documenting a Database</vt:lpstr>
      <vt:lpstr>Data Dictionaries</vt:lpstr>
      <vt:lpstr>PowerPoint Presentation</vt:lpstr>
      <vt:lpstr>PowerPoint Presentation</vt:lpstr>
      <vt:lpstr>Example of Relational Database Diagrams - ER Diagram</vt:lpstr>
      <vt:lpstr>PowerPoint Presentation</vt:lpstr>
      <vt:lpstr>PowerPoint Presentation</vt:lpstr>
      <vt:lpstr>ERD Stylez</vt:lpstr>
      <vt:lpstr>What do I need with an ERD?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Akeem Semper</dc:creator>
  <cp:lastModifiedBy>Akeem Semper</cp:lastModifiedBy>
  <cp:revision>38</cp:revision>
  <dcterms:created xsi:type="dcterms:W3CDTF">2025-08-22T02:42:44Z</dcterms:created>
  <dcterms:modified xsi:type="dcterms:W3CDTF">2025-09-10T21:48:03Z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2025-08-22T02:42:54Z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41054284-e8f0-4815-9f1c-dc921551d9c4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