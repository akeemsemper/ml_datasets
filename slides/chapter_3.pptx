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546" r:id="rId3"/>
    <p:sldId id="547" r:id="rId4"/>
    <p:sldId id="548" r:id="rId5"/>
    <p:sldId id="549" r:id="rId6"/>
    <p:sldId id="257" r:id="rId7"/>
    <p:sldId id="273" r:id="rId8"/>
    <p:sldId id="545" r:id="rId9"/>
    <p:sldId id="260" r:id="rId10"/>
    <p:sldId id="267" r:id="rId11"/>
    <p:sldId id="261" r:id="rId12"/>
    <p:sldId id="272" r:id="rId13"/>
    <p:sldId id="262" r:id="rId14"/>
    <p:sldId id="266" r:id="rId15"/>
    <p:sldId id="263" r:id="rId16"/>
    <p:sldId id="258" r:id="rId17"/>
    <p:sldId id="259" r:id="rId18"/>
    <p:sldId id="264" r:id="rId19"/>
    <p:sldId id="265" r:id="rId20"/>
    <p:sldId id="271" r:id="rId21"/>
    <p:sldId id="269" r:id="rId22"/>
    <p:sldId id="270" r:id="rId23"/>
    <p:sldId id="26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E8E1D04-FFB7-A443-96E8-8EF43C6560A0}">
          <p14:sldIdLst>
            <p14:sldId id="256"/>
          </p14:sldIdLst>
        </p14:section>
        <p14:section name="Anscombe" id="{C3BE5ABF-69C6-BD4E-A82D-E68ADE59AC47}">
          <p14:sldIdLst>
            <p14:sldId id="546"/>
            <p14:sldId id="547"/>
            <p14:sldId id="548"/>
            <p14:sldId id="549"/>
          </p14:sldIdLst>
        </p14:section>
        <p14:section name="Coord Plane" id="{DA92CEE8-6C91-014B-82B5-3C204EA48DCA}">
          <p14:sldIdLst>
            <p14:sldId id="257"/>
            <p14:sldId id="273"/>
            <p14:sldId id="545"/>
          </p14:sldIdLst>
        </p14:section>
        <p14:section name="Scatter Plot" id="{D6B8943E-8C11-254E-B116-05625603106C}">
          <p14:sldIdLst>
            <p14:sldId id="260"/>
            <p14:sldId id="267"/>
            <p14:sldId id="261"/>
            <p14:sldId id="272"/>
            <p14:sldId id="262"/>
            <p14:sldId id="266"/>
            <p14:sldId id="263"/>
            <p14:sldId id="258"/>
          </p14:sldIdLst>
        </p14:section>
        <p14:section name="Mapping" id="{45BDE52D-7DFF-9E4C-9AE3-55BDCDE50100}">
          <p14:sldIdLst>
            <p14:sldId id="259"/>
            <p14:sldId id="264"/>
          </p14:sldIdLst>
        </p14:section>
        <p14:section name="Trig and Coords" id="{7610224A-8B74-C046-AAD2-DB5F12C09567}">
          <p14:sldIdLst>
            <p14:sldId id="265"/>
            <p14:sldId id="271"/>
          </p14:sldIdLst>
        </p14:section>
        <p14:section name="Axes" id="{0656B8A9-A5A9-0646-A3DD-68C6BA4EFAED}">
          <p14:sldIdLst>
            <p14:sldId id="269"/>
            <p14:sldId id="270"/>
          </p14:sldIdLst>
        </p14:section>
        <p14:section name="Conclusion" id="{DF00E891-914E-4642-9CCF-7E0D8CEC507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/>
    <p:restoredTop sz="94694"/>
  </p:normalViewPr>
  <p:slideViewPr>
    <p:cSldViewPr snapToGrid="0">
      <p:cViewPr varScale="1">
        <p:scale>
          <a:sx n="121" d="100"/>
          <a:sy n="121" d="100"/>
        </p:scale>
        <p:origin x="5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843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915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539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46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8180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114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481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0013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549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876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8977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EAC488-0008-CA42-9496-D262A63F87EA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932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BD5C1-6153-57DF-62BD-0312F52DA2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Coordinate Systems and Axes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370B5-F879-F8C0-56BA-2555EF993B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178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D0F98-F60C-32DD-19D6-24FC050D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Anscombe Quartet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5283D-25A9-F055-F99A-9B823A5CD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3" y="2015732"/>
            <a:ext cx="3856583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Anscombe’s Quartet is a nerd famous set of data sets. </a:t>
            </a:r>
          </a:p>
          <a:p>
            <a:r>
              <a:rPr lang="en-US" dirty="0"/>
              <a:t>Each data set (x/y) has the same:</a:t>
            </a:r>
          </a:p>
          <a:p>
            <a:pPr lvl="1"/>
            <a:r>
              <a:rPr lang="en-US" dirty="0"/>
              <a:t>Sum. </a:t>
            </a:r>
          </a:p>
          <a:p>
            <a:pPr lvl="1"/>
            <a:r>
              <a:rPr lang="en-US" dirty="0"/>
              <a:t>Mean</a:t>
            </a:r>
          </a:p>
          <a:p>
            <a:pPr lvl="1"/>
            <a:r>
              <a:rPr lang="en-US" dirty="0"/>
              <a:t>Standard deviation. </a:t>
            </a:r>
          </a:p>
          <a:p>
            <a:pPr lvl="1"/>
            <a:r>
              <a:rPr lang="en-US"/>
              <a:t>Correlation. </a:t>
            </a:r>
            <a:endParaRPr lang="en-US" dirty="0"/>
          </a:p>
          <a:p>
            <a:r>
              <a:rPr lang="en-US" dirty="0"/>
              <a:t>One would assume the data sets are very similar. </a:t>
            </a:r>
          </a:p>
          <a:p>
            <a:r>
              <a:rPr lang="en-US" dirty="0"/>
              <a:t>But…</a:t>
            </a:r>
          </a:p>
        </p:txBody>
      </p:sp>
      <p:pic>
        <p:nvPicPr>
          <p:cNvPr id="1026" name="Picture 2" descr="Articles - London SODA">
            <a:extLst>
              <a:ext uri="{FF2B5EF4-FFF2-40B4-BE49-F238E27FC236}">
                <a16:creationId xmlns:a16="http://schemas.microsoft.com/office/drawing/2014/main" id="{198E7EDD-E11B-9578-6B45-BEEA9727D8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46"/>
          <a:stretch>
            <a:fillRect/>
          </a:stretch>
        </p:blipFill>
        <p:spPr bwMode="auto">
          <a:xfrm>
            <a:off x="3961086" y="1853754"/>
            <a:ext cx="8230914" cy="435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92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8DBB4-B120-D042-A2C7-A8512708E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if We Visualize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8EF90-6539-ABFC-9AEF-A98CE9B3E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nscombe's quartet - Wikipedia">
            <a:extLst>
              <a:ext uri="{FF2B5EF4-FFF2-40B4-BE49-F238E27FC236}">
                <a16:creationId xmlns:a16="http://schemas.microsoft.com/office/drawing/2014/main" id="{34090B7A-D9B5-AD88-1597-A0C7D0DB4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996" y="1455448"/>
            <a:ext cx="7426008" cy="540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3695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3C09-89C8-C337-77C3-E1EE64093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Going on Here? Chaos!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CDEB5-DDC9-EE74-758C-7586C98E1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have a lot of data. </a:t>
            </a:r>
          </a:p>
          <a:p>
            <a:r>
              <a:rPr lang="en-US" dirty="0"/>
              <a:t>We can analyze that data in many different ways. </a:t>
            </a:r>
          </a:p>
          <a:p>
            <a:r>
              <a:rPr lang="en-US" dirty="0"/>
              <a:t>The type of analysis we do will change what we can learn from our data. </a:t>
            </a:r>
          </a:p>
          <a:p>
            <a:r>
              <a:rPr lang="en-US" dirty="0"/>
              <a:t>Visual analysis is powerful because it can help us see things that are difficult otherwise. </a:t>
            </a:r>
          </a:p>
          <a:p>
            <a:r>
              <a:rPr lang="en-US" dirty="0"/>
              <a:t>To analyze data well (like if this was your job):</a:t>
            </a:r>
          </a:p>
          <a:p>
            <a:pPr lvl="1"/>
            <a:r>
              <a:rPr lang="en-US" dirty="0"/>
              <a:t>We need a toolkit of analytical tools, of which visualization is an important one. </a:t>
            </a:r>
          </a:p>
          <a:p>
            <a:pPr lvl="1"/>
            <a:r>
              <a:rPr lang="en-US" dirty="0"/>
              <a:t>We need to ensure we present data in a way that allows us to see what we care about. </a:t>
            </a:r>
          </a:p>
        </p:txBody>
      </p:sp>
    </p:spTree>
    <p:extLst>
      <p:ext uri="{BB962C8B-B14F-4D97-AF65-F5344CB8AC3E}">
        <p14:creationId xmlns:p14="http://schemas.microsoft.com/office/powerpoint/2010/main" val="2389286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43ED3-56F8-1B98-CFE4-DA416007B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vs Decoding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037FC-109E-8375-5DE1-6B4522717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Encode. </a:t>
            </a:r>
          </a:p>
          <a:p>
            <a:pPr lvl="1"/>
            <a:r>
              <a:rPr lang="en-US" dirty="0"/>
              <a:t>We have a bunch of data to analyze and sort through. </a:t>
            </a:r>
          </a:p>
          <a:p>
            <a:pPr lvl="1"/>
            <a:r>
              <a:rPr lang="en-US" dirty="0"/>
              <a:t>We will create a visual representation of that in our charts – encoding. </a:t>
            </a:r>
          </a:p>
          <a:p>
            <a:r>
              <a:rPr lang="en-US" dirty="0"/>
              <a:t>Decode. </a:t>
            </a:r>
          </a:p>
          <a:p>
            <a:pPr lvl="1"/>
            <a:r>
              <a:rPr lang="en-US" dirty="0"/>
              <a:t>The reader will look at our visualization to get the information – decoding. </a:t>
            </a:r>
          </a:p>
          <a:p>
            <a:pPr lvl="1"/>
            <a:r>
              <a:rPr lang="en-US" dirty="0"/>
              <a:t>We want to make sure that they get what we intended. </a:t>
            </a:r>
          </a:p>
          <a:p>
            <a:pPr lvl="1"/>
            <a:r>
              <a:rPr lang="en-US" dirty="0"/>
              <a:t>We also want to make that as easy, or friction free, as possible. </a:t>
            </a:r>
          </a:p>
          <a:p>
            <a:r>
              <a:rPr lang="en-US" dirty="0"/>
              <a:t>We translate data into charts, the reader transforms charts into info/knowledge. </a:t>
            </a:r>
          </a:p>
          <a:p>
            <a:pPr lvl="1"/>
            <a:r>
              <a:rPr lang="en-US" dirty="0"/>
              <a:t>The better we are, the better this works. </a:t>
            </a:r>
          </a:p>
          <a:p>
            <a:r>
              <a:rPr lang="en-US" dirty="0"/>
              <a:t>Also don’t want to accidentally encode info - order, size, shade may convey meaning. </a:t>
            </a:r>
          </a:p>
        </p:txBody>
      </p:sp>
    </p:spTree>
    <p:extLst>
      <p:ext uri="{BB962C8B-B14F-4D97-AF65-F5344CB8AC3E}">
        <p14:creationId xmlns:p14="http://schemas.microsoft.com/office/powerpoint/2010/main" val="3236604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AED8F-D7B6-00DA-9BB9-CC467AFA3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Coordinate Planes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F58A3-C2D0-1EC3-0333-70E5D404C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548" y="1853754"/>
            <a:ext cx="6889641" cy="4199727"/>
          </a:xfrm>
        </p:spPr>
        <p:txBody>
          <a:bodyPr>
            <a:normAutofit/>
          </a:bodyPr>
          <a:lstStyle/>
          <a:p>
            <a:r>
              <a:rPr lang="en-US" dirty="0"/>
              <a:t>One of the foundational ideas of graphing is the coordinate plane. </a:t>
            </a:r>
          </a:p>
          <a:p>
            <a:r>
              <a:rPr lang="en-US" dirty="0"/>
              <a:t>Allows us to define exact position in 2D (</a:t>
            </a:r>
            <a:r>
              <a:rPr lang="en-US" dirty="0" err="1"/>
              <a:t>x,y</a:t>
            </a:r>
            <a:r>
              <a:rPr lang="en-US" dirty="0"/>
              <a:t>). </a:t>
            </a:r>
          </a:p>
          <a:p>
            <a:r>
              <a:rPr lang="en-US" dirty="0"/>
              <a:t>We can plot pretty much anything here. </a:t>
            </a:r>
          </a:p>
          <a:p>
            <a:pPr lvl="1"/>
            <a:r>
              <a:rPr lang="en-US" dirty="0"/>
              <a:t>We can define the positions arithmetically. </a:t>
            </a:r>
          </a:p>
          <a:p>
            <a:r>
              <a:rPr lang="en-US" dirty="0"/>
              <a:t>Tableau works by creating planes and plotting points on them. </a:t>
            </a:r>
          </a:p>
          <a:p>
            <a:pPr lvl="1"/>
            <a:r>
              <a:rPr lang="en-US" dirty="0"/>
              <a:t>Often this is transparent to us – e.g. bar graph or map. </a:t>
            </a:r>
          </a:p>
          <a:p>
            <a:pPr lvl="1"/>
            <a:r>
              <a:rPr lang="en-US" dirty="0"/>
              <a:t>In more complex examples, we can manipulate it to do things like curves. </a:t>
            </a:r>
          </a:p>
        </p:txBody>
      </p:sp>
      <p:pic>
        <p:nvPicPr>
          <p:cNvPr id="1026" name="Picture 2" descr="Coordinate Plane Stock Illustrations – 912 Coordinate Plane Stock  Illustrations, Vectors &amp; Clipart - Dreamstime">
            <a:extLst>
              <a:ext uri="{FF2B5EF4-FFF2-40B4-BE49-F238E27FC236}">
                <a16:creationId xmlns:a16="http://schemas.microsoft.com/office/drawing/2014/main" id="{6CA77E98-C740-7035-2B66-EE672DD3A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79190" y="2015734"/>
            <a:ext cx="4527466" cy="4527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5499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9E895-B1B2-2CA4-61BB-BA639B9E0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6241" y="804519"/>
            <a:ext cx="8208613" cy="1049235"/>
          </a:xfrm>
        </p:spPr>
        <p:txBody>
          <a:bodyPr/>
          <a:lstStyle/>
          <a:p>
            <a:r>
              <a:rPr lang="en-US" dirty="0"/>
              <a:t>Styles Make 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997C-F392-7576-AB79-767501B7F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6241" y="2015732"/>
            <a:ext cx="8208613" cy="4037749"/>
          </a:xfrm>
        </p:spPr>
        <p:txBody>
          <a:bodyPr/>
          <a:lstStyle/>
          <a:p>
            <a:r>
              <a:rPr lang="en-US" dirty="0"/>
              <a:t>Each chart style uses the plane to display results differently. </a:t>
            </a:r>
          </a:p>
          <a:p>
            <a:r>
              <a:rPr lang="en-US" dirty="0"/>
              <a:t>Different charts are good at different things. </a:t>
            </a:r>
          </a:p>
          <a:p>
            <a:r>
              <a:rPr lang="en-US" dirty="0"/>
              <a:t>Different charts need different values (type and number) to work. </a:t>
            </a:r>
          </a:p>
          <a:p>
            <a:r>
              <a:rPr lang="en-US" dirty="0"/>
              <a:t>“When I read this, do I get that?” </a:t>
            </a:r>
          </a:p>
          <a:p>
            <a:r>
              <a:rPr lang="en-US" dirty="0"/>
              <a:t>In Tableau, the Show Me changes chart types all-at-once:</a:t>
            </a:r>
          </a:p>
          <a:p>
            <a:pPr lvl="1"/>
            <a:r>
              <a:rPr lang="en-US" dirty="0"/>
              <a:t>We can reformat our data into a totally new style. </a:t>
            </a:r>
          </a:p>
          <a:p>
            <a:pPr lvl="1"/>
            <a:r>
              <a:rPr lang="en-US" dirty="0"/>
              <a:t>Tableau makes assumptions, it may make mistakes. </a:t>
            </a:r>
          </a:p>
        </p:txBody>
      </p:sp>
      <p:pic>
        <p:nvPicPr>
          <p:cNvPr id="7170" name="Picture 2" descr="Tableau - Show Me">
            <a:extLst>
              <a:ext uri="{FF2B5EF4-FFF2-40B4-BE49-F238E27FC236}">
                <a16:creationId xmlns:a16="http://schemas.microsoft.com/office/drawing/2014/main" id="{B33B7390-1EA0-E7CE-5DB2-CDA3A0A437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59"/>
          <a:stretch>
            <a:fillRect/>
          </a:stretch>
        </p:blipFill>
        <p:spPr bwMode="auto">
          <a:xfrm>
            <a:off x="56917" y="0"/>
            <a:ext cx="2789324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117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BAAD8-3C26-8A04-97D7-048EF7F81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Visual Vocabulary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2E3B8-CACB-A93A-3974-9ACD7E0FE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" y="2221905"/>
            <a:ext cx="6255637" cy="383157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A9C4D-9F90-06C4-35A8-70DDC5F26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2023" y="2015734"/>
            <a:ext cx="5779978" cy="4147999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There’s a link on Brightspace to a visual vocabulary.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This gives an example of good chart types to display certain things you may want to show.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These are good starting points – you can change anything, but these are examples of what we know works well. </a:t>
            </a:r>
          </a:p>
        </p:txBody>
      </p:sp>
    </p:spTree>
    <p:extLst>
      <p:ext uri="{BB962C8B-B14F-4D97-AF65-F5344CB8AC3E}">
        <p14:creationId xmlns:p14="http://schemas.microsoft.com/office/powerpoint/2010/main" val="335386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0A923-5539-D86F-D258-F7C4AC458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Scatter Plots</a:t>
            </a:r>
          </a:p>
        </p:txBody>
      </p:sp>
      <p:pic>
        <p:nvPicPr>
          <p:cNvPr id="3074" name="Picture 2" descr="how to make a scatter plot in Excel — storytelling with data">
            <a:extLst>
              <a:ext uri="{FF2B5EF4-FFF2-40B4-BE49-F238E27FC236}">
                <a16:creationId xmlns:a16="http://schemas.microsoft.com/office/drawing/2014/main" id="{AB6A9B96-8D79-4155-508E-3086838C4A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5544" y="1896061"/>
            <a:ext cx="5820455" cy="4961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F0408-8EF6-ECA4-E367-8FF3A0F3F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2015734"/>
            <a:ext cx="5602015" cy="403774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Scatter plots are the most coordinate plane-</a:t>
            </a:r>
            <a:r>
              <a:rPr lang="en-US" dirty="0" err="1"/>
              <a:t>ish</a:t>
            </a:r>
            <a:r>
              <a:rPr lang="en-US" dirty="0"/>
              <a:t> type of plot. </a:t>
            </a:r>
          </a:p>
          <a:p>
            <a:pPr>
              <a:lnSpc>
                <a:spcPct val="110000"/>
              </a:lnSpc>
            </a:pPr>
            <a:r>
              <a:rPr lang="en-US" dirty="0"/>
              <a:t>Scatter plots are most commonly used to show relationships between numeric variables. </a:t>
            </a:r>
          </a:p>
          <a:p>
            <a:pPr>
              <a:lnSpc>
                <a:spcPct val="110000"/>
              </a:lnSpc>
            </a:pPr>
            <a:r>
              <a:rPr lang="en-US" dirty="0"/>
              <a:t>Scatter plots easily allow other attributes to add density: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We can use shape/color/size/pattern to encode other data in addition to position.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This makes a plot more dense – same # of charts, more information. </a:t>
            </a:r>
          </a:p>
        </p:txBody>
      </p:sp>
    </p:spTree>
    <p:extLst>
      <p:ext uri="{BB962C8B-B14F-4D97-AF65-F5344CB8AC3E}">
        <p14:creationId xmlns:p14="http://schemas.microsoft.com/office/powerpoint/2010/main" val="2132236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0EB8B-8CA0-5240-D4E8-2F73AE16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Scatter Plots are Simple!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274CA-B5A2-0141-A4EB-F6B67297F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6533827" cy="3952102"/>
          </a:xfrm>
        </p:spPr>
        <p:txBody>
          <a:bodyPr/>
          <a:lstStyle/>
          <a:p>
            <a:r>
              <a:rPr lang="en-US" dirty="0"/>
              <a:t>Scatter plots are very simple, yet powerful. </a:t>
            </a:r>
          </a:p>
          <a:p>
            <a:r>
              <a:rPr lang="en-US" dirty="0"/>
              <a:t>Generally, we just use quadrant 1. </a:t>
            </a:r>
          </a:p>
          <a:p>
            <a:r>
              <a:rPr lang="en-US" dirty="0"/>
              <a:t>Require two numeric measures. </a:t>
            </a:r>
          </a:p>
          <a:p>
            <a:pPr lvl="1"/>
            <a:r>
              <a:rPr lang="en-US" dirty="0"/>
              <a:t>One is X, one is Y. </a:t>
            </a:r>
          </a:p>
          <a:p>
            <a:pPr lvl="1"/>
            <a:r>
              <a:rPr lang="en-US" dirty="0"/>
              <a:t>Think – if one is categorical, what is the result?</a:t>
            </a:r>
          </a:p>
          <a:p>
            <a:r>
              <a:rPr lang="en-US" dirty="0"/>
              <a:t>Can show relationships between variables. </a:t>
            </a:r>
          </a:p>
          <a:p>
            <a:r>
              <a:rPr lang="en-US" dirty="0"/>
              <a:t>Basis of predictive analytics – linear regression (best fit). </a:t>
            </a:r>
          </a:p>
        </p:txBody>
      </p:sp>
      <p:pic>
        <p:nvPicPr>
          <p:cNvPr id="1026" name="Picture 2" descr="History of Scatterplots: A Timeline – Information Visualization">
            <a:extLst>
              <a:ext uri="{FF2B5EF4-FFF2-40B4-BE49-F238E27FC236}">
                <a16:creationId xmlns:a16="http://schemas.microsoft.com/office/drawing/2014/main" id="{64570A20-80BC-9FA9-9CF0-EB1E3AF85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406" y="2119914"/>
            <a:ext cx="4206594" cy="3952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2456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32F91-0526-1606-584D-0DE7C75F7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Coordinate Planes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8E0A5-6884-3608-1957-1D9CCBD30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088780" cy="4199727"/>
          </a:xfrm>
        </p:spPr>
        <p:txBody>
          <a:bodyPr>
            <a:normAutofit/>
          </a:bodyPr>
          <a:lstStyle/>
          <a:p>
            <a:r>
              <a:rPr lang="en-US" dirty="0"/>
              <a:t>Coordinate planes are useful for visualization because we can encode any position. </a:t>
            </a:r>
          </a:p>
          <a:p>
            <a:pPr lvl="1"/>
            <a:r>
              <a:rPr lang="en-US" dirty="0"/>
              <a:t>I.e. we have a specific number (</a:t>
            </a:r>
            <a:r>
              <a:rPr lang="en-US" dirty="0" err="1"/>
              <a:t>x,y</a:t>
            </a:r>
            <a:r>
              <a:rPr lang="en-US" dirty="0"/>
              <a:t>) for any point on the plane. </a:t>
            </a:r>
          </a:p>
          <a:p>
            <a:pPr lvl="1"/>
            <a:r>
              <a:rPr lang="en-US" dirty="0"/>
              <a:t>We can position things at any point. </a:t>
            </a:r>
          </a:p>
          <a:p>
            <a:r>
              <a:rPr lang="en-US" dirty="0"/>
              <a:t>When plotting, Tableau generates and uses these positions to plot stuff (sometime invisibly). </a:t>
            </a:r>
          </a:p>
          <a:p>
            <a:pPr lvl="1"/>
            <a:r>
              <a:rPr lang="en-US" dirty="0"/>
              <a:t>E.g. the x (or y) is used with a number to generate the length of bar charts. </a:t>
            </a:r>
          </a:p>
          <a:p>
            <a:pPr lvl="1"/>
            <a:r>
              <a:rPr lang="en-US" dirty="0"/>
              <a:t>A line chart is a bunch of points, connected. </a:t>
            </a:r>
          </a:p>
          <a:p>
            <a:r>
              <a:rPr lang="en-US" dirty="0"/>
              <a:t>With a coordinate plane as a background, we can create pretty much any chart. </a:t>
            </a:r>
          </a:p>
          <a:p>
            <a:pPr lvl="1"/>
            <a:r>
              <a:rPr lang="en-US" dirty="0"/>
              <a:t>We are showing values, the plane gives a visual representation of value, we can choose any way to visualize our values on the plane. </a:t>
            </a:r>
          </a:p>
          <a:p>
            <a:pPr lvl="1"/>
            <a:r>
              <a:rPr lang="en-US" dirty="0"/>
              <a:t>Different chart types or styles just maps the data on the plane differently. </a:t>
            </a:r>
          </a:p>
        </p:txBody>
      </p:sp>
    </p:spTree>
    <p:extLst>
      <p:ext uri="{BB962C8B-B14F-4D97-AF65-F5344CB8AC3E}">
        <p14:creationId xmlns:p14="http://schemas.microsoft.com/office/powerpoint/2010/main" val="3994089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4463A-9079-2CB6-84B0-9BA8D2931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Coordinate planes Behind the Scenes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6F9EE-F4DF-747F-C7CA-A3C5591E8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 descr="Bar and line graph in Excel | Excelchat">
            <a:extLst>
              <a:ext uri="{FF2B5EF4-FFF2-40B4-BE49-F238E27FC236}">
                <a16:creationId xmlns:a16="http://schemas.microsoft.com/office/drawing/2014/main" id="{16B74DE3-6A5B-FA63-EE36-F26EAC651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8881" y="1760743"/>
            <a:ext cx="8588670" cy="5097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3342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2D259-6020-07B0-6700-49F92D785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Data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BA296-BA94-92C8-6110-14C0B2D07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178" y="1853754"/>
            <a:ext cx="6097589" cy="428755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Data density is the amount of data contained in one visualization.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Density of information is one key benefit of modern visualization tools.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We can pack one plot full of lots of data.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Primary tools are color/shape/size/pattern of marks.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Use interactivity in modern tools to make things even better.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Pop-up/out things like tooltips that appear conditionally.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Plots that change to show more detail dynamically.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Ability to drill down/roll up to different levels of detail.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Note: this is different than the density of data </a:t>
            </a:r>
            <a:r>
              <a:rPr lang="en-US" sz="1800" i="1" dirty="0"/>
              <a:t>inside</a:t>
            </a:r>
            <a:r>
              <a:rPr lang="en-US" sz="1800" dirty="0"/>
              <a:t> a plot. </a:t>
            </a:r>
          </a:p>
        </p:txBody>
      </p:sp>
      <p:pic>
        <p:nvPicPr>
          <p:cNvPr id="5122" name="Picture 2" descr="In Defence of Data-Dense Visualizations | richardbrath">
            <a:extLst>
              <a:ext uri="{FF2B5EF4-FFF2-40B4-BE49-F238E27FC236}">
                <a16:creationId xmlns:a16="http://schemas.microsoft.com/office/drawing/2014/main" id="{73230E9C-0710-5024-57C9-345FA07D90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11" y="2423156"/>
            <a:ext cx="6097589" cy="288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024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86BD-CB2B-8BCD-1CA7-9FC916DC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0503A-1774-410E-9901-17B344F40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Our favorite data visualization projects of 2017">
            <a:extLst>
              <a:ext uri="{FF2B5EF4-FFF2-40B4-BE49-F238E27FC236}">
                <a16:creationId xmlns:a16="http://schemas.microsoft.com/office/drawing/2014/main" id="{7DB5F763-E5D8-D04A-6D03-2306A33E34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2677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FF529-7A39-F8AF-87F5-F257A4264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Density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D741B-02EF-13D8-A8BF-13CDD848F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828519" cy="4199727"/>
          </a:xfrm>
        </p:spPr>
        <p:txBody>
          <a:bodyPr/>
          <a:lstStyle/>
          <a:p>
            <a:r>
              <a:rPr lang="en-US" dirty="0"/>
              <a:t>The concerns against adding density are pretty practical. </a:t>
            </a:r>
          </a:p>
          <a:p>
            <a:r>
              <a:rPr lang="en-US" dirty="0"/>
              <a:t>Relevance – we don’t want to add data that is irrelevant to the user. </a:t>
            </a:r>
          </a:p>
          <a:p>
            <a:r>
              <a:rPr lang="en-US" dirty="0"/>
              <a:t>Clarity – depending on the chart, we can comfortably accommodate only a certain amount.</a:t>
            </a:r>
          </a:p>
          <a:p>
            <a:r>
              <a:rPr lang="en-US" dirty="0"/>
              <a:t>Usability – whatever additional data we add should be usable, i.e. someone can get the benefit of reading that information. </a:t>
            </a:r>
          </a:p>
          <a:p>
            <a:r>
              <a:rPr lang="en-US" dirty="0"/>
              <a:t>Does adding density make it easier to consume than adding another chart? </a:t>
            </a:r>
          </a:p>
          <a:p>
            <a:r>
              <a:rPr lang="en-US" dirty="0"/>
              <a:t>Make things as dense as they can be while being easy to consume, and no denser. </a:t>
            </a:r>
          </a:p>
          <a:p>
            <a:pPr lvl="1"/>
            <a:r>
              <a:rPr lang="en-US" dirty="0"/>
              <a:t>Visualizations for ‘specialization’ may be more dense, and require more knowledge. </a:t>
            </a:r>
          </a:p>
          <a:p>
            <a:pPr lvl="1"/>
            <a:r>
              <a:rPr lang="en-US" dirty="0"/>
              <a:t>Visualizations that are seen once, by the public, or without context are less dense. </a:t>
            </a:r>
          </a:p>
        </p:txBody>
      </p:sp>
    </p:spTree>
    <p:extLst>
      <p:ext uri="{BB962C8B-B14F-4D97-AF65-F5344CB8AC3E}">
        <p14:creationId xmlns:p14="http://schemas.microsoft.com/office/powerpoint/2010/main" val="34279599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D2BE1-A0FE-FC3F-F86A-F2749DFD8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903" y="804519"/>
            <a:ext cx="10738021" cy="1049235"/>
          </a:xfrm>
        </p:spPr>
        <p:txBody>
          <a:bodyPr/>
          <a:lstStyle/>
          <a:p>
            <a:r>
              <a:rPr lang="en-US" dirty="0"/>
              <a:t>Bloomberg Terminals – Dense, but with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5B060-E49A-E552-DCE6-2394ED3A5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 descr="Designing the Terminal for color accessibility - Bloomberg UX">
            <a:extLst>
              <a:ext uri="{FF2B5EF4-FFF2-40B4-BE49-F238E27FC236}">
                <a16:creationId xmlns:a16="http://schemas.microsoft.com/office/drawing/2014/main" id="{40EA6006-E90D-D5C7-F018-2269FD914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000" y="1651000"/>
            <a:ext cx="8890000" cy="520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66991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8E8E8-A63F-7177-55B2-8AD171E98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Coordinate Planes and Mapping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0F208-429D-882D-127B-1BB55531F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184" y="2015734"/>
            <a:ext cx="5508383" cy="4037747"/>
          </a:xfrm>
        </p:spPr>
        <p:txBody>
          <a:bodyPr>
            <a:normAutofit/>
          </a:bodyPr>
          <a:lstStyle/>
          <a:p>
            <a:r>
              <a:rPr lang="en-US" dirty="0"/>
              <a:t>Mapping is a special example of a coordinate plane. </a:t>
            </a:r>
          </a:p>
          <a:p>
            <a:pPr lvl="1"/>
            <a:r>
              <a:rPr lang="en-US" dirty="0"/>
              <a:t>Latitude and longitude are x and y values. </a:t>
            </a:r>
          </a:p>
          <a:p>
            <a:pPr lvl="1"/>
            <a:r>
              <a:rPr lang="en-US" dirty="0"/>
              <a:t>Origin is equator and prime meridian. </a:t>
            </a:r>
          </a:p>
          <a:p>
            <a:r>
              <a:rPr lang="en-US" dirty="0"/>
              <a:t>In Tableau, maps are images of earth on a plane. </a:t>
            </a:r>
          </a:p>
          <a:p>
            <a:pPr lvl="1"/>
            <a:r>
              <a:rPr lang="en-US" dirty="0"/>
              <a:t>The map is just a picture or image. </a:t>
            </a:r>
          </a:p>
          <a:p>
            <a:pPr lvl="1"/>
            <a:r>
              <a:rPr lang="en-US" dirty="0"/>
              <a:t>There are specific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 to plot it in place. </a:t>
            </a:r>
          </a:p>
          <a:p>
            <a:pPr lvl="1"/>
            <a:r>
              <a:rPr lang="en-US" dirty="0"/>
              <a:t>Points drawn on it are just like a scatter plot. </a:t>
            </a:r>
          </a:p>
        </p:txBody>
      </p:sp>
      <p:pic>
        <p:nvPicPr>
          <p:cNvPr id="2052" name="Picture 4" descr="Free Printable Large World Map with Coordinates &amp; Countries [PDF]">
            <a:extLst>
              <a:ext uri="{FF2B5EF4-FFF2-40B4-BE49-F238E27FC236}">
                <a16:creationId xmlns:a16="http://schemas.microsoft.com/office/drawing/2014/main" id="{AD878AF6-24D2-9946-C32C-0D4E7BF07D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89" b="6171"/>
          <a:stretch>
            <a:fillRect/>
          </a:stretch>
        </p:blipFill>
        <p:spPr bwMode="auto">
          <a:xfrm>
            <a:off x="5837567" y="2219514"/>
            <a:ext cx="6354433" cy="346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131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1B260-0FE9-D088-3D64-29AB7256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Remixing my 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0AA22-3F24-A8E7-A615-4E0C8D962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829" y="2015732"/>
            <a:ext cx="7615735" cy="4037749"/>
          </a:xfrm>
        </p:spPr>
        <p:txBody>
          <a:bodyPr/>
          <a:lstStyle/>
          <a:p>
            <a:r>
              <a:rPr lang="en-US" dirty="0"/>
              <a:t>This adds flexibility in a few ways:</a:t>
            </a:r>
          </a:p>
          <a:p>
            <a:pPr lvl="1"/>
            <a:r>
              <a:rPr lang="en-US" dirty="0"/>
              <a:t>Anything can be the background to a map, as long as someone can locate it via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We can use anything ‘as a map’ and position points anywhere on a background. </a:t>
            </a:r>
          </a:p>
          <a:p>
            <a:r>
              <a:rPr lang="en-US" dirty="0"/>
              <a:t>Many fancy Tableau things use these ideas to customize mark position. </a:t>
            </a:r>
          </a:p>
          <a:p>
            <a:pPr lvl="1"/>
            <a:r>
              <a:rPr lang="en-US" dirty="0"/>
              <a:t>Use a custom image as a background to a scatter plot. </a:t>
            </a:r>
          </a:p>
          <a:p>
            <a:pPr lvl="1"/>
            <a:r>
              <a:rPr lang="en-US" dirty="0"/>
              <a:t>Define or calculate custom </a:t>
            </a:r>
            <a:r>
              <a:rPr lang="en-US" dirty="0" err="1"/>
              <a:t>x,y</a:t>
            </a:r>
            <a:r>
              <a:rPr lang="en-US" dirty="0"/>
              <a:t> positions for points to align them on the plot. </a:t>
            </a:r>
          </a:p>
        </p:txBody>
      </p:sp>
      <p:pic>
        <p:nvPicPr>
          <p:cNvPr id="4098" name="Picture 2" descr="How to Map Anything in Tableau">
            <a:extLst>
              <a:ext uri="{FF2B5EF4-FFF2-40B4-BE49-F238E27FC236}">
                <a16:creationId xmlns:a16="http://schemas.microsoft.com/office/drawing/2014/main" id="{6DBEBB75-C1D7-E216-A52B-8A438E02B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564" y="2441542"/>
            <a:ext cx="4425435" cy="441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891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06ED7-DAC4-7292-29BF-2D0B327A7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Crazier with Coordinates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6278E-F594-EF64-2C8C-CF1D4AFF6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816311"/>
          </a:xfrm>
        </p:spPr>
        <p:txBody>
          <a:bodyPr/>
          <a:lstStyle/>
          <a:p>
            <a:r>
              <a:rPr lang="en-US" dirty="0"/>
              <a:t>Making complex things in Tableau often involves manipulating things on the plane. </a:t>
            </a:r>
          </a:p>
          <a:p>
            <a:r>
              <a:rPr lang="en-US" dirty="0"/>
              <a:t>Every mark has some </a:t>
            </a:r>
            <a:r>
              <a:rPr lang="en-US" dirty="0" err="1"/>
              <a:t>x,y</a:t>
            </a:r>
            <a:r>
              <a:rPr lang="en-US" dirty="0"/>
              <a:t> coordinates based on some variables. </a:t>
            </a:r>
          </a:p>
          <a:p>
            <a:pPr lvl="1"/>
            <a:r>
              <a:rPr lang="en-US" dirty="0"/>
              <a:t>That mark will show at the </a:t>
            </a:r>
            <a:r>
              <a:rPr lang="en-US" dirty="0" err="1"/>
              <a:t>x,y</a:t>
            </a:r>
            <a:r>
              <a:rPr lang="en-US" dirty="0"/>
              <a:t> location by default. </a:t>
            </a:r>
          </a:p>
          <a:p>
            <a:pPr lvl="1"/>
            <a:r>
              <a:rPr lang="en-US" dirty="0"/>
              <a:t>We can do things to transform those actual values into other location, for plotting. </a:t>
            </a:r>
          </a:p>
          <a:p>
            <a:r>
              <a:rPr lang="en-US" dirty="0"/>
              <a:t>We commonly see curves done with trigonometry. </a:t>
            </a:r>
          </a:p>
          <a:p>
            <a:pPr lvl="1"/>
            <a:r>
              <a:rPr lang="en-US" dirty="0"/>
              <a:t>Take the original </a:t>
            </a:r>
            <a:r>
              <a:rPr lang="en-US" dirty="0" err="1"/>
              <a:t>x,y</a:t>
            </a:r>
            <a:r>
              <a:rPr lang="en-US" dirty="0"/>
              <a:t> values, do a trig calculation (sin/cos), get a new coordinate for the mark. </a:t>
            </a:r>
          </a:p>
          <a:p>
            <a:pPr lvl="1"/>
            <a:endParaRPr lang="en-US" dirty="0"/>
          </a:p>
        </p:txBody>
      </p:sp>
      <p:pic>
        <p:nvPicPr>
          <p:cNvPr id="2050" name="Picture 2" descr="Arcs and Curves in Tableau - The Data School Down Under">
            <a:extLst>
              <a:ext uri="{FF2B5EF4-FFF2-40B4-BE49-F238E27FC236}">
                <a16:creationId xmlns:a16="http://schemas.microsoft.com/office/drawing/2014/main" id="{2F706F21-FD9A-073A-D5A9-5924EEE8D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248" y="4473145"/>
            <a:ext cx="5667504" cy="2273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4600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875-91C7-D1F9-C439-7F97C4520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Parliament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27ED1-3DF7-6400-B163-2F81FB7598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7164370" cy="4199727"/>
          </a:xfrm>
        </p:spPr>
        <p:txBody>
          <a:bodyPr>
            <a:normAutofit/>
          </a:bodyPr>
          <a:lstStyle/>
          <a:p>
            <a:r>
              <a:rPr lang="en-US" dirty="0"/>
              <a:t>Each block is one mark, and it has an x and y coordinate set. </a:t>
            </a:r>
          </a:p>
          <a:p>
            <a:pPr lvl="1"/>
            <a:r>
              <a:rPr lang="en-US" dirty="0"/>
              <a:t>Each mark is one representative in parliament in this case. </a:t>
            </a:r>
          </a:p>
          <a:p>
            <a:r>
              <a:rPr lang="en-US" dirty="0"/>
              <a:t>X and y are transformed through trig to create new x and y. </a:t>
            </a:r>
          </a:p>
          <a:p>
            <a:pPr lvl="1"/>
            <a:r>
              <a:rPr lang="en-US" dirty="0"/>
              <a:t>These new values are what are actually plotted. </a:t>
            </a:r>
          </a:p>
          <a:p>
            <a:pPr lvl="1"/>
            <a:r>
              <a:rPr lang="en-US" dirty="0"/>
              <a:t>These are in a curve due to the trig-ness of the calculation. </a:t>
            </a:r>
          </a:p>
          <a:p>
            <a:r>
              <a:rPr lang="en-US" dirty="0"/>
              <a:t>This type of thing isn’t easy to do off the top of your head. </a:t>
            </a:r>
          </a:p>
          <a:p>
            <a:pPr lvl="1"/>
            <a:r>
              <a:rPr lang="en-US" dirty="0"/>
              <a:t>May require manual, custom data to be added. </a:t>
            </a:r>
          </a:p>
          <a:p>
            <a:pPr lvl="1"/>
            <a:r>
              <a:rPr lang="en-US" dirty="0"/>
              <a:t>We can follow guides and adapt to our data. </a:t>
            </a:r>
          </a:p>
          <a:p>
            <a:pPr lvl="1"/>
            <a:r>
              <a:rPr lang="en-US" dirty="0"/>
              <a:t>Trying to adapt things to yours is a very good way to get good. </a:t>
            </a:r>
          </a:p>
        </p:txBody>
      </p:sp>
      <p:pic>
        <p:nvPicPr>
          <p:cNvPr id="5122" name="Picture 2" descr="Workbook: Automated Parliament Chart">
            <a:extLst>
              <a:ext uri="{FF2B5EF4-FFF2-40B4-BE49-F238E27FC236}">
                <a16:creationId xmlns:a16="http://schemas.microsoft.com/office/drawing/2014/main" id="{05820A2A-D7A7-D4D3-00D4-88DA7FDA9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1042" y="2348913"/>
            <a:ext cx="5290958" cy="3263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5400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257F-BF74-AAB3-3920-382826CA1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Chart Axis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5445B-B3E7-3511-B788-88E41AB49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60862"/>
          </a:xfrm>
        </p:spPr>
        <p:txBody>
          <a:bodyPr/>
          <a:lstStyle/>
          <a:p>
            <a:r>
              <a:rPr lang="en-US" dirty="0"/>
              <a:t>Our axis define the scale and layout of a coordinate plane. </a:t>
            </a:r>
          </a:p>
          <a:p>
            <a:r>
              <a:rPr lang="en-US" dirty="0"/>
              <a:t>Tick marks show intervals:</a:t>
            </a:r>
          </a:p>
          <a:p>
            <a:pPr lvl="1"/>
            <a:r>
              <a:rPr lang="en-US" dirty="0"/>
              <a:t>Major tick marks are typically labeled. </a:t>
            </a:r>
          </a:p>
          <a:p>
            <a:pPr lvl="1"/>
            <a:r>
              <a:rPr lang="en-US" dirty="0"/>
              <a:t>Minor tick marks are not. </a:t>
            </a:r>
          </a:p>
          <a:p>
            <a:r>
              <a:rPr lang="en-US" dirty="0"/>
              <a:t>Right click -&gt; edit in Tableau. If not available, you don’t have an axis…</a:t>
            </a:r>
          </a:p>
          <a:p>
            <a:pPr lvl="1"/>
            <a:r>
              <a:rPr lang="en-US" dirty="0"/>
              <a:t>Hint: what does a scatter plot require? </a:t>
            </a:r>
          </a:p>
        </p:txBody>
      </p:sp>
    </p:spTree>
    <p:extLst>
      <p:ext uri="{BB962C8B-B14F-4D97-AF65-F5344CB8AC3E}">
        <p14:creationId xmlns:p14="http://schemas.microsoft.com/office/powerpoint/2010/main" val="7181694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55E14-2E03-03F5-E19C-D5667BDDC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Scales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38C0-4902-6BB6-806C-B8E1CCA18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236331"/>
          </a:xfrm>
        </p:spPr>
        <p:txBody>
          <a:bodyPr/>
          <a:lstStyle/>
          <a:p>
            <a:r>
              <a:rPr lang="en-US" dirty="0"/>
              <a:t>Sometimes the scales on an axis are transformed from linear. </a:t>
            </a:r>
          </a:p>
          <a:p>
            <a:r>
              <a:rPr lang="en-US" dirty="0"/>
              <a:t>Common changes:</a:t>
            </a:r>
          </a:p>
          <a:p>
            <a:pPr lvl="1"/>
            <a:r>
              <a:rPr lang="en-US" dirty="0"/>
              <a:t>Reversed. </a:t>
            </a:r>
          </a:p>
          <a:p>
            <a:pPr lvl="1"/>
            <a:r>
              <a:rPr lang="en-US" dirty="0"/>
              <a:t>Logarithmic – shows linear with exponential data. </a:t>
            </a:r>
          </a:p>
          <a:p>
            <a:r>
              <a:rPr lang="en-US" dirty="0"/>
              <a:t>In Tableau – right click on axis to edit details. </a:t>
            </a:r>
          </a:p>
        </p:txBody>
      </p:sp>
      <p:pic>
        <p:nvPicPr>
          <p:cNvPr id="3074" name="Picture 2" descr="GraphPad Prism 10 User Guide - When to use a logarithmic axis">
            <a:extLst>
              <a:ext uri="{FF2B5EF4-FFF2-40B4-BE49-F238E27FC236}">
                <a16:creationId xmlns:a16="http://schemas.microsoft.com/office/drawing/2014/main" id="{8E54C168-ABEC-0F06-399A-5CBBBE6CFE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53" b="6168"/>
          <a:stretch>
            <a:fillRect/>
          </a:stretch>
        </p:blipFill>
        <p:spPr bwMode="auto">
          <a:xfrm>
            <a:off x="0" y="4090085"/>
            <a:ext cx="7975600" cy="2767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Understanding the Richter Scale">
            <a:extLst>
              <a:ext uri="{FF2B5EF4-FFF2-40B4-BE49-F238E27FC236}">
                <a16:creationId xmlns:a16="http://schemas.microsoft.com/office/drawing/2014/main" id="{573898B5-2E60-513C-C26B-2CF5E7D2B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67" r="7652"/>
          <a:stretch>
            <a:fillRect/>
          </a:stretch>
        </p:blipFill>
        <p:spPr bwMode="auto">
          <a:xfrm>
            <a:off x="7975600" y="2434279"/>
            <a:ext cx="4219515" cy="3892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20702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77A72-D188-A819-4009-282413334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1E98E-AE55-6CAE-AA74-89849FF8A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13938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9716</TotalTime>
  <Words>1493</Words>
  <Application>Microsoft Macintosh PowerPoint</Application>
  <PresentationFormat>Widescreen</PresentationFormat>
  <Paragraphs>141</Paragraphs>
  <Slides>23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Gill Sans MT</vt:lpstr>
      <vt:lpstr>Gallery</vt:lpstr>
      <vt:lpstr>Coordinate Systems and Axes</vt:lpstr>
      <vt:lpstr>Anscombe Quartet</vt:lpstr>
      <vt:lpstr>But if We Visualize them</vt:lpstr>
      <vt:lpstr>What is Going on Here? Chaos!</vt:lpstr>
      <vt:lpstr>Encoding vs Decoding</vt:lpstr>
      <vt:lpstr>Coordinate Planes</vt:lpstr>
      <vt:lpstr>Styles Make Charts</vt:lpstr>
      <vt:lpstr>Visual Vocabulary</vt:lpstr>
      <vt:lpstr>Scatter Plots</vt:lpstr>
      <vt:lpstr>Scatter Plots are Simple!</vt:lpstr>
      <vt:lpstr>Using Coordinate Planes</vt:lpstr>
      <vt:lpstr>Coordinate planes Behind the Scenes</vt:lpstr>
      <vt:lpstr>Data Density</vt:lpstr>
      <vt:lpstr>PowerPoint Presentation</vt:lpstr>
      <vt:lpstr>Density Concerns</vt:lpstr>
      <vt:lpstr>Bloomberg Terminals – Dense, but with Training</vt:lpstr>
      <vt:lpstr>Coordinate Planes and Mapping</vt:lpstr>
      <vt:lpstr>Remixing my Maps</vt:lpstr>
      <vt:lpstr>Crazier with Coordinates</vt:lpstr>
      <vt:lpstr>Example – Parliament Chart</vt:lpstr>
      <vt:lpstr>Chart Axis</vt:lpstr>
      <vt:lpstr>Axis Scales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30</cp:revision>
  <dcterms:created xsi:type="dcterms:W3CDTF">2025-08-22T02:42:44Z</dcterms:created>
  <dcterms:modified xsi:type="dcterms:W3CDTF">2025-09-01T18:02:58Z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2025-08-22T02:42:54Z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41054284-e8f0-4815-9f1c-dc921551d9c4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