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3" r:id="rId4"/>
    <p:sldId id="258" r:id="rId5"/>
    <p:sldId id="262" r:id="rId6"/>
    <p:sldId id="272" r:id="rId7"/>
    <p:sldId id="274" r:id="rId8"/>
    <p:sldId id="275" r:id="rId9"/>
    <p:sldId id="259" r:id="rId10"/>
    <p:sldId id="266" r:id="rId11"/>
    <p:sldId id="260" r:id="rId12"/>
    <p:sldId id="267" r:id="rId13"/>
    <p:sldId id="261" r:id="rId14"/>
    <p:sldId id="268" r:id="rId15"/>
    <p:sldId id="269" r:id="rId16"/>
    <p:sldId id="263" r:id="rId17"/>
    <p:sldId id="264" r:id="rId18"/>
    <p:sldId id="276" r:id="rId19"/>
    <p:sldId id="265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E4E843-52D9-6C48-912F-91CBA09DF476}">
          <p14:sldIdLst>
            <p14:sldId id="256"/>
            <p14:sldId id="257"/>
            <p14:sldId id="273"/>
            <p14:sldId id="258"/>
            <p14:sldId id="262"/>
            <p14:sldId id="272"/>
            <p14:sldId id="274"/>
            <p14:sldId id="275"/>
          </p14:sldIdLst>
        </p14:section>
        <p14:section name="Dsicreet vs Cont" id="{62C3E9BB-2137-A341-946F-90C685FE6CB9}">
          <p14:sldIdLst>
            <p14:sldId id="259"/>
            <p14:sldId id="266"/>
            <p14:sldId id="260"/>
            <p14:sldId id="267"/>
            <p14:sldId id="261"/>
          </p14:sldIdLst>
        </p14:section>
        <p14:section name="Aggregation and Grouping" id="{A01DAF61-14FD-4E44-A6FC-D2344093429F}">
          <p14:sldIdLst>
            <p14:sldId id="268"/>
            <p14:sldId id="269"/>
          </p14:sldIdLst>
        </p14:section>
        <p14:section name="Map Types" id="{D630A8AD-C3BA-F848-B371-06EE1B11B436}">
          <p14:sldIdLst>
            <p14:sldId id="263"/>
            <p14:sldId id="264"/>
            <p14:sldId id="276"/>
          </p14:sldIdLst>
        </p14:section>
        <p14:section name="Concerns and Conclusion" id="{283CF228-B687-8143-B113-7134AD74792E}">
          <p14:sldIdLst>
            <p14:sldId id="265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77"/>
    <p:restoredTop sz="94694"/>
  </p:normalViewPr>
  <p:slideViewPr>
    <p:cSldViewPr snapToGrid="0">
      <p:cViewPr varScale="1">
        <p:scale>
          <a:sx n="121" d="100"/>
          <a:sy n="121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92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666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01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68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49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88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2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9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89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8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7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8F5BA-0AAF-5142-B69C-F1241056CF61}" type="datetimeFigureOut">
              <a:rPr lang="en-US" smtClean="0"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02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7311-FECD-5783-A184-A887E747C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2E2BD-11AD-EAB0-9C95-2E389C4BA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1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95E8-8FAB-830A-C43A-5427ECB2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in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1426-AD89-21E6-B6BC-2AB3E5CF6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4413"/>
            <a:ext cx="9603275" cy="4109067"/>
          </a:xfrm>
        </p:spPr>
        <p:txBody>
          <a:bodyPr/>
          <a:lstStyle/>
          <a:p>
            <a:r>
              <a:rPr lang="en-US" dirty="0"/>
              <a:t>Color is a primary feature in visualizations. </a:t>
            </a:r>
          </a:p>
          <a:p>
            <a:pPr lvl="1"/>
            <a:r>
              <a:rPr lang="en-US" dirty="0"/>
              <a:t>Most visualizations can have color added pretty easily. </a:t>
            </a:r>
          </a:p>
          <a:p>
            <a:r>
              <a:rPr lang="en-US" dirty="0"/>
              <a:t>We can encode, or represent data from variables via color:</a:t>
            </a:r>
          </a:p>
          <a:p>
            <a:pPr lvl="1"/>
            <a:r>
              <a:rPr lang="en-US" dirty="0"/>
              <a:t>Numeric variables can be represented with a gradient. </a:t>
            </a:r>
          </a:p>
          <a:p>
            <a:pPr lvl="1"/>
            <a:r>
              <a:rPr lang="en-US" dirty="0"/>
              <a:t>Categorical variables can be represented with different colors. </a:t>
            </a:r>
          </a:p>
          <a:p>
            <a:r>
              <a:rPr lang="en-US" dirty="0"/>
              <a:t>Color is one of the most prevalent </a:t>
            </a:r>
            <a:r>
              <a:rPr lang="en-US" dirty="0" err="1"/>
              <a:t>preattentive</a:t>
            </a:r>
            <a:r>
              <a:rPr lang="en-US" dirty="0"/>
              <a:t> attributes.</a:t>
            </a:r>
          </a:p>
          <a:p>
            <a:pPr lvl="1"/>
            <a:r>
              <a:rPr lang="en-US" dirty="0"/>
              <a:t>We have preexisting understanding of many color things – red/green, dark/light,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notice color quickly and our brain categorizes/orders based on it.  </a:t>
            </a:r>
          </a:p>
        </p:txBody>
      </p:sp>
    </p:spTree>
    <p:extLst>
      <p:ext uri="{BB962C8B-B14F-4D97-AF65-F5344CB8AC3E}">
        <p14:creationId xmlns:p14="http://schemas.microsoft.com/office/powerpoint/2010/main" val="281765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2FC15-93FE-CD95-AF9B-B5CD9914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9319F-C3E6-61E2-B472-59354CEE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Launched: More accessible and modern color palettes - Product Releases -  Holistics Community">
            <a:extLst>
              <a:ext uri="{FF2B5EF4-FFF2-40B4-BE49-F238E27FC236}">
                <a16:creationId xmlns:a16="http://schemas.microsoft.com/office/drawing/2014/main" id="{EDFD0B7A-E123-9DF2-1449-9E921F350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263"/>
            <a:ext cx="12192000" cy="621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41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A2045-7085-4E76-FFFE-B687F1D8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21DA-7CEC-02E8-B547-D0DA06D17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9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DF24-E219-D222-DD32-DE860AD7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and Color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C55D8-524C-8D2D-EA18-80D67373D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3154"/>
          </a:xfrm>
        </p:spPr>
        <p:txBody>
          <a:bodyPr/>
          <a:lstStyle/>
          <a:p>
            <a:r>
              <a:rPr lang="en-US" dirty="0"/>
              <a:t>Color choice and visual design is a massive area of study. </a:t>
            </a:r>
          </a:p>
          <a:p>
            <a:r>
              <a:rPr lang="en-US" dirty="0"/>
              <a:t>We don’t need to be experts, but we need to be competent. </a:t>
            </a:r>
          </a:p>
          <a:p>
            <a:r>
              <a:rPr lang="en-US" dirty="0"/>
              <a:t>Think – we want to convey some info, does adding color make that clearer. </a:t>
            </a:r>
          </a:p>
          <a:p>
            <a:pPr lvl="1"/>
            <a:r>
              <a:rPr lang="en-US" dirty="0"/>
              <a:t>Always ask this. </a:t>
            </a:r>
          </a:p>
          <a:p>
            <a:r>
              <a:rPr lang="en-US" dirty="0"/>
              <a:t>Two main things that we use color for:</a:t>
            </a:r>
          </a:p>
          <a:p>
            <a:pPr lvl="1"/>
            <a:r>
              <a:rPr lang="en-US" dirty="0"/>
              <a:t>Differentiation – showing different categories with different colors. E.g. province map. </a:t>
            </a:r>
          </a:p>
          <a:p>
            <a:pPr lvl="1"/>
            <a:r>
              <a:rPr lang="en-US" dirty="0"/>
              <a:t>Gradient – showing progress of a numerical value over a range. E.g. crime map. </a:t>
            </a:r>
          </a:p>
          <a:p>
            <a:pPr lvl="1"/>
            <a:r>
              <a:rPr lang="en-US" dirty="0"/>
              <a:t>Gradients can be both diverging and sequential, roughly – is there a middle? </a:t>
            </a:r>
          </a:p>
        </p:txBody>
      </p:sp>
    </p:spTree>
    <p:extLst>
      <p:ext uri="{BB962C8B-B14F-4D97-AF65-F5344CB8AC3E}">
        <p14:creationId xmlns:p14="http://schemas.microsoft.com/office/powerpoint/2010/main" val="7379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8C39-EAB4-1AD4-CF0C-5FEE9BA1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7D1A-BBA3-48BB-EB7B-E3F7B1C5E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Painting With All the Colors of the Wind: The Importance of Color in Data  Visualization - Fusionex Blogs | Fusionex Group">
            <a:extLst>
              <a:ext uri="{FF2B5EF4-FFF2-40B4-BE49-F238E27FC236}">
                <a16:creationId xmlns:a16="http://schemas.microsoft.com/office/drawing/2014/main" id="{9D459DBB-B639-9109-CFA9-0D800676F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98500"/>
            <a:ext cx="10668000" cy="546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16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8C3A-78E2-ED24-CF67-92B572C1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Helps us Out here…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76A6-2330-D01A-4A7D-079047232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3903"/>
            <a:ext cx="9603275" cy="41195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default color schemes that Tableau assigns are generally good. </a:t>
            </a:r>
          </a:p>
          <a:p>
            <a:r>
              <a:rPr lang="en-US" dirty="0"/>
              <a:t>Some things to pay attention to:</a:t>
            </a:r>
          </a:p>
          <a:p>
            <a:pPr lvl="1"/>
            <a:r>
              <a:rPr lang="en-US" dirty="0"/>
              <a:t>If there’s more than one chart with the same data, make sure color is consistent. </a:t>
            </a:r>
          </a:p>
          <a:p>
            <a:pPr lvl="1"/>
            <a:r>
              <a:rPr lang="en-US" dirty="0"/>
              <a:t>If something’s categorical, limit number before assigning color. </a:t>
            </a:r>
          </a:p>
          <a:p>
            <a:pPr lvl="1"/>
            <a:r>
              <a:rPr lang="en-US" dirty="0"/>
              <a:t>If the data is discreet vs continuous it’ll get colored differently, you may need to adjust. </a:t>
            </a:r>
          </a:p>
          <a:p>
            <a:r>
              <a:rPr lang="en-US" dirty="0"/>
              <a:t>Some cases for departing from defaults:</a:t>
            </a:r>
          </a:p>
          <a:p>
            <a:pPr lvl="1"/>
            <a:r>
              <a:rPr lang="en-US" dirty="0"/>
              <a:t>Preexisting meaning for a certain color scheme – e.g. sports teams, politics. </a:t>
            </a:r>
          </a:p>
          <a:p>
            <a:pPr lvl="1"/>
            <a:r>
              <a:rPr lang="en-US" dirty="0"/>
              <a:t>Style guidelines demand – e.g. fitting into a larger visual thing, such as a drawing. </a:t>
            </a:r>
          </a:p>
          <a:p>
            <a:pPr lvl="1"/>
            <a:r>
              <a:rPr lang="en-US" dirty="0"/>
              <a:t>Internal consistency – we don’t want the same thing represented by several colors. </a:t>
            </a:r>
          </a:p>
          <a:p>
            <a:pPr lvl="1"/>
            <a:r>
              <a:rPr lang="en-US" dirty="0"/>
              <a:t>Clarity – always must ensure it clearly conveys the intent, so if it doesn’t, change it. </a:t>
            </a:r>
          </a:p>
        </p:txBody>
      </p:sp>
    </p:spTree>
    <p:extLst>
      <p:ext uri="{BB962C8B-B14F-4D97-AF65-F5344CB8AC3E}">
        <p14:creationId xmlns:p14="http://schemas.microsoft.com/office/powerpoint/2010/main" val="28421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D481-3BCB-FFAD-DAA4-CBCBF4D25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" y="804519"/>
            <a:ext cx="7404965" cy="1049235"/>
          </a:xfrm>
        </p:spPr>
        <p:txBody>
          <a:bodyPr/>
          <a:lstStyle/>
          <a:p>
            <a:r>
              <a:rPr lang="en-US" dirty="0"/>
              <a:t>Think about what Color is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AEB1A-AC54-A9C4-4A83-F2D516413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405" y="1853754"/>
            <a:ext cx="10313449" cy="4199727"/>
          </a:xfrm>
        </p:spPr>
        <p:txBody>
          <a:bodyPr/>
          <a:lstStyle/>
          <a:p>
            <a:r>
              <a:rPr lang="en-US" dirty="0"/>
              <a:t>Colors obviously differentiate things, but think about it deeper. </a:t>
            </a:r>
          </a:p>
          <a:p>
            <a:r>
              <a:rPr lang="en-US" dirty="0"/>
              <a:t>What, specifically do you want a reader to be able to get from a chart? </a:t>
            </a:r>
          </a:p>
          <a:p>
            <a:pPr lvl="1"/>
            <a:r>
              <a:rPr lang="en-US" dirty="0"/>
              <a:t>Sometimes color can be targeted at it directly. </a:t>
            </a:r>
          </a:p>
          <a:p>
            <a:r>
              <a:rPr lang="en-US" dirty="0"/>
              <a:t>Example - emphasis on one thing, or a subset of things. </a:t>
            </a:r>
          </a:p>
          <a:p>
            <a:pPr lvl="1"/>
            <a:r>
              <a:rPr lang="en-US" dirty="0"/>
              <a:t>”Other” groups for coloring might make sense. </a:t>
            </a:r>
          </a:p>
          <a:p>
            <a:pPr lvl="1"/>
            <a:r>
              <a:rPr lang="en-US" dirty="0"/>
              <a:t>The color group can be made dynamic with actions. </a:t>
            </a:r>
          </a:p>
          <a:p>
            <a:r>
              <a:rPr lang="en-US" dirty="0"/>
              <a:t>Use color purposefully. </a:t>
            </a:r>
          </a:p>
          <a:p>
            <a:r>
              <a:rPr lang="en-US" dirty="0"/>
              <a:t>Always ask – is it clear? Does it help?</a:t>
            </a:r>
          </a:p>
        </p:txBody>
      </p:sp>
      <p:pic>
        <p:nvPicPr>
          <p:cNvPr id="4098" name="Picture 2" descr="How to Choose Colors for Your Data Visualizations | Nightingale">
            <a:extLst>
              <a:ext uri="{FF2B5EF4-FFF2-40B4-BE49-F238E27FC236}">
                <a16:creationId xmlns:a16="http://schemas.microsoft.com/office/drawing/2014/main" id="{638FEE50-C307-CD1B-623E-2469584C85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4"/>
          <a:stretch>
            <a:fillRect/>
          </a:stretch>
        </p:blipFill>
        <p:spPr bwMode="auto">
          <a:xfrm>
            <a:off x="5240777" y="4588477"/>
            <a:ext cx="6951224" cy="226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ap of canada provinces hi-res stock photography and images - Alamy">
            <a:extLst>
              <a:ext uri="{FF2B5EF4-FFF2-40B4-BE49-F238E27FC236}">
                <a16:creationId xmlns:a16="http://schemas.microsoft.com/office/drawing/2014/main" id="{4EB920C8-B797-0464-4C39-5FBF011C61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15" b="16937"/>
          <a:stretch>
            <a:fillRect/>
          </a:stretch>
        </p:blipFill>
        <p:spPr bwMode="auto">
          <a:xfrm>
            <a:off x="7750957" y="2060"/>
            <a:ext cx="4441043" cy="226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208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F619-84BC-6CE7-FC0D-8356020C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Discreet vs 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D6FB-D826-0CD3-9D01-FE2C6BFEC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4414"/>
            <a:ext cx="9603275" cy="3993931"/>
          </a:xfrm>
        </p:spPr>
        <p:txBody>
          <a:bodyPr/>
          <a:lstStyle/>
          <a:p>
            <a:r>
              <a:rPr lang="en-US" dirty="0"/>
              <a:t>One key consideration in color is discreet vs continuous data. </a:t>
            </a:r>
          </a:p>
          <a:p>
            <a:pPr lvl="1"/>
            <a:r>
              <a:rPr lang="en-US" dirty="0"/>
              <a:t>Discreet – takes on only certain specific values. </a:t>
            </a:r>
          </a:p>
          <a:p>
            <a:pPr lvl="1"/>
            <a:r>
              <a:rPr lang="en-US" dirty="0"/>
              <a:t>Continuous – takes on any value in a range. </a:t>
            </a:r>
          </a:p>
          <a:p>
            <a:r>
              <a:rPr lang="en-US" dirty="0"/>
              <a:t>This relates to another, slightly broader, division in data:</a:t>
            </a:r>
          </a:p>
          <a:p>
            <a:pPr lvl="1"/>
            <a:r>
              <a:rPr lang="en-US" dirty="0"/>
              <a:t>Categorical – groups, labels, or descriptors. </a:t>
            </a:r>
          </a:p>
          <a:p>
            <a:pPr lvl="1"/>
            <a:r>
              <a:rPr lang="en-US" dirty="0"/>
              <a:t>Numerical – measurements. </a:t>
            </a:r>
          </a:p>
          <a:p>
            <a:r>
              <a:rPr lang="en-US" dirty="0"/>
              <a:t>These aren’t a perfect match (we can have a discreet numerical value) but they are close. </a:t>
            </a:r>
          </a:p>
          <a:p>
            <a:pPr lvl="1"/>
            <a:r>
              <a:rPr lang="en-US" dirty="0"/>
              <a:t>Most commonly – discreet value of a number, like shoe size. </a:t>
            </a:r>
          </a:p>
        </p:txBody>
      </p:sp>
    </p:spTree>
    <p:extLst>
      <p:ext uri="{BB962C8B-B14F-4D97-AF65-F5344CB8AC3E}">
        <p14:creationId xmlns:p14="http://schemas.microsoft.com/office/powerpoint/2010/main" val="710636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3369-F68C-ECB8-198E-6C4F6F64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EABB-10EB-AD49-B63A-DCEFB02D0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Introduction to Statistics for Data Science — I: | by Karthik | Medium">
            <a:extLst>
              <a:ext uri="{FF2B5EF4-FFF2-40B4-BE49-F238E27FC236}">
                <a16:creationId xmlns:a16="http://schemas.microsoft.com/office/drawing/2014/main" id="{2FAAE0B6-A1DB-343E-A8CC-74EB65EE3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15"/>
          <a:stretch/>
        </p:blipFill>
        <p:spPr bwMode="auto">
          <a:xfrm>
            <a:off x="1005016" y="632533"/>
            <a:ext cx="10181968" cy="621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75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FF1D9-EE96-2188-3782-3C0F5225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Discreet vs Continuous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B082-013F-3E1D-341A-3D0EEC85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4924"/>
            <a:ext cx="9603275" cy="3962400"/>
          </a:xfrm>
        </p:spPr>
        <p:txBody>
          <a:bodyPr/>
          <a:lstStyle/>
          <a:p>
            <a:r>
              <a:rPr lang="en-US" dirty="0"/>
              <a:t>In Tableau we have two types of variables:</a:t>
            </a:r>
          </a:p>
          <a:p>
            <a:pPr lvl="1"/>
            <a:r>
              <a:rPr lang="en-US" dirty="0"/>
              <a:t>Dimensions – discreet values. </a:t>
            </a:r>
          </a:p>
          <a:p>
            <a:pPr lvl="1"/>
            <a:r>
              <a:rPr lang="en-US" dirty="0"/>
              <a:t>Measures – continuous values. </a:t>
            </a:r>
          </a:p>
          <a:p>
            <a:r>
              <a:rPr lang="en-US" dirty="0"/>
              <a:t>Tableau usually identifies these correctly, but not always. </a:t>
            </a:r>
          </a:p>
          <a:p>
            <a:r>
              <a:rPr lang="en-US" dirty="0"/>
              <a:t>We can manipulate the way Tableau interprets the type as needed. </a:t>
            </a:r>
          </a:p>
          <a:p>
            <a:pPr lvl="1"/>
            <a:r>
              <a:rPr lang="en-US" dirty="0"/>
              <a:t>Right click -&gt; options for discreet/continuous and measure/dimension. </a:t>
            </a:r>
          </a:p>
        </p:txBody>
      </p:sp>
    </p:spTree>
    <p:extLst>
      <p:ext uri="{BB962C8B-B14F-4D97-AF65-F5344CB8AC3E}">
        <p14:creationId xmlns:p14="http://schemas.microsoft.com/office/powerpoint/2010/main" val="175338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0E53-0E69-A1E9-5C2E-97B16163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 Formally…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43EE8-3584-E4D4-1109-4CD0AE0A2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73777"/>
          </a:xfrm>
        </p:spPr>
        <p:txBody>
          <a:bodyPr/>
          <a:lstStyle/>
          <a:p>
            <a:r>
              <a:rPr lang="en-US" dirty="0"/>
              <a:t>There is some possibility for confusion, especially with discreet number values. </a:t>
            </a:r>
          </a:p>
          <a:p>
            <a:r>
              <a:rPr lang="en-US" dirty="0"/>
              <a:t>In general…</a:t>
            </a:r>
          </a:p>
          <a:p>
            <a:pPr lvl="1"/>
            <a:r>
              <a:rPr lang="en-US" dirty="0"/>
              <a:t>If it makes sense on a number line, it is a continuous value. </a:t>
            </a:r>
          </a:p>
          <a:p>
            <a:pPr lvl="1"/>
            <a:r>
              <a:rPr lang="en-US" dirty="0"/>
              <a:t>If we want to ”group by” something, it is a discreet value. </a:t>
            </a:r>
          </a:p>
          <a:p>
            <a:r>
              <a:rPr lang="en-US" dirty="0"/>
              <a:t>We are often (usually??):</a:t>
            </a:r>
          </a:p>
          <a:p>
            <a:pPr lvl="1"/>
            <a:r>
              <a:rPr lang="en-US" dirty="0"/>
              <a:t>Dividing (segmenting, grouping) data into groups by some categorical value. </a:t>
            </a:r>
          </a:p>
          <a:p>
            <a:pPr lvl="1"/>
            <a:r>
              <a:rPr lang="en-US" dirty="0"/>
              <a:t>For each of those groups, calculating some aggregate value – sum, count, mean,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E.g. divide census data by province, calculate avg wage. Divide student data by major, calculate number of students. Group covid tests by occupation, calculate infection rate. </a:t>
            </a:r>
          </a:p>
        </p:txBody>
      </p:sp>
    </p:spTree>
    <p:extLst>
      <p:ext uri="{BB962C8B-B14F-4D97-AF65-F5344CB8AC3E}">
        <p14:creationId xmlns:p14="http://schemas.microsoft.com/office/powerpoint/2010/main" val="2658391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928-4FD2-72B2-4626-6C54B452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between Discreet/continuous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EF21-CE0E-D255-6104-CCE59802B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365" y="1853754"/>
            <a:ext cx="7180389" cy="4199727"/>
          </a:xfrm>
        </p:spPr>
        <p:txBody>
          <a:bodyPr/>
          <a:lstStyle/>
          <a:p>
            <a:r>
              <a:rPr lang="en-US" dirty="0"/>
              <a:t>Binning: numerical to categorical. </a:t>
            </a:r>
          </a:p>
          <a:p>
            <a:r>
              <a:rPr lang="en-US" dirty="0"/>
              <a:t>Encoding: categorical to numerical. </a:t>
            </a:r>
          </a:p>
          <a:p>
            <a:r>
              <a:rPr lang="en-US" dirty="0"/>
              <a:t>E.g. your GPA goes from continuous (percents) to discreet (letters) back to continuous GPA number, before being averaged.</a:t>
            </a:r>
          </a:p>
          <a:p>
            <a:r>
              <a:rPr lang="en-US" dirty="0"/>
              <a:t>Used regularly-</a:t>
            </a:r>
            <a:r>
              <a:rPr lang="en-US" dirty="0" err="1"/>
              <a:t>ish</a:t>
            </a:r>
            <a:r>
              <a:rPr lang="en-US" dirty="0"/>
              <a:t> in data science. </a:t>
            </a:r>
          </a:p>
          <a:p>
            <a:r>
              <a:rPr lang="en-US" dirty="0"/>
              <a:t>For us – does either help us represent what we want better? </a:t>
            </a:r>
          </a:p>
          <a:p>
            <a:pPr lvl="1"/>
            <a:r>
              <a:rPr lang="en-US" dirty="0"/>
              <a:t>E.g. if we are looking at career success of middle class residents, it may make more sense to bin income and use that. </a:t>
            </a:r>
          </a:p>
          <a:p>
            <a:pPr lvl="1"/>
            <a:r>
              <a:rPr lang="en-US" dirty="0"/>
              <a:t>E.g. banks loan based on credit score category, not number.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0B60CC-D522-2F05-C079-593D7C093D34}"/>
              </a:ext>
            </a:extLst>
          </p:cNvPr>
          <p:cNvGrpSpPr/>
          <p:nvPr/>
        </p:nvGrpSpPr>
        <p:grpSpPr>
          <a:xfrm>
            <a:off x="8476754" y="1391655"/>
            <a:ext cx="3715246" cy="5237942"/>
            <a:chOff x="8476754" y="1879797"/>
            <a:chExt cx="2578100" cy="4749800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E91A236-90F3-FE8D-7C0A-491297D2A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6754" y="4254697"/>
              <a:ext cx="2578100" cy="237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0FCC8E8F-A5DB-3388-BE7C-E60AE61CA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6754" y="1879797"/>
              <a:ext cx="2578100" cy="237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5646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DA92-FC0B-1702-E307-4FCEDAFC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36593-A0AE-EFEF-8021-EBE0C2897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Aggregation is a general term for combining things – in this case many rows of data. </a:t>
            </a:r>
          </a:p>
          <a:p>
            <a:r>
              <a:rPr lang="en-US" dirty="0"/>
              <a:t>An aggregation just summarizes many values in on value. </a:t>
            </a:r>
          </a:p>
          <a:p>
            <a:r>
              <a:rPr lang="en-US" dirty="0"/>
              <a:t>We can use this one value to ‘represent’ that group in analysis. </a:t>
            </a:r>
          </a:p>
          <a:p>
            <a:r>
              <a:rPr lang="en-US" dirty="0"/>
              <a:t>Aggregate values include mean, median, count, min, max, std dev, sum. </a:t>
            </a:r>
          </a:p>
          <a:p>
            <a:pPr lvl="1"/>
            <a:r>
              <a:rPr lang="en-US" dirty="0"/>
              <a:t>When aggregating categorical, just count based things for aggregation. </a:t>
            </a:r>
          </a:p>
          <a:p>
            <a:r>
              <a:rPr lang="en-US" dirty="0"/>
              <a:t>Often (usually??):</a:t>
            </a:r>
          </a:p>
          <a:p>
            <a:pPr lvl="1"/>
            <a:r>
              <a:rPr lang="en-US" dirty="0"/>
              <a:t>Divide data up into subgroups using some dimension(s). </a:t>
            </a:r>
          </a:p>
          <a:p>
            <a:pPr lvl="1"/>
            <a:r>
              <a:rPr lang="en-US" dirty="0"/>
              <a:t>Calculate an aggregate value for each group. </a:t>
            </a:r>
          </a:p>
          <a:p>
            <a:pPr lvl="1"/>
            <a:r>
              <a:rPr lang="en-US" dirty="0"/>
              <a:t>Compare those values to learn something actually useful. </a:t>
            </a:r>
          </a:p>
        </p:txBody>
      </p:sp>
    </p:spTree>
    <p:extLst>
      <p:ext uri="{BB962C8B-B14F-4D97-AF65-F5344CB8AC3E}">
        <p14:creationId xmlns:p14="http://schemas.microsoft.com/office/powerpoint/2010/main" val="1666693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377E-08CC-55FE-D0EC-D0B65D264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10246435" cy="1049235"/>
          </a:xfrm>
        </p:spPr>
        <p:txBody>
          <a:bodyPr/>
          <a:lstStyle/>
          <a:p>
            <a:r>
              <a:rPr lang="en-US" dirty="0"/>
              <a:t>Focus (excessively) on the “per” part of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DF87-8728-B072-2200-149DF6D65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When grouping data, focus on what each group is. </a:t>
            </a:r>
          </a:p>
          <a:p>
            <a:pPr lvl="1"/>
            <a:r>
              <a:rPr lang="en-US" dirty="0"/>
              <a:t>E.g. if you want to know the profit, what do you want to know the profit for? </a:t>
            </a:r>
          </a:p>
          <a:p>
            <a:pPr lvl="1"/>
            <a:r>
              <a:rPr lang="en-US" dirty="0"/>
              <a:t>This is usually implicit and easy to ignore in normal conversation. </a:t>
            </a:r>
          </a:p>
          <a:p>
            <a:r>
              <a:rPr lang="en-US" dirty="0"/>
              <a:t>E.g. ”profit” for a store you work at could mean many things. </a:t>
            </a:r>
          </a:p>
          <a:p>
            <a:pPr lvl="1"/>
            <a:r>
              <a:rPr lang="en-US" dirty="0"/>
              <a:t>Most likely, per location, per year -&gt; implicit understanding. </a:t>
            </a:r>
          </a:p>
          <a:p>
            <a:pPr lvl="1"/>
            <a:r>
              <a:rPr lang="en-US" dirty="0"/>
              <a:t>Per store, per quarter?</a:t>
            </a:r>
          </a:p>
          <a:p>
            <a:pPr lvl="1"/>
            <a:r>
              <a:rPr lang="en-US" dirty="0"/>
              <a:t>Per store, per department, per year? (Different from per department, per year). </a:t>
            </a:r>
          </a:p>
          <a:p>
            <a:pPr lvl="1"/>
            <a:r>
              <a:rPr lang="en-US" dirty="0"/>
              <a:t>Per week, per store?</a:t>
            </a:r>
          </a:p>
          <a:p>
            <a:r>
              <a:rPr lang="en-US" dirty="0"/>
              <a:t>This is one of the most overlooked things – be explicit and excessively detailed. </a:t>
            </a:r>
          </a:p>
        </p:txBody>
      </p:sp>
    </p:spTree>
    <p:extLst>
      <p:ext uri="{BB962C8B-B14F-4D97-AF65-F5344CB8AC3E}">
        <p14:creationId xmlns:p14="http://schemas.microsoft.com/office/powerpoint/2010/main" val="307422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C76AC0-BB6B-419E-A327-AFA29750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B3E0B6A3-E197-43D6-82D5-7455DAB1A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1847088"/>
            <a:ext cx="41587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1F60080-839B-8616-1B51-F3265F19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648" y="804520"/>
            <a:ext cx="4158749" cy="1049235"/>
          </a:xfrm>
        </p:spPr>
        <p:txBody>
          <a:bodyPr>
            <a:normAutofit/>
          </a:bodyPr>
          <a:lstStyle/>
          <a:p>
            <a:r>
              <a:rPr lang="en-US" dirty="0"/>
              <a:t>Discreet Values – Discreet Colors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B0E4246-09B8-46D7-A0D2-4D264863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026" name="Picture 2" descr="Map of canada provinces hi-res stock photography and images - Alamy">
            <a:extLst>
              <a:ext uri="{FF2B5EF4-FFF2-40B4-BE49-F238E27FC236}">
                <a16:creationId xmlns:a16="http://schemas.microsoft.com/office/drawing/2014/main" id="{AFD17704-2636-2303-E7FF-C6B0455A6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8" b="13621"/>
          <a:stretch>
            <a:fillRect/>
          </a:stretch>
        </p:blipFill>
        <p:spPr bwMode="auto">
          <a:xfrm>
            <a:off x="306693" y="847522"/>
            <a:ext cx="5789156" cy="484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8A473-C0B5-145E-0B78-B281F424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647" y="2015732"/>
            <a:ext cx="4158749" cy="4037744"/>
          </a:xfrm>
        </p:spPr>
        <p:txBody>
          <a:bodyPr>
            <a:normAutofit/>
          </a:bodyPr>
          <a:lstStyle/>
          <a:p>
            <a:r>
              <a:rPr lang="en-US" dirty="0"/>
              <a:t>When dealing with discreet values, we can color code with arbitrary colors. </a:t>
            </a:r>
          </a:p>
          <a:p>
            <a:r>
              <a:rPr lang="en-US" dirty="0"/>
              <a:t>Color itself has no meaning, only to differentiate. </a:t>
            </a:r>
          </a:p>
          <a:p>
            <a:pPr lvl="1"/>
            <a:r>
              <a:rPr lang="en-US" dirty="0"/>
              <a:t>If a color is used in multiple places, we want consistency. </a:t>
            </a:r>
          </a:p>
          <a:p>
            <a:endParaRPr lang="en-US" dirty="0"/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F50C8D8D-B32F-4194-8321-164EC442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5BD24D8B-8573-4260-B700-E860AD6D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99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E674-27BA-80AA-D179-711F1A43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Values – Color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1FC6-5E12-70BD-2D2E-BDB1D5A2E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3268702" cy="3450613"/>
          </a:xfrm>
        </p:spPr>
        <p:txBody>
          <a:bodyPr/>
          <a:lstStyle/>
          <a:p>
            <a:r>
              <a:rPr lang="en-US" dirty="0"/>
              <a:t>With continuous values, we can use a scale to represent the value. </a:t>
            </a:r>
          </a:p>
        </p:txBody>
      </p:sp>
      <p:pic>
        <p:nvPicPr>
          <p:cNvPr id="2052" name="Picture 4" descr="Map of Gun Ownership By US State - Brilliant Maps">
            <a:extLst>
              <a:ext uri="{FF2B5EF4-FFF2-40B4-BE49-F238E27FC236}">
                <a16:creationId xmlns:a16="http://schemas.microsoft.com/office/drawing/2014/main" id="{0FFEC903-8E03-69AB-B115-31D4723D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281" y="1335703"/>
            <a:ext cx="7471719" cy="552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921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87B4-122C-A850-DA01-562912AC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TabMaps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9EB63-8B13-E2CC-4C93-741EA7BFA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10068068" cy="4199726"/>
          </a:xfrm>
        </p:spPr>
        <p:txBody>
          <a:bodyPr/>
          <a:lstStyle/>
          <a:p>
            <a:r>
              <a:rPr lang="en-US" dirty="0"/>
              <a:t>Mapping is generally pretty easy in Tableau, as long as a few requirements are met:</a:t>
            </a:r>
          </a:p>
          <a:p>
            <a:pPr lvl="1"/>
            <a:r>
              <a:rPr lang="en-US" dirty="0"/>
              <a:t>To make a filled map, your data must have a region (state/prov/country)*. </a:t>
            </a:r>
          </a:p>
          <a:p>
            <a:pPr lvl="1"/>
            <a:r>
              <a:rPr lang="en-US" dirty="0"/>
              <a:t>To make a point map, your data must have latitude and longitude (or point). </a:t>
            </a:r>
          </a:p>
          <a:p>
            <a:pPr lvl="1"/>
            <a:r>
              <a:rPr lang="en-US" dirty="0"/>
              <a:t>*You can do some translation here if joining with other spatial files, more later. </a:t>
            </a:r>
          </a:p>
          <a:p>
            <a:r>
              <a:rPr lang="en-US" dirty="0"/>
              <a:t>Mapping data is usually identified correctly, but you may need to fix:</a:t>
            </a:r>
          </a:p>
          <a:p>
            <a:pPr lvl="1"/>
            <a:r>
              <a:rPr lang="en-US" dirty="0"/>
              <a:t>Right click menu from the variable has options to change interpreted type. </a:t>
            </a:r>
          </a:p>
          <a:p>
            <a:pPr lvl="1"/>
            <a:r>
              <a:rPr lang="en-US" dirty="0"/>
              <a:t>Lat/</a:t>
            </a:r>
            <a:r>
              <a:rPr lang="en-US" dirty="0" err="1"/>
              <a:t>lon</a:t>
            </a:r>
            <a:r>
              <a:rPr lang="en-US" dirty="0"/>
              <a:t> – may need to manually label them. </a:t>
            </a:r>
          </a:p>
          <a:p>
            <a:pPr lvl="1"/>
            <a:r>
              <a:rPr lang="en-US" dirty="0"/>
              <a:t>State/Province/Country – may need to separate parts, label, or correct missing data interpretation. </a:t>
            </a:r>
          </a:p>
          <a:p>
            <a:r>
              <a:rPr lang="en-US" dirty="0"/>
              <a:t>Neighborhoods, regions, areas – not filled mappable, unless you add another spatial file. </a:t>
            </a:r>
          </a:p>
          <a:p>
            <a:pPr lvl="1"/>
            <a:r>
              <a:rPr lang="en-US" dirty="0"/>
              <a:t>If using City data, pay attention to this if you want to </a:t>
            </a:r>
            <a:r>
              <a:rPr lang="en-US"/>
              <a:t>map something like a ‘hood or ward.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7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58D1-124B-9C97-36F8-4A7A7BF7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Colorblindness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B0B6-F29D-D201-190F-6F62ADB7C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When choosing color schemes we want to consider colorblindness. </a:t>
            </a:r>
          </a:p>
          <a:p>
            <a:r>
              <a:rPr lang="en-US" dirty="0"/>
              <a:t>Red/green tends to be the most common issue. </a:t>
            </a:r>
          </a:p>
          <a:p>
            <a:pPr lvl="1"/>
            <a:r>
              <a:rPr lang="en-US" dirty="0"/>
              <a:t>Note for things like financial data – things with red/green also have brackets or negatives to be clear. </a:t>
            </a:r>
          </a:p>
          <a:p>
            <a:r>
              <a:rPr lang="en-US" dirty="0"/>
              <a:t>Default color schemes in Tableau (blue/orange) is colorblind friendly. </a:t>
            </a:r>
          </a:p>
          <a:p>
            <a:r>
              <a:rPr lang="en-US" dirty="0"/>
              <a:t>Even outside of colorblind concerns, color schemes should be clear:</a:t>
            </a:r>
          </a:p>
          <a:p>
            <a:pPr lvl="1"/>
            <a:r>
              <a:rPr lang="en-US" dirty="0"/>
              <a:t>Don’t have colors that are hard to see/differentiate. </a:t>
            </a:r>
          </a:p>
          <a:p>
            <a:pPr lvl="1"/>
            <a:r>
              <a:rPr lang="en-US" dirty="0"/>
              <a:t>Don’t accidentally imply things with colors (red=bad, green=good, darker=higher, same color=same thing, </a:t>
            </a:r>
            <a:r>
              <a:rPr lang="en-US" dirty="0" err="1"/>
              <a:t>etc</a:t>
            </a:r>
            <a:r>
              <a:rPr lang="en-US" dirty="0"/>
              <a:t>…) </a:t>
            </a:r>
          </a:p>
        </p:txBody>
      </p:sp>
    </p:spTree>
    <p:extLst>
      <p:ext uri="{BB962C8B-B14F-4D97-AF65-F5344CB8AC3E}">
        <p14:creationId xmlns:p14="http://schemas.microsoft.com/office/powerpoint/2010/main" val="1727825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1A89-2CD6-B432-70B8-64058E67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and Concerns Adding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7FE19-D97C-B44E-FE05-B44725376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 is a common thing we can change to add some density to a chart. </a:t>
            </a:r>
          </a:p>
          <a:p>
            <a:r>
              <a:rPr lang="en-US" dirty="0"/>
              <a:t>Most chart types can have another metric added to the color. </a:t>
            </a:r>
          </a:p>
          <a:p>
            <a:pPr lvl="1"/>
            <a:r>
              <a:rPr lang="en-US" dirty="0"/>
              <a:t>Commonly: use a color to show a continuous value on something like scatter plot mark. </a:t>
            </a:r>
          </a:p>
          <a:p>
            <a:r>
              <a:rPr lang="en-US" dirty="0"/>
              <a:t>Ensure the color scheme you pick makes sense and is clear. </a:t>
            </a:r>
          </a:p>
          <a:p>
            <a:r>
              <a:rPr lang="en-US" dirty="0"/>
              <a:t>Depart from known–good color schemes with caution. </a:t>
            </a:r>
          </a:p>
          <a:p>
            <a:r>
              <a:rPr lang="en-US" dirty="0"/>
              <a:t>Using color is good, except for where it is bad! </a:t>
            </a:r>
          </a:p>
        </p:txBody>
      </p:sp>
    </p:spTree>
    <p:extLst>
      <p:ext uri="{BB962C8B-B14F-4D97-AF65-F5344CB8AC3E}">
        <p14:creationId xmlns:p14="http://schemas.microsoft.com/office/powerpoint/2010/main" val="327562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6656-2238-7069-2E61-1056E5AA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E757-5AE6-E929-5DB5-A47D51129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42549"/>
          </a:xfrm>
        </p:spPr>
        <p:txBody>
          <a:bodyPr/>
          <a:lstStyle/>
          <a:p>
            <a:r>
              <a:rPr lang="en-US" dirty="0"/>
              <a:t>Color is a primary tool in visualization. </a:t>
            </a:r>
          </a:p>
          <a:p>
            <a:r>
              <a:rPr lang="en-US" dirty="0"/>
              <a:t>We can use it in several way to embed information. </a:t>
            </a:r>
          </a:p>
          <a:p>
            <a:pPr lvl="1"/>
            <a:r>
              <a:rPr lang="en-US" dirty="0"/>
              <a:t>Categorical label, diverging gradient, sequential gradient. </a:t>
            </a:r>
          </a:p>
          <a:p>
            <a:r>
              <a:rPr lang="en-US" dirty="0"/>
              <a:t>Color also has common meaning. </a:t>
            </a:r>
          </a:p>
          <a:p>
            <a:pPr lvl="1"/>
            <a:r>
              <a:rPr lang="en-US" dirty="0"/>
              <a:t>Red is stop, green is go, blue is water…</a:t>
            </a:r>
          </a:p>
          <a:p>
            <a:r>
              <a:rPr lang="en-US" dirty="0"/>
              <a:t>Color is easy to add to virtually any mark. </a:t>
            </a:r>
          </a:p>
        </p:txBody>
      </p:sp>
    </p:spTree>
    <p:extLst>
      <p:ext uri="{BB962C8B-B14F-4D97-AF65-F5344CB8AC3E}">
        <p14:creationId xmlns:p14="http://schemas.microsoft.com/office/powerpoint/2010/main" val="18820102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20947</TotalTime>
  <Words>1532</Words>
  <Application>Microsoft Macintosh PowerPoint</Application>
  <PresentationFormat>Widescreen</PresentationFormat>
  <Paragraphs>131</Paragraphs>
  <Slides>21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Gallery</vt:lpstr>
      <vt:lpstr>Color</vt:lpstr>
      <vt:lpstr>Color in Visualization</vt:lpstr>
      <vt:lpstr>PowerPoint Presentation</vt:lpstr>
      <vt:lpstr>PowerPoint Presentation</vt:lpstr>
      <vt:lpstr>Scales and Color Choices</vt:lpstr>
      <vt:lpstr>PowerPoint Presentation</vt:lpstr>
      <vt:lpstr>Tableau Helps us Out here…</vt:lpstr>
      <vt:lpstr>Think about what Color is For</vt:lpstr>
      <vt:lpstr>Discreet vs Continuous</vt:lpstr>
      <vt:lpstr>PowerPoint Presentation</vt:lpstr>
      <vt:lpstr>Discreet vs Continuous in Tableau</vt:lpstr>
      <vt:lpstr>Less Formally…</vt:lpstr>
      <vt:lpstr>Translation between Discreet/continuous</vt:lpstr>
      <vt:lpstr>Aggregation</vt:lpstr>
      <vt:lpstr>Focus (excessively) on the “per” part of Groups</vt:lpstr>
      <vt:lpstr>Discreet Values – Discreet Colors</vt:lpstr>
      <vt:lpstr>Continuous Values – Color Scales</vt:lpstr>
      <vt:lpstr>TabMaps</vt:lpstr>
      <vt:lpstr>Colorblindness</vt:lpstr>
      <vt:lpstr>Color and Concerns Adding Density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33</cp:revision>
  <dcterms:created xsi:type="dcterms:W3CDTF">2025-08-22T02:43:52Z</dcterms:created>
  <dcterms:modified xsi:type="dcterms:W3CDTF">2025-09-15T22:15:49Z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2025-08-22T02:44:10Z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c779dba4-fd9a-468f-bb5c-043c87891091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