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277" r:id="rId2"/>
    <p:sldId id="770" r:id="rId3"/>
    <p:sldId id="256" r:id="rId4"/>
    <p:sldId id="361" r:id="rId5"/>
    <p:sldId id="332" r:id="rId6"/>
    <p:sldId id="333" r:id="rId7"/>
    <p:sldId id="764" r:id="rId8"/>
    <p:sldId id="553" r:id="rId9"/>
    <p:sldId id="554" r:id="rId10"/>
    <p:sldId id="556" r:id="rId11"/>
    <p:sldId id="557" r:id="rId12"/>
    <p:sldId id="558" r:id="rId13"/>
    <p:sldId id="754" r:id="rId14"/>
    <p:sldId id="278" r:id="rId15"/>
    <p:sldId id="257" r:id="rId16"/>
    <p:sldId id="258" r:id="rId17"/>
    <p:sldId id="766" r:id="rId18"/>
    <p:sldId id="261" r:id="rId19"/>
    <p:sldId id="769" r:id="rId20"/>
    <p:sldId id="768" r:id="rId21"/>
    <p:sldId id="262" r:id="rId22"/>
    <p:sldId id="264" r:id="rId23"/>
    <p:sldId id="270" r:id="rId24"/>
    <p:sldId id="271" r:id="rId25"/>
    <p:sldId id="266" r:id="rId26"/>
    <p:sldId id="765" r:id="rId27"/>
    <p:sldId id="267" r:id="rId28"/>
    <p:sldId id="268" r:id="rId29"/>
    <p:sldId id="276" r:id="rId30"/>
    <p:sldId id="272" r:id="rId31"/>
    <p:sldId id="265" r:id="rId32"/>
    <p:sldId id="275" r:id="rId33"/>
    <p:sldId id="273" r:id="rId34"/>
    <p:sldId id="263" r:id="rId35"/>
    <p:sldId id="767" r:id="rId36"/>
    <p:sldId id="259" r:id="rId37"/>
    <p:sldId id="27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4749B2-53B8-4F41-AB22-85918F31D531}">
          <p14:sldIdLst>
            <p14:sldId id="277"/>
            <p14:sldId id="770"/>
            <p14:sldId id="256"/>
          </p14:sldIdLst>
        </p14:section>
        <p14:section name="Recap" id="{16ECD0DD-321A-044E-9D92-A2A02EC4EA5C}">
          <p14:sldIdLst>
            <p14:sldId id="361"/>
            <p14:sldId id="332"/>
            <p14:sldId id="333"/>
            <p14:sldId id="764"/>
            <p14:sldId id="553"/>
            <p14:sldId id="554"/>
            <p14:sldId id="556"/>
            <p14:sldId id="557"/>
            <p14:sldId id="558"/>
            <p14:sldId id="754"/>
          </p14:sldIdLst>
        </p14:section>
        <p14:section name="Intro" id="{EE3EE98A-C77F-1F41-8822-F0C1C2642DB7}">
          <p14:sldIdLst>
            <p14:sldId id="278"/>
            <p14:sldId id="257"/>
            <p14:sldId id="258"/>
            <p14:sldId id="766"/>
            <p14:sldId id="261"/>
          </p14:sldIdLst>
        </p14:section>
        <p14:section name="Important Info Review" id="{E531803B-2D78-2646-B593-CADA6801413A}">
          <p14:sldIdLst>
            <p14:sldId id="769"/>
            <p14:sldId id="768"/>
          </p14:sldIdLst>
        </p14:section>
        <p14:section name="Chart Selection" id="{F2E53AE7-67A4-F84D-A269-F372D43655E7}">
          <p14:sldIdLst>
            <p14:sldId id="262"/>
            <p14:sldId id="264"/>
            <p14:sldId id="270"/>
            <p14:sldId id="271"/>
            <p14:sldId id="266"/>
            <p14:sldId id="765"/>
            <p14:sldId id="267"/>
            <p14:sldId id="268"/>
            <p14:sldId id="276"/>
            <p14:sldId id="272"/>
            <p14:sldId id="265"/>
            <p14:sldId id="275"/>
          </p14:sldIdLst>
        </p14:section>
        <p14:section name="Making decisions on type" id="{E44100C8-EA3D-9A46-B684-D454792B3C6C}">
          <p14:sldIdLst>
            <p14:sldId id="273"/>
            <p14:sldId id="263"/>
            <p14:sldId id="767"/>
            <p14:sldId id="259"/>
          </p14:sldIdLst>
        </p14:section>
        <p14:section name="Conclusion" id="{961CEFB3-761F-174C-A69D-2A33FCDA823F}">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91"/>
    <p:restoredTop sz="94708"/>
  </p:normalViewPr>
  <p:slideViewPr>
    <p:cSldViewPr snapToGrid="0">
      <p:cViewPr varScale="1">
        <p:scale>
          <a:sx n="178" d="100"/>
          <a:sy n="178" d="100"/>
        </p:scale>
        <p:origin x="17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48533E-F8AB-EC4E-8ED4-A0169C1FBCF1}" type="datetimeFigureOut">
              <a:rPr lang="en-US" smtClean="0"/>
              <a:t>9/3/25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23B97B-1A9C-704D-A1E9-42820D74FA4B}" type="slidenum">
              <a:rPr lang="en-US" smtClean="0"/>
              <a:t>‹#›</a:t>
            </a:fld>
            <a:endParaRPr lang="en-US"/>
          </a:p>
        </p:txBody>
      </p:sp>
    </p:spTree>
    <p:extLst>
      <p:ext uri="{BB962C8B-B14F-4D97-AF65-F5344CB8AC3E}">
        <p14:creationId xmlns:p14="http://schemas.microsoft.com/office/powerpoint/2010/main" val="507776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Engineer"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en.wikipedia.org/wiki/Statistical_graphics" TargetMode="External"/><Relationship Id="rId4" Type="http://schemas.openxmlformats.org/officeDocument/2006/relationships/hyperlink" Target="http://en.wikipedia.org/wiki/Political_economist"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Statistical_graphic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a:solidFill>
            <a:srgbClr val="FFFFFF"/>
          </a:solidFill>
          <a:ln/>
        </p:spPr>
      </p:sp>
      <p:sp>
        <p:nvSpPr>
          <p:cNvPr id="27650" name="Rectangle 2"/>
          <p:cNvSpPr>
            <a:spLocks noGrp="1" noChangeArrowheads="1"/>
          </p:cNvSpPr>
          <p:nvPr>
            <p:ph type="body" idx="1"/>
          </p:nvPr>
        </p:nvSpPr>
        <p:spPr>
          <a:ln/>
        </p:spPr>
        <p:txBody>
          <a:bodyPr/>
          <a:lstStyle/>
          <a:p>
            <a:pPr eaLnBrk="1" hangingPunct="1">
              <a:defRPr/>
            </a:pPr>
            <a:r>
              <a:rPr lang="en-US" sz="1300" b="1" dirty="0">
                <a:latin typeface="Helvetica" charset="0"/>
                <a:cs typeface="Helvetica" charset="0"/>
                <a:sym typeface="Helvetica" charset="0"/>
              </a:rPr>
              <a:t>William Playfair</a:t>
            </a:r>
            <a:r>
              <a:rPr lang="en-US" sz="1300" dirty="0">
                <a:latin typeface="Helvetica" charset="0"/>
                <a:cs typeface="Helvetica" charset="0"/>
                <a:sym typeface="Helvetica" charset="0"/>
              </a:rPr>
              <a:t> (22 September 1759 – 11 February 1823) was a Scottish </a:t>
            </a:r>
            <a:r>
              <a:rPr lang="en-US" sz="1300" u="sng" dirty="0">
                <a:solidFill>
                  <a:srgbClr val="1B46AA"/>
                </a:solidFill>
                <a:latin typeface="Helvetica" charset="0"/>
                <a:cs typeface="Helvetica" charset="0"/>
                <a:sym typeface="Helvetica" charset="0"/>
                <a:hlinkClick r:id="rId3"/>
              </a:rPr>
              <a:t>engineer</a:t>
            </a:r>
            <a:r>
              <a:rPr lang="en-US" sz="1300" dirty="0">
                <a:latin typeface="Helvetica" charset="0"/>
                <a:cs typeface="Helvetica" charset="0"/>
                <a:sym typeface="Helvetica" charset="0"/>
              </a:rPr>
              <a:t> and </a:t>
            </a:r>
            <a:r>
              <a:rPr lang="en-US" sz="1300" u="sng" dirty="0">
                <a:solidFill>
                  <a:srgbClr val="1B46AA"/>
                </a:solidFill>
                <a:latin typeface="Helvetica" charset="0"/>
                <a:cs typeface="Helvetica" charset="0"/>
                <a:sym typeface="Helvetica" charset="0"/>
              </a:rPr>
              <a:t>politica</a:t>
            </a:r>
            <a:r>
              <a:rPr lang="en-US" sz="1300" u="sng" dirty="0">
                <a:solidFill>
                  <a:srgbClr val="1B46AA"/>
                </a:solidFill>
                <a:latin typeface="Helvetica" charset="0"/>
                <a:cs typeface="Helvetica" charset="0"/>
                <a:sym typeface="Helvetica" charset="0"/>
                <a:hlinkClick r:id="rId4"/>
              </a:rPr>
              <a:t>l economist</a:t>
            </a:r>
            <a:r>
              <a:rPr lang="en-US" sz="1300" dirty="0">
                <a:latin typeface="Helvetica" charset="0"/>
                <a:cs typeface="Helvetica" charset="0"/>
                <a:sym typeface="Helvetica" charset="0"/>
                <a:hlinkClick r:id="rId4"/>
              </a:rPr>
              <a:t>, the fo</a:t>
            </a:r>
            <a:r>
              <a:rPr lang="en-US" sz="1300" dirty="0">
                <a:latin typeface="Helvetica" charset="0"/>
                <a:cs typeface="Helvetica" charset="0"/>
                <a:sym typeface="Helvetica" charset="0"/>
              </a:rPr>
              <a:t>under of </a:t>
            </a:r>
            <a:r>
              <a:rPr lang="en-US" sz="1300" u="sng" dirty="0">
                <a:solidFill>
                  <a:srgbClr val="1B46AA"/>
                </a:solidFill>
                <a:latin typeface="Helvetica" charset="0"/>
                <a:cs typeface="Helvetica" charset="0"/>
                <a:sym typeface="Helvetica" charset="0"/>
              </a:rPr>
              <a:t>graphical methods of statis</a:t>
            </a:r>
            <a:r>
              <a:rPr lang="en-US" sz="1300" u="sng" dirty="0">
                <a:solidFill>
                  <a:srgbClr val="1B46AA"/>
                </a:solidFill>
                <a:latin typeface="Helvetica" charset="0"/>
                <a:cs typeface="Helvetica" charset="0"/>
                <a:sym typeface="Helvetica" charset="0"/>
                <a:hlinkClick r:id="rId5"/>
              </a:rPr>
              <a:t>tics</a:t>
            </a:r>
            <a:r>
              <a:rPr lang="en-US" sz="1300" dirty="0">
                <a:latin typeface="Helvetica" charset="0"/>
                <a:cs typeface="Helvetica" charset="0"/>
                <a:sym typeface="Helvetica" charset="0"/>
                <a:hlinkClick r:id="rId5"/>
              </a:rPr>
              <a:t>.</a:t>
            </a:r>
          </a:p>
        </p:txBody>
      </p:sp>
    </p:spTree>
    <p:extLst>
      <p:ext uri="{BB962C8B-B14F-4D97-AF65-F5344CB8AC3E}">
        <p14:creationId xmlns:p14="http://schemas.microsoft.com/office/powerpoint/2010/main" val="281234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a:solidFill>
            <a:srgbClr val="FFFFFF"/>
          </a:solidFill>
          <a:ln/>
        </p:spPr>
      </p:sp>
      <p:sp>
        <p:nvSpPr>
          <p:cNvPr id="27650" name="Rectangle 2"/>
          <p:cNvSpPr>
            <a:spLocks noGrp="1" noChangeArrowheads="1"/>
          </p:cNvSpPr>
          <p:nvPr>
            <p:ph type="body" idx="1"/>
          </p:nvPr>
        </p:nvSpPr>
        <p:spPr>
          <a:ln/>
        </p:spPr>
        <p:txBody>
          <a:bodyPr/>
          <a:lstStyle/>
          <a:p>
            <a:pPr eaLnBrk="1" hangingPunct="1">
              <a:defRPr/>
            </a:pPr>
            <a:r>
              <a:rPr lang="en-US" sz="1300" dirty="0">
                <a:latin typeface="Helvetica" charset="0"/>
                <a:cs typeface="Helvetica" charset="0"/>
                <a:sym typeface="Helvetica" charset="0"/>
              </a:rPr>
              <a:t>We</a:t>
            </a:r>
            <a:r>
              <a:rPr lang="en-US" sz="1300" baseline="0" dirty="0">
                <a:latin typeface="Helvetica" charset="0"/>
                <a:cs typeface="Helvetica" charset="0"/>
                <a:sym typeface="Helvetica" charset="0"/>
              </a:rPr>
              <a:t> will discuss the map of Napoleons March in later slides.</a:t>
            </a:r>
            <a:endParaRPr lang="en-US" sz="1300" u="sng" dirty="0">
              <a:latin typeface="Helvetica" charset="0"/>
              <a:cs typeface="Helvetica" charset="0"/>
              <a:sym typeface="Helvetica" charset="0"/>
              <a:hlinkClick r:id="rId3"/>
            </a:endParaRPr>
          </a:p>
        </p:txBody>
      </p:sp>
    </p:spTree>
    <p:extLst>
      <p:ext uri="{BB962C8B-B14F-4D97-AF65-F5344CB8AC3E}">
        <p14:creationId xmlns:p14="http://schemas.microsoft.com/office/powerpoint/2010/main" val="1190935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Rot="1" noChangeAspect="1" noChangeArrowheads="1"/>
          </p:cNvSpPr>
          <p:nvPr>
            <p:ph type="sldImg"/>
          </p:nvPr>
        </p:nvSpPr>
        <p:spPr>
          <a:solidFill>
            <a:srgbClr val="FFFFFF"/>
          </a:solidFill>
          <a:ln/>
        </p:spPr>
      </p:sp>
      <p:sp>
        <p:nvSpPr>
          <p:cNvPr id="29698" name="Rectangle 2"/>
          <p:cNvSpPr>
            <a:spLocks noGrp="1" noChangeArrowheads="1"/>
          </p:cNvSpPr>
          <p:nvPr>
            <p:ph type="body" idx="1"/>
          </p:nvPr>
        </p:nvSpPr>
        <p:spPr>
          <a:ln/>
        </p:spPr>
        <p:txBody>
          <a:bodyPr/>
          <a:lstStyle/>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John</a:t>
            </a:r>
            <a:r>
              <a:rPr lang="en-US" sz="1300" baseline="0" dirty="0">
                <a:latin typeface="Helvetica" charset="0"/>
                <a:cs typeface="Helvetica" charset="0"/>
                <a:sym typeface="Helvetica" charset="0"/>
              </a:rPr>
              <a:t> Tukey was an American Statistician who worked at Bell Labs. He developed and wrote about Exploratory Data Analysis or EDA. He advocated for showing data in a visual manner as an easy way to understanding, with the need for a statistical model or hypothesis. He invented the box plot, also known as the box and whiskers plot, and also wrote about other plots such as the bag plot and violin plot.</a:t>
            </a:r>
          </a:p>
          <a:p>
            <a:pPr eaLnBrk="1" hangingPunct="1">
              <a:lnSpc>
                <a:spcPts val="1900"/>
              </a:lnSpc>
              <a:spcBef>
                <a:spcPts val="600"/>
              </a:spcBef>
              <a:tabLst>
                <a:tab pos="139700" algn="l"/>
                <a:tab pos="457200" algn="l"/>
                <a:tab pos="139700" algn="l"/>
                <a:tab pos="457200" algn="l"/>
                <a:tab pos="139700" algn="l"/>
                <a:tab pos="457200" algn="l"/>
              </a:tabLst>
              <a:defRPr/>
            </a:pPr>
            <a:endParaRPr lang="en-US" sz="1300" baseline="0" dirty="0">
              <a:latin typeface="Helvetica" charset="0"/>
              <a:cs typeface="Helvetica" charset="0"/>
              <a:sym typeface="Helvetica" charset="0"/>
            </a:endParaRPr>
          </a:p>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Tukey also coined</a:t>
            </a:r>
            <a:r>
              <a:rPr lang="en-US" sz="1300" baseline="0" dirty="0">
                <a:latin typeface="Helvetica" charset="0"/>
                <a:cs typeface="Helvetica" charset="0"/>
                <a:sym typeface="Helvetica" charset="0"/>
              </a:rPr>
              <a:t> the term “bit” as a contraction of “binary digit”</a:t>
            </a:r>
            <a:endParaRPr lang="en-US" sz="1300" dirty="0">
              <a:latin typeface="Helvetica" charset="0"/>
              <a:cs typeface="Helvetica" charset="0"/>
              <a:sym typeface="Helvetica" charset="0"/>
            </a:endParaRPr>
          </a:p>
        </p:txBody>
      </p:sp>
    </p:spTree>
    <p:extLst>
      <p:ext uri="{BB962C8B-B14F-4D97-AF65-F5344CB8AC3E}">
        <p14:creationId xmlns:p14="http://schemas.microsoft.com/office/powerpoint/2010/main" val="2681358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Rot="1" noChangeAspect="1" noChangeArrowheads="1"/>
          </p:cNvSpPr>
          <p:nvPr>
            <p:ph type="sldImg"/>
          </p:nvPr>
        </p:nvSpPr>
        <p:spPr>
          <a:solidFill>
            <a:srgbClr val="FFFFFF"/>
          </a:solidFill>
          <a:ln/>
        </p:spPr>
      </p:sp>
      <p:sp>
        <p:nvSpPr>
          <p:cNvPr id="29698" name="Rectangle 2"/>
          <p:cNvSpPr>
            <a:spLocks noGrp="1" noChangeArrowheads="1"/>
          </p:cNvSpPr>
          <p:nvPr>
            <p:ph type="body" idx="1"/>
          </p:nvPr>
        </p:nvSpPr>
        <p:spPr>
          <a:ln/>
        </p:spPr>
        <p:txBody>
          <a:bodyPr/>
          <a:lstStyle/>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In Exploratory Data Analysis, Tukey used</a:t>
            </a:r>
            <a:r>
              <a:rPr lang="en-US" sz="1300" baseline="0" dirty="0">
                <a:latin typeface="Helvetica" charset="0"/>
                <a:cs typeface="Helvetica" charset="0"/>
                <a:sym typeface="Helvetica" charset="0"/>
              </a:rPr>
              <a:t> visual techniques such as the box plot, histogram, Pareto Chart and Scatter Plot.</a:t>
            </a:r>
            <a:endParaRPr lang="en-US" sz="1300" dirty="0">
              <a:latin typeface="Helvetica" charset="0"/>
              <a:cs typeface="Helvetica" charset="0"/>
              <a:sym typeface="Helvetica" charset="0"/>
            </a:endParaRPr>
          </a:p>
        </p:txBody>
      </p:sp>
    </p:spTree>
    <p:extLst>
      <p:ext uri="{BB962C8B-B14F-4D97-AF65-F5344CB8AC3E}">
        <p14:creationId xmlns:p14="http://schemas.microsoft.com/office/powerpoint/2010/main" val="3362431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4DDFF3-E6A9-4B4D-83C7-AAB4195494C3}" type="datetimeFigureOut">
              <a:rPr lang="en-US" smtClean="0"/>
              <a:t>9/3/25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6AE2163-C00D-CD4C-9C52-5434BA3F725F}"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751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DDFF3-E6A9-4B4D-83C7-AAB4195494C3}" type="datetimeFigureOut">
              <a:rPr lang="en-US" smtClean="0"/>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AE2163-C00D-CD4C-9C52-5434BA3F725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0397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DDFF3-E6A9-4B4D-83C7-AAB4195494C3}" type="datetimeFigureOut">
              <a:rPr lang="en-US" smtClean="0"/>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AE2163-C00D-CD4C-9C52-5434BA3F725F}"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376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4DDFF3-E6A9-4B4D-83C7-AAB4195494C3}" type="datetimeFigureOut">
              <a:rPr lang="en-US" smtClean="0"/>
              <a:t>9/3/25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AE2163-C00D-CD4C-9C52-5434BA3F725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7458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DFF3-E6A9-4B4D-83C7-AAB4195494C3}" type="datetimeFigureOut">
              <a:rPr lang="en-US" smtClean="0"/>
              <a:t>9/3/25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AE2163-C00D-CD4C-9C52-5434BA3F725F}"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0659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4DDFF3-E6A9-4B4D-83C7-AAB4195494C3}" type="datetimeFigureOut">
              <a:rPr lang="en-US" smtClean="0"/>
              <a:t>9/3/25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AE2163-C00D-CD4C-9C52-5434BA3F725F}"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004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DDFF3-E6A9-4B4D-83C7-AAB4195494C3}" type="datetimeFigureOut">
              <a:rPr lang="en-US" smtClean="0"/>
              <a:t>9/3/25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AE2163-C00D-CD4C-9C52-5434BA3F725F}" type="slidenum">
              <a:rPr lang="en-US" smtClean="0"/>
              <a:t>‹#›</a:t>
            </a:fld>
            <a:endParaRPr lang="en-US"/>
          </a:p>
        </p:txBody>
      </p:sp>
    </p:spTree>
    <p:extLst>
      <p:ext uri="{BB962C8B-B14F-4D97-AF65-F5344CB8AC3E}">
        <p14:creationId xmlns:p14="http://schemas.microsoft.com/office/powerpoint/2010/main" val="357715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DDFF3-E6A9-4B4D-83C7-AAB4195494C3}" type="datetimeFigureOut">
              <a:rPr lang="en-US" smtClean="0"/>
              <a:t>9/3/25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AE2163-C00D-CD4C-9C52-5434BA3F725F}"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5696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F4DDFF3-E6A9-4B4D-83C7-AAB4195494C3}" type="datetimeFigureOut">
              <a:rPr lang="en-US" smtClean="0"/>
              <a:t>9/3/25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6AE2163-C00D-CD4C-9C52-5434BA3F725F}"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7377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DDFF3-E6A9-4B4D-83C7-AAB4195494C3}" type="datetimeFigureOut">
              <a:rPr lang="en-US" smtClean="0"/>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AE2163-C00D-CD4C-9C52-5434BA3F725F}"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923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DDFF3-E6A9-4B4D-83C7-AAB4195494C3}" type="datetimeFigureOut">
              <a:rPr lang="en-US" smtClean="0"/>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AE2163-C00D-CD4C-9C52-5434BA3F725F}"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820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F4DDFF3-E6A9-4B4D-83C7-AAB4195494C3}" type="datetimeFigureOut">
              <a:rPr lang="en-US" smtClean="0"/>
              <a:t>9/3/25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6AE2163-C00D-CD4C-9C52-5434BA3F725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4735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43875-CAB7-1297-4830-9045127847A8}"/>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A91AC363-A92B-652A-D72F-39FABCEAEFFC}"/>
              </a:ext>
            </a:extLst>
          </p:cNvPr>
          <p:cNvSpPr>
            <a:spLocks noGrp="1"/>
          </p:cNvSpPr>
          <p:nvPr>
            <p:ph idx="1"/>
          </p:nvPr>
        </p:nvSpPr>
        <p:spPr>
          <a:xfrm>
            <a:off x="1451579" y="2015732"/>
            <a:ext cx="9603275" cy="4037749"/>
          </a:xfrm>
        </p:spPr>
        <p:txBody>
          <a:bodyPr/>
          <a:lstStyle/>
          <a:p>
            <a:r>
              <a:rPr lang="en-US" dirty="0"/>
              <a:t>Today:</a:t>
            </a:r>
          </a:p>
          <a:p>
            <a:pPr lvl="1"/>
            <a:r>
              <a:rPr lang="en-US" dirty="0"/>
              <a:t>Chapter 5 – chart types. </a:t>
            </a:r>
          </a:p>
          <a:p>
            <a:pPr lvl="2"/>
            <a:r>
              <a:rPr lang="en-US" dirty="0"/>
              <a:t>Reach chapter 5, it is very short. </a:t>
            </a:r>
          </a:p>
          <a:p>
            <a:pPr lvl="2"/>
            <a:r>
              <a:rPr lang="en-US" dirty="0"/>
              <a:t>Look at visual vocabulary. </a:t>
            </a:r>
          </a:p>
          <a:p>
            <a:pPr lvl="1"/>
            <a:r>
              <a:rPr lang="en-US" dirty="0"/>
              <a:t>Some more tableau fun!</a:t>
            </a:r>
          </a:p>
          <a:p>
            <a:pPr lvl="2"/>
            <a:r>
              <a:rPr lang="en-US" dirty="0"/>
              <a:t>Filters and counts. </a:t>
            </a:r>
          </a:p>
          <a:p>
            <a:pPr lvl="2"/>
            <a:r>
              <a:rPr lang="en-US" dirty="0"/>
              <a:t>Load external files. </a:t>
            </a:r>
          </a:p>
          <a:p>
            <a:pPr lvl="2"/>
            <a:r>
              <a:rPr lang="en-US" dirty="0"/>
              <a:t>Basic data prep/exploration. </a:t>
            </a:r>
          </a:p>
        </p:txBody>
      </p:sp>
    </p:spTree>
    <p:extLst>
      <p:ext uri="{BB962C8B-B14F-4D97-AF65-F5344CB8AC3E}">
        <p14:creationId xmlns:p14="http://schemas.microsoft.com/office/powerpoint/2010/main" val="61809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6C647-EFCD-76EA-AAA2-18559074F850}"/>
              </a:ext>
            </a:extLst>
          </p:cNvPr>
          <p:cNvSpPr>
            <a:spLocks noGrp="1"/>
          </p:cNvSpPr>
          <p:nvPr>
            <p:ph type="title"/>
          </p:nvPr>
        </p:nvSpPr>
        <p:spPr/>
        <p:txBody>
          <a:bodyPr/>
          <a:lstStyle/>
          <a:p>
            <a:r>
              <a:rPr lang="en-US" dirty="0"/>
              <a:t>Tableau Certifications</a:t>
            </a:r>
          </a:p>
        </p:txBody>
      </p:sp>
      <p:sp>
        <p:nvSpPr>
          <p:cNvPr id="3" name="Content Placeholder 2">
            <a:extLst>
              <a:ext uri="{FF2B5EF4-FFF2-40B4-BE49-F238E27FC236}">
                <a16:creationId xmlns:a16="http://schemas.microsoft.com/office/drawing/2014/main" id="{85FA735C-FA52-9C4E-142D-F953AEB507B6}"/>
              </a:ext>
            </a:extLst>
          </p:cNvPr>
          <p:cNvSpPr>
            <a:spLocks noGrp="1"/>
          </p:cNvSpPr>
          <p:nvPr>
            <p:ph idx="1"/>
          </p:nvPr>
        </p:nvSpPr>
        <p:spPr/>
        <p:txBody>
          <a:bodyPr/>
          <a:lstStyle/>
          <a:p>
            <a:r>
              <a:rPr lang="en-US" dirty="0"/>
              <a:t>You can probably do 90%+ of the first level Tableau cert by the end of the semester if you feel ok in Tableau. </a:t>
            </a:r>
          </a:p>
          <a:p>
            <a:r>
              <a:rPr lang="en-US" dirty="0"/>
              <a:t>I did it a few years ago, but the certification structure was a bit different. </a:t>
            </a:r>
          </a:p>
          <a:p>
            <a:pPr lvl="1"/>
            <a:r>
              <a:rPr lang="en-US" dirty="0"/>
              <a:t>It is pretty easy. </a:t>
            </a:r>
          </a:p>
          <a:p>
            <a:pPr lvl="1"/>
            <a:r>
              <a:rPr lang="en-US" dirty="0"/>
              <a:t>There was more “where is this in the menus…” than expected”. </a:t>
            </a:r>
          </a:p>
          <a:p>
            <a:r>
              <a:rPr lang="en-US" dirty="0"/>
              <a:t>It is probably worth it if you feel you can.</a:t>
            </a:r>
          </a:p>
          <a:p>
            <a:pPr lvl="1"/>
            <a:r>
              <a:rPr lang="en-US" dirty="0"/>
              <a:t>Especially if </a:t>
            </a:r>
            <a:r>
              <a:rPr lang="en-US" i="1" dirty="0"/>
              <a:t>not</a:t>
            </a:r>
            <a:r>
              <a:rPr lang="en-US" dirty="0"/>
              <a:t> an IT facing person. </a:t>
            </a:r>
          </a:p>
        </p:txBody>
      </p:sp>
    </p:spTree>
    <p:extLst>
      <p:ext uri="{BB962C8B-B14F-4D97-AF65-F5344CB8AC3E}">
        <p14:creationId xmlns:p14="http://schemas.microsoft.com/office/powerpoint/2010/main" val="1395384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41A8-89EE-CD8D-417C-84F8BB1821CA}"/>
              </a:ext>
            </a:extLst>
          </p:cNvPr>
          <p:cNvSpPr>
            <a:spLocks noGrp="1"/>
          </p:cNvSpPr>
          <p:nvPr>
            <p:ph type="ctrTitle"/>
          </p:nvPr>
        </p:nvSpPr>
        <p:spPr/>
        <p:txBody>
          <a:bodyPr/>
          <a:lstStyle/>
          <a:p>
            <a:r>
              <a:rPr lang="en-US" dirty="0"/>
              <a:t>Types of Visualizations</a:t>
            </a:r>
          </a:p>
        </p:txBody>
      </p:sp>
      <p:sp>
        <p:nvSpPr>
          <p:cNvPr id="3" name="Subtitle 2">
            <a:extLst>
              <a:ext uri="{FF2B5EF4-FFF2-40B4-BE49-F238E27FC236}">
                <a16:creationId xmlns:a16="http://schemas.microsoft.com/office/drawing/2014/main" id="{1A1C0211-0851-1F58-F92B-097613C28F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4206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21F3-8A85-A223-085B-DBE36BE60D7C}"/>
              </a:ext>
            </a:extLst>
          </p:cNvPr>
          <p:cNvSpPr>
            <a:spLocks noGrp="1"/>
          </p:cNvSpPr>
          <p:nvPr>
            <p:ph type="title"/>
          </p:nvPr>
        </p:nvSpPr>
        <p:spPr/>
        <p:txBody>
          <a:bodyPr/>
          <a:lstStyle/>
          <a:p>
            <a:r>
              <a:rPr lang="en-US" dirty="0"/>
              <a:t>Reducing Friction in Tableau</a:t>
            </a:r>
          </a:p>
        </p:txBody>
      </p:sp>
      <p:sp>
        <p:nvSpPr>
          <p:cNvPr id="3" name="Content Placeholder 2">
            <a:extLst>
              <a:ext uri="{FF2B5EF4-FFF2-40B4-BE49-F238E27FC236}">
                <a16:creationId xmlns:a16="http://schemas.microsoft.com/office/drawing/2014/main" id="{EAF673C5-70F6-A038-9FDD-E16FA20CBD04}"/>
              </a:ext>
            </a:extLst>
          </p:cNvPr>
          <p:cNvSpPr>
            <a:spLocks noGrp="1"/>
          </p:cNvSpPr>
          <p:nvPr>
            <p:ph idx="1"/>
          </p:nvPr>
        </p:nvSpPr>
        <p:spPr>
          <a:xfrm>
            <a:off x="1451579" y="2015732"/>
            <a:ext cx="9603275" cy="3927868"/>
          </a:xfrm>
        </p:spPr>
        <p:txBody>
          <a:bodyPr/>
          <a:lstStyle/>
          <a:p>
            <a:r>
              <a:rPr lang="en-US" dirty="0"/>
              <a:t>Tableau has the ability to take in large amounts of data and produce nice visualizations. </a:t>
            </a:r>
          </a:p>
          <a:p>
            <a:r>
              <a:rPr lang="en-US" dirty="0"/>
              <a:t>We can use the tools in Tableau to make the key info visible. </a:t>
            </a:r>
          </a:p>
          <a:p>
            <a:r>
              <a:rPr lang="en-US" dirty="0"/>
              <a:t>We have many different types of charts and graphs. </a:t>
            </a:r>
          </a:p>
          <a:p>
            <a:r>
              <a:rPr lang="en-US" dirty="0"/>
              <a:t>All use some basic concepts of visualization, starting with </a:t>
            </a:r>
            <a:r>
              <a:rPr lang="en-US" dirty="0" err="1"/>
              <a:t>preattentive</a:t>
            </a:r>
            <a:r>
              <a:rPr lang="en-US" dirty="0"/>
              <a:t> attributes. </a:t>
            </a:r>
          </a:p>
          <a:p>
            <a:pPr lvl="1"/>
            <a:r>
              <a:rPr lang="en-US" dirty="0"/>
              <a:t>Things our brain notices and starts to process without conscious thought. </a:t>
            </a:r>
          </a:p>
          <a:p>
            <a:pPr lvl="1"/>
            <a:r>
              <a:rPr lang="en-US" dirty="0"/>
              <a:t>E.g. you see a lion moving out of the side of your eye, you can react immediately. </a:t>
            </a:r>
          </a:p>
        </p:txBody>
      </p:sp>
    </p:spTree>
    <p:extLst>
      <p:ext uri="{BB962C8B-B14F-4D97-AF65-F5344CB8AC3E}">
        <p14:creationId xmlns:p14="http://schemas.microsoft.com/office/powerpoint/2010/main" val="2620403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833AE-0131-8C6A-35EC-62B6B4988F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63EA25-27E0-9A62-A87A-5F9FFCBC5577}"/>
              </a:ext>
            </a:extLst>
          </p:cNvPr>
          <p:cNvSpPr>
            <a:spLocks noGrp="1"/>
          </p:cNvSpPr>
          <p:nvPr>
            <p:ph idx="1"/>
          </p:nvPr>
        </p:nvSpPr>
        <p:spPr/>
        <p:txBody>
          <a:bodyPr/>
          <a:lstStyle/>
          <a:p>
            <a:endParaRPr lang="en-US"/>
          </a:p>
        </p:txBody>
      </p:sp>
      <p:pic>
        <p:nvPicPr>
          <p:cNvPr id="4098" name="Picture 2" descr="Quick Guide to Data-Driven Management | Smartsheet">
            <a:extLst>
              <a:ext uri="{FF2B5EF4-FFF2-40B4-BE49-F238E27FC236}">
                <a16:creationId xmlns:a16="http://schemas.microsoft.com/office/drawing/2014/main" id="{D08E0946-97D7-EDFC-58A6-5E5E61124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9025" y="0"/>
            <a:ext cx="23939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69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itle 1">
            <a:extLst>
              <a:ext uri="{FF2B5EF4-FFF2-40B4-BE49-F238E27FC236}">
                <a16:creationId xmlns:a16="http://schemas.microsoft.com/office/drawing/2014/main" id="{75CB4D6C-9486-DBAE-87D9-0E87867C2F77}"/>
              </a:ext>
            </a:extLst>
          </p:cNvPr>
          <p:cNvSpPr>
            <a:spLocks noGrp="1"/>
          </p:cNvSpPr>
          <p:nvPr>
            <p:ph type="title"/>
          </p:nvPr>
        </p:nvSpPr>
        <p:spPr>
          <a:xfrm>
            <a:off x="1981200" y="741404"/>
            <a:ext cx="8229600" cy="676233"/>
          </a:xfrm>
        </p:spPr>
        <p:txBody>
          <a:bodyPr/>
          <a:lstStyle/>
          <a:p>
            <a:r>
              <a:rPr lang="en-US" dirty="0"/>
              <a:t>Data Over HIPPOs</a:t>
            </a:r>
          </a:p>
        </p:txBody>
      </p:sp>
      <p:pic>
        <p:nvPicPr>
          <p:cNvPr id="5122" name="Picture 2" descr="Building a Data-Driven Decision-Making Culture.">
            <a:extLst>
              <a:ext uri="{FF2B5EF4-FFF2-40B4-BE49-F238E27FC236}">
                <a16:creationId xmlns:a16="http://schemas.microsoft.com/office/drawing/2014/main" id="{391185D0-3438-160E-0364-89FA29CA35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0958" y="1939512"/>
            <a:ext cx="10230083" cy="4782564"/>
          </a:xfrm>
          <a:prstGeom prst="rect">
            <a:avLst/>
          </a:prstGeom>
          <a:solidFill>
            <a:srgbClr val="FFFFFF"/>
          </a:solidFill>
        </p:spPr>
      </p:pic>
    </p:spTree>
    <p:extLst>
      <p:ext uri="{BB962C8B-B14F-4D97-AF65-F5344CB8AC3E}">
        <p14:creationId xmlns:p14="http://schemas.microsoft.com/office/powerpoint/2010/main" val="3327759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tack of old and new books">
            <a:extLst>
              <a:ext uri="{FF2B5EF4-FFF2-40B4-BE49-F238E27FC236}">
                <a16:creationId xmlns:a16="http://schemas.microsoft.com/office/drawing/2014/main" id="{FDC84B0C-932B-1516-A954-F566BE094AE8}"/>
              </a:ext>
            </a:extLst>
          </p:cNvPr>
          <p:cNvPicPr>
            <a:picLocks noChangeAspect="1"/>
          </p:cNvPicPr>
          <p:nvPr/>
        </p:nvPicPr>
        <p:blipFill>
          <a:blip r:embed="rId2"/>
          <a:srcRect t="13779" r="-1" b="1949"/>
          <a:stretch>
            <a:fillRect/>
          </a:stretch>
        </p:blipFill>
        <p:spPr>
          <a:xfrm>
            <a:off x="2" y="10"/>
            <a:ext cx="12191695" cy="6857990"/>
          </a:xfrm>
          <a:prstGeom prst="rect">
            <a:avLst/>
          </a:prstGeom>
        </p:spPr>
      </p:pic>
      <p:sp>
        <p:nvSpPr>
          <p:cNvPr id="2" name="Title 1">
            <a:extLst>
              <a:ext uri="{FF2B5EF4-FFF2-40B4-BE49-F238E27FC236}">
                <a16:creationId xmlns:a16="http://schemas.microsoft.com/office/drawing/2014/main" id="{4380337D-6F72-2005-B342-95F7AFDD75D5}"/>
              </a:ext>
            </a:extLst>
          </p:cNvPr>
          <p:cNvSpPr>
            <a:spLocks noGrp="1"/>
          </p:cNvSpPr>
          <p:nvPr>
            <p:ph type="title"/>
          </p:nvPr>
        </p:nvSpPr>
        <p:spPr>
          <a:xfrm>
            <a:off x="4065511" y="3236470"/>
            <a:ext cx="6832500" cy="1252601"/>
          </a:xfrm>
        </p:spPr>
        <p:txBody>
          <a:bodyPr vert="horz" lIns="91440" tIns="45720" rIns="91440" bIns="0" rtlCol="0" anchor="b">
            <a:normAutofit/>
          </a:bodyPr>
          <a:lstStyle/>
          <a:p>
            <a:r>
              <a:rPr lang="en-US" sz="4100">
                <a:solidFill>
                  <a:srgbClr val="FFFFFE"/>
                </a:solidFill>
              </a:rPr>
              <a:t>A (Brief) History of Visualization</a:t>
            </a:r>
          </a:p>
        </p:txBody>
      </p:sp>
    </p:spTree>
    <p:extLst>
      <p:ext uri="{BB962C8B-B14F-4D97-AF65-F5344CB8AC3E}">
        <p14:creationId xmlns:p14="http://schemas.microsoft.com/office/powerpoint/2010/main" val="19338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prstGeom prst="rect">
            <a:avLst/>
          </a:prstGeom>
        </p:spPr>
        <p:txBody>
          <a:bodyPr>
            <a:normAutofit/>
          </a:bodyPr>
          <a:lstStyle/>
          <a:p>
            <a:pPr eaLnBrk="1" hangingPunct="1">
              <a:defRPr/>
            </a:pPr>
            <a:r>
              <a:rPr lang="en-US" dirty="0"/>
              <a:t>Late 18</a:t>
            </a:r>
            <a:r>
              <a:rPr lang="en-US" baseline="30000" dirty="0"/>
              <a:t>th</a:t>
            </a:r>
            <a:r>
              <a:rPr lang="en-US" dirty="0"/>
              <a:t> – Early 19</a:t>
            </a:r>
            <a:r>
              <a:rPr lang="en-US" baseline="30000" dirty="0"/>
              <a:t>th</a:t>
            </a:r>
            <a:r>
              <a:rPr lang="en-US" dirty="0"/>
              <a:t> Century</a:t>
            </a:r>
          </a:p>
        </p:txBody>
      </p:sp>
      <p:sp>
        <p:nvSpPr>
          <p:cNvPr id="2" name="Content Placeholder 1"/>
          <p:cNvSpPr>
            <a:spLocks noGrp="1"/>
          </p:cNvSpPr>
          <p:nvPr>
            <p:ph idx="1"/>
          </p:nvPr>
        </p:nvSpPr>
        <p:spPr>
          <a:xfrm>
            <a:off x="1451579" y="2015732"/>
            <a:ext cx="6565795" cy="4105458"/>
          </a:xfrm>
          <a:prstGeom prst="rect">
            <a:avLst/>
          </a:prstGeom>
        </p:spPr>
        <p:txBody>
          <a:bodyPr>
            <a:normAutofit lnSpcReduction="10000"/>
          </a:bodyPr>
          <a:lstStyle/>
          <a:p>
            <a:pPr marL="0" indent="0">
              <a:buNone/>
            </a:pPr>
            <a:r>
              <a:rPr lang="en-US" dirty="0"/>
              <a:t>William Playfair</a:t>
            </a:r>
            <a:br>
              <a:rPr lang="en-US" dirty="0"/>
            </a:br>
            <a:r>
              <a:rPr lang="en-US" sz="1600" dirty="0">
                <a:sym typeface="Helvetica" charset="0"/>
              </a:rPr>
              <a:t>(1759-1823)</a:t>
            </a:r>
            <a:endParaRPr lang="en-US" sz="1600" dirty="0"/>
          </a:p>
          <a:p>
            <a:r>
              <a:rPr lang="en-US" sz="2400" dirty="0"/>
              <a:t>Scottish engineer and political economist</a:t>
            </a:r>
            <a:r>
              <a:rPr lang="en-US" sz="2400" baseline="30000" dirty="0"/>
              <a:t>5</a:t>
            </a:r>
          </a:p>
          <a:p>
            <a:r>
              <a:rPr lang="en-US" sz="2400" dirty="0"/>
              <a:t>Founder of graphical methods of statistics</a:t>
            </a:r>
          </a:p>
          <a:p>
            <a:r>
              <a:rPr lang="en-US" sz="2400" dirty="0"/>
              <a:t>Developed new designs and improved existing methods to provide “systematic visual representations of his ‘linear arithmetic.’”</a:t>
            </a:r>
            <a:r>
              <a:rPr lang="en-US" sz="2400" baseline="30000" dirty="0"/>
              <a:t>6</a:t>
            </a:r>
          </a:p>
          <a:p>
            <a:r>
              <a:rPr lang="en-US" sz="2400" dirty="0"/>
              <a:t>Created the time-series line graph, bar chart, and pie chart.</a:t>
            </a:r>
            <a:r>
              <a:rPr lang="en-US" sz="2400" baseline="30000" dirty="0"/>
              <a:t>7</a:t>
            </a:r>
          </a:p>
          <a:p>
            <a:endParaRPr lang="en-US" sz="2400" baseline="30000" dirty="0"/>
          </a:p>
        </p:txBody>
      </p:sp>
      <p:sp>
        <p:nvSpPr>
          <p:cNvPr id="5" name="Rectangle 7"/>
          <p:cNvSpPr>
            <a:spLocks/>
          </p:cNvSpPr>
          <p:nvPr/>
        </p:nvSpPr>
        <p:spPr bwMode="auto">
          <a:xfrm>
            <a:off x="7653021" y="6660865"/>
            <a:ext cx="4480560" cy="1476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Arial" charset="0"/>
              </a:rPr>
              <a:t>Images used under the Wikipedia Creative Commons license.  </a:t>
            </a:r>
            <a:r>
              <a:rPr lang="en-US" sz="800" i="1" u="sng" dirty="0">
                <a:solidFill>
                  <a:srgbClr val="4D4D4D"/>
                </a:solidFill>
                <a:latin typeface="Arial" charset="0"/>
                <a:hlinkClick r:id="rId3"/>
              </a:rPr>
              <a:t>http://www.wikipedia.com</a:t>
            </a:r>
            <a:endParaRPr lang="en-US" sz="800" i="1" u="sng" dirty="0">
              <a:solidFill>
                <a:srgbClr val="4D4D4D"/>
              </a:solidFill>
              <a:latin typeface="Arial" charset="0"/>
            </a:endParaRPr>
          </a:p>
        </p:txBody>
      </p:sp>
      <p:pic>
        <p:nvPicPr>
          <p:cNvPr id="6"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017374" y="804519"/>
            <a:ext cx="4007646" cy="27978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7" name="Picture 6"/>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017374" y="3776320"/>
            <a:ext cx="4038600" cy="2726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Tree>
    <p:extLst>
      <p:ext uri="{BB962C8B-B14F-4D97-AF65-F5344CB8AC3E}">
        <p14:creationId xmlns:p14="http://schemas.microsoft.com/office/powerpoint/2010/main" val="3869472991"/>
      </p:ext>
    </p:extLst>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prstGeom prst="rect">
            <a:avLst/>
          </a:prstGeom>
        </p:spPr>
        <p:txBody>
          <a:bodyPr>
            <a:normAutofit/>
          </a:bodyPr>
          <a:lstStyle/>
          <a:p>
            <a:pPr eaLnBrk="1" hangingPunct="1">
              <a:defRPr/>
            </a:pPr>
            <a:r>
              <a:rPr lang="en-US" dirty="0"/>
              <a:t>Early 19</a:t>
            </a:r>
            <a:r>
              <a:rPr lang="en-US" baseline="30000" dirty="0"/>
              <a:t>th</a:t>
            </a:r>
            <a:r>
              <a:rPr lang="en-US" dirty="0"/>
              <a:t> Century</a:t>
            </a:r>
          </a:p>
        </p:txBody>
      </p:sp>
      <p:sp>
        <p:nvSpPr>
          <p:cNvPr id="2" name="Content Placeholder 1"/>
          <p:cNvSpPr>
            <a:spLocks noGrp="1"/>
          </p:cNvSpPr>
          <p:nvPr>
            <p:ph idx="1"/>
          </p:nvPr>
        </p:nvSpPr>
        <p:spPr>
          <a:xfrm>
            <a:off x="4070088" y="2015732"/>
            <a:ext cx="6984766" cy="4037749"/>
          </a:xfrm>
          <a:prstGeom prst="rect">
            <a:avLst/>
          </a:prstGeom>
        </p:spPr>
        <p:txBody>
          <a:bodyPr>
            <a:normAutofit lnSpcReduction="10000"/>
          </a:bodyPr>
          <a:lstStyle/>
          <a:p>
            <a:pPr marL="0" indent="0">
              <a:buNone/>
            </a:pPr>
            <a:r>
              <a:rPr lang="en-US" dirty="0"/>
              <a:t>Charles Minard</a:t>
            </a:r>
            <a:br>
              <a:rPr lang="en-US" dirty="0"/>
            </a:br>
            <a:r>
              <a:rPr lang="en-US" sz="1600" dirty="0">
                <a:sym typeface="Helvetica" charset="0"/>
              </a:rPr>
              <a:t>(1781-1870)</a:t>
            </a:r>
            <a:endParaRPr lang="en-US" sz="1600" dirty="0"/>
          </a:p>
          <a:p>
            <a:r>
              <a:rPr lang="en-US" sz="2400" dirty="0"/>
              <a:t>French civil engineer; produced an array of graphics that combine a many data points into a compelling visual story</a:t>
            </a:r>
          </a:p>
          <a:p>
            <a:r>
              <a:rPr lang="en-US" sz="2400" dirty="0"/>
              <a:t>Produced 70+ depictions including thematic maps and graphic tables between 1844-1870.</a:t>
            </a:r>
            <a:r>
              <a:rPr lang="en-US" sz="2400" baseline="30000" dirty="0"/>
              <a:t>7</a:t>
            </a:r>
          </a:p>
          <a:p>
            <a:r>
              <a:rPr lang="en-US" sz="2400" dirty="0"/>
              <a:t>Map of Napoleon’s Russian campaign regarded by some as the “best statistical graphic ever drawn.”</a:t>
            </a:r>
            <a:r>
              <a:rPr lang="en-US" sz="2400" baseline="30000" dirty="0"/>
              <a:t>8</a:t>
            </a:r>
          </a:p>
          <a:p>
            <a:endParaRPr lang="en-US" sz="2400" baseline="30000" dirty="0"/>
          </a:p>
        </p:txBody>
      </p:sp>
      <p:sp>
        <p:nvSpPr>
          <p:cNvPr id="5" name="Rectangle 7"/>
          <p:cNvSpPr>
            <a:spLocks/>
          </p:cNvSpPr>
          <p:nvPr/>
        </p:nvSpPr>
        <p:spPr bwMode="auto">
          <a:xfrm>
            <a:off x="7955926" y="6589849"/>
            <a:ext cx="4236074" cy="2364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Arial" charset="0"/>
              </a:rPr>
              <a:t>Images used under the Wikipedia Creative Commons license.  </a:t>
            </a:r>
            <a:r>
              <a:rPr lang="en-US" sz="800" i="1" u="sng" dirty="0">
                <a:solidFill>
                  <a:srgbClr val="4D4D4D"/>
                </a:solidFill>
                <a:latin typeface="Arial" charset="0"/>
                <a:hlinkClick r:id="rId3"/>
              </a:rPr>
              <a:t>http://www.wikipedia.com</a:t>
            </a:r>
            <a:endParaRPr lang="en-US" sz="800" i="1" u="sng" dirty="0">
              <a:solidFill>
                <a:srgbClr val="4D4D4D"/>
              </a:solidFill>
              <a:latin typeface="Arial" charset="0"/>
            </a:endParaRPr>
          </a:p>
        </p:txBody>
      </p:sp>
      <p:pic>
        <p:nvPicPr>
          <p:cNvPr id="8"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877" y="4757777"/>
            <a:ext cx="3998211" cy="19050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pic>
        <p:nvPicPr>
          <p:cNvPr id="9"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64888" y="1481178"/>
            <a:ext cx="2937867" cy="2937867"/>
          </a:xfrm>
          <a:prstGeom prst="rect">
            <a:avLst/>
          </a:prstGeom>
          <a:solidFill>
            <a:schemeClr val="tx2"/>
          </a:solidFill>
          <a:ln>
            <a:solidFill>
              <a:schemeClr val="tx2"/>
            </a:solidFill>
          </a:ln>
        </p:spPr>
      </p:pic>
    </p:spTree>
    <p:extLst>
      <p:ext uri="{BB962C8B-B14F-4D97-AF65-F5344CB8AC3E}">
        <p14:creationId xmlns:p14="http://schemas.microsoft.com/office/powerpoint/2010/main" val="4227913033"/>
      </p:ext>
    </p:extLst>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prstGeom prst="rect">
            <a:avLst/>
          </a:prstGeom>
        </p:spPr>
        <p:txBody>
          <a:bodyPr>
            <a:normAutofit/>
          </a:bodyPr>
          <a:lstStyle/>
          <a:p>
            <a:pPr eaLnBrk="1" hangingPunct="1">
              <a:defRPr/>
            </a:pPr>
            <a:r>
              <a:rPr lang="en-US" dirty="0"/>
              <a:t>20</a:t>
            </a:r>
            <a:r>
              <a:rPr lang="en-US" baseline="30000" dirty="0"/>
              <a:t>th</a:t>
            </a:r>
            <a:r>
              <a:rPr lang="en-US" dirty="0"/>
              <a:t> Century</a:t>
            </a:r>
          </a:p>
        </p:txBody>
      </p:sp>
      <p:sp>
        <p:nvSpPr>
          <p:cNvPr id="28673" name="Rectangle 1"/>
          <p:cNvSpPr>
            <a:spLocks noGrp="1" noChangeArrowheads="1"/>
          </p:cNvSpPr>
          <p:nvPr>
            <p:ph idx="1"/>
          </p:nvPr>
        </p:nvSpPr>
        <p:spPr>
          <a:xfrm>
            <a:off x="1451579" y="1853754"/>
            <a:ext cx="6710635" cy="4199727"/>
          </a:xfrm>
          <a:prstGeom prst="rect">
            <a:avLst/>
          </a:prstGeom>
        </p:spPr>
        <p:txBody>
          <a:bodyPr>
            <a:normAutofit lnSpcReduction="10000"/>
          </a:bodyPr>
          <a:lstStyle/>
          <a:p>
            <a:pPr marL="0" indent="0">
              <a:buNone/>
            </a:pPr>
            <a:r>
              <a:rPr lang="en-US" dirty="0"/>
              <a:t>John Tukey</a:t>
            </a:r>
            <a:br>
              <a:rPr lang="en-US" dirty="0"/>
            </a:br>
            <a:r>
              <a:rPr lang="en-US" sz="1800" dirty="0">
                <a:sym typeface="Helvetica" charset="0"/>
              </a:rPr>
              <a:t>(1915-2000)</a:t>
            </a:r>
            <a:endParaRPr lang="en-US" sz="1800" dirty="0"/>
          </a:p>
          <a:p>
            <a:r>
              <a:rPr lang="en-US" sz="2400" dirty="0"/>
              <a:t>American statistician</a:t>
            </a:r>
          </a:p>
          <a:p>
            <a:r>
              <a:rPr lang="en-US" sz="2400" dirty="0"/>
              <a:t>Introduced the </a:t>
            </a:r>
            <a:r>
              <a:rPr lang="en-US" sz="2400" b="1" dirty="0"/>
              <a:t>box plot</a:t>
            </a:r>
            <a:r>
              <a:rPr lang="en-US" sz="2400" dirty="0"/>
              <a:t> in </a:t>
            </a:r>
            <a:r>
              <a:rPr lang="en-US" sz="2400" i="1" dirty="0"/>
              <a:t>Exploratory Data Analysis</a:t>
            </a:r>
            <a:r>
              <a:rPr lang="en-US" sz="2400" dirty="0"/>
              <a:t>, published in 1977</a:t>
            </a:r>
          </a:p>
          <a:p>
            <a:r>
              <a:rPr lang="en-US" sz="2400" dirty="0"/>
              <a:t>Exploratory Data Analysis (EDA) emphasized presentation of the main characteristics of a data set in a visual, easy to understand form, without using a statistical model or hypothesis</a:t>
            </a:r>
            <a:r>
              <a:rPr lang="en-US" sz="2400" baseline="30000" dirty="0"/>
              <a:t>10</a:t>
            </a:r>
          </a:p>
        </p:txBody>
      </p:sp>
      <p:sp>
        <p:nvSpPr>
          <p:cNvPr id="28677" name="Rectangle 5"/>
          <p:cNvSpPr>
            <a:spLocks/>
          </p:cNvSpPr>
          <p:nvPr/>
        </p:nvSpPr>
        <p:spPr bwMode="auto">
          <a:xfrm>
            <a:off x="8331398" y="6612434"/>
            <a:ext cx="3812977" cy="2053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Calibri"/>
                <a:cs typeface="Calibri"/>
              </a:rPr>
              <a:t>Images used under the Wikipedia Creative Commons license.  </a:t>
            </a:r>
            <a:r>
              <a:rPr lang="en-US" sz="800" i="1" u="sng" dirty="0">
                <a:solidFill>
                  <a:srgbClr val="4D4D4D"/>
                </a:solidFill>
                <a:latin typeface="Calibri"/>
                <a:cs typeface="Calibri"/>
                <a:hlinkClick r:id="rId3"/>
              </a:rPr>
              <a:t>http://www.wikipedia.com</a:t>
            </a:r>
            <a:endParaRPr lang="en-US" sz="800" i="1" u="sng" dirty="0">
              <a:solidFill>
                <a:srgbClr val="4D4D4D"/>
              </a:solidFill>
              <a:latin typeface="Calibri"/>
              <a:cs typeface="Calibri"/>
            </a:endParaRPr>
          </a:p>
        </p:txBody>
      </p:sp>
      <p:pic>
        <p:nvPicPr>
          <p:cNvPr id="4" name="Picture 3"/>
          <p:cNvPicPr>
            <a:picLocks noChangeAspect="1"/>
          </p:cNvPicPr>
          <p:nvPr/>
        </p:nvPicPr>
        <p:blipFill>
          <a:blip r:embed="rId4"/>
          <a:stretch>
            <a:fillRect/>
          </a:stretch>
        </p:blipFill>
        <p:spPr>
          <a:xfrm>
            <a:off x="8162213" y="1450517"/>
            <a:ext cx="3778553" cy="4602964"/>
          </a:xfrm>
          <a:prstGeom prst="rect">
            <a:avLst/>
          </a:prstGeom>
          <a:ln>
            <a:solidFill>
              <a:schemeClr val="tx2"/>
            </a:solidFill>
          </a:ln>
        </p:spPr>
      </p:pic>
    </p:spTree>
    <p:extLst>
      <p:ext uri="{BB962C8B-B14F-4D97-AF65-F5344CB8AC3E}">
        <p14:creationId xmlns:p14="http://schemas.microsoft.com/office/powerpoint/2010/main" val="2929672123"/>
      </p:ext>
    </p:extLst>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prstGeom prst="rect">
            <a:avLst/>
          </a:prstGeom>
        </p:spPr>
        <p:txBody>
          <a:bodyPr>
            <a:normAutofit/>
          </a:bodyPr>
          <a:lstStyle/>
          <a:p>
            <a:pPr eaLnBrk="1" hangingPunct="1">
              <a:defRPr/>
            </a:pPr>
            <a:r>
              <a:rPr lang="en-US" dirty="0"/>
              <a:t>20</a:t>
            </a:r>
            <a:r>
              <a:rPr lang="en-US" baseline="30000" dirty="0"/>
              <a:t>th</a:t>
            </a:r>
            <a:r>
              <a:rPr lang="en-US" dirty="0"/>
              <a:t> Century</a:t>
            </a:r>
          </a:p>
        </p:txBody>
      </p:sp>
      <p:sp>
        <p:nvSpPr>
          <p:cNvPr id="28673" name="Rectangle 1"/>
          <p:cNvSpPr>
            <a:spLocks noGrp="1" noChangeArrowheads="1"/>
          </p:cNvSpPr>
          <p:nvPr>
            <p:ph idx="1"/>
          </p:nvPr>
        </p:nvSpPr>
        <p:spPr>
          <a:xfrm>
            <a:off x="503853" y="1853754"/>
            <a:ext cx="5868955" cy="4167104"/>
          </a:xfrm>
          <a:prstGeom prst="rect">
            <a:avLst/>
          </a:prstGeom>
        </p:spPr>
        <p:txBody>
          <a:bodyPr>
            <a:normAutofit/>
          </a:bodyPr>
          <a:lstStyle/>
          <a:p>
            <a:pPr marL="0" indent="0">
              <a:buNone/>
            </a:pPr>
            <a:r>
              <a:rPr lang="en-US" sz="2400" dirty="0"/>
              <a:t>Visualization techniques used in EDA include:</a:t>
            </a:r>
          </a:p>
          <a:p>
            <a:r>
              <a:rPr lang="en-US" sz="2400" dirty="0"/>
              <a:t>Box plot</a:t>
            </a:r>
          </a:p>
          <a:p>
            <a:r>
              <a:rPr lang="en-US" sz="2400" dirty="0"/>
              <a:t>Histogram</a:t>
            </a:r>
          </a:p>
          <a:p>
            <a:r>
              <a:rPr lang="en-US" sz="2400" dirty="0"/>
              <a:t>Pareto chart</a:t>
            </a:r>
          </a:p>
          <a:p>
            <a:r>
              <a:rPr lang="en-US" sz="2400" dirty="0"/>
              <a:t>Scatter plot</a:t>
            </a:r>
          </a:p>
          <a:p>
            <a:r>
              <a:rPr lang="en-US" sz="2400" dirty="0"/>
              <a:t>Computers set off massive increases in visualization usage and capability. </a:t>
            </a:r>
          </a:p>
          <a:p>
            <a:pPr marL="0" indent="0">
              <a:buNone/>
            </a:pPr>
            <a:endParaRPr lang="en-US" sz="2400" dirty="0"/>
          </a:p>
        </p:txBody>
      </p:sp>
      <p:sp>
        <p:nvSpPr>
          <p:cNvPr id="10" name="Rectangle 1"/>
          <p:cNvSpPr>
            <a:spLocks noGrp="1" noChangeArrowheads="1"/>
          </p:cNvSpPr>
          <p:nvPr>
            <p:ph sz="half" idx="4294967295"/>
          </p:nvPr>
        </p:nvSpPr>
        <p:spPr>
          <a:xfrm>
            <a:off x="9321800" y="4500563"/>
            <a:ext cx="2870200" cy="381000"/>
          </a:xfrm>
          <a:prstGeom prst="rect">
            <a:avLst/>
          </a:prstGeom>
        </p:spPr>
        <p:txBody>
          <a:bodyPr/>
          <a:lstStyle/>
          <a:p>
            <a:pPr marL="0" indent="0">
              <a:buNone/>
            </a:pPr>
            <a:r>
              <a:rPr lang="en-US" sz="1400" i="1" dirty="0"/>
              <a:t>Sample box plot.</a:t>
            </a:r>
          </a:p>
        </p:txBody>
      </p:sp>
      <p:sp>
        <p:nvSpPr>
          <p:cNvPr id="12" name="Rectangle 1"/>
          <p:cNvSpPr>
            <a:spLocks noGrp="1" noChangeArrowheads="1"/>
          </p:cNvSpPr>
          <p:nvPr>
            <p:ph sz="half" idx="4294967295"/>
          </p:nvPr>
        </p:nvSpPr>
        <p:spPr>
          <a:xfrm>
            <a:off x="9321800" y="2786063"/>
            <a:ext cx="2870200" cy="381000"/>
          </a:xfrm>
          <a:prstGeom prst="rect">
            <a:avLst/>
          </a:prstGeom>
        </p:spPr>
        <p:txBody>
          <a:bodyPr/>
          <a:lstStyle/>
          <a:p>
            <a:pPr marL="0" indent="0">
              <a:buNone/>
            </a:pPr>
            <a:r>
              <a:rPr lang="en-US" sz="1400" i="1" dirty="0"/>
              <a:t>Sample histogram.</a:t>
            </a:r>
          </a:p>
        </p:txBody>
      </p:sp>
      <p:sp>
        <p:nvSpPr>
          <p:cNvPr id="14" name="Rectangle 1"/>
          <p:cNvSpPr>
            <a:spLocks noGrp="1" noChangeArrowheads="1"/>
          </p:cNvSpPr>
          <p:nvPr>
            <p:ph sz="half" idx="4294967295"/>
          </p:nvPr>
        </p:nvSpPr>
        <p:spPr>
          <a:xfrm>
            <a:off x="9321800" y="6108700"/>
            <a:ext cx="2870200" cy="381000"/>
          </a:xfrm>
          <a:prstGeom prst="rect">
            <a:avLst/>
          </a:prstGeom>
        </p:spPr>
        <p:txBody>
          <a:bodyPr/>
          <a:lstStyle/>
          <a:p>
            <a:pPr marL="0" indent="0">
              <a:buNone/>
            </a:pPr>
            <a:r>
              <a:rPr lang="en-US" sz="1400" i="1" dirty="0"/>
              <a:t>Sample scatter plot.</a:t>
            </a:r>
          </a:p>
        </p:txBody>
      </p:sp>
      <p:sp>
        <p:nvSpPr>
          <p:cNvPr id="28677" name="Rectangle 5"/>
          <p:cNvSpPr>
            <a:spLocks/>
          </p:cNvSpPr>
          <p:nvPr/>
        </p:nvSpPr>
        <p:spPr bwMode="auto">
          <a:xfrm>
            <a:off x="8336386" y="6577542"/>
            <a:ext cx="3776239" cy="2318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Calibri"/>
                <a:cs typeface="Calibri"/>
              </a:rPr>
              <a:t>Images used under the Wikipedia Creative Commons license.  </a:t>
            </a:r>
            <a:r>
              <a:rPr lang="en-US" sz="800" i="1" u="sng" dirty="0">
                <a:solidFill>
                  <a:srgbClr val="4D4D4D"/>
                </a:solidFill>
                <a:latin typeface="Calibri"/>
                <a:cs typeface="Calibri"/>
                <a:hlinkClick r:id="rId3"/>
              </a:rPr>
              <a:t>http://www.wikipedia.com</a:t>
            </a:r>
            <a:endParaRPr lang="en-US" sz="800" i="1" u="sng" dirty="0">
              <a:solidFill>
                <a:srgbClr val="4D4D4D"/>
              </a:solidFill>
              <a:latin typeface="Calibri"/>
              <a:cs typeface="Calibri"/>
            </a:endParaRPr>
          </a:p>
        </p:txBody>
      </p:sp>
      <p:pic>
        <p:nvPicPr>
          <p:cNvPr id="2" name="Picture 1"/>
          <p:cNvPicPr>
            <a:picLocks noChangeAspect="1"/>
          </p:cNvPicPr>
          <p:nvPr/>
        </p:nvPicPr>
        <p:blipFill>
          <a:blip r:embed="rId4"/>
          <a:stretch>
            <a:fillRect/>
          </a:stretch>
        </p:blipFill>
        <p:spPr>
          <a:xfrm>
            <a:off x="6270625" y="2195072"/>
            <a:ext cx="2971800" cy="2971800"/>
          </a:xfrm>
          <a:prstGeom prst="rect">
            <a:avLst/>
          </a:prstGeom>
        </p:spPr>
      </p:pic>
      <p:pic>
        <p:nvPicPr>
          <p:cNvPr id="5" name="Picture 4"/>
          <p:cNvPicPr>
            <a:picLocks noChangeAspect="1"/>
          </p:cNvPicPr>
          <p:nvPr/>
        </p:nvPicPr>
        <p:blipFill>
          <a:blip r:embed="rId5"/>
          <a:stretch>
            <a:fillRect/>
          </a:stretch>
        </p:blipFill>
        <p:spPr>
          <a:xfrm>
            <a:off x="9053488" y="3329041"/>
            <a:ext cx="3059137" cy="2590800"/>
          </a:xfrm>
          <a:prstGeom prst="rect">
            <a:avLst/>
          </a:prstGeom>
          <a:ln>
            <a:noFill/>
          </a:ln>
        </p:spPr>
      </p:pic>
      <p:pic>
        <p:nvPicPr>
          <p:cNvPr id="6" name="Picture 5"/>
          <p:cNvPicPr>
            <a:picLocks noChangeAspect="1"/>
          </p:cNvPicPr>
          <p:nvPr/>
        </p:nvPicPr>
        <p:blipFill rotWithShape="1">
          <a:blip r:embed="rId6"/>
          <a:srcRect l="1829" t="7162" r="7147" b="3557"/>
          <a:stretch/>
        </p:blipFill>
        <p:spPr>
          <a:xfrm>
            <a:off x="9155923" y="48616"/>
            <a:ext cx="2956702" cy="2892552"/>
          </a:xfrm>
          <a:prstGeom prst="rect">
            <a:avLst/>
          </a:prstGeom>
        </p:spPr>
      </p:pic>
    </p:spTree>
    <p:extLst>
      <p:ext uri="{BB962C8B-B14F-4D97-AF65-F5344CB8AC3E}">
        <p14:creationId xmlns:p14="http://schemas.microsoft.com/office/powerpoint/2010/main" val="3497565675"/>
      </p:ext>
    </p:extLst>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3BB9-ED09-86FD-626B-428FB0B6FC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779E08-2035-B51B-3F02-FC9A3B2C80A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9054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22DD-896B-B88A-2169-9C869473D090}"/>
              </a:ext>
            </a:extLst>
          </p:cNvPr>
          <p:cNvSpPr>
            <a:spLocks noGrp="1"/>
          </p:cNvSpPr>
          <p:nvPr>
            <p:ph type="title"/>
          </p:nvPr>
        </p:nvSpPr>
        <p:spPr/>
        <p:txBody>
          <a:bodyPr/>
          <a:lstStyle/>
          <a:p>
            <a:r>
              <a:rPr lang="en-US" dirty="0"/>
              <a:t>A Picture is Worth a Thousand Words…</a:t>
            </a:r>
          </a:p>
        </p:txBody>
      </p:sp>
      <p:sp>
        <p:nvSpPr>
          <p:cNvPr id="3" name="Content Placeholder 2">
            <a:extLst>
              <a:ext uri="{FF2B5EF4-FFF2-40B4-BE49-F238E27FC236}">
                <a16:creationId xmlns:a16="http://schemas.microsoft.com/office/drawing/2014/main" id="{EEC24CDE-2BE0-22DB-9E52-10B4ACB53EC4}"/>
              </a:ext>
            </a:extLst>
          </p:cNvPr>
          <p:cNvSpPr>
            <a:spLocks noGrp="1"/>
          </p:cNvSpPr>
          <p:nvPr>
            <p:ph idx="1"/>
          </p:nvPr>
        </p:nvSpPr>
        <p:spPr>
          <a:xfrm>
            <a:off x="1451579" y="2015732"/>
            <a:ext cx="10046738" cy="3450613"/>
          </a:xfrm>
        </p:spPr>
        <p:txBody>
          <a:bodyPr/>
          <a:lstStyle/>
          <a:p>
            <a:r>
              <a:rPr lang="en-US" dirty="0"/>
              <a:t>A primary reason we use visualization is to make it easier to process data. </a:t>
            </a:r>
          </a:p>
          <a:p>
            <a:pPr lvl="1"/>
            <a:r>
              <a:rPr lang="en-US" dirty="0"/>
              <a:t>We can compare sales totals in a bar graph far quicker than we can read and compare numbers. </a:t>
            </a:r>
          </a:p>
          <a:p>
            <a:pPr lvl="1"/>
            <a:r>
              <a:rPr lang="en-US" dirty="0"/>
              <a:t>We can spot a trend in a stock price easier on a line chart than reading a thousand daily numbers. </a:t>
            </a:r>
          </a:p>
          <a:p>
            <a:r>
              <a:rPr lang="en-US" dirty="0"/>
              <a:t>Modern companies/scenarios can have a lot of data to deal with. </a:t>
            </a:r>
          </a:p>
          <a:p>
            <a:r>
              <a:rPr lang="en-US" dirty="0"/>
              <a:t>Visualization reduces friction – it is easier to consume data. </a:t>
            </a:r>
          </a:p>
        </p:txBody>
      </p:sp>
      <p:pic>
        <p:nvPicPr>
          <p:cNvPr id="1026" name="Picture 2" descr="Ice And Snow Car Crash Compilation #4 - Black Ice ! on Make a GIF">
            <a:extLst>
              <a:ext uri="{FF2B5EF4-FFF2-40B4-BE49-F238E27FC236}">
                <a16:creationId xmlns:a16="http://schemas.microsoft.com/office/drawing/2014/main" id="{2E8CED39-64A5-24B4-7AA6-87E2D9F5E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198" y="4397000"/>
            <a:ext cx="4378036" cy="2462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55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A2125-D159-43F4-A347-685B5A4DFB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41ACC3-00EB-D97D-3C0A-88D40968CBF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32578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C2B9-A3F7-1966-5D62-57B18152CCB0}"/>
              </a:ext>
            </a:extLst>
          </p:cNvPr>
          <p:cNvSpPr>
            <a:spLocks noGrp="1"/>
          </p:cNvSpPr>
          <p:nvPr>
            <p:ph type="title"/>
          </p:nvPr>
        </p:nvSpPr>
        <p:spPr>
          <a:xfrm>
            <a:off x="1451579" y="804519"/>
            <a:ext cx="9603275" cy="1049235"/>
          </a:xfrm>
        </p:spPr>
        <p:txBody>
          <a:bodyPr>
            <a:normAutofit/>
          </a:bodyPr>
          <a:lstStyle/>
          <a:p>
            <a:r>
              <a:rPr lang="en-US" dirty="0"/>
              <a:t>Visualization Choices</a:t>
            </a:r>
          </a:p>
        </p:txBody>
      </p:sp>
      <p:pic>
        <p:nvPicPr>
          <p:cNvPr id="1028" name="Picture 4" descr="An Introduction to Tableau on Making Raw Data Useful - Analytics Vidhya">
            <a:extLst>
              <a:ext uri="{FF2B5EF4-FFF2-40B4-BE49-F238E27FC236}">
                <a16:creationId xmlns:a16="http://schemas.microsoft.com/office/drawing/2014/main" id="{E8A18C9E-FC6A-3C4B-53FC-BA1E34A1AD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2023148"/>
            <a:ext cx="6892299" cy="329107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59D5C1F-34B6-35D1-6265-775BA4A49AA0}"/>
              </a:ext>
            </a:extLst>
          </p:cNvPr>
          <p:cNvSpPr>
            <a:spLocks noGrp="1"/>
          </p:cNvSpPr>
          <p:nvPr>
            <p:ph idx="1"/>
          </p:nvPr>
        </p:nvSpPr>
        <p:spPr>
          <a:xfrm>
            <a:off x="6892299" y="2015734"/>
            <a:ext cx="5299701" cy="4037747"/>
          </a:xfrm>
        </p:spPr>
        <p:txBody>
          <a:bodyPr>
            <a:normAutofit/>
          </a:bodyPr>
          <a:lstStyle/>
          <a:p>
            <a:pPr>
              <a:lnSpc>
                <a:spcPct val="110000"/>
              </a:lnSpc>
            </a:pPr>
            <a:r>
              <a:rPr lang="en-US" sz="2400" dirty="0"/>
              <a:t>Depending on the data and what you need to show, there are many different types of charts that may be useful. </a:t>
            </a:r>
          </a:p>
          <a:p>
            <a:pPr>
              <a:lnSpc>
                <a:spcPct val="110000"/>
              </a:lnSpc>
            </a:pPr>
            <a:r>
              <a:rPr lang="en-US" sz="2400" dirty="0"/>
              <a:t>With modern tools we can also make a large number of variations on these charts, and create new ones – sometimes easily, sometimes not. </a:t>
            </a:r>
          </a:p>
        </p:txBody>
      </p:sp>
    </p:spTree>
    <p:extLst>
      <p:ext uri="{BB962C8B-B14F-4D97-AF65-F5344CB8AC3E}">
        <p14:creationId xmlns:p14="http://schemas.microsoft.com/office/powerpoint/2010/main" val="174384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B57A-693F-6152-EECB-5F9DCE2DB113}"/>
              </a:ext>
            </a:extLst>
          </p:cNvPr>
          <p:cNvSpPr>
            <a:spLocks noGrp="1"/>
          </p:cNvSpPr>
          <p:nvPr>
            <p:ph type="title"/>
          </p:nvPr>
        </p:nvSpPr>
        <p:spPr/>
        <p:txBody>
          <a:bodyPr/>
          <a:lstStyle/>
          <a:p>
            <a:r>
              <a:rPr lang="en-US" dirty="0"/>
              <a:t>Choosing Visualization Types</a:t>
            </a:r>
          </a:p>
        </p:txBody>
      </p:sp>
      <p:sp>
        <p:nvSpPr>
          <p:cNvPr id="3" name="Content Placeholder 2">
            <a:extLst>
              <a:ext uri="{FF2B5EF4-FFF2-40B4-BE49-F238E27FC236}">
                <a16:creationId xmlns:a16="http://schemas.microsoft.com/office/drawing/2014/main" id="{84DB1D96-7BAE-42BD-9442-71FADCA17F35}"/>
              </a:ext>
            </a:extLst>
          </p:cNvPr>
          <p:cNvSpPr>
            <a:spLocks noGrp="1"/>
          </p:cNvSpPr>
          <p:nvPr>
            <p:ph idx="1"/>
          </p:nvPr>
        </p:nvSpPr>
        <p:spPr>
          <a:xfrm>
            <a:off x="1451579" y="2015732"/>
            <a:ext cx="9603275" cy="4037749"/>
          </a:xfrm>
        </p:spPr>
        <p:txBody>
          <a:bodyPr/>
          <a:lstStyle/>
          <a:p>
            <a:r>
              <a:rPr lang="en-US" dirty="0"/>
              <a:t>Recall the visual vocabulary, it gave us good examples for common things. </a:t>
            </a:r>
          </a:p>
          <a:p>
            <a:r>
              <a:rPr lang="en-US" dirty="0"/>
              <a:t>The #1 priority is clearly communicating. </a:t>
            </a:r>
          </a:p>
          <a:p>
            <a:pPr lvl="1"/>
            <a:r>
              <a:rPr lang="en-US" dirty="0"/>
              <a:t>Start with something that we know works. </a:t>
            </a:r>
          </a:p>
          <a:p>
            <a:pPr lvl="1"/>
            <a:r>
              <a:rPr lang="en-US" dirty="0"/>
              <a:t>Add additional stuff (density, features…) incrementally, making sure it still makes sense. </a:t>
            </a:r>
          </a:p>
          <a:p>
            <a:r>
              <a:rPr lang="en-US" dirty="0"/>
              <a:t>Make large departures only when you can be sure it works. </a:t>
            </a:r>
          </a:p>
          <a:p>
            <a:pPr lvl="1"/>
            <a:r>
              <a:rPr lang="en-US" dirty="0"/>
              <a:t>Doing totally new, creative things might be brilliant. </a:t>
            </a:r>
          </a:p>
          <a:p>
            <a:pPr lvl="1"/>
            <a:r>
              <a:rPr lang="en-US" dirty="0"/>
              <a:t>The farther you depart from the standards, the higher the risk is of it being terrible. </a:t>
            </a:r>
          </a:p>
        </p:txBody>
      </p:sp>
    </p:spTree>
    <p:extLst>
      <p:ext uri="{BB962C8B-B14F-4D97-AF65-F5344CB8AC3E}">
        <p14:creationId xmlns:p14="http://schemas.microsoft.com/office/powerpoint/2010/main" val="661047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B7F0D-5850-10E3-2621-5133494F3244}"/>
              </a:ext>
            </a:extLst>
          </p:cNvPr>
          <p:cNvSpPr>
            <a:spLocks noGrp="1"/>
          </p:cNvSpPr>
          <p:nvPr>
            <p:ph type="title"/>
          </p:nvPr>
        </p:nvSpPr>
        <p:spPr/>
        <p:txBody>
          <a:bodyPr/>
          <a:lstStyle/>
          <a:p>
            <a:r>
              <a:rPr lang="en-US" dirty="0"/>
              <a:t>Keep in Mind… Data Type</a:t>
            </a:r>
          </a:p>
        </p:txBody>
      </p:sp>
      <p:sp>
        <p:nvSpPr>
          <p:cNvPr id="3" name="Content Placeholder 2">
            <a:extLst>
              <a:ext uri="{FF2B5EF4-FFF2-40B4-BE49-F238E27FC236}">
                <a16:creationId xmlns:a16="http://schemas.microsoft.com/office/drawing/2014/main" id="{1F148DB0-B522-AFE3-3C15-84B44BB6E1C4}"/>
              </a:ext>
            </a:extLst>
          </p:cNvPr>
          <p:cNvSpPr>
            <a:spLocks noGrp="1"/>
          </p:cNvSpPr>
          <p:nvPr>
            <p:ph idx="1"/>
          </p:nvPr>
        </p:nvSpPr>
        <p:spPr>
          <a:xfrm>
            <a:off x="4901734" y="1853754"/>
            <a:ext cx="7290265" cy="4199727"/>
          </a:xfrm>
        </p:spPr>
        <p:txBody>
          <a:bodyPr>
            <a:normAutofit/>
          </a:bodyPr>
          <a:lstStyle/>
          <a:p>
            <a:r>
              <a:rPr lang="en-US" dirty="0"/>
              <a:t>We’ll cover stats and more details on this next week. </a:t>
            </a:r>
          </a:p>
          <a:p>
            <a:r>
              <a:rPr lang="en-US" dirty="0"/>
              <a:t>Tableau splits data into two big types:</a:t>
            </a:r>
          </a:p>
          <a:p>
            <a:pPr lvl="1"/>
            <a:r>
              <a:rPr lang="en-US" dirty="0"/>
              <a:t>Dimensions (discreet) – qualitative data. Groups. Names. Labels. E.g. hair color, job, degree major.  </a:t>
            </a:r>
          </a:p>
          <a:p>
            <a:pPr lvl="1"/>
            <a:r>
              <a:rPr lang="en-US" dirty="0"/>
              <a:t>Measures (continuous) – quantitative data. Measurements. Numbers. E.g. cost, sales, temperature. </a:t>
            </a:r>
          </a:p>
          <a:p>
            <a:pPr lvl="1"/>
            <a:r>
              <a:rPr lang="en-US" dirty="0"/>
              <a:t>We can convert with a right click. </a:t>
            </a:r>
          </a:p>
          <a:p>
            <a:r>
              <a:rPr lang="en-US" dirty="0"/>
              <a:t>If it makes sense on a number line, it’s a measure (usually). </a:t>
            </a:r>
          </a:p>
          <a:p>
            <a:pPr lvl="1"/>
            <a:r>
              <a:rPr lang="en-US" dirty="0"/>
              <a:t>Can you add, compare, divide, </a:t>
            </a:r>
            <a:r>
              <a:rPr lang="en-US" dirty="0" err="1"/>
              <a:t>etc</a:t>
            </a:r>
            <a:r>
              <a:rPr lang="en-US" dirty="0"/>
              <a:t>… with a value? </a:t>
            </a:r>
          </a:p>
        </p:txBody>
      </p:sp>
      <p:pic>
        <p:nvPicPr>
          <p:cNvPr id="11266" name="Picture 2" descr="Understanding Tableau Dimensions and Measures - The Data School">
            <a:extLst>
              <a:ext uri="{FF2B5EF4-FFF2-40B4-BE49-F238E27FC236}">
                <a16:creationId xmlns:a16="http://schemas.microsoft.com/office/drawing/2014/main" id="{14DA1623-B705-23A4-D40B-B4F392E0B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9463"/>
            <a:ext cx="4901735" cy="516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316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6E8DA-B37F-44B9-F7F0-2EB2646201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EC2004-2F95-4165-D5C0-7B70E7C9F0A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28205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DCA4C-8DE1-E50F-214F-08DE6BDA82D4}"/>
              </a:ext>
            </a:extLst>
          </p:cNvPr>
          <p:cNvSpPr>
            <a:spLocks noGrp="1"/>
          </p:cNvSpPr>
          <p:nvPr>
            <p:ph type="title"/>
          </p:nvPr>
        </p:nvSpPr>
        <p:spPr/>
        <p:txBody>
          <a:bodyPr/>
          <a:lstStyle/>
          <a:p>
            <a:r>
              <a:rPr lang="en-US" dirty="0"/>
              <a:t>Arbitrary Thing You Need To Know Update</a:t>
            </a:r>
          </a:p>
        </p:txBody>
      </p:sp>
      <p:sp>
        <p:nvSpPr>
          <p:cNvPr id="3" name="Content Placeholder 2">
            <a:extLst>
              <a:ext uri="{FF2B5EF4-FFF2-40B4-BE49-F238E27FC236}">
                <a16:creationId xmlns:a16="http://schemas.microsoft.com/office/drawing/2014/main" id="{240334D2-C3F5-74D0-6275-443020D4CDA6}"/>
              </a:ext>
            </a:extLst>
          </p:cNvPr>
          <p:cNvSpPr>
            <a:spLocks noGrp="1"/>
          </p:cNvSpPr>
          <p:nvPr>
            <p:ph idx="1"/>
          </p:nvPr>
        </p:nvSpPr>
        <p:spPr>
          <a:xfrm>
            <a:off x="1451578" y="1853754"/>
            <a:ext cx="10028427" cy="4199727"/>
          </a:xfrm>
        </p:spPr>
        <p:txBody>
          <a:bodyPr/>
          <a:lstStyle/>
          <a:p>
            <a:r>
              <a:rPr lang="en-US" dirty="0"/>
              <a:t>This stuff kind of has a large amount of stuff you need to know up front for it to make sense. </a:t>
            </a:r>
          </a:p>
          <a:p>
            <a:r>
              <a:rPr lang="en-US" dirty="0"/>
              <a:t>We need to just memorize a few things before diving into the details soon. </a:t>
            </a:r>
          </a:p>
          <a:p>
            <a:r>
              <a:rPr lang="en-US" dirty="0"/>
              <a:t>Recall the first from last time – data types:</a:t>
            </a:r>
          </a:p>
          <a:p>
            <a:pPr lvl="1"/>
            <a:r>
              <a:rPr lang="en-US" dirty="0"/>
              <a:t>Categorical (dimensions) – qualitative. Group names, labels, descriptors. </a:t>
            </a:r>
          </a:p>
          <a:p>
            <a:pPr lvl="2"/>
            <a:r>
              <a:rPr lang="en-US" dirty="0"/>
              <a:t>E.g. hair color, hometown, degree major, </a:t>
            </a:r>
            <a:r>
              <a:rPr lang="en-US" dirty="0" err="1"/>
              <a:t>etc</a:t>
            </a:r>
            <a:r>
              <a:rPr lang="en-US" dirty="0"/>
              <a:t>…</a:t>
            </a:r>
          </a:p>
          <a:p>
            <a:pPr lvl="1"/>
            <a:r>
              <a:rPr lang="en-US" dirty="0"/>
              <a:t>Numerical (measures) – quantitative. Measurements, values, metrics. </a:t>
            </a:r>
          </a:p>
          <a:p>
            <a:pPr lvl="2"/>
            <a:r>
              <a:rPr lang="en-US" dirty="0"/>
              <a:t>E.g. bank account balance, height, population, </a:t>
            </a:r>
            <a:r>
              <a:rPr lang="en-US" dirty="0" err="1"/>
              <a:t>etc</a:t>
            </a:r>
            <a:r>
              <a:rPr lang="en-US" dirty="0"/>
              <a:t>…</a:t>
            </a:r>
          </a:p>
          <a:p>
            <a:pPr lvl="2"/>
            <a:r>
              <a:rPr lang="en-US" dirty="0"/>
              <a:t>Things that make sense on a number line. </a:t>
            </a:r>
          </a:p>
          <a:p>
            <a:pPr lvl="1"/>
            <a:r>
              <a:rPr lang="en-US" dirty="0"/>
              <a:t>Note: these definitions are slight simplifications.</a:t>
            </a:r>
          </a:p>
        </p:txBody>
      </p:sp>
    </p:spTree>
    <p:extLst>
      <p:ext uri="{BB962C8B-B14F-4D97-AF65-F5344CB8AC3E}">
        <p14:creationId xmlns:p14="http://schemas.microsoft.com/office/powerpoint/2010/main" val="3897093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4B7E-D5F9-78A5-8142-DC80FBEDABCC}"/>
              </a:ext>
            </a:extLst>
          </p:cNvPr>
          <p:cNvSpPr>
            <a:spLocks noGrp="1"/>
          </p:cNvSpPr>
          <p:nvPr>
            <p:ph type="title"/>
          </p:nvPr>
        </p:nvSpPr>
        <p:spPr/>
        <p:txBody>
          <a:bodyPr/>
          <a:lstStyle/>
          <a:p>
            <a:r>
              <a:rPr lang="en-US" dirty="0"/>
              <a:t>Aggregation Level</a:t>
            </a:r>
          </a:p>
        </p:txBody>
      </p:sp>
      <p:sp>
        <p:nvSpPr>
          <p:cNvPr id="3" name="Content Placeholder 2">
            <a:extLst>
              <a:ext uri="{FF2B5EF4-FFF2-40B4-BE49-F238E27FC236}">
                <a16:creationId xmlns:a16="http://schemas.microsoft.com/office/drawing/2014/main" id="{780BABAB-B99B-89DD-C2DE-19E1D0A90614}"/>
              </a:ext>
            </a:extLst>
          </p:cNvPr>
          <p:cNvSpPr>
            <a:spLocks noGrp="1"/>
          </p:cNvSpPr>
          <p:nvPr>
            <p:ph idx="1"/>
          </p:nvPr>
        </p:nvSpPr>
        <p:spPr>
          <a:xfrm>
            <a:off x="1451579" y="1853754"/>
            <a:ext cx="9603275" cy="4273777"/>
          </a:xfrm>
        </p:spPr>
        <p:txBody>
          <a:bodyPr>
            <a:normAutofit lnSpcReduction="10000"/>
          </a:bodyPr>
          <a:lstStyle/>
          <a:p>
            <a:r>
              <a:rPr lang="en-US" dirty="0"/>
              <a:t>We generally need to pay attention to how data is split/grouped, or aggregated.</a:t>
            </a:r>
          </a:p>
          <a:p>
            <a:r>
              <a:rPr lang="en-US" dirty="0"/>
              <a:t>Sometimes we show unaggregated data – one mark per row.  </a:t>
            </a:r>
          </a:p>
          <a:p>
            <a:r>
              <a:rPr lang="en-US" dirty="0"/>
              <a:t>The ”Details” card shows us what the data is aggregated by:</a:t>
            </a:r>
          </a:p>
          <a:p>
            <a:pPr lvl="1"/>
            <a:r>
              <a:rPr lang="en-US" dirty="0"/>
              <a:t>I.e. we get one mark per whatever is in that card. </a:t>
            </a:r>
          </a:p>
          <a:p>
            <a:pPr lvl="1"/>
            <a:r>
              <a:rPr lang="en-US" dirty="0"/>
              <a:t>In the picture we get one mark per country. </a:t>
            </a:r>
          </a:p>
          <a:p>
            <a:pPr lvl="1"/>
            <a:r>
              <a:rPr lang="en-US" dirty="0"/>
              <a:t>This happens implicitly when we assign color. </a:t>
            </a:r>
          </a:p>
          <a:p>
            <a:r>
              <a:rPr lang="en-US" dirty="0"/>
              <a:t>This is important, easy to get wrong, and generally not how people think.</a:t>
            </a:r>
          </a:p>
          <a:p>
            <a:pPr lvl="1"/>
            <a:r>
              <a:rPr lang="en-US" dirty="0"/>
              <a:t>I’ll probably not shut up about it, it does get easier over time. </a:t>
            </a:r>
          </a:p>
          <a:p>
            <a:r>
              <a:rPr lang="en-US" dirty="0"/>
              <a:t>Ask, “I want one mark per…. What?” – include time (per month/year). </a:t>
            </a:r>
          </a:p>
          <a:p>
            <a:pPr lvl="1"/>
            <a:r>
              <a:rPr lang="en-US" dirty="0"/>
              <a:t>There can be more than one level of aggregation, e.g. per person per year.</a:t>
            </a:r>
          </a:p>
          <a:p>
            <a:pPr lvl="1"/>
            <a:endParaRPr lang="en-US" dirty="0"/>
          </a:p>
        </p:txBody>
      </p:sp>
      <p:pic>
        <p:nvPicPr>
          <p:cNvPr id="4" name="Picture 3">
            <a:extLst>
              <a:ext uri="{FF2B5EF4-FFF2-40B4-BE49-F238E27FC236}">
                <a16:creationId xmlns:a16="http://schemas.microsoft.com/office/drawing/2014/main" id="{D5740A9F-DFB7-8BCA-2984-2972C9BC147C}"/>
              </a:ext>
            </a:extLst>
          </p:cNvPr>
          <p:cNvPicPr>
            <a:picLocks noChangeAspect="1"/>
          </p:cNvPicPr>
          <p:nvPr/>
        </p:nvPicPr>
        <p:blipFill>
          <a:blip r:embed="rId2"/>
          <a:stretch>
            <a:fillRect/>
          </a:stretch>
        </p:blipFill>
        <p:spPr>
          <a:xfrm>
            <a:off x="9419621" y="2517531"/>
            <a:ext cx="2641600" cy="3276600"/>
          </a:xfrm>
          <a:prstGeom prst="rect">
            <a:avLst/>
          </a:prstGeom>
        </p:spPr>
      </p:pic>
    </p:spTree>
    <p:extLst>
      <p:ext uri="{BB962C8B-B14F-4D97-AF65-F5344CB8AC3E}">
        <p14:creationId xmlns:p14="http://schemas.microsoft.com/office/powerpoint/2010/main" val="2123886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0B2F5-FD9D-A7C4-6D95-9CAE9E2295D7}"/>
              </a:ext>
            </a:extLst>
          </p:cNvPr>
          <p:cNvSpPr>
            <a:spLocks noGrp="1"/>
          </p:cNvSpPr>
          <p:nvPr>
            <p:ph type="title"/>
          </p:nvPr>
        </p:nvSpPr>
        <p:spPr/>
        <p:txBody>
          <a:bodyPr/>
          <a:lstStyle/>
          <a:p>
            <a:r>
              <a:rPr lang="en-US" dirty="0"/>
              <a:t>What do you need to Say with that Data?</a:t>
            </a:r>
          </a:p>
        </p:txBody>
      </p:sp>
      <p:sp>
        <p:nvSpPr>
          <p:cNvPr id="3" name="Content Placeholder 2">
            <a:extLst>
              <a:ext uri="{FF2B5EF4-FFF2-40B4-BE49-F238E27FC236}">
                <a16:creationId xmlns:a16="http://schemas.microsoft.com/office/drawing/2014/main" id="{76A4239F-6610-9E70-BDF8-A11E59303FAE}"/>
              </a:ext>
            </a:extLst>
          </p:cNvPr>
          <p:cNvSpPr>
            <a:spLocks noGrp="1"/>
          </p:cNvSpPr>
          <p:nvPr>
            <p:ph idx="1"/>
          </p:nvPr>
        </p:nvSpPr>
        <p:spPr>
          <a:xfrm>
            <a:off x="0" y="1853754"/>
            <a:ext cx="7410995" cy="4199727"/>
          </a:xfrm>
        </p:spPr>
        <p:txBody>
          <a:bodyPr>
            <a:normAutofit/>
          </a:bodyPr>
          <a:lstStyle/>
          <a:p>
            <a:r>
              <a:rPr lang="en-US" dirty="0"/>
              <a:t>If we have some value (sales, covid deaths, count of people with each hair color) shown in a plot, we need to think of what we want someone to see from that data. </a:t>
            </a:r>
          </a:p>
          <a:p>
            <a:pPr lvl="1"/>
            <a:r>
              <a:rPr lang="en-US" dirty="0"/>
              <a:t>Do I want to compare the sum of sales for each store, or look at the trend of sales over months? </a:t>
            </a:r>
          </a:p>
          <a:p>
            <a:pPr lvl="1"/>
            <a:r>
              <a:rPr lang="en-US" dirty="0"/>
              <a:t>Or do I want to see the share of sales for each product type?</a:t>
            </a:r>
          </a:p>
          <a:p>
            <a:r>
              <a:rPr lang="en-US" dirty="0"/>
              <a:t>Also consider the precision needed. </a:t>
            </a:r>
          </a:p>
          <a:p>
            <a:pPr lvl="1"/>
            <a:r>
              <a:rPr lang="en-US" dirty="0"/>
              <a:t>Do you need exact sales, a ranking, a general idea of “bigger”, </a:t>
            </a:r>
            <a:r>
              <a:rPr lang="en-US" dirty="0" err="1"/>
              <a:t>etc</a:t>
            </a:r>
            <a:r>
              <a:rPr lang="en-US" dirty="0"/>
              <a:t>…</a:t>
            </a:r>
          </a:p>
          <a:p>
            <a:r>
              <a:rPr lang="en-US" dirty="0"/>
              <a:t>Depending on what we want to examine, different charts will help. </a:t>
            </a:r>
          </a:p>
        </p:txBody>
      </p:sp>
      <p:pic>
        <p:nvPicPr>
          <p:cNvPr id="13314" name="Picture 2" descr="10 Types of Tableau Charts You Should be Using - ONLC">
            <a:extLst>
              <a:ext uri="{FF2B5EF4-FFF2-40B4-BE49-F238E27FC236}">
                <a16:creationId xmlns:a16="http://schemas.microsoft.com/office/drawing/2014/main" id="{9AF4422B-E2CD-D0F3-5EDF-A7F1BF62DE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48" r="8573"/>
          <a:stretch>
            <a:fillRect/>
          </a:stretch>
        </p:blipFill>
        <p:spPr bwMode="auto">
          <a:xfrm>
            <a:off x="7410995" y="2177143"/>
            <a:ext cx="4781005" cy="3181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27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82B6-59A5-AEAB-5DBF-65215E5C0A69}"/>
              </a:ext>
            </a:extLst>
          </p:cNvPr>
          <p:cNvSpPr>
            <a:spLocks noGrp="1"/>
          </p:cNvSpPr>
          <p:nvPr>
            <p:ph type="title"/>
          </p:nvPr>
        </p:nvSpPr>
        <p:spPr/>
        <p:txBody>
          <a:bodyPr/>
          <a:lstStyle/>
          <a:p>
            <a:r>
              <a:rPr lang="en-US" dirty="0"/>
              <a:t>Comparisons</a:t>
            </a:r>
          </a:p>
        </p:txBody>
      </p:sp>
      <p:sp>
        <p:nvSpPr>
          <p:cNvPr id="3" name="Content Placeholder 2">
            <a:extLst>
              <a:ext uri="{FF2B5EF4-FFF2-40B4-BE49-F238E27FC236}">
                <a16:creationId xmlns:a16="http://schemas.microsoft.com/office/drawing/2014/main" id="{60D520A3-26C6-11C1-A9D5-81A185D37F86}"/>
              </a:ext>
            </a:extLst>
          </p:cNvPr>
          <p:cNvSpPr>
            <a:spLocks noGrp="1"/>
          </p:cNvSpPr>
          <p:nvPr>
            <p:ph idx="1"/>
          </p:nvPr>
        </p:nvSpPr>
        <p:spPr>
          <a:xfrm>
            <a:off x="1451579" y="2363128"/>
            <a:ext cx="9603275" cy="3690353"/>
          </a:xfrm>
        </p:spPr>
        <p:txBody>
          <a:bodyPr/>
          <a:lstStyle/>
          <a:p>
            <a:r>
              <a:rPr lang="en-US" dirty="0"/>
              <a:t>When comparing values, we likely want something that is a bar chart or some derivative. </a:t>
            </a:r>
          </a:p>
          <a:p>
            <a:pPr lvl="1"/>
            <a:r>
              <a:rPr lang="en-US" dirty="0"/>
              <a:t>E.g. replace bars with some other mark. </a:t>
            </a:r>
          </a:p>
          <a:p>
            <a:pPr lvl="1"/>
            <a:r>
              <a:rPr lang="en-US" dirty="0"/>
              <a:t>Position/length communicates main value. </a:t>
            </a:r>
          </a:p>
          <a:p>
            <a:r>
              <a:rPr lang="en-US" dirty="0"/>
              <a:t>Ordering is usually good. </a:t>
            </a:r>
          </a:p>
          <a:p>
            <a:r>
              <a:rPr lang="en-US" dirty="0"/>
              <a:t>Consider orientation – readability and logic. </a:t>
            </a:r>
          </a:p>
          <a:p>
            <a:pPr lvl="1"/>
            <a:r>
              <a:rPr lang="en-US" dirty="0"/>
              <a:t>Labels and headers might make more sense one way. </a:t>
            </a:r>
          </a:p>
          <a:p>
            <a:pPr lvl="1"/>
            <a:endParaRPr lang="en-US" dirty="0"/>
          </a:p>
        </p:txBody>
      </p:sp>
      <p:pic>
        <p:nvPicPr>
          <p:cNvPr id="1026" name="Picture 2">
            <a:extLst>
              <a:ext uri="{FF2B5EF4-FFF2-40B4-BE49-F238E27FC236}">
                <a16:creationId xmlns:a16="http://schemas.microsoft.com/office/drawing/2014/main" id="{6ACF78D7-0588-FF88-338C-93E049F67F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5000"/>
          <a:stretch>
            <a:fillRect/>
          </a:stretch>
        </p:blipFill>
        <p:spPr bwMode="auto">
          <a:xfrm>
            <a:off x="5087815" y="0"/>
            <a:ext cx="7104185" cy="2363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051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4A2A-63D8-A34E-4B03-55F01C9553F6}"/>
              </a:ext>
            </a:extLst>
          </p:cNvPr>
          <p:cNvSpPr>
            <a:spLocks noGrp="1"/>
          </p:cNvSpPr>
          <p:nvPr>
            <p:ph type="title"/>
          </p:nvPr>
        </p:nvSpPr>
        <p:spPr/>
        <p:txBody>
          <a:bodyPr/>
          <a:lstStyle/>
          <a:p>
            <a:r>
              <a:rPr lang="en-US" dirty="0"/>
              <a:t>Multi-Comparison</a:t>
            </a:r>
          </a:p>
        </p:txBody>
      </p:sp>
      <p:sp>
        <p:nvSpPr>
          <p:cNvPr id="3" name="Content Placeholder 2">
            <a:extLst>
              <a:ext uri="{FF2B5EF4-FFF2-40B4-BE49-F238E27FC236}">
                <a16:creationId xmlns:a16="http://schemas.microsoft.com/office/drawing/2014/main" id="{30933FC8-7321-E229-22FA-88B25A68EFEB}"/>
              </a:ext>
            </a:extLst>
          </p:cNvPr>
          <p:cNvSpPr>
            <a:spLocks noGrp="1"/>
          </p:cNvSpPr>
          <p:nvPr>
            <p:ph idx="1"/>
          </p:nvPr>
        </p:nvSpPr>
        <p:spPr>
          <a:xfrm>
            <a:off x="6351515" y="1853754"/>
            <a:ext cx="5735982" cy="4199727"/>
          </a:xfrm>
        </p:spPr>
        <p:txBody>
          <a:bodyPr>
            <a:normAutofit/>
          </a:bodyPr>
          <a:lstStyle/>
          <a:p>
            <a:r>
              <a:rPr lang="en-US" dirty="0"/>
              <a:t>We can also compare multiple things at one time. </a:t>
            </a:r>
          </a:p>
          <a:p>
            <a:pPr lvl="1"/>
            <a:r>
              <a:rPr lang="en-US" dirty="0"/>
              <a:t>Stacked or group bars, or alternate marks. </a:t>
            </a:r>
          </a:p>
          <a:p>
            <a:pPr lvl="1"/>
            <a:r>
              <a:rPr lang="en-US" dirty="0"/>
              <a:t>Color or shape separates one group from another. </a:t>
            </a:r>
          </a:p>
          <a:p>
            <a:r>
              <a:rPr lang="en-US" dirty="0"/>
              <a:t>Think of what comparisons someone needs. </a:t>
            </a:r>
          </a:p>
          <a:p>
            <a:pPr lvl="1"/>
            <a:r>
              <a:rPr lang="en-US" dirty="0"/>
              <a:t>Can they compare the things they need to easily?</a:t>
            </a:r>
          </a:p>
          <a:p>
            <a:pPr lvl="1"/>
            <a:r>
              <a:rPr lang="en-US" dirty="0"/>
              <a:t>What is the primary thing?</a:t>
            </a:r>
          </a:p>
          <a:p>
            <a:pPr lvl="1"/>
            <a:r>
              <a:rPr lang="en-US" dirty="0"/>
              <a:t>Is combining things like this helpful?</a:t>
            </a:r>
          </a:p>
          <a:p>
            <a:r>
              <a:rPr lang="en-US" dirty="0"/>
              <a:t>Filters and interactivity (later) may help here…</a:t>
            </a:r>
          </a:p>
        </p:txBody>
      </p:sp>
      <p:pic>
        <p:nvPicPr>
          <p:cNvPr id="2050" name="Picture 2">
            <a:extLst>
              <a:ext uri="{FF2B5EF4-FFF2-40B4-BE49-F238E27FC236}">
                <a16:creationId xmlns:a16="http://schemas.microsoft.com/office/drawing/2014/main" id="{DBD7AF3F-5D6E-792E-204E-9197D6AAA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20686"/>
            <a:ext cx="6351515" cy="317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215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E5F1-E0CE-78D3-CB90-CF6C909706B6}"/>
              </a:ext>
            </a:extLst>
          </p:cNvPr>
          <p:cNvSpPr>
            <a:spLocks noGrp="1"/>
          </p:cNvSpPr>
          <p:nvPr>
            <p:ph type="title"/>
          </p:nvPr>
        </p:nvSpPr>
        <p:spPr>
          <a:xfrm>
            <a:off x="1451579" y="804519"/>
            <a:ext cx="9603275" cy="1049235"/>
          </a:xfrm>
        </p:spPr>
        <p:txBody>
          <a:bodyPr>
            <a:normAutofit/>
          </a:bodyPr>
          <a:lstStyle/>
          <a:p>
            <a:r>
              <a:rPr lang="en-US" dirty="0"/>
              <a:t>Distributions</a:t>
            </a:r>
          </a:p>
        </p:txBody>
      </p:sp>
      <p:sp>
        <p:nvSpPr>
          <p:cNvPr id="3" name="Content Placeholder 2">
            <a:extLst>
              <a:ext uri="{FF2B5EF4-FFF2-40B4-BE49-F238E27FC236}">
                <a16:creationId xmlns:a16="http://schemas.microsoft.com/office/drawing/2014/main" id="{CB4C3D52-D9B2-3328-1C3B-575383B87F1B}"/>
              </a:ext>
            </a:extLst>
          </p:cNvPr>
          <p:cNvSpPr>
            <a:spLocks noGrp="1"/>
          </p:cNvSpPr>
          <p:nvPr>
            <p:ph idx="1"/>
          </p:nvPr>
        </p:nvSpPr>
        <p:spPr>
          <a:xfrm>
            <a:off x="1451579" y="2015732"/>
            <a:ext cx="5289133" cy="4037749"/>
          </a:xfrm>
        </p:spPr>
        <p:txBody>
          <a:bodyPr>
            <a:normAutofit/>
          </a:bodyPr>
          <a:lstStyle/>
          <a:p>
            <a:r>
              <a:rPr lang="en-US" dirty="0"/>
              <a:t>A distribution is just a description of where along the range values fall. </a:t>
            </a:r>
          </a:p>
          <a:p>
            <a:pPr lvl="1"/>
            <a:r>
              <a:rPr lang="en-US" dirty="0"/>
              <a:t>E.g. if someone’s height can span from 4’6” to 7’7” or so, where along that are people? </a:t>
            </a:r>
          </a:p>
          <a:p>
            <a:r>
              <a:rPr lang="en-US" dirty="0"/>
              <a:t>Distributions are important in inferential stats. </a:t>
            </a:r>
          </a:p>
          <a:p>
            <a:pPr lvl="1"/>
            <a:r>
              <a:rPr lang="en-US" dirty="0"/>
              <a:t>Helps us to generalize and predict. </a:t>
            </a:r>
          </a:p>
          <a:p>
            <a:r>
              <a:rPr lang="en-US" dirty="0"/>
              <a:t>Common for comparisons – split data into M/F, compare income distributions. </a:t>
            </a:r>
          </a:p>
          <a:p>
            <a:endParaRPr lang="en-US" dirty="0"/>
          </a:p>
        </p:txBody>
      </p:sp>
      <p:grpSp>
        <p:nvGrpSpPr>
          <p:cNvPr id="4" name="Group 3">
            <a:extLst>
              <a:ext uri="{FF2B5EF4-FFF2-40B4-BE49-F238E27FC236}">
                <a16:creationId xmlns:a16="http://schemas.microsoft.com/office/drawing/2014/main" id="{85D15A2F-031B-981B-22E5-3327F1C6FFC1}"/>
              </a:ext>
            </a:extLst>
          </p:cNvPr>
          <p:cNvGrpSpPr/>
          <p:nvPr/>
        </p:nvGrpSpPr>
        <p:grpSpPr>
          <a:xfrm>
            <a:off x="6743700" y="1474271"/>
            <a:ext cx="5448300" cy="4726504"/>
            <a:chOff x="7877272" y="1474271"/>
            <a:chExt cx="4314728" cy="3204531"/>
          </a:xfrm>
        </p:grpSpPr>
        <p:pic>
          <p:nvPicPr>
            <p:cNvPr id="3076" name="Picture 4">
              <a:extLst>
                <a:ext uri="{FF2B5EF4-FFF2-40B4-BE49-F238E27FC236}">
                  <a16:creationId xmlns:a16="http://schemas.microsoft.com/office/drawing/2014/main" id="{408387BF-5B52-38A2-DAAE-4E86082872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77272" y="1474271"/>
              <a:ext cx="4314728" cy="215736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34C2D62B-11EC-5327-03F7-321D86EA6A6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77272" y="3631633"/>
              <a:ext cx="4188677" cy="10471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53358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316F-2FC2-C93B-E7F0-6886E0BB5D63}"/>
              </a:ext>
            </a:extLst>
          </p:cNvPr>
          <p:cNvSpPr>
            <a:spLocks noGrp="1"/>
          </p:cNvSpPr>
          <p:nvPr>
            <p:ph type="title"/>
          </p:nvPr>
        </p:nvSpPr>
        <p:spPr>
          <a:xfrm>
            <a:off x="1451579" y="804519"/>
            <a:ext cx="9603275" cy="1049235"/>
          </a:xfrm>
        </p:spPr>
        <p:txBody>
          <a:bodyPr>
            <a:normAutofit/>
          </a:bodyPr>
          <a:lstStyle/>
          <a:p>
            <a:r>
              <a:rPr lang="en-US" dirty="0"/>
              <a:t>Proportion/Share</a:t>
            </a:r>
          </a:p>
        </p:txBody>
      </p:sp>
      <p:grpSp>
        <p:nvGrpSpPr>
          <p:cNvPr id="4" name="Group 3">
            <a:extLst>
              <a:ext uri="{FF2B5EF4-FFF2-40B4-BE49-F238E27FC236}">
                <a16:creationId xmlns:a16="http://schemas.microsoft.com/office/drawing/2014/main" id="{E5144027-024F-E993-C4DC-73A7C96AF9F2}"/>
              </a:ext>
            </a:extLst>
          </p:cNvPr>
          <p:cNvGrpSpPr/>
          <p:nvPr/>
        </p:nvGrpSpPr>
        <p:grpSpPr>
          <a:xfrm>
            <a:off x="0" y="2077146"/>
            <a:ext cx="5850731" cy="3802160"/>
            <a:chOff x="0" y="2077146"/>
            <a:chExt cx="4629161" cy="2314580"/>
          </a:xfrm>
        </p:grpSpPr>
        <p:pic>
          <p:nvPicPr>
            <p:cNvPr id="4098" name="Picture 2">
              <a:extLst>
                <a:ext uri="{FF2B5EF4-FFF2-40B4-BE49-F238E27FC236}">
                  <a16:creationId xmlns:a16="http://schemas.microsoft.com/office/drawing/2014/main" id="{84677A13-89CA-49A8-7CC5-E803297542E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2077146"/>
              <a:ext cx="4629160" cy="11572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04B7DB5-C70B-CFFD-203E-95F393E46B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a:fillRect/>
            </a:stretch>
          </p:blipFill>
          <p:spPr bwMode="auto">
            <a:xfrm>
              <a:off x="0" y="3234436"/>
              <a:ext cx="4629161" cy="115729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Content Placeholder 2">
            <a:extLst>
              <a:ext uri="{FF2B5EF4-FFF2-40B4-BE49-F238E27FC236}">
                <a16:creationId xmlns:a16="http://schemas.microsoft.com/office/drawing/2014/main" id="{89BAA20A-C846-0DBC-7D47-F2858984073F}"/>
              </a:ext>
            </a:extLst>
          </p:cNvPr>
          <p:cNvSpPr>
            <a:spLocks noGrp="1"/>
          </p:cNvSpPr>
          <p:nvPr>
            <p:ph idx="1"/>
          </p:nvPr>
        </p:nvSpPr>
        <p:spPr>
          <a:xfrm>
            <a:off x="5850730" y="2015732"/>
            <a:ext cx="6179345" cy="4037749"/>
          </a:xfrm>
        </p:spPr>
        <p:txBody>
          <a:bodyPr>
            <a:normAutofit/>
          </a:bodyPr>
          <a:lstStyle/>
          <a:p>
            <a:r>
              <a:rPr lang="en-US" dirty="0"/>
              <a:t>Several charts can show ”share of a whole”. </a:t>
            </a:r>
          </a:p>
          <a:p>
            <a:r>
              <a:rPr lang="en-US" dirty="0"/>
              <a:t>A pie chart is the classic, but it is almost always terrible. </a:t>
            </a:r>
          </a:p>
          <a:p>
            <a:pPr lvl="1"/>
            <a:r>
              <a:rPr lang="en-US" dirty="0"/>
              <a:t>Differentiating between small slice sizes is impractical. </a:t>
            </a:r>
          </a:p>
          <a:p>
            <a:pPr lvl="1"/>
            <a:r>
              <a:rPr lang="en-US" dirty="0"/>
              <a:t>A </a:t>
            </a:r>
            <a:r>
              <a:rPr lang="en-US" dirty="0" err="1"/>
              <a:t>treemap</a:t>
            </a:r>
            <a:r>
              <a:rPr lang="en-US" dirty="0"/>
              <a:t> is better – rectangular pie chart. </a:t>
            </a:r>
          </a:p>
          <a:p>
            <a:r>
              <a:rPr lang="en-US" dirty="0"/>
              <a:t>What’s most important?</a:t>
            </a:r>
          </a:p>
          <a:p>
            <a:pPr lvl="1"/>
            <a:r>
              <a:rPr lang="en-US" dirty="0"/>
              <a:t>Proportion of whole or relative comparison?</a:t>
            </a:r>
          </a:p>
          <a:p>
            <a:pPr lvl="1"/>
            <a:r>
              <a:rPr lang="en-US" dirty="0"/>
              <a:t>Do specifics matter or only general estimate? </a:t>
            </a:r>
          </a:p>
          <a:p>
            <a:r>
              <a:rPr lang="en-US" dirty="0"/>
              <a:t>Always consider otherizing infrequent things…</a:t>
            </a:r>
          </a:p>
        </p:txBody>
      </p:sp>
    </p:spTree>
    <p:extLst>
      <p:ext uri="{BB962C8B-B14F-4D97-AF65-F5344CB8AC3E}">
        <p14:creationId xmlns:p14="http://schemas.microsoft.com/office/powerpoint/2010/main" val="4291523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28BF-6F81-4961-6023-B93778276BED}"/>
              </a:ext>
            </a:extLst>
          </p:cNvPr>
          <p:cNvSpPr>
            <a:spLocks noGrp="1"/>
          </p:cNvSpPr>
          <p:nvPr>
            <p:ph type="title"/>
          </p:nvPr>
        </p:nvSpPr>
        <p:spPr/>
        <p:txBody>
          <a:bodyPr/>
          <a:lstStyle/>
          <a:p>
            <a:r>
              <a:rPr lang="en-US" dirty="0"/>
              <a:t>Don’t Be a Pie Guy</a:t>
            </a:r>
          </a:p>
        </p:txBody>
      </p:sp>
      <p:sp>
        <p:nvSpPr>
          <p:cNvPr id="3" name="Content Placeholder 2">
            <a:extLst>
              <a:ext uri="{FF2B5EF4-FFF2-40B4-BE49-F238E27FC236}">
                <a16:creationId xmlns:a16="http://schemas.microsoft.com/office/drawing/2014/main" id="{3E44636A-7494-9773-E717-59377FA7F723}"/>
              </a:ext>
            </a:extLst>
          </p:cNvPr>
          <p:cNvSpPr>
            <a:spLocks noGrp="1"/>
          </p:cNvSpPr>
          <p:nvPr>
            <p:ph idx="1"/>
          </p:nvPr>
        </p:nvSpPr>
        <p:spPr>
          <a:xfrm>
            <a:off x="135731" y="1853754"/>
            <a:ext cx="6419057" cy="4199727"/>
          </a:xfrm>
        </p:spPr>
        <p:txBody>
          <a:bodyPr/>
          <a:lstStyle/>
          <a:p>
            <a:r>
              <a:rPr lang="en-US" dirty="0"/>
              <a:t>Pie charts generally suck. </a:t>
            </a:r>
          </a:p>
          <a:p>
            <a:pPr lvl="1"/>
            <a:r>
              <a:rPr lang="en-US" dirty="0"/>
              <a:t>Seriously, they are usually bad. </a:t>
            </a:r>
          </a:p>
          <a:p>
            <a:r>
              <a:rPr lang="en-US" dirty="0"/>
              <a:t>With 2 or 3 items, all with large shares, they are passable. </a:t>
            </a:r>
          </a:p>
          <a:p>
            <a:pPr lvl="1"/>
            <a:r>
              <a:rPr lang="en-US" dirty="0"/>
              <a:t>E.g. Dem/rep split in a USA vote, 2 way split as mark on a map, showing rough ‘majority’ instead of specific. </a:t>
            </a:r>
          </a:p>
          <a:p>
            <a:r>
              <a:rPr lang="en-US" dirty="0"/>
              <a:t>With &gt;3 items, or small shares, they decline in usefulness. </a:t>
            </a:r>
          </a:p>
        </p:txBody>
      </p:sp>
      <p:pic>
        <p:nvPicPr>
          <p:cNvPr id="10242" name="Picture 2" descr="15+ Pie Chart Examples to Download">
            <a:extLst>
              <a:ext uri="{FF2B5EF4-FFF2-40B4-BE49-F238E27FC236}">
                <a16:creationId xmlns:a16="http://schemas.microsoft.com/office/drawing/2014/main" id="{4F9AC815-7FD1-86E6-FF33-A5AF636131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095" b="23428"/>
          <a:stretch>
            <a:fillRect/>
          </a:stretch>
        </p:blipFill>
        <p:spPr bwMode="auto">
          <a:xfrm>
            <a:off x="7206301" y="5060"/>
            <a:ext cx="4985699" cy="330419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ow many slices can you put in a pie chart? (New video!) — Practical  Reporting Inc.">
            <a:extLst>
              <a:ext uri="{FF2B5EF4-FFF2-40B4-BE49-F238E27FC236}">
                <a16:creationId xmlns:a16="http://schemas.microsoft.com/office/drawing/2014/main" id="{4E2F470A-E3C8-7C75-21E5-F45D18CD8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6358" y="3090538"/>
            <a:ext cx="4975642" cy="382741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ython - Making spatial pie chart using two columns in GeoPandas -  Geographic Information Systems Stack Exchange">
            <a:extLst>
              <a:ext uri="{FF2B5EF4-FFF2-40B4-BE49-F238E27FC236}">
                <a16:creationId xmlns:a16="http://schemas.microsoft.com/office/drawing/2014/main" id="{068D615F-4141-8E2D-5E02-21531AE404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601" y="4603995"/>
            <a:ext cx="2994757" cy="2313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604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92EE-DA3E-A0D6-5169-7404ED394385}"/>
              </a:ext>
            </a:extLst>
          </p:cNvPr>
          <p:cNvSpPr>
            <a:spLocks noGrp="1"/>
          </p:cNvSpPr>
          <p:nvPr>
            <p:ph type="title"/>
          </p:nvPr>
        </p:nvSpPr>
        <p:spPr>
          <a:xfrm>
            <a:off x="1451579" y="804519"/>
            <a:ext cx="9603275" cy="1049235"/>
          </a:xfrm>
        </p:spPr>
        <p:txBody>
          <a:bodyPr>
            <a:normAutofit/>
          </a:bodyPr>
          <a:lstStyle/>
          <a:p>
            <a:r>
              <a:rPr lang="en-US" dirty="0"/>
              <a:t>Relationships</a:t>
            </a:r>
          </a:p>
        </p:txBody>
      </p:sp>
      <p:sp>
        <p:nvSpPr>
          <p:cNvPr id="3" name="Content Placeholder 2">
            <a:extLst>
              <a:ext uri="{FF2B5EF4-FFF2-40B4-BE49-F238E27FC236}">
                <a16:creationId xmlns:a16="http://schemas.microsoft.com/office/drawing/2014/main" id="{028D1364-D557-1052-A5C5-09FC3A0B7502}"/>
              </a:ext>
            </a:extLst>
          </p:cNvPr>
          <p:cNvSpPr>
            <a:spLocks noGrp="1"/>
          </p:cNvSpPr>
          <p:nvPr>
            <p:ph idx="1"/>
          </p:nvPr>
        </p:nvSpPr>
        <p:spPr>
          <a:xfrm>
            <a:off x="1" y="1853754"/>
            <a:ext cx="7272338" cy="4275584"/>
          </a:xfrm>
        </p:spPr>
        <p:txBody>
          <a:bodyPr>
            <a:normAutofit/>
          </a:bodyPr>
          <a:lstStyle/>
          <a:p>
            <a:r>
              <a:rPr lang="en-US" dirty="0"/>
              <a:t>Relationships between numeric variables are often best seen on a scatter plot. </a:t>
            </a:r>
          </a:p>
          <a:p>
            <a:pPr lvl="1"/>
            <a:r>
              <a:rPr lang="en-US" dirty="0"/>
              <a:t>For each increase in X, we see this change in Y. </a:t>
            </a:r>
          </a:p>
          <a:p>
            <a:pPr lvl="1"/>
            <a:r>
              <a:rPr lang="en-US" dirty="0"/>
              <a:t>E.g. height vs weight, </a:t>
            </a:r>
            <a:r>
              <a:rPr lang="en-US" dirty="0" err="1"/>
              <a:t>sq.ft</a:t>
            </a:r>
            <a:r>
              <a:rPr lang="en-US" dirty="0"/>
              <a:t>. vs price. </a:t>
            </a:r>
          </a:p>
          <a:p>
            <a:r>
              <a:rPr lang="en-US" dirty="0"/>
              <a:t>Many variations exist – regression, hex, density. </a:t>
            </a:r>
          </a:p>
          <a:p>
            <a:pPr lvl="1"/>
            <a:r>
              <a:rPr lang="en-US" dirty="0"/>
              <a:t>Changeable on the marks card. </a:t>
            </a:r>
          </a:p>
          <a:p>
            <a:pPr lvl="1"/>
            <a:r>
              <a:rPr lang="en-US" dirty="0"/>
              <a:t>Variations are good examples of ‘does it make sense’ – we make the data less ‘true’ to better show our point. </a:t>
            </a:r>
          </a:p>
          <a:p>
            <a:r>
              <a:rPr lang="en-US" dirty="0"/>
              <a:t>Can often encode other variables in color, shape, size, </a:t>
            </a:r>
            <a:r>
              <a:rPr lang="en-US" dirty="0" err="1"/>
              <a:t>etc</a:t>
            </a:r>
            <a:r>
              <a:rPr lang="en-US" dirty="0"/>
              <a:t>…</a:t>
            </a:r>
          </a:p>
          <a:p>
            <a:r>
              <a:rPr lang="en-US" dirty="0"/>
              <a:t>Foundation of ML – predictions via best fit. </a:t>
            </a:r>
          </a:p>
        </p:txBody>
      </p:sp>
      <p:grpSp>
        <p:nvGrpSpPr>
          <p:cNvPr id="4" name="Group 3">
            <a:extLst>
              <a:ext uri="{FF2B5EF4-FFF2-40B4-BE49-F238E27FC236}">
                <a16:creationId xmlns:a16="http://schemas.microsoft.com/office/drawing/2014/main" id="{DB1F179D-9FCA-C011-10E6-669F95B03CFC}"/>
              </a:ext>
            </a:extLst>
          </p:cNvPr>
          <p:cNvGrpSpPr/>
          <p:nvPr/>
        </p:nvGrpSpPr>
        <p:grpSpPr>
          <a:xfrm>
            <a:off x="7272337" y="1853754"/>
            <a:ext cx="6627019" cy="4123602"/>
            <a:chOff x="7877272" y="2155754"/>
            <a:chExt cx="4314728" cy="2157364"/>
          </a:xfrm>
        </p:grpSpPr>
        <p:pic>
          <p:nvPicPr>
            <p:cNvPr id="5122" name="Picture 2">
              <a:extLst>
                <a:ext uri="{FF2B5EF4-FFF2-40B4-BE49-F238E27FC236}">
                  <a16:creationId xmlns:a16="http://schemas.microsoft.com/office/drawing/2014/main" id="{CFD1EF93-B025-F220-51AF-A5E56D77278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77272" y="2155754"/>
              <a:ext cx="4314728" cy="107868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7F1C3CD5-DB98-4566-257D-B1A252EED7B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77272" y="3234436"/>
              <a:ext cx="4314728" cy="107868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56225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6B216-8C91-5FF0-4D50-7282E191BD2B}"/>
              </a:ext>
            </a:extLst>
          </p:cNvPr>
          <p:cNvSpPr>
            <a:spLocks noGrp="1"/>
          </p:cNvSpPr>
          <p:nvPr>
            <p:ph type="title"/>
          </p:nvPr>
        </p:nvSpPr>
        <p:spPr/>
        <p:txBody>
          <a:bodyPr/>
          <a:lstStyle/>
          <a:p>
            <a:r>
              <a:rPr lang="en-US" dirty="0"/>
              <a:t>Geospatial Data</a:t>
            </a:r>
          </a:p>
        </p:txBody>
      </p:sp>
      <p:sp>
        <p:nvSpPr>
          <p:cNvPr id="3" name="Content Placeholder 2">
            <a:extLst>
              <a:ext uri="{FF2B5EF4-FFF2-40B4-BE49-F238E27FC236}">
                <a16:creationId xmlns:a16="http://schemas.microsoft.com/office/drawing/2014/main" id="{42863055-5ADC-AA70-D097-216936BE98C9}"/>
              </a:ext>
            </a:extLst>
          </p:cNvPr>
          <p:cNvSpPr>
            <a:spLocks noGrp="1"/>
          </p:cNvSpPr>
          <p:nvPr>
            <p:ph idx="1"/>
          </p:nvPr>
        </p:nvSpPr>
        <p:spPr>
          <a:xfrm>
            <a:off x="1451579" y="1853754"/>
            <a:ext cx="9603275" cy="2601589"/>
          </a:xfrm>
        </p:spPr>
        <p:txBody>
          <a:bodyPr>
            <a:normAutofit/>
          </a:bodyPr>
          <a:lstStyle/>
          <a:p>
            <a:r>
              <a:rPr lang="en-US" dirty="0"/>
              <a:t>Geospatial data has some geographic component, so it can be mapped. </a:t>
            </a:r>
          </a:p>
          <a:p>
            <a:r>
              <a:rPr lang="en-US" dirty="0"/>
              <a:t>The type of thing we can plot varies with data.</a:t>
            </a:r>
          </a:p>
          <a:p>
            <a:pPr lvl="1"/>
            <a:r>
              <a:rPr lang="en-US" dirty="0"/>
              <a:t>Latitude and longitude – we can plot points on a map. </a:t>
            </a:r>
          </a:p>
          <a:p>
            <a:pPr lvl="1"/>
            <a:r>
              <a:rPr lang="en-US" dirty="0"/>
              <a:t>‘Region’ (state/country) – we can plot a filled (choropleth) map. </a:t>
            </a:r>
          </a:p>
          <a:p>
            <a:r>
              <a:rPr lang="en-US" dirty="0"/>
              <a:t>Can be reshaped (final two) – what’s actually important to show?</a:t>
            </a:r>
          </a:p>
          <a:p>
            <a:pPr lvl="1"/>
            <a:r>
              <a:rPr lang="en-US" dirty="0"/>
              <a:t>Sometimes the geographical shape of regions isn’t the most import thing to encode (size).  </a:t>
            </a:r>
          </a:p>
        </p:txBody>
      </p:sp>
      <p:pic>
        <p:nvPicPr>
          <p:cNvPr id="6146" name="Picture 2">
            <a:extLst>
              <a:ext uri="{FF2B5EF4-FFF2-40B4-BE49-F238E27FC236}">
                <a16:creationId xmlns:a16="http://schemas.microsoft.com/office/drawing/2014/main" id="{A70B4E04-334A-1569-3B99-0C6646A73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496" y="4455342"/>
            <a:ext cx="9403439" cy="234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995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4177-147C-25B8-F782-192030782B36}"/>
              </a:ext>
            </a:extLst>
          </p:cNvPr>
          <p:cNvSpPr>
            <a:spLocks noGrp="1"/>
          </p:cNvSpPr>
          <p:nvPr>
            <p:ph type="title"/>
          </p:nvPr>
        </p:nvSpPr>
        <p:spPr/>
        <p:txBody>
          <a:bodyPr/>
          <a:lstStyle/>
          <a:p>
            <a:r>
              <a:rPr lang="en-US" dirty="0"/>
              <a:t>Maps and What I want to see</a:t>
            </a:r>
          </a:p>
        </p:txBody>
      </p:sp>
      <p:sp>
        <p:nvSpPr>
          <p:cNvPr id="3" name="Content Placeholder 2">
            <a:extLst>
              <a:ext uri="{FF2B5EF4-FFF2-40B4-BE49-F238E27FC236}">
                <a16:creationId xmlns:a16="http://schemas.microsoft.com/office/drawing/2014/main" id="{E2473E6F-3CB0-93A7-C936-677D19CE4739}"/>
              </a:ext>
            </a:extLst>
          </p:cNvPr>
          <p:cNvSpPr>
            <a:spLocks noGrp="1"/>
          </p:cNvSpPr>
          <p:nvPr>
            <p:ph idx="1"/>
          </p:nvPr>
        </p:nvSpPr>
        <p:spPr>
          <a:xfrm>
            <a:off x="6813430" y="1907381"/>
            <a:ext cx="5378570" cy="4223453"/>
          </a:xfrm>
        </p:spPr>
        <p:txBody>
          <a:bodyPr>
            <a:normAutofit lnSpcReduction="10000"/>
          </a:bodyPr>
          <a:lstStyle/>
          <a:p>
            <a:r>
              <a:rPr lang="en-US" dirty="0"/>
              <a:t>Density maps are a good example of changing data to make it less ’correct’ and more useful. </a:t>
            </a:r>
          </a:p>
          <a:p>
            <a:r>
              <a:rPr lang="en-US" dirty="0"/>
              <a:t>Instead of plotting points, we can plot the density of points. </a:t>
            </a:r>
          </a:p>
          <a:p>
            <a:pPr lvl="1"/>
            <a:r>
              <a:rPr lang="en-US" dirty="0"/>
              <a:t>Makes the data less specific – we lose the exact location of each point. </a:t>
            </a:r>
          </a:p>
          <a:p>
            <a:pPr lvl="1"/>
            <a:r>
              <a:rPr lang="en-US" dirty="0"/>
              <a:t>Makes the data more useful – if examining crime, locations of coffee shops, or traffic, this likely does better at communicating the important bit.</a:t>
            </a:r>
          </a:p>
          <a:p>
            <a:r>
              <a:rPr lang="en-US" dirty="0"/>
              <a:t>Remember, we are generating knowledge for some purpose (even if pretend here). </a:t>
            </a:r>
          </a:p>
        </p:txBody>
      </p:sp>
      <p:pic>
        <p:nvPicPr>
          <p:cNvPr id="9218" name="Picture 2" descr="What is the Difference Between a Heat Map and a Hot Spot Map? - Geography  Realm">
            <a:extLst>
              <a:ext uri="{FF2B5EF4-FFF2-40B4-BE49-F238E27FC236}">
                <a16:creationId xmlns:a16="http://schemas.microsoft.com/office/drawing/2014/main" id="{04112D19-FE57-2C0D-5B42-2E2AB8E03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3754"/>
            <a:ext cx="6813430" cy="4576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7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8E57-A0A4-522C-6156-4A1D9A86DD38}"/>
              </a:ext>
            </a:extLst>
          </p:cNvPr>
          <p:cNvSpPr>
            <a:spLocks noGrp="1"/>
          </p:cNvSpPr>
          <p:nvPr>
            <p:ph type="title"/>
          </p:nvPr>
        </p:nvSpPr>
        <p:spPr/>
        <p:txBody>
          <a:bodyPr/>
          <a:lstStyle/>
          <a:p>
            <a:r>
              <a:rPr lang="en-US" dirty="0"/>
              <a:t>Error and Uncertainty</a:t>
            </a:r>
          </a:p>
        </p:txBody>
      </p:sp>
      <p:sp>
        <p:nvSpPr>
          <p:cNvPr id="3" name="Content Placeholder 2">
            <a:extLst>
              <a:ext uri="{FF2B5EF4-FFF2-40B4-BE49-F238E27FC236}">
                <a16:creationId xmlns:a16="http://schemas.microsoft.com/office/drawing/2014/main" id="{1996AE90-4224-751E-F743-6E5E13095428}"/>
              </a:ext>
            </a:extLst>
          </p:cNvPr>
          <p:cNvSpPr>
            <a:spLocks noGrp="1"/>
          </p:cNvSpPr>
          <p:nvPr>
            <p:ph idx="1"/>
          </p:nvPr>
        </p:nvSpPr>
        <p:spPr>
          <a:xfrm>
            <a:off x="1451579" y="2015732"/>
            <a:ext cx="4644421" cy="3935012"/>
          </a:xfrm>
        </p:spPr>
        <p:txBody>
          <a:bodyPr/>
          <a:lstStyle/>
          <a:p>
            <a:r>
              <a:rPr lang="en-US" dirty="0"/>
              <a:t>Many values have some uncertainty to their value. </a:t>
            </a:r>
          </a:p>
          <a:p>
            <a:r>
              <a:rPr lang="en-US" dirty="0"/>
              <a:t>We can represent that in visualization. </a:t>
            </a:r>
          </a:p>
          <a:p>
            <a:r>
              <a:rPr lang="en-US" dirty="0"/>
              <a:t>Very common in inferential stats – we are predicting, but how certain are we?</a:t>
            </a:r>
          </a:p>
          <a:p>
            <a:r>
              <a:rPr lang="en-US" dirty="0"/>
              <a:t>Ask:</a:t>
            </a:r>
          </a:p>
          <a:p>
            <a:pPr lvl="1"/>
            <a:r>
              <a:rPr lang="en-US" dirty="0"/>
              <a:t>Does this matter?</a:t>
            </a:r>
          </a:p>
          <a:p>
            <a:pPr lvl="1"/>
            <a:r>
              <a:rPr lang="en-US" dirty="0"/>
              <a:t>Is not having this here deceptive?</a:t>
            </a:r>
          </a:p>
        </p:txBody>
      </p:sp>
      <p:grpSp>
        <p:nvGrpSpPr>
          <p:cNvPr id="4" name="Group 3">
            <a:extLst>
              <a:ext uri="{FF2B5EF4-FFF2-40B4-BE49-F238E27FC236}">
                <a16:creationId xmlns:a16="http://schemas.microsoft.com/office/drawing/2014/main" id="{3DEA483E-EF20-8DC5-5673-53B2D6CEDAFE}"/>
              </a:ext>
            </a:extLst>
          </p:cNvPr>
          <p:cNvGrpSpPr/>
          <p:nvPr/>
        </p:nvGrpSpPr>
        <p:grpSpPr>
          <a:xfrm>
            <a:off x="6096000" y="2282614"/>
            <a:ext cx="6096000" cy="3183731"/>
            <a:chOff x="0" y="1908175"/>
            <a:chExt cx="12192000" cy="6083300"/>
          </a:xfrm>
        </p:grpSpPr>
        <p:pic>
          <p:nvPicPr>
            <p:cNvPr id="7170" name="Picture 2">
              <a:extLst>
                <a:ext uri="{FF2B5EF4-FFF2-40B4-BE49-F238E27FC236}">
                  <a16:creationId xmlns:a16="http://schemas.microsoft.com/office/drawing/2014/main" id="{F02AF2DD-0D17-8A9D-BF59-8FC97C73E6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8175"/>
              <a:ext cx="12192000" cy="30416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13A54FA7-AC2A-0598-F7C3-6712B3F7B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49825"/>
              <a:ext cx="12192000" cy="304165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18115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EBFDA-869F-B845-5039-09FF19D13B95}"/>
              </a:ext>
            </a:extLst>
          </p:cNvPr>
          <p:cNvSpPr>
            <a:spLocks noGrp="1"/>
          </p:cNvSpPr>
          <p:nvPr>
            <p:ph type="title"/>
          </p:nvPr>
        </p:nvSpPr>
        <p:spPr/>
        <p:txBody>
          <a:bodyPr/>
          <a:lstStyle/>
          <a:p>
            <a:r>
              <a:rPr lang="en-US" dirty="0"/>
              <a:t>Trends</a:t>
            </a:r>
          </a:p>
        </p:txBody>
      </p:sp>
      <p:sp>
        <p:nvSpPr>
          <p:cNvPr id="3" name="Content Placeholder 2">
            <a:extLst>
              <a:ext uri="{FF2B5EF4-FFF2-40B4-BE49-F238E27FC236}">
                <a16:creationId xmlns:a16="http://schemas.microsoft.com/office/drawing/2014/main" id="{EC36C9F6-172E-6286-2C9C-77AEC15D0DA1}"/>
              </a:ext>
            </a:extLst>
          </p:cNvPr>
          <p:cNvSpPr>
            <a:spLocks noGrp="1"/>
          </p:cNvSpPr>
          <p:nvPr>
            <p:ph idx="1"/>
          </p:nvPr>
        </p:nvSpPr>
        <p:spPr>
          <a:xfrm>
            <a:off x="5379244" y="2015732"/>
            <a:ext cx="5675610" cy="4037749"/>
          </a:xfrm>
        </p:spPr>
        <p:txBody>
          <a:bodyPr/>
          <a:lstStyle/>
          <a:p>
            <a:r>
              <a:rPr lang="en-US" dirty="0"/>
              <a:t>Trends are almost always best shown via a line chart. </a:t>
            </a:r>
          </a:p>
          <a:p>
            <a:pPr lvl="1"/>
            <a:r>
              <a:rPr lang="en-US" dirty="0"/>
              <a:t>Can compare by using color. </a:t>
            </a:r>
          </a:p>
          <a:p>
            <a:r>
              <a:rPr lang="en-US" dirty="0"/>
              <a:t>Line charts require a (identified) datetime value. </a:t>
            </a:r>
          </a:p>
          <a:p>
            <a:pPr lvl="1"/>
            <a:r>
              <a:rPr lang="en-US" dirty="0"/>
              <a:t>I.e. I want to see one point on the line every _______ . </a:t>
            </a:r>
          </a:p>
          <a:p>
            <a:pPr lvl="1"/>
            <a:r>
              <a:rPr lang="en-US" dirty="0"/>
              <a:t>Data is aggregated per datetime selection (day, week, </a:t>
            </a:r>
            <a:r>
              <a:rPr lang="en-US" dirty="0" err="1"/>
              <a:t>etc</a:t>
            </a:r>
            <a:r>
              <a:rPr lang="en-US" dirty="0"/>
              <a:t>…)</a:t>
            </a:r>
          </a:p>
          <a:p>
            <a:r>
              <a:rPr lang="en-US" dirty="0"/>
              <a:t>We can do forecasting to project the future…</a:t>
            </a:r>
          </a:p>
          <a:p>
            <a:pPr lvl="1"/>
            <a:r>
              <a:rPr lang="en-US" dirty="0"/>
              <a:t>A little predictive analytics later on…</a:t>
            </a:r>
          </a:p>
        </p:txBody>
      </p:sp>
      <p:pic>
        <p:nvPicPr>
          <p:cNvPr id="8196" name="Picture 4" descr="Daily closing values of the Dow Jones Industrial Average for the year 2009, shown together with their 20-day, 50-day, and 100-day moving averages. (a) The moving averages are plotted at the end of the moving time windows. (b) The moving averages are plotted in the center of the moving time windows. Data source: Yahoo! Finance">
            <a:extLst>
              <a:ext uri="{FF2B5EF4-FFF2-40B4-BE49-F238E27FC236}">
                <a16:creationId xmlns:a16="http://schemas.microsoft.com/office/drawing/2014/main" id="{98614E61-14AE-A16B-14DD-2118FC96A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1829160"/>
            <a:ext cx="4410891" cy="4410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576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9970-6E38-01AD-022F-E1816ECAE3D7}"/>
              </a:ext>
            </a:extLst>
          </p:cNvPr>
          <p:cNvSpPr>
            <a:spLocks noGrp="1"/>
          </p:cNvSpPr>
          <p:nvPr>
            <p:ph type="title"/>
          </p:nvPr>
        </p:nvSpPr>
        <p:spPr/>
        <p:txBody>
          <a:bodyPr/>
          <a:lstStyle/>
          <a:p>
            <a:r>
              <a:rPr lang="en-US" dirty="0"/>
              <a:t>Flow</a:t>
            </a:r>
          </a:p>
        </p:txBody>
      </p:sp>
      <p:sp>
        <p:nvSpPr>
          <p:cNvPr id="3" name="Content Placeholder 2">
            <a:extLst>
              <a:ext uri="{FF2B5EF4-FFF2-40B4-BE49-F238E27FC236}">
                <a16:creationId xmlns:a16="http://schemas.microsoft.com/office/drawing/2014/main" id="{C1B27C59-EC8B-4B6A-8FD9-07A426BA7B19}"/>
              </a:ext>
            </a:extLst>
          </p:cNvPr>
          <p:cNvSpPr>
            <a:spLocks noGrp="1"/>
          </p:cNvSpPr>
          <p:nvPr>
            <p:ph idx="1"/>
          </p:nvPr>
        </p:nvSpPr>
        <p:spPr>
          <a:xfrm>
            <a:off x="7772400" y="1853754"/>
            <a:ext cx="4419600" cy="4199727"/>
          </a:xfrm>
        </p:spPr>
        <p:txBody>
          <a:bodyPr>
            <a:normAutofit/>
          </a:bodyPr>
          <a:lstStyle/>
          <a:p>
            <a:r>
              <a:rPr lang="en-US" dirty="0"/>
              <a:t>’Flow’ is showing how things move from A-&gt;B. </a:t>
            </a:r>
          </a:p>
          <a:p>
            <a:pPr lvl="1"/>
            <a:r>
              <a:rPr lang="en-US" dirty="0"/>
              <a:t>Starting point and end point. </a:t>
            </a:r>
          </a:p>
          <a:p>
            <a:pPr lvl="1"/>
            <a:r>
              <a:rPr lang="en-US" dirty="0"/>
              <a:t>How many As ended up in B…</a:t>
            </a:r>
          </a:p>
          <a:p>
            <a:pPr lvl="1"/>
            <a:r>
              <a:rPr lang="en-US" dirty="0"/>
              <a:t>Connections and graphs. </a:t>
            </a:r>
          </a:p>
          <a:p>
            <a:r>
              <a:rPr lang="en-US" dirty="0"/>
              <a:t>Harder to illustrate clearly – generally more for complex visualizations. </a:t>
            </a:r>
          </a:p>
          <a:p>
            <a:pPr lvl="1"/>
            <a:r>
              <a:rPr lang="en-US" dirty="0"/>
              <a:t>Tableau has newish plugins that make some of these a bit easier. </a:t>
            </a:r>
          </a:p>
        </p:txBody>
      </p:sp>
      <p:pic>
        <p:nvPicPr>
          <p:cNvPr id="4" name="Picture 3">
            <a:extLst>
              <a:ext uri="{FF2B5EF4-FFF2-40B4-BE49-F238E27FC236}">
                <a16:creationId xmlns:a16="http://schemas.microsoft.com/office/drawing/2014/main" id="{DE7493DA-3E05-5AEC-EAC3-DF5EB891733B}"/>
              </a:ext>
            </a:extLst>
          </p:cNvPr>
          <p:cNvPicPr>
            <a:picLocks noChangeAspect="1"/>
          </p:cNvPicPr>
          <p:nvPr/>
        </p:nvPicPr>
        <p:blipFill>
          <a:blip r:embed="rId2"/>
          <a:stretch>
            <a:fillRect/>
          </a:stretch>
        </p:blipFill>
        <p:spPr>
          <a:xfrm>
            <a:off x="0" y="1423078"/>
            <a:ext cx="7772400" cy="5434922"/>
          </a:xfrm>
          <a:prstGeom prst="rect">
            <a:avLst/>
          </a:prstGeom>
        </p:spPr>
      </p:pic>
    </p:spTree>
    <p:extLst>
      <p:ext uri="{BB962C8B-B14F-4D97-AF65-F5344CB8AC3E}">
        <p14:creationId xmlns:p14="http://schemas.microsoft.com/office/powerpoint/2010/main" val="1195475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6C38-8A4C-BD48-D6F8-7CFD9F787838}"/>
              </a:ext>
            </a:extLst>
          </p:cNvPr>
          <p:cNvSpPr>
            <a:spLocks noGrp="1"/>
          </p:cNvSpPr>
          <p:nvPr>
            <p:ph type="title"/>
          </p:nvPr>
        </p:nvSpPr>
        <p:spPr/>
        <p:txBody>
          <a:bodyPr/>
          <a:lstStyle/>
          <a:p>
            <a:r>
              <a:rPr lang="en-US" dirty="0"/>
              <a:t>Visual Vocabulary</a:t>
            </a:r>
          </a:p>
        </p:txBody>
      </p:sp>
      <p:sp>
        <p:nvSpPr>
          <p:cNvPr id="3" name="Content Placeholder 2">
            <a:extLst>
              <a:ext uri="{FF2B5EF4-FFF2-40B4-BE49-F238E27FC236}">
                <a16:creationId xmlns:a16="http://schemas.microsoft.com/office/drawing/2014/main" id="{E39225C4-6DF3-28D0-A217-53CB250E3ED5}"/>
              </a:ext>
            </a:extLst>
          </p:cNvPr>
          <p:cNvSpPr>
            <a:spLocks noGrp="1"/>
          </p:cNvSpPr>
          <p:nvPr>
            <p:ph idx="1"/>
          </p:nvPr>
        </p:nvSpPr>
        <p:spPr>
          <a:xfrm>
            <a:off x="705395" y="2015732"/>
            <a:ext cx="3714206" cy="3450613"/>
          </a:xfrm>
        </p:spPr>
        <p:txBody>
          <a:bodyPr/>
          <a:lstStyle/>
          <a:p>
            <a:r>
              <a:rPr lang="en-US" dirty="0"/>
              <a:t>The Visual Vocabulary page gives more examples of common things we may need to show. </a:t>
            </a:r>
          </a:p>
          <a:p>
            <a:r>
              <a:rPr lang="en-US" dirty="0"/>
              <a:t>Start here, adjust as needed. </a:t>
            </a:r>
          </a:p>
        </p:txBody>
      </p:sp>
      <p:pic>
        <p:nvPicPr>
          <p:cNvPr id="4" name="Picture 3">
            <a:extLst>
              <a:ext uri="{FF2B5EF4-FFF2-40B4-BE49-F238E27FC236}">
                <a16:creationId xmlns:a16="http://schemas.microsoft.com/office/drawing/2014/main" id="{21D2D77A-B11D-627D-99F3-DED79AFAB55D}"/>
              </a:ext>
            </a:extLst>
          </p:cNvPr>
          <p:cNvPicPr>
            <a:picLocks noChangeAspect="1"/>
          </p:cNvPicPr>
          <p:nvPr/>
        </p:nvPicPr>
        <p:blipFill>
          <a:blip r:embed="rId2"/>
          <a:stretch>
            <a:fillRect/>
          </a:stretch>
        </p:blipFill>
        <p:spPr>
          <a:xfrm>
            <a:off x="4419600" y="1853754"/>
            <a:ext cx="7772400" cy="4111486"/>
          </a:xfrm>
          <a:prstGeom prst="rect">
            <a:avLst/>
          </a:prstGeom>
        </p:spPr>
      </p:pic>
    </p:spTree>
    <p:extLst>
      <p:ext uri="{BB962C8B-B14F-4D97-AF65-F5344CB8AC3E}">
        <p14:creationId xmlns:p14="http://schemas.microsoft.com/office/powerpoint/2010/main" val="1519593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D719F-9033-C72B-D82C-09427C9B20DB}"/>
              </a:ext>
            </a:extLst>
          </p:cNvPr>
          <p:cNvSpPr>
            <a:spLocks noGrp="1"/>
          </p:cNvSpPr>
          <p:nvPr>
            <p:ph type="title"/>
          </p:nvPr>
        </p:nvSpPr>
        <p:spPr/>
        <p:txBody>
          <a:bodyPr/>
          <a:lstStyle/>
          <a:p>
            <a:r>
              <a:rPr lang="en-US" dirty="0"/>
              <a:t>Choosing Chart Type</a:t>
            </a:r>
          </a:p>
        </p:txBody>
      </p:sp>
      <p:sp>
        <p:nvSpPr>
          <p:cNvPr id="3" name="Content Placeholder 2">
            <a:extLst>
              <a:ext uri="{FF2B5EF4-FFF2-40B4-BE49-F238E27FC236}">
                <a16:creationId xmlns:a16="http://schemas.microsoft.com/office/drawing/2014/main" id="{4717C3A9-619D-2086-6F4F-42CB3AC7C538}"/>
              </a:ext>
            </a:extLst>
          </p:cNvPr>
          <p:cNvSpPr>
            <a:spLocks noGrp="1"/>
          </p:cNvSpPr>
          <p:nvPr>
            <p:ph idx="1"/>
          </p:nvPr>
        </p:nvSpPr>
        <p:spPr>
          <a:xfrm>
            <a:off x="1451579" y="1853754"/>
            <a:ext cx="9603275" cy="4199727"/>
          </a:xfrm>
        </p:spPr>
        <p:txBody>
          <a:bodyPr>
            <a:normAutofit lnSpcReduction="10000"/>
          </a:bodyPr>
          <a:lstStyle/>
          <a:p>
            <a:r>
              <a:rPr lang="en-US" dirty="0"/>
              <a:t>Start with intent - data can usually show many things, which do we want to show here?</a:t>
            </a:r>
          </a:p>
          <a:p>
            <a:pPr lvl="1"/>
            <a:r>
              <a:rPr lang="en-US" dirty="0"/>
              <a:t>This is tableau-less thought, don’t worry about what you know how to make in a chart. </a:t>
            </a:r>
          </a:p>
          <a:p>
            <a:r>
              <a:rPr lang="en-US" dirty="0"/>
              <a:t>We want to choose a chart style that matches what we want to communicate.  </a:t>
            </a:r>
          </a:p>
          <a:p>
            <a:pPr lvl="1"/>
            <a:r>
              <a:rPr lang="en-US" dirty="0"/>
              <a:t>It’s like fusion food – doing something weird might work, but it is a risk. </a:t>
            </a:r>
          </a:p>
          <a:p>
            <a:pPr lvl="1"/>
            <a:r>
              <a:rPr lang="en-US" dirty="0"/>
              <a:t>Start with something that is “known good” and iterate. </a:t>
            </a:r>
          </a:p>
          <a:p>
            <a:r>
              <a:rPr lang="en-US" dirty="0"/>
              <a:t>What, specifically, do we want someone to think/do with a value? </a:t>
            </a:r>
          </a:p>
          <a:p>
            <a:pPr lvl="1"/>
            <a:r>
              <a:rPr lang="en-US" dirty="0"/>
              <a:t>Do I want them to compare it, look at a trend in it, see what share of total it makes, </a:t>
            </a:r>
            <a:r>
              <a:rPr lang="en-US" dirty="0" err="1"/>
              <a:t>etc</a:t>
            </a:r>
            <a:r>
              <a:rPr lang="en-US" dirty="0"/>
              <a:t>…</a:t>
            </a:r>
          </a:p>
          <a:p>
            <a:pPr lvl="1"/>
            <a:r>
              <a:rPr lang="en-US" dirty="0"/>
              <a:t>If I look at a chart, does it help this? (If I have bar charts to show a trend, does it work?)</a:t>
            </a:r>
          </a:p>
          <a:p>
            <a:r>
              <a:rPr lang="en-US" dirty="0"/>
              <a:t>Choosing a good chart type is necessary but not sufficient. </a:t>
            </a:r>
          </a:p>
          <a:p>
            <a:pPr lvl="1"/>
            <a:r>
              <a:rPr lang="en-US" dirty="0"/>
              <a:t>These things aren’t a complete list of what can be made, they’re examples. </a:t>
            </a:r>
          </a:p>
        </p:txBody>
      </p:sp>
    </p:spTree>
    <p:extLst>
      <p:ext uri="{BB962C8B-B14F-4D97-AF65-F5344CB8AC3E}">
        <p14:creationId xmlns:p14="http://schemas.microsoft.com/office/powerpoint/2010/main" val="1193470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FFBB-A61F-7E81-78EB-1C60F189D1A3}"/>
              </a:ext>
            </a:extLst>
          </p:cNvPr>
          <p:cNvSpPr>
            <a:spLocks noGrp="1"/>
          </p:cNvSpPr>
          <p:nvPr>
            <p:ph type="title"/>
          </p:nvPr>
        </p:nvSpPr>
        <p:spPr/>
        <p:txBody>
          <a:bodyPr/>
          <a:lstStyle/>
          <a:p>
            <a:r>
              <a:rPr lang="en-US" dirty="0"/>
              <a:t>Variations and Changes</a:t>
            </a:r>
          </a:p>
        </p:txBody>
      </p:sp>
      <p:sp>
        <p:nvSpPr>
          <p:cNvPr id="3" name="Content Placeholder 2">
            <a:extLst>
              <a:ext uri="{FF2B5EF4-FFF2-40B4-BE49-F238E27FC236}">
                <a16:creationId xmlns:a16="http://schemas.microsoft.com/office/drawing/2014/main" id="{3269E198-D495-D058-B3D2-FD09F3A8A5F0}"/>
              </a:ext>
            </a:extLst>
          </p:cNvPr>
          <p:cNvSpPr>
            <a:spLocks noGrp="1"/>
          </p:cNvSpPr>
          <p:nvPr>
            <p:ph idx="1"/>
          </p:nvPr>
        </p:nvSpPr>
        <p:spPr>
          <a:xfrm>
            <a:off x="156754" y="1853754"/>
            <a:ext cx="6997408" cy="4199727"/>
          </a:xfrm>
        </p:spPr>
        <p:txBody>
          <a:bodyPr/>
          <a:lstStyle/>
          <a:p>
            <a:r>
              <a:rPr lang="en-US" dirty="0"/>
              <a:t>Can depart, but don’t ‘break’ the original spirit of the chart. </a:t>
            </a:r>
          </a:p>
          <a:p>
            <a:pPr lvl="1"/>
            <a:r>
              <a:rPr lang="en-US" dirty="0"/>
              <a:t>Add density (additional data) by using some attribute to show some other variable. </a:t>
            </a:r>
          </a:p>
          <a:p>
            <a:pPr lvl="1"/>
            <a:r>
              <a:rPr lang="en-US" dirty="0"/>
              <a:t>Can change mark types. </a:t>
            </a:r>
          </a:p>
          <a:p>
            <a:pPr lvl="1"/>
            <a:r>
              <a:rPr lang="en-US" dirty="0"/>
              <a:t>Add interactivity to allow charts to be useful in combination. </a:t>
            </a:r>
          </a:p>
          <a:p>
            <a:pPr lvl="1"/>
            <a:r>
              <a:rPr lang="en-US" dirty="0"/>
              <a:t>‘Bending’ or reshaping data with something like trig (later). </a:t>
            </a:r>
          </a:p>
          <a:p>
            <a:r>
              <a:rPr lang="en-US" dirty="0"/>
              <a:t>The further you change things, the riskier it is. </a:t>
            </a:r>
          </a:p>
          <a:p>
            <a:r>
              <a:rPr lang="en-US" dirty="0"/>
              <a:t>Is a change better and at least as clear as the original? </a:t>
            </a:r>
          </a:p>
        </p:txBody>
      </p:sp>
      <p:pic>
        <p:nvPicPr>
          <p:cNvPr id="12290" name="Picture 2" descr="Create a Radial Bar Chart in Tableau - The Data School">
            <a:extLst>
              <a:ext uri="{FF2B5EF4-FFF2-40B4-BE49-F238E27FC236}">
                <a16:creationId xmlns:a16="http://schemas.microsoft.com/office/drawing/2014/main" id="{AE753C0E-4458-0E16-603D-DDF925D96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4161" y="1853754"/>
            <a:ext cx="5037839" cy="5004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794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3B8B-DD36-BE3F-CFF7-728AAB7EE65E}"/>
              </a:ext>
            </a:extLst>
          </p:cNvPr>
          <p:cNvSpPr>
            <a:spLocks noGrp="1"/>
          </p:cNvSpPr>
          <p:nvPr>
            <p:ph type="title"/>
          </p:nvPr>
        </p:nvSpPr>
        <p:spPr/>
        <p:txBody>
          <a:bodyPr/>
          <a:lstStyle/>
          <a:p>
            <a:r>
              <a:rPr lang="en-US" dirty="0"/>
              <a:t>Complex Tableau Visualizations</a:t>
            </a:r>
          </a:p>
        </p:txBody>
      </p:sp>
      <p:sp>
        <p:nvSpPr>
          <p:cNvPr id="3" name="Content Placeholder 2">
            <a:extLst>
              <a:ext uri="{FF2B5EF4-FFF2-40B4-BE49-F238E27FC236}">
                <a16:creationId xmlns:a16="http://schemas.microsoft.com/office/drawing/2014/main" id="{EFB02C33-5C3D-ADDA-125C-ECC857E0B194}"/>
              </a:ext>
            </a:extLst>
          </p:cNvPr>
          <p:cNvSpPr>
            <a:spLocks noGrp="1"/>
          </p:cNvSpPr>
          <p:nvPr>
            <p:ph idx="1"/>
          </p:nvPr>
        </p:nvSpPr>
        <p:spPr>
          <a:xfrm>
            <a:off x="1451579" y="1920240"/>
            <a:ext cx="9603275" cy="4133241"/>
          </a:xfrm>
        </p:spPr>
        <p:txBody>
          <a:bodyPr/>
          <a:lstStyle/>
          <a:p>
            <a:r>
              <a:rPr lang="en-US" dirty="0"/>
              <a:t>To do things that are complex in Tableau typically requires several steps. </a:t>
            </a:r>
          </a:p>
          <a:p>
            <a:r>
              <a:rPr lang="en-US" dirty="0"/>
              <a:t>Creating odd chart designs off the top of your head is pretty hard. </a:t>
            </a:r>
          </a:p>
          <a:p>
            <a:r>
              <a:rPr lang="en-US" dirty="0"/>
              <a:t>For you, this will generally involve copying and adjusting some example. </a:t>
            </a:r>
          </a:p>
          <a:p>
            <a:pPr lvl="1"/>
            <a:r>
              <a:rPr lang="en-US" dirty="0"/>
              <a:t>Find something that is similar in terms of what it shows – comparison, trend, share, </a:t>
            </a:r>
            <a:r>
              <a:rPr lang="en-US" dirty="0" err="1"/>
              <a:t>etc</a:t>
            </a:r>
            <a:r>
              <a:rPr lang="en-US" dirty="0"/>
              <a:t>…</a:t>
            </a:r>
          </a:p>
          <a:p>
            <a:pPr lvl="1"/>
            <a:r>
              <a:rPr lang="en-US" dirty="0"/>
              <a:t>Adapt those instructions to your data. </a:t>
            </a:r>
          </a:p>
          <a:p>
            <a:pPr lvl="1"/>
            <a:r>
              <a:rPr lang="en-US" dirty="0"/>
              <a:t>This process is something that you want to get good at if you are doing this for real, it does take several times to get used to and can be frustrating. </a:t>
            </a:r>
          </a:p>
          <a:p>
            <a:pPr lvl="1"/>
            <a:r>
              <a:rPr lang="en-US" dirty="0"/>
              <a:t>If you can do this, you can do anything – practice really is the only teacher. </a:t>
            </a:r>
          </a:p>
        </p:txBody>
      </p:sp>
    </p:spTree>
    <p:extLst>
      <p:ext uri="{BB962C8B-B14F-4D97-AF65-F5344CB8AC3E}">
        <p14:creationId xmlns:p14="http://schemas.microsoft.com/office/powerpoint/2010/main" val="4095582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F77C4-DF21-EF8E-6341-48DF60815D7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FFE7B85-4442-0D90-C3AA-C8E345CE1F8D}"/>
              </a:ext>
            </a:extLst>
          </p:cNvPr>
          <p:cNvSpPr>
            <a:spLocks noGrp="1"/>
          </p:cNvSpPr>
          <p:nvPr>
            <p:ph idx="1"/>
          </p:nvPr>
        </p:nvSpPr>
        <p:spPr>
          <a:xfrm>
            <a:off x="1451579" y="1907382"/>
            <a:ext cx="9603275" cy="4207668"/>
          </a:xfrm>
        </p:spPr>
        <p:txBody>
          <a:bodyPr/>
          <a:lstStyle/>
          <a:p>
            <a:r>
              <a:rPr lang="en-US" dirty="0"/>
              <a:t>In each of the chart types, we can add some Tableau fanciness if it makes sense. </a:t>
            </a:r>
          </a:p>
          <a:p>
            <a:pPr lvl="1"/>
            <a:r>
              <a:rPr lang="en-US" dirty="0"/>
              <a:t>We can usually encode some other variable in color/size/shape. </a:t>
            </a:r>
          </a:p>
          <a:p>
            <a:pPr lvl="2"/>
            <a:r>
              <a:rPr lang="en-US" dirty="0"/>
              <a:t>Does it make sense and does it make things better than adding a chart?</a:t>
            </a:r>
          </a:p>
          <a:p>
            <a:pPr lvl="1"/>
            <a:r>
              <a:rPr lang="en-US" dirty="0"/>
              <a:t>We can make charts interactive with each other on a dashboard. </a:t>
            </a:r>
          </a:p>
          <a:p>
            <a:pPr lvl="2"/>
            <a:r>
              <a:rPr lang="en-US" dirty="0"/>
              <a:t>Can we use interactivity (filter, highlighting, </a:t>
            </a:r>
            <a:r>
              <a:rPr lang="en-US" dirty="0" err="1"/>
              <a:t>etc</a:t>
            </a:r>
            <a:r>
              <a:rPr lang="en-US" dirty="0"/>
              <a:t>…) to make things even better?</a:t>
            </a:r>
          </a:p>
          <a:p>
            <a:pPr lvl="1"/>
            <a:r>
              <a:rPr lang="en-US" dirty="0"/>
              <a:t>Do we need/want other additions like filters? </a:t>
            </a:r>
          </a:p>
          <a:p>
            <a:r>
              <a:rPr lang="en-US" dirty="0"/>
              <a:t>Does what you intend to show come through clearly? </a:t>
            </a:r>
          </a:p>
          <a:p>
            <a:pPr lvl="1"/>
            <a:r>
              <a:rPr lang="en-US" dirty="0"/>
              <a:t>We’ll examine the math-y details more soon, but ‘does it make sense’ is the core idea. </a:t>
            </a:r>
          </a:p>
          <a:p>
            <a:r>
              <a:rPr lang="en-US" dirty="0"/>
              <a:t>Do you need precision or is a general indication good enough? </a:t>
            </a:r>
          </a:p>
          <a:p>
            <a:r>
              <a:rPr lang="en-US" dirty="0"/>
              <a:t>Be additive – make something that does the job, then see if it can be better. </a:t>
            </a:r>
          </a:p>
        </p:txBody>
      </p:sp>
    </p:spTree>
    <p:extLst>
      <p:ext uri="{BB962C8B-B14F-4D97-AF65-F5344CB8AC3E}">
        <p14:creationId xmlns:p14="http://schemas.microsoft.com/office/powerpoint/2010/main" val="102314572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1453</TotalTime>
  <Words>2760</Words>
  <Application>Microsoft Macintosh PowerPoint</Application>
  <PresentationFormat>Widescreen</PresentationFormat>
  <Paragraphs>237</Paragraphs>
  <Slides>37</Slides>
  <Notes>4</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Arial</vt:lpstr>
      <vt:lpstr>Calibri</vt:lpstr>
      <vt:lpstr>Gill Sans MT</vt:lpstr>
      <vt:lpstr>Helvetica</vt:lpstr>
      <vt:lpstr>Gallery</vt:lpstr>
      <vt:lpstr>Housekeeping</vt:lpstr>
      <vt:lpstr>Tableau Certifications</vt:lpstr>
      <vt:lpstr>Types of Visualizations</vt:lpstr>
      <vt:lpstr>Reducing Friction in Tableau</vt:lpstr>
      <vt:lpstr>PowerPoint Presentation</vt:lpstr>
      <vt:lpstr>Data Over HIPPOs</vt:lpstr>
      <vt:lpstr>A (Brief) History of Visualization</vt:lpstr>
      <vt:lpstr>Late 18th – Early 19th Century</vt:lpstr>
      <vt:lpstr>Early 19th Century</vt:lpstr>
      <vt:lpstr>20th Century</vt:lpstr>
      <vt:lpstr>20th Century</vt:lpstr>
      <vt:lpstr>PowerPoint Presentation</vt:lpstr>
      <vt:lpstr>A Picture is Worth a Thousand Words…</vt:lpstr>
      <vt:lpstr>PowerPoint Presentation</vt:lpstr>
      <vt:lpstr>Visualization Choices</vt:lpstr>
      <vt:lpstr>Choosing Visualization Types</vt:lpstr>
      <vt:lpstr>Keep in Mind… Data Type</vt:lpstr>
      <vt:lpstr>PowerPoint Presentation</vt:lpstr>
      <vt:lpstr>Arbitrary Thing You Need To Know Update</vt:lpstr>
      <vt:lpstr>Aggregation Level</vt:lpstr>
      <vt:lpstr>What do you need to Say with that Data?</vt:lpstr>
      <vt:lpstr>Comparisons</vt:lpstr>
      <vt:lpstr>Multi-Comparison</vt:lpstr>
      <vt:lpstr>Distributions</vt:lpstr>
      <vt:lpstr>Proportion/Share</vt:lpstr>
      <vt:lpstr>Don’t Be a Pie Guy</vt:lpstr>
      <vt:lpstr>Relationships</vt:lpstr>
      <vt:lpstr>Geospatial Data</vt:lpstr>
      <vt:lpstr>Maps and What I want to see</vt:lpstr>
      <vt:lpstr>Error and Uncertainty</vt:lpstr>
      <vt:lpstr>Trends</vt:lpstr>
      <vt:lpstr>Flow</vt:lpstr>
      <vt:lpstr>Visual Vocabulary</vt:lpstr>
      <vt:lpstr>Choosing Chart Type</vt:lpstr>
      <vt:lpstr>Variations and Changes</vt:lpstr>
      <vt:lpstr>Complex Tableau Visualizations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Semper</dc:creator>
  <cp:lastModifiedBy>Akeem Semper</cp:lastModifiedBy>
  <cp:revision>43</cp:revision>
  <dcterms:created xsi:type="dcterms:W3CDTF">2025-08-22T02:44:41Z</dcterms:created>
  <dcterms:modified xsi:type="dcterms:W3CDTF">2025-09-04T14:50:53Z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2025-08-22T02:45:00Z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9a6b49a1-dd0d-49c5-ae74-fa5f1488d329</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