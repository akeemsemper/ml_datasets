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77" r:id="rId3"/>
    <p:sldId id="257" r:id="rId4"/>
    <p:sldId id="258" r:id="rId5"/>
    <p:sldId id="261" r:id="rId6"/>
    <p:sldId id="262" r:id="rId7"/>
    <p:sldId id="264" r:id="rId8"/>
    <p:sldId id="270" r:id="rId9"/>
    <p:sldId id="271" r:id="rId10"/>
    <p:sldId id="266" r:id="rId11"/>
    <p:sldId id="267" r:id="rId12"/>
    <p:sldId id="268" r:id="rId13"/>
    <p:sldId id="276" r:id="rId14"/>
    <p:sldId id="272" r:id="rId15"/>
    <p:sldId id="265" r:id="rId16"/>
    <p:sldId id="275" r:id="rId17"/>
    <p:sldId id="263" r:id="rId18"/>
    <p:sldId id="273" r:id="rId19"/>
    <p:sldId id="260" r:id="rId20"/>
    <p:sldId id="259" r:id="rId21"/>
    <p:sldId id="274"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91"/>
    <p:restoredTop sz="94708"/>
  </p:normalViewPr>
  <p:slideViewPr>
    <p:cSldViewPr snapToGrid="0">
      <p:cViewPr varScale="1">
        <p:scale>
          <a:sx n="178" d="100"/>
          <a:sy n="178" d="100"/>
        </p:scale>
        <p:origin x="176"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6AE2163-C00D-CD4C-9C52-5434BA3F725F}"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07512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03974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8376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7458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F4DDFF3-E6A9-4B4D-83C7-AAB4195494C3}" type="datetimeFigureOut">
              <a:rPr lang="en-US" smtClean="0"/>
              <a:t>9/3/25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6AE2163-C00D-CD4C-9C52-5434BA3F725F}"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0659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F4DDFF3-E6A9-4B4D-83C7-AAB4195494C3}" type="datetimeFigureOut">
              <a:rPr lang="en-US" smtClean="0"/>
              <a:t>9/3/25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6AE2163-C00D-CD4C-9C52-5434BA3F725F}"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80041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DDFF3-E6A9-4B4D-83C7-AAB4195494C3}" type="datetimeFigureOut">
              <a:rPr lang="en-US" smtClean="0"/>
              <a:t>9/3/25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6AE2163-C00D-CD4C-9C52-5434BA3F725F}" type="slidenum">
              <a:rPr lang="en-US" smtClean="0"/>
              <a:t>‹#›</a:t>
            </a:fld>
            <a:endParaRPr lang="en-US"/>
          </a:p>
        </p:txBody>
      </p:sp>
    </p:spTree>
    <p:extLst>
      <p:ext uri="{BB962C8B-B14F-4D97-AF65-F5344CB8AC3E}">
        <p14:creationId xmlns:p14="http://schemas.microsoft.com/office/powerpoint/2010/main" val="357715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5696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377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1923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8202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3F4DDFF3-E6A9-4B4D-83C7-AAB4195494C3}" type="datetimeFigureOut">
              <a:rPr lang="en-US" smtClean="0"/>
              <a:t>9/3/25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6AE2163-C00D-CD4C-9C52-5434BA3F725F}"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473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841A8-89EE-CD8D-417C-84F8BB1821CA}"/>
              </a:ext>
            </a:extLst>
          </p:cNvPr>
          <p:cNvSpPr>
            <a:spLocks noGrp="1"/>
          </p:cNvSpPr>
          <p:nvPr>
            <p:ph type="ctrTitle"/>
          </p:nvPr>
        </p:nvSpPr>
        <p:spPr/>
        <p:txBody>
          <a:bodyPr/>
          <a:lstStyle/>
          <a:p>
            <a:r>
              <a:rPr lang="en-US" dirty="0"/>
              <a:t>Types of Visualizations</a:t>
            </a:r>
          </a:p>
        </p:txBody>
      </p:sp>
      <p:sp>
        <p:nvSpPr>
          <p:cNvPr id="3" name="Subtitle 2">
            <a:extLst>
              <a:ext uri="{FF2B5EF4-FFF2-40B4-BE49-F238E27FC236}">
                <a16:creationId xmlns:a16="http://schemas.microsoft.com/office/drawing/2014/main" id="{1A1C0211-0851-1F58-F92B-097613C28F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420677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43875-CAB7-1297-4830-9045127847A8}"/>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A91AC363-A92B-652A-D72F-39FABCEAEFFC}"/>
              </a:ext>
            </a:extLst>
          </p:cNvPr>
          <p:cNvSpPr>
            <a:spLocks noGrp="1"/>
          </p:cNvSpPr>
          <p:nvPr>
            <p:ph idx="1"/>
          </p:nvPr>
        </p:nvSpPr>
        <p:spPr/>
        <p:txBody>
          <a:bodyPr/>
          <a:lstStyle/>
          <a:p>
            <a:r>
              <a:rPr lang="en-US" dirty="0"/>
              <a:t>Today:</a:t>
            </a:r>
          </a:p>
          <a:p>
            <a:pPr lvl="1"/>
            <a:r>
              <a:rPr lang="en-US" dirty="0"/>
              <a:t>Chapter 5 – chart types. </a:t>
            </a:r>
          </a:p>
          <a:p>
            <a:pPr lvl="2"/>
            <a:r>
              <a:rPr lang="en-US" dirty="0"/>
              <a:t>Reach chapter 5, it is very short. </a:t>
            </a:r>
          </a:p>
          <a:p>
            <a:pPr lvl="2"/>
            <a:r>
              <a:rPr lang="en-US" dirty="0"/>
              <a:t>Look at visual vocabulary. </a:t>
            </a:r>
          </a:p>
          <a:p>
            <a:pPr lvl="1"/>
            <a:r>
              <a:rPr lang="en-US" dirty="0"/>
              <a:t>Some more tableau fun!</a:t>
            </a:r>
          </a:p>
          <a:p>
            <a:pPr lvl="2"/>
            <a:r>
              <a:rPr lang="en-US" dirty="0"/>
              <a:t>Load external files. </a:t>
            </a:r>
          </a:p>
          <a:p>
            <a:pPr lvl="2"/>
            <a:r>
              <a:rPr lang="en-US" dirty="0"/>
              <a:t>Basic data prep</a:t>
            </a:r>
            <a:r>
              <a:rPr lang="en-US"/>
              <a:t>/exploration. </a:t>
            </a:r>
          </a:p>
        </p:txBody>
      </p:sp>
    </p:spTree>
    <p:extLst>
      <p:ext uri="{BB962C8B-B14F-4D97-AF65-F5344CB8AC3E}">
        <p14:creationId xmlns:p14="http://schemas.microsoft.com/office/powerpoint/2010/main" val="61809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C2B9-A3F7-1966-5D62-57B18152CCB0}"/>
              </a:ext>
            </a:extLst>
          </p:cNvPr>
          <p:cNvSpPr>
            <a:spLocks noGrp="1"/>
          </p:cNvSpPr>
          <p:nvPr>
            <p:ph type="title"/>
          </p:nvPr>
        </p:nvSpPr>
        <p:spPr>
          <a:xfrm>
            <a:off x="1451579" y="804519"/>
            <a:ext cx="9603275" cy="1049235"/>
          </a:xfrm>
        </p:spPr>
        <p:txBody>
          <a:bodyPr>
            <a:normAutofit/>
          </a:bodyPr>
          <a:lstStyle/>
          <a:p>
            <a:r>
              <a:rPr lang="en-US" dirty="0"/>
              <a:t>Visualization Choices</a:t>
            </a:r>
          </a:p>
        </p:txBody>
      </p:sp>
      <p:pic>
        <p:nvPicPr>
          <p:cNvPr id="1028" name="Picture 4" descr="An Introduction to Tableau on Making Raw Data Useful - Analytics Vidhya">
            <a:extLst>
              <a:ext uri="{FF2B5EF4-FFF2-40B4-BE49-F238E27FC236}">
                <a16:creationId xmlns:a16="http://schemas.microsoft.com/office/drawing/2014/main" id="{E8A18C9E-FC6A-3C4B-53FC-BA1E34A1AD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23148"/>
            <a:ext cx="6892299" cy="32910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59D5C1F-34B6-35D1-6265-775BA4A49AA0}"/>
              </a:ext>
            </a:extLst>
          </p:cNvPr>
          <p:cNvSpPr>
            <a:spLocks noGrp="1"/>
          </p:cNvSpPr>
          <p:nvPr>
            <p:ph idx="1"/>
          </p:nvPr>
        </p:nvSpPr>
        <p:spPr>
          <a:xfrm>
            <a:off x="6892299" y="2015734"/>
            <a:ext cx="5299701" cy="4037747"/>
          </a:xfrm>
        </p:spPr>
        <p:txBody>
          <a:bodyPr>
            <a:normAutofit/>
          </a:bodyPr>
          <a:lstStyle/>
          <a:p>
            <a:pPr>
              <a:lnSpc>
                <a:spcPct val="110000"/>
              </a:lnSpc>
            </a:pPr>
            <a:r>
              <a:rPr lang="en-US" sz="2400" dirty="0"/>
              <a:t>Depending on the data and what you need to show, there are many different types of charts that may be useful. </a:t>
            </a:r>
          </a:p>
          <a:p>
            <a:pPr>
              <a:lnSpc>
                <a:spcPct val="110000"/>
              </a:lnSpc>
            </a:pPr>
            <a:r>
              <a:rPr lang="en-US" sz="2400" dirty="0"/>
              <a:t>With modern tools we can also make a large number of variations on these charts, and create new ones – sometimes easily, sometimes not. </a:t>
            </a:r>
          </a:p>
        </p:txBody>
      </p:sp>
    </p:spTree>
    <p:extLst>
      <p:ext uri="{BB962C8B-B14F-4D97-AF65-F5344CB8AC3E}">
        <p14:creationId xmlns:p14="http://schemas.microsoft.com/office/powerpoint/2010/main" val="1743843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B57A-693F-6152-EECB-5F9DCE2DB113}"/>
              </a:ext>
            </a:extLst>
          </p:cNvPr>
          <p:cNvSpPr>
            <a:spLocks noGrp="1"/>
          </p:cNvSpPr>
          <p:nvPr>
            <p:ph type="title"/>
          </p:nvPr>
        </p:nvSpPr>
        <p:spPr/>
        <p:txBody>
          <a:bodyPr/>
          <a:lstStyle/>
          <a:p>
            <a:r>
              <a:rPr lang="en-US" dirty="0"/>
              <a:t>Choosing Visualization Types</a:t>
            </a:r>
          </a:p>
        </p:txBody>
      </p:sp>
      <p:sp>
        <p:nvSpPr>
          <p:cNvPr id="3" name="Content Placeholder 2">
            <a:extLst>
              <a:ext uri="{FF2B5EF4-FFF2-40B4-BE49-F238E27FC236}">
                <a16:creationId xmlns:a16="http://schemas.microsoft.com/office/drawing/2014/main" id="{84DB1D96-7BAE-42BD-9442-71FADCA17F35}"/>
              </a:ext>
            </a:extLst>
          </p:cNvPr>
          <p:cNvSpPr>
            <a:spLocks noGrp="1"/>
          </p:cNvSpPr>
          <p:nvPr>
            <p:ph idx="1"/>
          </p:nvPr>
        </p:nvSpPr>
        <p:spPr>
          <a:xfrm>
            <a:off x="1451579" y="2015732"/>
            <a:ext cx="9603275" cy="4037749"/>
          </a:xfrm>
        </p:spPr>
        <p:txBody>
          <a:bodyPr/>
          <a:lstStyle/>
          <a:p>
            <a:r>
              <a:rPr lang="en-US" dirty="0"/>
              <a:t>Recall the visual vocabulary, it gave us good examples for common things. </a:t>
            </a:r>
          </a:p>
          <a:p>
            <a:r>
              <a:rPr lang="en-US" dirty="0"/>
              <a:t>The #1 priority is clearly communicating. </a:t>
            </a:r>
          </a:p>
          <a:p>
            <a:pPr lvl="1"/>
            <a:r>
              <a:rPr lang="en-US" dirty="0"/>
              <a:t>Start with something that we know works. </a:t>
            </a:r>
          </a:p>
          <a:p>
            <a:pPr lvl="1"/>
            <a:r>
              <a:rPr lang="en-US" dirty="0"/>
              <a:t>Add additional stuff (density, features…) incrementally, making sure it still makes sense. </a:t>
            </a:r>
          </a:p>
          <a:p>
            <a:r>
              <a:rPr lang="en-US" dirty="0"/>
              <a:t>Make large departures only when you can be sure it works. </a:t>
            </a:r>
          </a:p>
          <a:p>
            <a:pPr lvl="1"/>
            <a:r>
              <a:rPr lang="en-US" dirty="0"/>
              <a:t>Doing totally new, creative things might be brilliant. </a:t>
            </a:r>
          </a:p>
          <a:p>
            <a:pPr lvl="1"/>
            <a:r>
              <a:rPr lang="en-US" dirty="0"/>
              <a:t>The farther you depart from the standards, the higher the risk is of it being terrible. </a:t>
            </a:r>
          </a:p>
        </p:txBody>
      </p:sp>
    </p:spTree>
    <p:extLst>
      <p:ext uri="{BB962C8B-B14F-4D97-AF65-F5344CB8AC3E}">
        <p14:creationId xmlns:p14="http://schemas.microsoft.com/office/powerpoint/2010/main" val="661047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6E8DA-B37F-44B9-F7F0-2EB2646201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8EC2004-2F95-4165-D5C0-7B70E7C9F0A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28205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B2F5-FD9D-A7C4-6D95-9CAE9E2295D7}"/>
              </a:ext>
            </a:extLst>
          </p:cNvPr>
          <p:cNvSpPr>
            <a:spLocks noGrp="1"/>
          </p:cNvSpPr>
          <p:nvPr>
            <p:ph type="title"/>
          </p:nvPr>
        </p:nvSpPr>
        <p:spPr/>
        <p:txBody>
          <a:bodyPr/>
          <a:lstStyle/>
          <a:p>
            <a:r>
              <a:rPr lang="en-US" dirty="0"/>
              <a:t>What do you need to Say with that Data?</a:t>
            </a:r>
          </a:p>
        </p:txBody>
      </p:sp>
      <p:sp>
        <p:nvSpPr>
          <p:cNvPr id="3" name="Content Placeholder 2">
            <a:extLst>
              <a:ext uri="{FF2B5EF4-FFF2-40B4-BE49-F238E27FC236}">
                <a16:creationId xmlns:a16="http://schemas.microsoft.com/office/drawing/2014/main" id="{76A4239F-6610-9E70-BDF8-A11E59303FAE}"/>
              </a:ext>
            </a:extLst>
          </p:cNvPr>
          <p:cNvSpPr>
            <a:spLocks noGrp="1"/>
          </p:cNvSpPr>
          <p:nvPr>
            <p:ph idx="1"/>
          </p:nvPr>
        </p:nvSpPr>
        <p:spPr>
          <a:xfrm>
            <a:off x="1451579" y="2015732"/>
            <a:ext cx="10004697" cy="4037749"/>
          </a:xfrm>
        </p:spPr>
        <p:txBody>
          <a:bodyPr/>
          <a:lstStyle/>
          <a:p>
            <a:r>
              <a:rPr lang="en-US" dirty="0"/>
              <a:t>If we have some value (sales, covid deaths, count of people with each hair color) shown in a plot, we need to think of what we want someone to see from that data. </a:t>
            </a:r>
          </a:p>
          <a:p>
            <a:pPr lvl="1"/>
            <a:r>
              <a:rPr lang="en-US" dirty="0"/>
              <a:t>Do I want to compare the sum of sales for each store, or look at the trend of sales over months? </a:t>
            </a:r>
          </a:p>
          <a:p>
            <a:pPr lvl="1"/>
            <a:r>
              <a:rPr lang="en-US" dirty="0"/>
              <a:t>Or do I want to see the share of sales for each product type?</a:t>
            </a:r>
          </a:p>
          <a:p>
            <a:r>
              <a:rPr lang="en-US" dirty="0"/>
              <a:t>Depending on what we want to examine, different charts will help. </a:t>
            </a:r>
          </a:p>
        </p:txBody>
      </p:sp>
    </p:spTree>
    <p:extLst>
      <p:ext uri="{BB962C8B-B14F-4D97-AF65-F5344CB8AC3E}">
        <p14:creationId xmlns:p14="http://schemas.microsoft.com/office/powerpoint/2010/main" val="1929278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382B6-59A5-AEAB-5DBF-65215E5C0A69}"/>
              </a:ext>
            </a:extLst>
          </p:cNvPr>
          <p:cNvSpPr>
            <a:spLocks noGrp="1"/>
          </p:cNvSpPr>
          <p:nvPr>
            <p:ph type="title"/>
          </p:nvPr>
        </p:nvSpPr>
        <p:spPr/>
        <p:txBody>
          <a:bodyPr/>
          <a:lstStyle/>
          <a:p>
            <a:r>
              <a:rPr lang="en-US" dirty="0"/>
              <a:t>Comparisons</a:t>
            </a:r>
          </a:p>
        </p:txBody>
      </p:sp>
      <p:sp>
        <p:nvSpPr>
          <p:cNvPr id="3" name="Content Placeholder 2">
            <a:extLst>
              <a:ext uri="{FF2B5EF4-FFF2-40B4-BE49-F238E27FC236}">
                <a16:creationId xmlns:a16="http://schemas.microsoft.com/office/drawing/2014/main" id="{60D520A3-26C6-11C1-A9D5-81A185D37F86}"/>
              </a:ext>
            </a:extLst>
          </p:cNvPr>
          <p:cNvSpPr>
            <a:spLocks noGrp="1"/>
          </p:cNvSpPr>
          <p:nvPr>
            <p:ph idx="1"/>
          </p:nvPr>
        </p:nvSpPr>
        <p:spPr>
          <a:xfrm>
            <a:off x="1451579" y="2363128"/>
            <a:ext cx="9603275" cy="3690353"/>
          </a:xfrm>
        </p:spPr>
        <p:txBody>
          <a:bodyPr/>
          <a:lstStyle/>
          <a:p>
            <a:r>
              <a:rPr lang="en-US" dirty="0"/>
              <a:t>When comparing values, we likely want something that is a bar chart or some derivative. </a:t>
            </a:r>
          </a:p>
          <a:p>
            <a:pPr lvl="1"/>
            <a:r>
              <a:rPr lang="en-US" dirty="0"/>
              <a:t>E.g. replace bars with some other mark. </a:t>
            </a:r>
          </a:p>
          <a:p>
            <a:pPr lvl="1"/>
            <a:r>
              <a:rPr lang="en-US" dirty="0"/>
              <a:t>Position/length communicates main value. </a:t>
            </a:r>
          </a:p>
          <a:p>
            <a:r>
              <a:rPr lang="en-US" dirty="0"/>
              <a:t>Ordering is usually good. </a:t>
            </a:r>
          </a:p>
          <a:p>
            <a:r>
              <a:rPr lang="en-US" dirty="0"/>
              <a:t>Consider orientation – readability and logic. </a:t>
            </a:r>
          </a:p>
        </p:txBody>
      </p:sp>
      <p:pic>
        <p:nvPicPr>
          <p:cNvPr id="1026" name="Picture 2">
            <a:extLst>
              <a:ext uri="{FF2B5EF4-FFF2-40B4-BE49-F238E27FC236}">
                <a16:creationId xmlns:a16="http://schemas.microsoft.com/office/drawing/2014/main" id="{6ACF78D7-0588-FF88-338C-93E049F67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25000"/>
          <a:stretch>
            <a:fillRect/>
          </a:stretch>
        </p:blipFill>
        <p:spPr bwMode="auto">
          <a:xfrm>
            <a:off x="5087815" y="0"/>
            <a:ext cx="7104185" cy="236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051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F4A2A-63D8-A34E-4B03-55F01C9553F6}"/>
              </a:ext>
            </a:extLst>
          </p:cNvPr>
          <p:cNvSpPr>
            <a:spLocks noGrp="1"/>
          </p:cNvSpPr>
          <p:nvPr>
            <p:ph type="title"/>
          </p:nvPr>
        </p:nvSpPr>
        <p:spPr/>
        <p:txBody>
          <a:bodyPr/>
          <a:lstStyle/>
          <a:p>
            <a:r>
              <a:rPr lang="en-US" dirty="0"/>
              <a:t>Multi-Comparison</a:t>
            </a:r>
          </a:p>
        </p:txBody>
      </p:sp>
      <p:sp>
        <p:nvSpPr>
          <p:cNvPr id="3" name="Content Placeholder 2">
            <a:extLst>
              <a:ext uri="{FF2B5EF4-FFF2-40B4-BE49-F238E27FC236}">
                <a16:creationId xmlns:a16="http://schemas.microsoft.com/office/drawing/2014/main" id="{30933FC8-7321-E229-22FA-88B25A68EFEB}"/>
              </a:ext>
            </a:extLst>
          </p:cNvPr>
          <p:cNvSpPr>
            <a:spLocks noGrp="1"/>
          </p:cNvSpPr>
          <p:nvPr>
            <p:ph idx="1"/>
          </p:nvPr>
        </p:nvSpPr>
        <p:spPr>
          <a:xfrm>
            <a:off x="6351515" y="2015732"/>
            <a:ext cx="5735982" cy="4037749"/>
          </a:xfrm>
        </p:spPr>
        <p:txBody>
          <a:bodyPr>
            <a:normAutofit/>
          </a:bodyPr>
          <a:lstStyle/>
          <a:p>
            <a:r>
              <a:rPr lang="en-US" dirty="0"/>
              <a:t>We can also compare multiple things at one time. </a:t>
            </a:r>
          </a:p>
          <a:p>
            <a:pPr lvl="1"/>
            <a:r>
              <a:rPr lang="en-US" dirty="0"/>
              <a:t>Stacked or group bars, or alternate marks. </a:t>
            </a:r>
          </a:p>
          <a:p>
            <a:pPr lvl="1"/>
            <a:r>
              <a:rPr lang="en-US" dirty="0"/>
              <a:t>Color or shape separates one group from another. </a:t>
            </a:r>
          </a:p>
          <a:p>
            <a:r>
              <a:rPr lang="en-US" dirty="0"/>
              <a:t>Think of what comparisons someone would actually do. </a:t>
            </a:r>
          </a:p>
          <a:p>
            <a:pPr lvl="1"/>
            <a:r>
              <a:rPr lang="en-US" dirty="0"/>
              <a:t>Can someone compare the things they need to easily?</a:t>
            </a:r>
          </a:p>
          <a:p>
            <a:pPr lvl="1"/>
            <a:r>
              <a:rPr lang="en-US" dirty="0"/>
              <a:t>What is the primary thing?</a:t>
            </a:r>
          </a:p>
          <a:p>
            <a:pPr lvl="1"/>
            <a:r>
              <a:rPr lang="en-US" dirty="0"/>
              <a:t>Is combining things helpful?</a:t>
            </a:r>
          </a:p>
        </p:txBody>
      </p:sp>
      <p:pic>
        <p:nvPicPr>
          <p:cNvPr id="2050" name="Picture 2">
            <a:extLst>
              <a:ext uri="{FF2B5EF4-FFF2-40B4-BE49-F238E27FC236}">
                <a16:creationId xmlns:a16="http://schemas.microsoft.com/office/drawing/2014/main" id="{DBD7AF3F-5D6E-792E-204E-9197D6AAAB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20686"/>
            <a:ext cx="6351515" cy="317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82155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2E5F1-E0CE-78D3-CB90-CF6C909706B6}"/>
              </a:ext>
            </a:extLst>
          </p:cNvPr>
          <p:cNvSpPr>
            <a:spLocks noGrp="1"/>
          </p:cNvSpPr>
          <p:nvPr>
            <p:ph type="title"/>
          </p:nvPr>
        </p:nvSpPr>
        <p:spPr>
          <a:xfrm>
            <a:off x="1451579" y="804519"/>
            <a:ext cx="9603275" cy="1049235"/>
          </a:xfrm>
        </p:spPr>
        <p:txBody>
          <a:bodyPr>
            <a:normAutofit/>
          </a:bodyPr>
          <a:lstStyle/>
          <a:p>
            <a:r>
              <a:rPr lang="en-US" dirty="0"/>
              <a:t>Distributions</a:t>
            </a:r>
          </a:p>
        </p:txBody>
      </p:sp>
      <p:sp>
        <p:nvSpPr>
          <p:cNvPr id="3" name="Content Placeholder 2">
            <a:extLst>
              <a:ext uri="{FF2B5EF4-FFF2-40B4-BE49-F238E27FC236}">
                <a16:creationId xmlns:a16="http://schemas.microsoft.com/office/drawing/2014/main" id="{CB4C3D52-D9B2-3328-1C3B-575383B87F1B}"/>
              </a:ext>
            </a:extLst>
          </p:cNvPr>
          <p:cNvSpPr>
            <a:spLocks noGrp="1"/>
          </p:cNvSpPr>
          <p:nvPr>
            <p:ph idx="1"/>
          </p:nvPr>
        </p:nvSpPr>
        <p:spPr>
          <a:xfrm>
            <a:off x="1451579" y="2015732"/>
            <a:ext cx="5289133" cy="4037749"/>
          </a:xfrm>
        </p:spPr>
        <p:txBody>
          <a:bodyPr>
            <a:normAutofit/>
          </a:bodyPr>
          <a:lstStyle/>
          <a:p>
            <a:r>
              <a:rPr lang="en-US" dirty="0"/>
              <a:t>A distribution is just a description of where along the range values fall. </a:t>
            </a:r>
          </a:p>
          <a:p>
            <a:pPr lvl="1"/>
            <a:r>
              <a:rPr lang="en-US" dirty="0"/>
              <a:t>E.g. if someone’s height can span from 4’6” to 7’7” or so, where along that are people? </a:t>
            </a:r>
          </a:p>
          <a:p>
            <a:r>
              <a:rPr lang="en-US" dirty="0"/>
              <a:t>Distributions are important in inferential stats. </a:t>
            </a:r>
          </a:p>
          <a:p>
            <a:pPr lvl="1"/>
            <a:r>
              <a:rPr lang="en-US" dirty="0"/>
              <a:t>Helps us to generalize and predict. </a:t>
            </a:r>
          </a:p>
          <a:p>
            <a:r>
              <a:rPr lang="en-US" dirty="0"/>
              <a:t>Common for comparisons – split data into M/F, compare income distributions. </a:t>
            </a:r>
          </a:p>
          <a:p>
            <a:endParaRPr lang="en-US" dirty="0"/>
          </a:p>
        </p:txBody>
      </p:sp>
      <p:grpSp>
        <p:nvGrpSpPr>
          <p:cNvPr id="4" name="Group 3">
            <a:extLst>
              <a:ext uri="{FF2B5EF4-FFF2-40B4-BE49-F238E27FC236}">
                <a16:creationId xmlns:a16="http://schemas.microsoft.com/office/drawing/2014/main" id="{85D15A2F-031B-981B-22E5-3327F1C6FFC1}"/>
              </a:ext>
            </a:extLst>
          </p:cNvPr>
          <p:cNvGrpSpPr/>
          <p:nvPr/>
        </p:nvGrpSpPr>
        <p:grpSpPr>
          <a:xfrm>
            <a:off x="6743700" y="1474271"/>
            <a:ext cx="5448300" cy="4726504"/>
            <a:chOff x="7877272" y="1474271"/>
            <a:chExt cx="4314728" cy="3204531"/>
          </a:xfrm>
        </p:grpSpPr>
        <p:pic>
          <p:nvPicPr>
            <p:cNvPr id="3076" name="Picture 4">
              <a:extLst>
                <a:ext uri="{FF2B5EF4-FFF2-40B4-BE49-F238E27FC236}">
                  <a16:creationId xmlns:a16="http://schemas.microsoft.com/office/drawing/2014/main" id="{408387BF-5B52-38A2-DAAE-4E860828728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1474271"/>
              <a:ext cx="4314728" cy="215736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34C2D62B-11EC-5327-03F7-321D86EA6A6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631633"/>
              <a:ext cx="4188677" cy="10471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53358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316F-2FC2-C93B-E7F0-6886E0BB5D63}"/>
              </a:ext>
            </a:extLst>
          </p:cNvPr>
          <p:cNvSpPr>
            <a:spLocks noGrp="1"/>
          </p:cNvSpPr>
          <p:nvPr>
            <p:ph type="title"/>
          </p:nvPr>
        </p:nvSpPr>
        <p:spPr>
          <a:xfrm>
            <a:off x="1451579" y="804519"/>
            <a:ext cx="9603275" cy="1049235"/>
          </a:xfrm>
        </p:spPr>
        <p:txBody>
          <a:bodyPr>
            <a:normAutofit/>
          </a:bodyPr>
          <a:lstStyle/>
          <a:p>
            <a:r>
              <a:rPr lang="en-US" dirty="0"/>
              <a:t>Proportion/Share</a:t>
            </a:r>
          </a:p>
        </p:txBody>
      </p:sp>
      <p:grpSp>
        <p:nvGrpSpPr>
          <p:cNvPr id="4" name="Group 3">
            <a:extLst>
              <a:ext uri="{FF2B5EF4-FFF2-40B4-BE49-F238E27FC236}">
                <a16:creationId xmlns:a16="http://schemas.microsoft.com/office/drawing/2014/main" id="{E5144027-024F-E993-C4DC-73A7C96AF9F2}"/>
              </a:ext>
            </a:extLst>
          </p:cNvPr>
          <p:cNvGrpSpPr/>
          <p:nvPr/>
        </p:nvGrpSpPr>
        <p:grpSpPr>
          <a:xfrm>
            <a:off x="0" y="2077146"/>
            <a:ext cx="5850731" cy="3802160"/>
            <a:chOff x="0" y="2077146"/>
            <a:chExt cx="4629161" cy="2314580"/>
          </a:xfrm>
        </p:grpSpPr>
        <p:pic>
          <p:nvPicPr>
            <p:cNvPr id="4098" name="Picture 2">
              <a:extLst>
                <a:ext uri="{FF2B5EF4-FFF2-40B4-BE49-F238E27FC236}">
                  <a16:creationId xmlns:a16="http://schemas.microsoft.com/office/drawing/2014/main" id="{84677A13-89CA-49A8-7CC5-E803297542E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77146"/>
              <a:ext cx="4629160" cy="115729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104B7DB5-C70B-CFFD-203E-95F393E46B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tretch>
              <a:fillRect/>
            </a:stretch>
          </p:blipFill>
          <p:spPr bwMode="auto">
            <a:xfrm>
              <a:off x="0" y="3234436"/>
              <a:ext cx="4629161" cy="1157290"/>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Content Placeholder 2">
            <a:extLst>
              <a:ext uri="{FF2B5EF4-FFF2-40B4-BE49-F238E27FC236}">
                <a16:creationId xmlns:a16="http://schemas.microsoft.com/office/drawing/2014/main" id="{89BAA20A-C846-0DBC-7D47-F2858984073F}"/>
              </a:ext>
            </a:extLst>
          </p:cNvPr>
          <p:cNvSpPr>
            <a:spLocks noGrp="1"/>
          </p:cNvSpPr>
          <p:nvPr>
            <p:ph idx="1"/>
          </p:nvPr>
        </p:nvSpPr>
        <p:spPr>
          <a:xfrm>
            <a:off x="5850730" y="2015732"/>
            <a:ext cx="5204123" cy="3450613"/>
          </a:xfrm>
        </p:spPr>
        <p:txBody>
          <a:bodyPr>
            <a:normAutofit/>
          </a:bodyPr>
          <a:lstStyle/>
          <a:p>
            <a:r>
              <a:rPr lang="en-US" dirty="0"/>
              <a:t>Several charts can show ”share of a whole”. </a:t>
            </a:r>
          </a:p>
          <a:p>
            <a:r>
              <a:rPr lang="en-US" dirty="0"/>
              <a:t>A pie chart is the classic, but it is almost always terrible. </a:t>
            </a:r>
          </a:p>
          <a:p>
            <a:pPr lvl="1"/>
            <a:r>
              <a:rPr lang="en-US" dirty="0"/>
              <a:t>Differentiating between small slice sizes is impractical. </a:t>
            </a:r>
          </a:p>
          <a:p>
            <a:pPr lvl="1"/>
            <a:r>
              <a:rPr lang="en-US" dirty="0"/>
              <a:t>A </a:t>
            </a:r>
            <a:r>
              <a:rPr lang="en-US" dirty="0" err="1"/>
              <a:t>treemap</a:t>
            </a:r>
            <a:r>
              <a:rPr lang="en-US" dirty="0"/>
              <a:t> is better. </a:t>
            </a:r>
          </a:p>
          <a:p>
            <a:r>
              <a:rPr lang="en-US" dirty="0"/>
              <a:t>What’s most important?</a:t>
            </a:r>
          </a:p>
          <a:p>
            <a:pPr lvl="1"/>
            <a:r>
              <a:rPr lang="en-US" dirty="0"/>
              <a:t>Proportion of whole or relative comparison?</a:t>
            </a:r>
          </a:p>
          <a:p>
            <a:pPr lvl="1"/>
            <a:endParaRPr lang="en-US" dirty="0"/>
          </a:p>
        </p:txBody>
      </p:sp>
    </p:spTree>
    <p:extLst>
      <p:ext uri="{BB962C8B-B14F-4D97-AF65-F5344CB8AC3E}">
        <p14:creationId xmlns:p14="http://schemas.microsoft.com/office/powerpoint/2010/main" val="4291523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92EE-DA3E-A0D6-5169-7404ED394385}"/>
              </a:ext>
            </a:extLst>
          </p:cNvPr>
          <p:cNvSpPr>
            <a:spLocks noGrp="1"/>
          </p:cNvSpPr>
          <p:nvPr>
            <p:ph type="title"/>
          </p:nvPr>
        </p:nvSpPr>
        <p:spPr>
          <a:xfrm>
            <a:off x="1451579" y="804519"/>
            <a:ext cx="9603275" cy="1049235"/>
          </a:xfrm>
        </p:spPr>
        <p:txBody>
          <a:bodyPr>
            <a:normAutofit/>
          </a:bodyPr>
          <a:lstStyle/>
          <a:p>
            <a:r>
              <a:rPr lang="en-US" dirty="0"/>
              <a:t>Relationships</a:t>
            </a:r>
          </a:p>
        </p:txBody>
      </p:sp>
      <p:sp>
        <p:nvSpPr>
          <p:cNvPr id="3" name="Content Placeholder 2">
            <a:extLst>
              <a:ext uri="{FF2B5EF4-FFF2-40B4-BE49-F238E27FC236}">
                <a16:creationId xmlns:a16="http://schemas.microsoft.com/office/drawing/2014/main" id="{028D1364-D557-1052-A5C5-09FC3A0B7502}"/>
              </a:ext>
            </a:extLst>
          </p:cNvPr>
          <p:cNvSpPr>
            <a:spLocks noGrp="1"/>
          </p:cNvSpPr>
          <p:nvPr>
            <p:ph idx="1"/>
          </p:nvPr>
        </p:nvSpPr>
        <p:spPr>
          <a:xfrm>
            <a:off x="571500" y="2015732"/>
            <a:ext cx="6700838" cy="3961624"/>
          </a:xfrm>
        </p:spPr>
        <p:txBody>
          <a:bodyPr>
            <a:normAutofit/>
          </a:bodyPr>
          <a:lstStyle/>
          <a:p>
            <a:r>
              <a:rPr lang="en-US" dirty="0"/>
              <a:t>Relationships between numeric variables are often best seen on a scatter plot. </a:t>
            </a:r>
          </a:p>
          <a:p>
            <a:pPr lvl="1"/>
            <a:r>
              <a:rPr lang="en-US" dirty="0"/>
              <a:t>For each increase in X, we see this change in Y. </a:t>
            </a:r>
          </a:p>
          <a:p>
            <a:r>
              <a:rPr lang="en-US" dirty="0"/>
              <a:t>Many variations exist – regression, hex, density. </a:t>
            </a:r>
          </a:p>
          <a:p>
            <a:pPr lvl="1"/>
            <a:r>
              <a:rPr lang="en-US" dirty="0"/>
              <a:t>Variations are good examples of ‘does it make sense’ – we make the data less ‘true’ to better show our point. </a:t>
            </a:r>
          </a:p>
          <a:p>
            <a:r>
              <a:rPr lang="en-US" dirty="0"/>
              <a:t>Can often encode other variables in color, shape, size, </a:t>
            </a:r>
            <a:r>
              <a:rPr lang="en-US" dirty="0" err="1"/>
              <a:t>etc</a:t>
            </a:r>
            <a:r>
              <a:rPr lang="en-US" dirty="0"/>
              <a:t>…</a:t>
            </a:r>
          </a:p>
          <a:p>
            <a:r>
              <a:rPr lang="en-US" dirty="0"/>
              <a:t>Foundation of ML – predictions via best fit. </a:t>
            </a:r>
          </a:p>
        </p:txBody>
      </p:sp>
      <p:grpSp>
        <p:nvGrpSpPr>
          <p:cNvPr id="4" name="Group 3">
            <a:extLst>
              <a:ext uri="{FF2B5EF4-FFF2-40B4-BE49-F238E27FC236}">
                <a16:creationId xmlns:a16="http://schemas.microsoft.com/office/drawing/2014/main" id="{DB1F179D-9FCA-C011-10E6-669F95B03CFC}"/>
              </a:ext>
            </a:extLst>
          </p:cNvPr>
          <p:cNvGrpSpPr/>
          <p:nvPr/>
        </p:nvGrpSpPr>
        <p:grpSpPr>
          <a:xfrm>
            <a:off x="7272337" y="1853754"/>
            <a:ext cx="6627019" cy="4123602"/>
            <a:chOff x="7877272" y="2155754"/>
            <a:chExt cx="4314728" cy="2157364"/>
          </a:xfrm>
        </p:grpSpPr>
        <p:pic>
          <p:nvPicPr>
            <p:cNvPr id="5122" name="Picture 2">
              <a:extLst>
                <a:ext uri="{FF2B5EF4-FFF2-40B4-BE49-F238E27FC236}">
                  <a16:creationId xmlns:a16="http://schemas.microsoft.com/office/drawing/2014/main" id="{CFD1EF93-B025-F220-51AF-A5E56D77278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2155754"/>
              <a:ext cx="4314728" cy="107868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7F1C3CD5-DB98-4566-257D-B1A252EED7B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234436"/>
              <a:ext cx="4314728" cy="107868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562258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6B216-8C91-5FF0-4D50-7282E191BD2B}"/>
              </a:ext>
            </a:extLst>
          </p:cNvPr>
          <p:cNvSpPr>
            <a:spLocks noGrp="1"/>
          </p:cNvSpPr>
          <p:nvPr>
            <p:ph type="title"/>
          </p:nvPr>
        </p:nvSpPr>
        <p:spPr/>
        <p:txBody>
          <a:bodyPr/>
          <a:lstStyle/>
          <a:p>
            <a:r>
              <a:rPr lang="en-US" dirty="0"/>
              <a:t>Geospatial Data</a:t>
            </a:r>
          </a:p>
        </p:txBody>
      </p:sp>
      <p:sp>
        <p:nvSpPr>
          <p:cNvPr id="3" name="Content Placeholder 2">
            <a:extLst>
              <a:ext uri="{FF2B5EF4-FFF2-40B4-BE49-F238E27FC236}">
                <a16:creationId xmlns:a16="http://schemas.microsoft.com/office/drawing/2014/main" id="{42863055-5ADC-AA70-D097-216936BE98C9}"/>
              </a:ext>
            </a:extLst>
          </p:cNvPr>
          <p:cNvSpPr>
            <a:spLocks noGrp="1"/>
          </p:cNvSpPr>
          <p:nvPr>
            <p:ph idx="1"/>
          </p:nvPr>
        </p:nvSpPr>
        <p:spPr>
          <a:xfrm>
            <a:off x="1451579" y="1853754"/>
            <a:ext cx="9603275" cy="2601589"/>
          </a:xfrm>
        </p:spPr>
        <p:txBody>
          <a:bodyPr/>
          <a:lstStyle/>
          <a:p>
            <a:r>
              <a:rPr lang="en-US" dirty="0"/>
              <a:t>Geospatial data has some geographic component, so it can be mapped. </a:t>
            </a:r>
          </a:p>
          <a:p>
            <a:r>
              <a:rPr lang="en-US" dirty="0"/>
              <a:t>The type of thing we can plot varies with data.</a:t>
            </a:r>
          </a:p>
          <a:p>
            <a:pPr lvl="1"/>
            <a:r>
              <a:rPr lang="en-US" dirty="0"/>
              <a:t>Latitude and longitude – we can plot points on a map. </a:t>
            </a:r>
          </a:p>
          <a:p>
            <a:pPr lvl="1"/>
            <a:r>
              <a:rPr lang="en-US" dirty="0"/>
              <a:t>‘Region’ (state/country) – we can plot a filled map. </a:t>
            </a:r>
          </a:p>
          <a:p>
            <a:r>
              <a:rPr lang="en-US" dirty="0"/>
              <a:t>Can be reshaped (final two) – what’s actually important? </a:t>
            </a:r>
          </a:p>
        </p:txBody>
      </p:sp>
      <p:pic>
        <p:nvPicPr>
          <p:cNvPr id="6146" name="Picture 2">
            <a:extLst>
              <a:ext uri="{FF2B5EF4-FFF2-40B4-BE49-F238E27FC236}">
                <a16:creationId xmlns:a16="http://schemas.microsoft.com/office/drawing/2014/main" id="{A70B4E04-334A-1569-3B99-0C6646A73A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1496" y="4455342"/>
            <a:ext cx="9403439" cy="234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89959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54177-147C-25B8-F782-192030782B36}"/>
              </a:ext>
            </a:extLst>
          </p:cNvPr>
          <p:cNvSpPr>
            <a:spLocks noGrp="1"/>
          </p:cNvSpPr>
          <p:nvPr>
            <p:ph type="title"/>
          </p:nvPr>
        </p:nvSpPr>
        <p:spPr/>
        <p:txBody>
          <a:bodyPr/>
          <a:lstStyle/>
          <a:p>
            <a:r>
              <a:rPr lang="en-US" dirty="0"/>
              <a:t>Maps and What I want to see</a:t>
            </a:r>
          </a:p>
        </p:txBody>
      </p:sp>
      <p:sp>
        <p:nvSpPr>
          <p:cNvPr id="3" name="Content Placeholder 2">
            <a:extLst>
              <a:ext uri="{FF2B5EF4-FFF2-40B4-BE49-F238E27FC236}">
                <a16:creationId xmlns:a16="http://schemas.microsoft.com/office/drawing/2014/main" id="{E2473E6F-3CB0-93A7-C936-677D19CE4739}"/>
              </a:ext>
            </a:extLst>
          </p:cNvPr>
          <p:cNvSpPr>
            <a:spLocks noGrp="1"/>
          </p:cNvSpPr>
          <p:nvPr>
            <p:ph idx="1"/>
          </p:nvPr>
        </p:nvSpPr>
        <p:spPr>
          <a:xfrm>
            <a:off x="6813430" y="2015732"/>
            <a:ext cx="5378570" cy="4115102"/>
          </a:xfrm>
        </p:spPr>
        <p:txBody>
          <a:bodyPr>
            <a:normAutofit/>
          </a:bodyPr>
          <a:lstStyle/>
          <a:p>
            <a:r>
              <a:rPr lang="en-US" dirty="0"/>
              <a:t>Density maps are a good example of changing data to make it less ’correct’ and more useful. </a:t>
            </a:r>
          </a:p>
          <a:p>
            <a:r>
              <a:rPr lang="en-US" dirty="0"/>
              <a:t>Instead of plotting points, we can plot the density of points. </a:t>
            </a:r>
          </a:p>
          <a:p>
            <a:pPr lvl="1"/>
            <a:r>
              <a:rPr lang="en-US" dirty="0"/>
              <a:t>Makes the data less specific – we lose the exact location of each point. </a:t>
            </a:r>
          </a:p>
          <a:p>
            <a:pPr lvl="1"/>
            <a:r>
              <a:rPr lang="en-US" dirty="0"/>
              <a:t>Makes the data more useful – if examining crime or locations of coffee shops, this does better. </a:t>
            </a:r>
          </a:p>
        </p:txBody>
      </p:sp>
      <p:pic>
        <p:nvPicPr>
          <p:cNvPr id="9218" name="Picture 2" descr="What is the Difference Between a Heat Map and a Hot Spot Map? - Geography  Realm">
            <a:extLst>
              <a:ext uri="{FF2B5EF4-FFF2-40B4-BE49-F238E27FC236}">
                <a16:creationId xmlns:a16="http://schemas.microsoft.com/office/drawing/2014/main" id="{04112D19-FE57-2C0D-5B42-2E2AB8E030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853754"/>
            <a:ext cx="6813430" cy="4576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67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C8E57-A0A4-522C-6156-4A1D9A86DD38}"/>
              </a:ext>
            </a:extLst>
          </p:cNvPr>
          <p:cNvSpPr>
            <a:spLocks noGrp="1"/>
          </p:cNvSpPr>
          <p:nvPr>
            <p:ph type="title"/>
          </p:nvPr>
        </p:nvSpPr>
        <p:spPr/>
        <p:txBody>
          <a:bodyPr/>
          <a:lstStyle/>
          <a:p>
            <a:r>
              <a:rPr lang="en-US" dirty="0"/>
              <a:t>Error and Uncertainty</a:t>
            </a:r>
          </a:p>
        </p:txBody>
      </p:sp>
      <p:sp>
        <p:nvSpPr>
          <p:cNvPr id="3" name="Content Placeholder 2">
            <a:extLst>
              <a:ext uri="{FF2B5EF4-FFF2-40B4-BE49-F238E27FC236}">
                <a16:creationId xmlns:a16="http://schemas.microsoft.com/office/drawing/2014/main" id="{1996AE90-4224-751E-F743-6E5E13095428}"/>
              </a:ext>
            </a:extLst>
          </p:cNvPr>
          <p:cNvSpPr>
            <a:spLocks noGrp="1"/>
          </p:cNvSpPr>
          <p:nvPr>
            <p:ph idx="1"/>
          </p:nvPr>
        </p:nvSpPr>
        <p:spPr>
          <a:xfrm>
            <a:off x="1451579" y="2015732"/>
            <a:ext cx="4644421" cy="3450613"/>
          </a:xfrm>
        </p:spPr>
        <p:txBody>
          <a:bodyPr/>
          <a:lstStyle/>
          <a:p>
            <a:r>
              <a:rPr lang="en-US" dirty="0"/>
              <a:t>Many values have some uncertainty to their value. </a:t>
            </a:r>
          </a:p>
          <a:p>
            <a:r>
              <a:rPr lang="en-US" dirty="0"/>
              <a:t>We can represent that in visualization. </a:t>
            </a:r>
          </a:p>
          <a:p>
            <a:r>
              <a:rPr lang="en-US" dirty="0"/>
              <a:t>Very common in inferential stats – we are predicting, but how certain are we?</a:t>
            </a:r>
          </a:p>
        </p:txBody>
      </p:sp>
      <p:grpSp>
        <p:nvGrpSpPr>
          <p:cNvPr id="4" name="Group 3">
            <a:extLst>
              <a:ext uri="{FF2B5EF4-FFF2-40B4-BE49-F238E27FC236}">
                <a16:creationId xmlns:a16="http://schemas.microsoft.com/office/drawing/2014/main" id="{3DEA483E-EF20-8DC5-5673-53B2D6CEDAFE}"/>
              </a:ext>
            </a:extLst>
          </p:cNvPr>
          <p:cNvGrpSpPr/>
          <p:nvPr/>
        </p:nvGrpSpPr>
        <p:grpSpPr>
          <a:xfrm>
            <a:off x="6096000" y="2282614"/>
            <a:ext cx="6096000" cy="3183731"/>
            <a:chOff x="0" y="1908175"/>
            <a:chExt cx="12192000" cy="6083300"/>
          </a:xfrm>
        </p:grpSpPr>
        <p:pic>
          <p:nvPicPr>
            <p:cNvPr id="7170" name="Picture 2">
              <a:extLst>
                <a:ext uri="{FF2B5EF4-FFF2-40B4-BE49-F238E27FC236}">
                  <a16:creationId xmlns:a16="http://schemas.microsoft.com/office/drawing/2014/main" id="{F02AF2DD-0D17-8A9D-BF59-8FC97C73E6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08175"/>
              <a:ext cx="12192000" cy="30416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13A54FA7-AC2A-0598-F7C3-6712B3F7BC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949825"/>
              <a:ext cx="12192000" cy="30416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181158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EBFDA-869F-B845-5039-09FF19D13B95}"/>
              </a:ext>
            </a:extLst>
          </p:cNvPr>
          <p:cNvSpPr>
            <a:spLocks noGrp="1"/>
          </p:cNvSpPr>
          <p:nvPr>
            <p:ph type="title"/>
          </p:nvPr>
        </p:nvSpPr>
        <p:spPr/>
        <p:txBody>
          <a:bodyPr/>
          <a:lstStyle/>
          <a:p>
            <a:r>
              <a:rPr lang="en-US" dirty="0"/>
              <a:t>Trends</a:t>
            </a:r>
          </a:p>
        </p:txBody>
      </p:sp>
      <p:sp>
        <p:nvSpPr>
          <p:cNvPr id="3" name="Content Placeholder 2">
            <a:extLst>
              <a:ext uri="{FF2B5EF4-FFF2-40B4-BE49-F238E27FC236}">
                <a16:creationId xmlns:a16="http://schemas.microsoft.com/office/drawing/2014/main" id="{EC36C9F6-172E-6286-2C9C-77AEC15D0DA1}"/>
              </a:ext>
            </a:extLst>
          </p:cNvPr>
          <p:cNvSpPr>
            <a:spLocks noGrp="1"/>
          </p:cNvSpPr>
          <p:nvPr>
            <p:ph idx="1"/>
          </p:nvPr>
        </p:nvSpPr>
        <p:spPr>
          <a:xfrm>
            <a:off x="4410891" y="2015732"/>
            <a:ext cx="6643963" cy="3450613"/>
          </a:xfrm>
        </p:spPr>
        <p:txBody>
          <a:bodyPr/>
          <a:lstStyle/>
          <a:p>
            <a:r>
              <a:rPr lang="en-US" dirty="0"/>
              <a:t>Trends are almost always best shown via a line chart. </a:t>
            </a:r>
          </a:p>
          <a:p>
            <a:pPr lvl="1"/>
            <a:r>
              <a:rPr lang="en-US" dirty="0"/>
              <a:t>Can compare by using color. </a:t>
            </a:r>
          </a:p>
          <a:p>
            <a:r>
              <a:rPr lang="en-US" dirty="0"/>
              <a:t>Line charts require a (identified) datetime value. </a:t>
            </a:r>
          </a:p>
          <a:p>
            <a:pPr lvl="1"/>
            <a:r>
              <a:rPr lang="en-US" dirty="0"/>
              <a:t>I.e. I want to see one point on the line every _______ . </a:t>
            </a:r>
          </a:p>
          <a:p>
            <a:r>
              <a:rPr lang="en-US" dirty="0"/>
              <a:t>We can do forecasting to project the future…</a:t>
            </a:r>
          </a:p>
        </p:txBody>
      </p:sp>
      <p:pic>
        <p:nvPicPr>
          <p:cNvPr id="8196" name="Picture 4" descr="Daily closing values of the Dow Jones Industrial Average for the year 2009, shown together with their 20-day, 50-day, and 100-day moving averages. (a) The moving averages are plotted at the end of the moving time windows. (b) The moving averages are plotted in the center of the moving time windows. Data source: Yahoo! Finance">
            <a:extLst>
              <a:ext uri="{FF2B5EF4-FFF2-40B4-BE49-F238E27FC236}">
                <a16:creationId xmlns:a16="http://schemas.microsoft.com/office/drawing/2014/main" id="{98614E61-14AE-A16B-14DD-2118FC96AD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42590"/>
            <a:ext cx="4410891" cy="4410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5766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09970-6E38-01AD-022F-E1816ECAE3D7}"/>
              </a:ext>
            </a:extLst>
          </p:cNvPr>
          <p:cNvSpPr>
            <a:spLocks noGrp="1"/>
          </p:cNvSpPr>
          <p:nvPr>
            <p:ph type="title"/>
          </p:nvPr>
        </p:nvSpPr>
        <p:spPr/>
        <p:txBody>
          <a:bodyPr/>
          <a:lstStyle/>
          <a:p>
            <a:r>
              <a:rPr lang="en-US" dirty="0"/>
              <a:t>Flow</a:t>
            </a:r>
          </a:p>
        </p:txBody>
      </p:sp>
      <p:sp>
        <p:nvSpPr>
          <p:cNvPr id="3" name="Content Placeholder 2">
            <a:extLst>
              <a:ext uri="{FF2B5EF4-FFF2-40B4-BE49-F238E27FC236}">
                <a16:creationId xmlns:a16="http://schemas.microsoft.com/office/drawing/2014/main" id="{C1B27C59-EC8B-4B6A-8FD9-07A426BA7B19}"/>
              </a:ext>
            </a:extLst>
          </p:cNvPr>
          <p:cNvSpPr>
            <a:spLocks noGrp="1"/>
          </p:cNvSpPr>
          <p:nvPr>
            <p:ph idx="1"/>
          </p:nvPr>
        </p:nvSpPr>
        <p:spPr>
          <a:xfrm>
            <a:off x="7772400" y="2015732"/>
            <a:ext cx="4419600" cy="3450613"/>
          </a:xfrm>
        </p:spPr>
        <p:txBody>
          <a:bodyPr>
            <a:normAutofit/>
          </a:bodyPr>
          <a:lstStyle/>
          <a:p>
            <a:r>
              <a:rPr lang="en-US" dirty="0"/>
              <a:t>’Flow’ is showing how things move from A-&gt;B. </a:t>
            </a:r>
          </a:p>
          <a:p>
            <a:pPr lvl="1"/>
            <a:r>
              <a:rPr lang="en-US" dirty="0"/>
              <a:t>Starting point and end point. </a:t>
            </a:r>
          </a:p>
          <a:p>
            <a:pPr lvl="1"/>
            <a:r>
              <a:rPr lang="en-US" dirty="0"/>
              <a:t>How many As ended up in B…</a:t>
            </a:r>
          </a:p>
          <a:p>
            <a:r>
              <a:rPr lang="en-US" dirty="0"/>
              <a:t>Harder to illustrate clearly – more for complex visualizations. </a:t>
            </a:r>
          </a:p>
        </p:txBody>
      </p:sp>
      <p:pic>
        <p:nvPicPr>
          <p:cNvPr id="4" name="Picture 3">
            <a:extLst>
              <a:ext uri="{FF2B5EF4-FFF2-40B4-BE49-F238E27FC236}">
                <a16:creationId xmlns:a16="http://schemas.microsoft.com/office/drawing/2014/main" id="{DE7493DA-3E05-5AEC-EAC3-DF5EB891733B}"/>
              </a:ext>
            </a:extLst>
          </p:cNvPr>
          <p:cNvPicPr>
            <a:picLocks noChangeAspect="1"/>
          </p:cNvPicPr>
          <p:nvPr/>
        </p:nvPicPr>
        <p:blipFill>
          <a:blip r:embed="rId2"/>
          <a:stretch>
            <a:fillRect/>
          </a:stretch>
        </p:blipFill>
        <p:spPr>
          <a:xfrm>
            <a:off x="0" y="1423078"/>
            <a:ext cx="7772400" cy="5434922"/>
          </a:xfrm>
          <a:prstGeom prst="rect">
            <a:avLst/>
          </a:prstGeom>
        </p:spPr>
      </p:pic>
    </p:spTree>
    <p:extLst>
      <p:ext uri="{BB962C8B-B14F-4D97-AF65-F5344CB8AC3E}">
        <p14:creationId xmlns:p14="http://schemas.microsoft.com/office/powerpoint/2010/main" val="1195475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D719F-9033-C72B-D82C-09427C9B20DB}"/>
              </a:ext>
            </a:extLst>
          </p:cNvPr>
          <p:cNvSpPr>
            <a:spLocks noGrp="1"/>
          </p:cNvSpPr>
          <p:nvPr>
            <p:ph type="title"/>
          </p:nvPr>
        </p:nvSpPr>
        <p:spPr/>
        <p:txBody>
          <a:bodyPr/>
          <a:lstStyle/>
          <a:p>
            <a:r>
              <a:rPr lang="en-US" dirty="0"/>
              <a:t>Choosing Chart Type</a:t>
            </a:r>
          </a:p>
        </p:txBody>
      </p:sp>
      <p:sp>
        <p:nvSpPr>
          <p:cNvPr id="3" name="Content Placeholder 2">
            <a:extLst>
              <a:ext uri="{FF2B5EF4-FFF2-40B4-BE49-F238E27FC236}">
                <a16:creationId xmlns:a16="http://schemas.microsoft.com/office/drawing/2014/main" id="{4717C3A9-619D-2086-6F4F-42CB3AC7C538}"/>
              </a:ext>
            </a:extLst>
          </p:cNvPr>
          <p:cNvSpPr>
            <a:spLocks noGrp="1"/>
          </p:cNvSpPr>
          <p:nvPr>
            <p:ph idx="1"/>
          </p:nvPr>
        </p:nvSpPr>
        <p:spPr>
          <a:xfrm>
            <a:off x="1451579" y="2015732"/>
            <a:ext cx="9603275" cy="4037749"/>
          </a:xfrm>
        </p:spPr>
        <p:txBody>
          <a:bodyPr/>
          <a:lstStyle/>
          <a:p>
            <a:r>
              <a:rPr lang="en-US" dirty="0"/>
              <a:t>We want to choose a chart style that matches what we want to communicate. </a:t>
            </a:r>
          </a:p>
          <a:p>
            <a:pPr lvl="1"/>
            <a:r>
              <a:rPr lang="en-US" dirty="0"/>
              <a:t>Using something else might work, but it is a risk. </a:t>
            </a:r>
          </a:p>
          <a:p>
            <a:pPr lvl="1"/>
            <a:r>
              <a:rPr lang="en-US" dirty="0"/>
              <a:t>Start with something that is “known good”. </a:t>
            </a:r>
          </a:p>
          <a:p>
            <a:r>
              <a:rPr lang="en-US" dirty="0"/>
              <a:t>What, specifically, do we want someone to think/do with a value? </a:t>
            </a:r>
          </a:p>
          <a:p>
            <a:pPr lvl="1"/>
            <a:r>
              <a:rPr lang="en-US" dirty="0"/>
              <a:t>Do I want them to compare it, look at a trend in it, see what share of total it makes, </a:t>
            </a:r>
            <a:r>
              <a:rPr lang="en-US" dirty="0" err="1"/>
              <a:t>etc</a:t>
            </a:r>
            <a:r>
              <a:rPr lang="en-US" dirty="0"/>
              <a:t>…</a:t>
            </a:r>
          </a:p>
          <a:p>
            <a:pPr lvl="1"/>
            <a:r>
              <a:rPr lang="en-US" dirty="0"/>
              <a:t>If I look at a chart, does it help this? (If I have bar charts to show a trend, does it work?)</a:t>
            </a:r>
          </a:p>
          <a:p>
            <a:r>
              <a:rPr lang="en-US" dirty="0"/>
              <a:t>Choosing a good chart type is necessary but not sufficient. </a:t>
            </a:r>
          </a:p>
          <a:p>
            <a:pPr lvl="1"/>
            <a:r>
              <a:rPr lang="en-US" dirty="0"/>
              <a:t>These things aren’t a complete list of what can be made, they’re examples. </a:t>
            </a:r>
          </a:p>
        </p:txBody>
      </p:sp>
    </p:spTree>
    <p:extLst>
      <p:ext uri="{BB962C8B-B14F-4D97-AF65-F5344CB8AC3E}">
        <p14:creationId xmlns:p14="http://schemas.microsoft.com/office/powerpoint/2010/main" val="1193470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6C38-8A4C-BD48-D6F8-7CFD9F787838}"/>
              </a:ext>
            </a:extLst>
          </p:cNvPr>
          <p:cNvSpPr>
            <a:spLocks noGrp="1"/>
          </p:cNvSpPr>
          <p:nvPr>
            <p:ph type="title"/>
          </p:nvPr>
        </p:nvSpPr>
        <p:spPr/>
        <p:txBody>
          <a:bodyPr/>
          <a:lstStyle/>
          <a:p>
            <a:r>
              <a:rPr lang="en-US" dirty="0"/>
              <a:t>Visual Vocabulary</a:t>
            </a:r>
          </a:p>
        </p:txBody>
      </p:sp>
      <p:sp>
        <p:nvSpPr>
          <p:cNvPr id="3" name="Content Placeholder 2">
            <a:extLst>
              <a:ext uri="{FF2B5EF4-FFF2-40B4-BE49-F238E27FC236}">
                <a16:creationId xmlns:a16="http://schemas.microsoft.com/office/drawing/2014/main" id="{E39225C4-6DF3-28D0-A217-53CB250E3ED5}"/>
              </a:ext>
            </a:extLst>
          </p:cNvPr>
          <p:cNvSpPr>
            <a:spLocks noGrp="1"/>
          </p:cNvSpPr>
          <p:nvPr>
            <p:ph idx="1"/>
          </p:nvPr>
        </p:nvSpPr>
        <p:spPr>
          <a:xfrm>
            <a:off x="705395" y="2015732"/>
            <a:ext cx="3714206" cy="3450613"/>
          </a:xfrm>
        </p:spPr>
        <p:txBody>
          <a:bodyPr/>
          <a:lstStyle/>
          <a:p>
            <a:r>
              <a:rPr lang="en-US" dirty="0"/>
              <a:t>The Visual Vocabulary page gives more examples of common things we may need to show. </a:t>
            </a:r>
          </a:p>
          <a:p>
            <a:r>
              <a:rPr lang="en-US" dirty="0"/>
              <a:t>Start here, adjust as needed. </a:t>
            </a:r>
          </a:p>
        </p:txBody>
      </p:sp>
      <p:pic>
        <p:nvPicPr>
          <p:cNvPr id="4" name="Picture 3">
            <a:extLst>
              <a:ext uri="{FF2B5EF4-FFF2-40B4-BE49-F238E27FC236}">
                <a16:creationId xmlns:a16="http://schemas.microsoft.com/office/drawing/2014/main" id="{21D2D77A-B11D-627D-99F3-DED79AFAB55D}"/>
              </a:ext>
            </a:extLst>
          </p:cNvPr>
          <p:cNvPicPr>
            <a:picLocks noChangeAspect="1"/>
          </p:cNvPicPr>
          <p:nvPr/>
        </p:nvPicPr>
        <p:blipFill>
          <a:blip r:embed="rId2"/>
          <a:stretch>
            <a:fillRect/>
          </a:stretch>
        </p:blipFill>
        <p:spPr>
          <a:xfrm>
            <a:off x="4419600" y="1853754"/>
            <a:ext cx="7772400" cy="4111486"/>
          </a:xfrm>
          <a:prstGeom prst="rect">
            <a:avLst/>
          </a:prstGeom>
        </p:spPr>
      </p:pic>
    </p:spTree>
    <p:extLst>
      <p:ext uri="{BB962C8B-B14F-4D97-AF65-F5344CB8AC3E}">
        <p14:creationId xmlns:p14="http://schemas.microsoft.com/office/powerpoint/2010/main" val="1519593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9E4ED-4737-CBEA-EC7D-4F7B3C8DF1E2}"/>
              </a:ext>
            </a:extLst>
          </p:cNvPr>
          <p:cNvSpPr>
            <a:spLocks noGrp="1"/>
          </p:cNvSpPr>
          <p:nvPr>
            <p:ph type="title"/>
          </p:nvPr>
        </p:nvSpPr>
        <p:spPr/>
        <p:txBody>
          <a:bodyPr/>
          <a:lstStyle/>
          <a:p>
            <a:r>
              <a:rPr lang="en-US" dirty="0"/>
              <a:t>Elaborate Visualizations</a:t>
            </a:r>
          </a:p>
        </p:txBody>
      </p:sp>
      <p:sp>
        <p:nvSpPr>
          <p:cNvPr id="3" name="Content Placeholder 2">
            <a:extLst>
              <a:ext uri="{FF2B5EF4-FFF2-40B4-BE49-F238E27FC236}">
                <a16:creationId xmlns:a16="http://schemas.microsoft.com/office/drawing/2014/main" id="{92B0EA7E-C2FD-4110-00B8-04218A6EDBA8}"/>
              </a:ext>
            </a:extLst>
          </p:cNvPr>
          <p:cNvSpPr>
            <a:spLocks noGrp="1"/>
          </p:cNvSpPr>
          <p:nvPr>
            <p:ph idx="1"/>
          </p:nvPr>
        </p:nvSpPr>
        <p:spPr/>
        <p:txBody>
          <a:bodyPr/>
          <a:lstStyle/>
          <a:p>
            <a:r>
              <a:rPr lang="en-US" dirty="0"/>
              <a:t>Some Tableau visualizations are fancy and don’t directly resemble these. </a:t>
            </a:r>
          </a:p>
        </p:txBody>
      </p:sp>
    </p:spTree>
    <p:extLst>
      <p:ext uri="{BB962C8B-B14F-4D97-AF65-F5344CB8AC3E}">
        <p14:creationId xmlns:p14="http://schemas.microsoft.com/office/powerpoint/2010/main" val="106654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33B8B-DD36-BE3F-CFF7-728AAB7EE65E}"/>
              </a:ext>
            </a:extLst>
          </p:cNvPr>
          <p:cNvSpPr>
            <a:spLocks noGrp="1"/>
          </p:cNvSpPr>
          <p:nvPr>
            <p:ph type="title"/>
          </p:nvPr>
        </p:nvSpPr>
        <p:spPr/>
        <p:txBody>
          <a:bodyPr/>
          <a:lstStyle/>
          <a:p>
            <a:r>
              <a:rPr lang="en-US" dirty="0"/>
              <a:t>Complex Tableau Visualizations</a:t>
            </a:r>
          </a:p>
        </p:txBody>
      </p:sp>
      <p:sp>
        <p:nvSpPr>
          <p:cNvPr id="3" name="Content Placeholder 2">
            <a:extLst>
              <a:ext uri="{FF2B5EF4-FFF2-40B4-BE49-F238E27FC236}">
                <a16:creationId xmlns:a16="http://schemas.microsoft.com/office/drawing/2014/main" id="{EFB02C33-5C3D-ADDA-125C-ECC857E0B194}"/>
              </a:ext>
            </a:extLst>
          </p:cNvPr>
          <p:cNvSpPr>
            <a:spLocks noGrp="1"/>
          </p:cNvSpPr>
          <p:nvPr>
            <p:ph idx="1"/>
          </p:nvPr>
        </p:nvSpPr>
        <p:spPr>
          <a:xfrm>
            <a:off x="1451579" y="1920240"/>
            <a:ext cx="9603275" cy="4133241"/>
          </a:xfrm>
        </p:spPr>
        <p:txBody>
          <a:bodyPr/>
          <a:lstStyle/>
          <a:p>
            <a:r>
              <a:rPr lang="en-US" dirty="0"/>
              <a:t>To do things that are complex in Tableau typically requires several steps. </a:t>
            </a:r>
          </a:p>
          <a:p>
            <a:r>
              <a:rPr lang="en-US" dirty="0"/>
              <a:t>Creating odd chart designs off the top of your head is pretty hard. </a:t>
            </a:r>
          </a:p>
          <a:p>
            <a:r>
              <a:rPr lang="en-US" dirty="0"/>
              <a:t>For you, this will generally involve copying and adjusting some example. </a:t>
            </a:r>
          </a:p>
          <a:p>
            <a:pPr lvl="1"/>
            <a:r>
              <a:rPr lang="en-US" dirty="0"/>
              <a:t>Find something that is similar in terms of what it shows – comparison, trend, share, </a:t>
            </a:r>
            <a:r>
              <a:rPr lang="en-US" dirty="0" err="1"/>
              <a:t>etc</a:t>
            </a:r>
            <a:r>
              <a:rPr lang="en-US" dirty="0"/>
              <a:t>…</a:t>
            </a:r>
          </a:p>
          <a:p>
            <a:pPr lvl="1"/>
            <a:r>
              <a:rPr lang="en-US" dirty="0"/>
              <a:t>Adapt those instructions to your data. </a:t>
            </a:r>
          </a:p>
          <a:p>
            <a:pPr lvl="1"/>
            <a:r>
              <a:rPr lang="en-US" dirty="0"/>
              <a:t>This process is something that you want to get good at if you are doing this for real, it does take several times to get used to and can be frustrating. </a:t>
            </a:r>
          </a:p>
        </p:txBody>
      </p:sp>
    </p:spTree>
    <p:extLst>
      <p:ext uri="{BB962C8B-B14F-4D97-AF65-F5344CB8AC3E}">
        <p14:creationId xmlns:p14="http://schemas.microsoft.com/office/powerpoint/2010/main" val="4095582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F77C4-DF21-EF8E-6341-48DF60815D7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5FFE7B85-4442-0D90-C3AA-C8E345CE1F8D}"/>
              </a:ext>
            </a:extLst>
          </p:cNvPr>
          <p:cNvSpPr>
            <a:spLocks noGrp="1"/>
          </p:cNvSpPr>
          <p:nvPr>
            <p:ph idx="1"/>
          </p:nvPr>
        </p:nvSpPr>
        <p:spPr>
          <a:xfrm>
            <a:off x="1451579" y="1907382"/>
            <a:ext cx="9603275" cy="4207668"/>
          </a:xfrm>
        </p:spPr>
        <p:txBody>
          <a:bodyPr/>
          <a:lstStyle/>
          <a:p>
            <a:r>
              <a:rPr lang="en-US" dirty="0"/>
              <a:t>In each of the chart types, we can add some Tableau fanciness if it makes sense. </a:t>
            </a:r>
          </a:p>
          <a:p>
            <a:pPr lvl="1"/>
            <a:r>
              <a:rPr lang="en-US" dirty="0"/>
              <a:t>We can usually encode some other variable in color/size/shape. </a:t>
            </a:r>
          </a:p>
          <a:p>
            <a:pPr lvl="2"/>
            <a:r>
              <a:rPr lang="en-US" dirty="0"/>
              <a:t>Does it make sense and does it make things better than adding a chart?</a:t>
            </a:r>
          </a:p>
          <a:p>
            <a:pPr lvl="1"/>
            <a:r>
              <a:rPr lang="en-US" dirty="0"/>
              <a:t>We can make charts interactive with each other on a dashboard. </a:t>
            </a:r>
          </a:p>
          <a:p>
            <a:pPr lvl="2"/>
            <a:r>
              <a:rPr lang="en-US" dirty="0"/>
              <a:t>Can we use interactivity (filter, highlighting, </a:t>
            </a:r>
            <a:r>
              <a:rPr lang="en-US" dirty="0" err="1"/>
              <a:t>etc</a:t>
            </a:r>
            <a:r>
              <a:rPr lang="en-US" dirty="0"/>
              <a:t>…) to make things even better?</a:t>
            </a:r>
          </a:p>
          <a:p>
            <a:pPr lvl="1"/>
            <a:r>
              <a:rPr lang="en-US" dirty="0"/>
              <a:t>Do we need/want other additions like filters? </a:t>
            </a:r>
          </a:p>
          <a:p>
            <a:r>
              <a:rPr lang="en-US" dirty="0"/>
              <a:t>Does what you intend to show come through clearly? </a:t>
            </a:r>
          </a:p>
          <a:p>
            <a:r>
              <a:rPr lang="en-US" dirty="0"/>
              <a:t>We’ll examine the math-y details more soon, but ‘does it make sense’ is the core idea. </a:t>
            </a:r>
          </a:p>
          <a:p>
            <a:r>
              <a:rPr lang="en-US" dirty="0"/>
              <a:t>Be additive – make something that does the job, then see if it can be better. </a:t>
            </a:r>
          </a:p>
        </p:txBody>
      </p:sp>
    </p:spTree>
    <p:extLst>
      <p:ext uri="{BB962C8B-B14F-4D97-AF65-F5344CB8AC3E}">
        <p14:creationId xmlns:p14="http://schemas.microsoft.com/office/powerpoint/2010/main" val="102314572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158</TotalTime>
  <Words>1268</Words>
  <Application>Microsoft Macintosh PowerPoint</Application>
  <PresentationFormat>Widescreen</PresentationFormat>
  <Paragraphs>116</Paragraphs>
  <Slides>21</Slides>
  <Notes>0</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Gill Sans MT</vt:lpstr>
      <vt:lpstr>Gallery</vt:lpstr>
      <vt:lpstr>Types of Visualizations</vt:lpstr>
      <vt:lpstr>Housekeeping</vt:lpstr>
      <vt:lpstr>Visualization Choices</vt:lpstr>
      <vt:lpstr>Choosing Visualization Types</vt:lpstr>
      <vt:lpstr>PowerPoint Presentation</vt:lpstr>
      <vt:lpstr>What do you need to Say with that Data?</vt:lpstr>
      <vt:lpstr>Comparisons</vt:lpstr>
      <vt:lpstr>Multi-Comparison</vt:lpstr>
      <vt:lpstr>Distributions</vt:lpstr>
      <vt:lpstr>Proportion/Share</vt:lpstr>
      <vt:lpstr>Relationships</vt:lpstr>
      <vt:lpstr>Geospatial Data</vt:lpstr>
      <vt:lpstr>Maps and What I want to see</vt:lpstr>
      <vt:lpstr>Error and Uncertainty</vt:lpstr>
      <vt:lpstr>Trends</vt:lpstr>
      <vt:lpstr>Flow</vt:lpstr>
      <vt:lpstr>Choosing Chart Type</vt:lpstr>
      <vt:lpstr>Visual Vocabulary</vt:lpstr>
      <vt:lpstr>Elaborate Visualizations</vt:lpstr>
      <vt:lpstr>Complex Tableau Visualizations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18</cp:revision>
  <dcterms:created xsi:type="dcterms:W3CDTF">2025-08-22T02:44:41Z</dcterms:created>
  <dcterms:modified xsi:type="dcterms:W3CDTF">2025-09-03T17:15:53Z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2025-08-22T02:45:00Z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9a6b49a1-dd0d-49c5-ae74-fa5f1488d329</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