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6"/>
  </p:notesMasterIdLst>
  <p:sldIdLst>
    <p:sldId id="374" r:id="rId2"/>
    <p:sldId id="375" r:id="rId3"/>
    <p:sldId id="256" r:id="rId4"/>
    <p:sldId id="257" r:id="rId5"/>
    <p:sldId id="306" r:id="rId6"/>
    <p:sldId id="362" r:id="rId7"/>
    <p:sldId id="258" r:id="rId8"/>
    <p:sldId id="364" r:id="rId9"/>
    <p:sldId id="369" r:id="rId10"/>
    <p:sldId id="371" r:id="rId11"/>
    <p:sldId id="333" r:id="rId12"/>
    <p:sldId id="370" r:id="rId13"/>
    <p:sldId id="353" r:id="rId14"/>
    <p:sldId id="304" r:id="rId15"/>
    <p:sldId id="305" r:id="rId16"/>
    <p:sldId id="363" r:id="rId17"/>
    <p:sldId id="334" r:id="rId18"/>
    <p:sldId id="307" r:id="rId19"/>
    <p:sldId id="308" r:id="rId20"/>
    <p:sldId id="310" r:id="rId21"/>
    <p:sldId id="367" r:id="rId22"/>
    <p:sldId id="354" r:id="rId23"/>
    <p:sldId id="366" r:id="rId24"/>
    <p:sldId id="355" r:id="rId25"/>
    <p:sldId id="373" r:id="rId26"/>
    <p:sldId id="356" r:id="rId27"/>
    <p:sldId id="357" r:id="rId28"/>
    <p:sldId id="358" r:id="rId29"/>
    <p:sldId id="359" r:id="rId30"/>
    <p:sldId id="360" r:id="rId31"/>
    <p:sldId id="376" r:id="rId32"/>
    <p:sldId id="368" r:id="rId33"/>
    <p:sldId id="372" r:id="rId34"/>
    <p:sldId id="365" r:id="rId3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browse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049"/>
    <p:restoredTop sz="94635"/>
  </p:normalViewPr>
  <p:slideViewPr>
    <p:cSldViewPr snapToGrid="0">
      <p:cViewPr varScale="1">
        <p:scale>
          <a:sx n="120" d="100"/>
          <a:sy n="120" d="100"/>
        </p:scale>
        <p:origin x="960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7A29A22-AD26-424E-97E1-6600CB23E09A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93E7A2-7B99-854A-B7E0-1D09A44BB7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8394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475663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9550159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07969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5960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268335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29146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678160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9458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>
              <a:spcBef>
                <a:spcPct val="0"/>
              </a:spcBef>
            </a:pPr>
            <a:endParaRPr lang="en-US"/>
          </a:p>
        </p:txBody>
      </p:sp>
      <p:sp>
        <p:nvSpPr>
          <p:cNvPr id="19459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 wrap="square" numCol="1" anchorCtr="0" compatLnSpc="1">
            <a:prstTxWarp prst="textNoShape">
              <a:avLst/>
            </a:prstTxWarp>
          </a:bodyPr>
          <a:lstStyle/>
          <a:p>
            <a:fld id="{D6227277-B0D8-4809-8878-D1ED6D19D374}" type="slidenum">
              <a:rPr lang="en-US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13952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417779" y="802298"/>
            <a:ext cx="8637073" cy="2541431"/>
          </a:xfrm>
        </p:spPr>
        <p:txBody>
          <a:bodyPr bIns="0" anchor="b">
            <a:normAutofit/>
          </a:bodyPr>
          <a:lstStyle>
            <a:lvl1pPr algn="l">
              <a:defRPr sz="6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417780" y="3531204"/>
            <a:ext cx="8637072" cy="977621"/>
          </a:xfrm>
        </p:spPr>
        <p:txBody>
          <a:bodyPr tIns="91440" bIns="91440">
            <a:normAutofit/>
          </a:bodyPr>
          <a:lstStyle>
            <a:lvl1pPr marL="0" indent="0" algn="l">
              <a:buNone/>
              <a:defRPr sz="1800" b="0" cap="all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18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416500" y="329307"/>
            <a:ext cx="4973915" cy="309201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437664" y="798973"/>
            <a:ext cx="811019" cy="503578"/>
          </a:xfrm>
        </p:spPr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2417780" y="3528542"/>
            <a:ext cx="863707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21774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3" name="Straight Connector 32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6289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4239" y="1756130"/>
            <a:ext cx="8643154" cy="1887950"/>
          </a:xfrm>
        </p:spPr>
        <p:txBody>
          <a:bodyPr anchor="b">
            <a:normAutofit/>
          </a:bodyPr>
          <a:lstStyle>
            <a:lvl1pPr algn="l"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4239" y="3806195"/>
            <a:ext cx="8630446" cy="1012929"/>
          </a:xfrm>
        </p:spPr>
        <p:txBody>
          <a:bodyPr tIns="91440">
            <a:normAutofit/>
          </a:bodyPr>
          <a:lstStyle>
            <a:lvl1pPr marL="0" indent="0" algn="l">
              <a:buNone/>
              <a:defRPr sz="18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1454239" y="3804985"/>
            <a:ext cx="8630446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995596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9217" y="804889"/>
            <a:ext cx="9605635" cy="1059305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447331" y="2010878"/>
            <a:ext cx="4645152" cy="344859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3771" y="2017343"/>
            <a:ext cx="4645152" cy="344152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5" name="Straight Connector 3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539796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7191" y="804163"/>
            <a:ext cx="9607661" cy="10563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47191" y="2019549"/>
            <a:ext cx="4645152" cy="801943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447191" y="2824269"/>
            <a:ext cx="4645152" cy="2644457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12362" y="2023003"/>
            <a:ext cx="4645152" cy="802237"/>
          </a:xfrm>
        </p:spPr>
        <p:txBody>
          <a:bodyPr anchor="b">
            <a:normAutofit/>
          </a:bodyPr>
          <a:lstStyle>
            <a:lvl1pPr marL="0" indent="0">
              <a:lnSpc>
                <a:spcPct val="100000"/>
              </a:lnSpc>
              <a:buNone/>
              <a:defRPr sz="2200" b="0" cap="all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12362" y="2821491"/>
            <a:ext cx="4645152" cy="26373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9" name="Straight Connector 28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706260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5" name="Straight Connector 24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39357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5736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4671" y="798973"/>
            <a:ext cx="3273099" cy="2247117"/>
          </a:xfrm>
        </p:spPr>
        <p:txBody>
          <a:bodyPr anchor="b">
            <a:normAutofit/>
          </a:bodyPr>
          <a:lstStyle>
            <a:lvl1pPr algn="l"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043714" y="798974"/>
            <a:ext cx="6012470" cy="4658826"/>
          </a:xfrm>
        </p:spPr>
        <p:txBody>
          <a:bodyPr anchor="ctr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44671" y="3205491"/>
            <a:ext cx="3275013" cy="2248181"/>
          </a:xfrm>
        </p:spPr>
        <p:txBody>
          <a:bodyPr/>
          <a:lstStyle>
            <a:lvl1pPr marL="0" indent="0" algn="l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7" name="Straight Connector 16"/>
          <p:cNvCxnSpPr/>
          <p:nvPr/>
        </p:nvCxnSpPr>
        <p:spPr>
          <a:xfrm>
            <a:off x="1448280" y="3205491"/>
            <a:ext cx="3269490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1698062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7477387" y="482170"/>
            <a:ext cx="4074533" cy="5149101"/>
            <a:chOff x="7477387" y="482170"/>
            <a:chExt cx="4074533" cy="5149101"/>
          </a:xfrm>
        </p:grpSpPr>
        <p:sp>
          <p:nvSpPr>
            <p:cNvPr id="18" name="Rectangle 17"/>
            <p:cNvSpPr/>
            <p:nvPr/>
          </p:nvSpPr>
          <p:spPr bwMode="black">
            <a:xfrm>
              <a:off x="7477387" y="482170"/>
              <a:ext cx="4074533" cy="5149101"/>
            </a:xfrm>
            <a:prstGeom prst="rect">
              <a:avLst/>
            </a:prstGeom>
            <a:gradFill>
              <a:gsLst>
                <a:gs pos="0">
                  <a:srgbClr val="000001"/>
                </a:gs>
                <a:gs pos="100000">
                  <a:srgbClr val="191919"/>
                </a:gs>
              </a:gsLst>
            </a:gradFill>
            <a:ln w="76200" cmpd="sng">
              <a:noFill/>
              <a:miter lim="800000"/>
            </a:ln>
            <a:effectLst>
              <a:outerShdw blurRad="127000" dist="228600" dir="4740000" sx="98000" sy="98000" algn="tl" rotWithShape="0">
                <a:srgbClr val="000000">
                  <a:alpha val="34000"/>
                </a:srgbClr>
              </a:outerShdw>
            </a:effectLst>
            <a:scene3d>
              <a:camera prst="orthographicFront"/>
              <a:lightRig rig="threePt" dir="t"/>
            </a:scene3d>
            <a:sp3d>
              <a:bevelT w="152400" h="50800" prst="softRound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Rectangle 18"/>
            <p:cNvSpPr/>
            <p:nvPr/>
          </p:nvSpPr>
          <p:spPr bwMode="blackWhite">
            <a:xfrm>
              <a:off x="7790446" y="812506"/>
              <a:ext cx="3450289" cy="4466452"/>
            </a:xfrm>
            <a:prstGeom prst="rect">
              <a:avLst/>
            </a:prstGeom>
            <a:gradFill>
              <a:gsLst>
                <a:gs pos="0">
                  <a:srgbClr val="DADADA"/>
                </a:gs>
                <a:gs pos="100000">
                  <a:srgbClr val="FFFFFE"/>
                </a:gs>
              </a:gsLst>
              <a:lin ang="16200000" scaled="0"/>
            </a:gradFill>
            <a:ln w="50800" cmpd="sng">
              <a:solidFill>
                <a:srgbClr val="191919"/>
              </a:solidFill>
              <a:miter lim="800000"/>
            </a:ln>
            <a:effectLst>
              <a:innerShdw blurRad="63500" dist="88900" dir="14100000">
                <a:srgbClr val="000000">
                  <a:alpha val="30000"/>
                </a:srgbClr>
              </a:innerShdw>
            </a:effectLst>
            <a:scene3d>
              <a:camera prst="orthographicFront"/>
              <a:lightRig rig="threePt" dir="t"/>
            </a:scene3d>
            <a:sp3d>
              <a:bevelT prst="relaxedInset"/>
            </a:sp3d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51206" y="1129513"/>
            <a:ext cx="5532328" cy="1830584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8124389" y="1122542"/>
            <a:ext cx="2791171" cy="3866327"/>
          </a:xfrm>
          <a:solidFill>
            <a:schemeClr val="bg1">
              <a:lumMod val="85000"/>
            </a:schemeClr>
          </a:solidFill>
          <a:ln w="9525" cap="sq">
            <a:noFill/>
            <a:miter lim="800000"/>
          </a:ln>
          <a:effectLst/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50329" y="3145992"/>
            <a:ext cx="5524404" cy="2003742"/>
          </a:xfrm>
        </p:spPr>
        <p:txBody>
          <a:bodyPr>
            <a:normAutofit/>
          </a:bodyPr>
          <a:lstStyle>
            <a:lvl1pPr marL="0" indent="0" algn="l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1447382" y="5469856"/>
            <a:ext cx="5527351" cy="320123"/>
          </a:xfrm>
        </p:spPr>
        <p:txBody>
          <a:bodyPr/>
          <a:lstStyle>
            <a:lvl1pPr algn="l">
              <a:defRPr/>
            </a:lvl1pPr>
          </a:lstStyle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1447382" y="318640"/>
            <a:ext cx="5541004" cy="320931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31" name="Straight Connector 30"/>
          <p:cNvCxnSpPr/>
          <p:nvPr/>
        </p:nvCxnSpPr>
        <p:spPr>
          <a:xfrm>
            <a:off x="1447382" y="3143605"/>
            <a:ext cx="5527351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272491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26" name="Straight Connector 25"/>
          <p:cNvCxnSpPr/>
          <p:nvPr/>
        </p:nvCxnSpPr>
        <p:spPr>
          <a:xfrm>
            <a:off x="1453896" y="1847088"/>
            <a:ext cx="9607522" cy="0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57389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439111" y="798973"/>
            <a:ext cx="1615742" cy="465988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444672" y="798973"/>
            <a:ext cx="7828830" cy="4659889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5" name="Straight Connector 14"/>
          <p:cNvCxnSpPr/>
          <p:nvPr/>
        </p:nvCxnSpPr>
        <p:spPr>
          <a:xfrm>
            <a:off x="9439111" y="798973"/>
            <a:ext cx="0" cy="4659889"/>
          </a:xfrm>
          <a:prstGeom prst="line">
            <a:avLst/>
          </a:prstGeom>
          <a:ln w="31750"/>
        </p:spPr>
        <p:style>
          <a:lnRef idx="3">
            <a:schemeClr val="accent1"/>
          </a:lnRef>
          <a:fillRef idx="0">
            <a:schemeClr val="accent1"/>
          </a:fillRef>
          <a:effectRef idx="2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5206665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2019476"/>
            <a:ext cx="12192000" cy="4105941"/>
          </a:xfrm>
          <a:prstGeom prst="rect">
            <a:avLst/>
          </a:prstGeom>
          <a:gradFill flip="none" rotWithShape="1">
            <a:gsLst>
              <a:gs pos="0">
                <a:schemeClr val="bg2">
                  <a:alpha val="0"/>
                </a:schemeClr>
              </a:gs>
              <a:gs pos="100000">
                <a:schemeClr val="bg2"/>
              </a:gs>
            </a:gsLst>
            <a:lin ang="5400000" scaled="0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538" b="-1538"/>
          <a:stretch/>
        </p:blipFill>
        <p:spPr bwMode="black">
          <a:xfrm>
            <a:off x="0" y="6126480"/>
            <a:ext cx="12192000" cy="742950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451579" y="804519"/>
            <a:ext cx="9603275" cy="1049235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451579" y="2015732"/>
            <a:ext cx="9603275" cy="345061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554138" y="330370"/>
            <a:ext cx="3500715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4FC9DC-8DDD-6E4D-8614-EDD71F05B5A3}" type="datetimeFigureOut">
              <a:rPr lang="en-US" smtClean="0"/>
              <a:t>1/30/26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1579" y="329307"/>
            <a:ext cx="5938836" cy="3092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0060" y="798973"/>
            <a:ext cx="811019" cy="503578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2800">
                <a:solidFill>
                  <a:schemeClr val="accent1"/>
                </a:solidFill>
              </a:defRPr>
            </a:lvl1pPr>
          </a:lstStyle>
          <a:p>
            <a:fld id="{E1C8267F-244E-0449-8411-A8FCBE351851}" type="slidenum">
              <a:rPr lang="en-US" smtClean="0"/>
              <a:t>‹#›</a:t>
            </a:fld>
            <a:endParaRPr 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0" y="6128413"/>
            <a:ext cx="12192000" cy="0"/>
          </a:xfrm>
          <a:prstGeom prst="line">
            <a:avLst/>
          </a:prstGeom>
          <a:ln w="12700">
            <a:solidFill>
              <a:srgbClr val="000001">
                <a:alpha val="20000"/>
              </a:srgb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3660435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0" i="0" kern="1200" cap="all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2000" kern="120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8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600" kern="120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400" kern="1200" cap="none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accent1"/>
        </a:buClr>
        <a:buSzPct val="100000"/>
        <a:buFont typeface="Arial" panose="020B0604020202020204" pitchFamily="34" charset="0"/>
        <a:buChar char="•"/>
        <a:defRPr sz="1200" kern="1200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tiff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tiff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4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gif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25B2DD-CCAF-56F3-68ED-3A98961D8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Housekeeping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650A98-FD55-30E1-4FE4-46BF20207B4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Today:</a:t>
            </a:r>
          </a:p>
          <a:p>
            <a:pPr lvl="1"/>
            <a:r>
              <a:rPr lang="en-US" dirty="0"/>
              <a:t>A closer look </a:t>
            </a:r>
            <a:r>
              <a:rPr lang="en-US"/>
              <a:t>at datasheets. </a:t>
            </a:r>
            <a:endParaRPr lang="en-US" dirty="0"/>
          </a:p>
          <a:p>
            <a:pPr lvl="1"/>
            <a:r>
              <a:rPr lang="en-US" dirty="0"/>
              <a:t>Data warehousing and ETL theory. </a:t>
            </a:r>
          </a:p>
          <a:p>
            <a:pPr lvl="1"/>
            <a:r>
              <a:rPr lang="en-US" dirty="0"/>
              <a:t>Joining datasets. </a:t>
            </a:r>
          </a:p>
          <a:p>
            <a:r>
              <a:rPr lang="en-US" dirty="0"/>
              <a:t>Next time – we’ll hold some time for </a:t>
            </a:r>
            <a:r>
              <a:rPr lang="en-US" dirty="0" err="1"/>
              <a:t>q+a</a:t>
            </a:r>
            <a:r>
              <a:rPr lang="en-US" dirty="0"/>
              <a:t> for assignment stuff. </a:t>
            </a:r>
          </a:p>
          <a:p>
            <a:r>
              <a:rPr lang="en-US" dirty="0"/>
              <a:t>There’s a holiday a week from today. 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492206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2C9F9D-3A9A-BC4C-D460-874DA626D3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Assignment – Some things to consider…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67C791-D4DB-FB92-6D79-4D13E3C371D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62615"/>
            <a:ext cx="9603275" cy="4090866"/>
          </a:xfrm>
        </p:spPr>
        <p:txBody>
          <a:bodyPr/>
          <a:lstStyle/>
          <a:p>
            <a:r>
              <a:rPr lang="en-US" dirty="0"/>
              <a:t>I have no context or prior knowledge, all I know is what I see on the charts. </a:t>
            </a:r>
          </a:p>
          <a:p>
            <a:pPr lvl="1"/>
            <a:r>
              <a:rPr lang="en-US" dirty="0"/>
              <a:t>Ensure that whatever you want to show is what comes through. </a:t>
            </a:r>
          </a:p>
          <a:p>
            <a:pPr lvl="1"/>
            <a:r>
              <a:rPr lang="en-US" dirty="0"/>
              <a:t>There should be a clear title/thesis that says what your viz does. </a:t>
            </a:r>
          </a:p>
          <a:p>
            <a:pPr lvl="1"/>
            <a:r>
              <a:rPr lang="en-US" dirty="0"/>
              <a:t>Asking another person what they get is a good idea. </a:t>
            </a:r>
          </a:p>
          <a:p>
            <a:r>
              <a:rPr lang="en-US" dirty="0"/>
              <a:t>Check simple details. </a:t>
            </a:r>
          </a:p>
          <a:p>
            <a:pPr lvl="1"/>
            <a:r>
              <a:rPr lang="en-US" dirty="0"/>
              <a:t>Check labels, titles, axis, </a:t>
            </a:r>
            <a:r>
              <a:rPr lang="en-US" dirty="0" err="1"/>
              <a:t>etc</a:t>
            </a:r>
            <a:r>
              <a:rPr lang="en-US" dirty="0"/>
              <a:t>… to make sure they make sense. </a:t>
            </a:r>
          </a:p>
          <a:p>
            <a:pPr lvl="1"/>
            <a:r>
              <a:rPr lang="en-US" dirty="0"/>
              <a:t>Ensure things are readable and aligned clearly. </a:t>
            </a:r>
          </a:p>
          <a:p>
            <a:r>
              <a:rPr lang="en-US" dirty="0"/>
              <a:t>Easy improvements – can I change a Tableau thing to make it better? </a:t>
            </a:r>
          </a:p>
          <a:p>
            <a:pPr lvl="1"/>
            <a:r>
              <a:rPr lang="en-US" dirty="0"/>
              <a:t>Highlights, filtering, adding info to tooltips,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</p:txBody>
      </p:sp>
    </p:spTree>
    <p:extLst>
      <p:ext uri="{BB962C8B-B14F-4D97-AF65-F5344CB8AC3E}">
        <p14:creationId xmlns:p14="http://schemas.microsoft.com/office/powerpoint/2010/main" val="38678215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BAC134-34A8-CA43-F3C7-A4A8EC7DE4C2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Joins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F119B4B-3B42-508B-8522-F29D6676AF2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420224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2773F8-905A-1BDE-04E2-88E09968BC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Chapter 7 Challenges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716745E-3AA0-0429-A63C-B25B0E9C64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80" y="2015732"/>
            <a:ext cx="7877772" cy="3983624"/>
          </a:xfrm>
        </p:spPr>
        <p:txBody>
          <a:bodyPr/>
          <a:lstStyle/>
          <a:p>
            <a:r>
              <a:rPr lang="en-US" dirty="0"/>
              <a:t>Chapter 7 is on visualizing distributions. </a:t>
            </a:r>
          </a:p>
          <a:p>
            <a:r>
              <a:rPr lang="en-US" dirty="0"/>
              <a:t>We looked at histograms and box and whisker plots in chart types. </a:t>
            </a:r>
          </a:p>
          <a:p>
            <a:r>
              <a:rPr lang="en-US" dirty="0"/>
              <a:t>Several variants, particularly the line versions, can be made with the marks card. </a:t>
            </a:r>
          </a:p>
          <a:p>
            <a:r>
              <a:rPr lang="en-US" dirty="0"/>
              <a:t>Try some…</a:t>
            </a:r>
          </a:p>
          <a:p>
            <a:pPr lvl="1"/>
            <a:r>
              <a:rPr lang="en-US" dirty="0"/>
              <a:t>Different granularities, different mark types, multiple distributions. </a:t>
            </a:r>
          </a:p>
          <a:p>
            <a:pPr lvl="1"/>
            <a:r>
              <a:rPr lang="en-US" dirty="0"/>
              <a:t>In an example soon, there’s a good candidate to use…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8FCF35E0-261A-FB40-D589-33D11C9C0EB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13817" t="21142" r="41465"/>
          <a:stretch>
            <a:fillRect/>
          </a:stretch>
        </p:blipFill>
        <p:spPr>
          <a:xfrm>
            <a:off x="9329351" y="400"/>
            <a:ext cx="2862649" cy="6857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60273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1579" y="1853753"/>
            <a:ext cx="9603275" cy="4199727"/>
          </a:xfrm>
        </p:spPr>
        <p:txBody>
          <a:bodyPr>
            <a:normAutofit/>
          </a:bodyPr>
          <a:lstStyle/>
          <a:p>
            <a:r>
              <a:rPr lang="en-US" sz="2400" dirty="0"/>
              <a:t>The relational database environment provides businesses with an efficient and effective way to manage data.</a:t>
            </a:r>
          </a:p>
          <a:p>
            <a:r>
              <a:rPr lang="en-US" sz="2400" dirty="0"/>
              <a:t>Most applications will have their own database for their stuff. </a:t>
            </a:r>
          </a:p>
          <a:p>
            <a:pPr lvl="1"/>
            <a:r>
              <a:rPr lang="en-US" sz="2200" dirty="0"/>
              <a:t>Every system generates data as stuff happens – sales, products, views…</a:t>
            </a:r>
          </a:p>
          <a:p>
            <a:pPr lvl="1"/>
            <a:r>
              <a:rPr lang="en-US" sz="2200" dirty="0"/>
              <a:t>This is the OLTP stuff, processing transactions are storing data. </a:t>
            </a:r>
          </a:p>
          <a:p>
            <a:r>
              <a:rPr lang="en-US" sz="2400" dirty="0"/>
              <a:t>Each app’s database will have tables for each entity. </a:t>
            </a:r>
          </a:p>
          <a:p>
            <a:pPr lvl="1"/>
            <a:r>
              <a:rPr lang="en-US" sz="2200" dirty="0"/>
              <a:t>Each entity* has a key, aka ID number – there’s some overlap here. </a:t>
            </a:r>
          </a:p>
          <a:p>
            <a:pPr lvl="1"/>
            <a:r>
              <a:rPr lang="en-US" sz="2200" dirty="0"/>
              <a:t>Sales list a customer id, class registrations list student id, </a:t>
            </a:r>
            <a:r>
              <a:rPr lang="en-US" sz="2200" dirty="0" err="1"/>
              <a:t>etc</a:t>
            </a:r>
            <a:r>
              <a:rPr lang="en-US" sz="2200" dirty="0"/>
              <a:t>…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74588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D20917C-471C-5319-721E-5EA30F6AA4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Database Benefits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1635CA4A-584E-3C26-E067-24A469DACA0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26422"/>
          </a:xfrm>
        </p:spPr>
        <p:txBody>
          <a:bodyPr>
            <a:normAutofit lnSpcReduction="10000"/>
          </a:bodyPr>
          <a:lstStyle/>
          <a:p>
            <a:r>
              <a:rPr lang="en-US" dirty="0"/>
              <a:t>One copy of data.</a:t>
            </a:r>
          </a:p>
          <a:p>
            <a:pPr lvl="1"/>
            <a:r>
              <a:rPr lang="en-US" dirty="0"/>
              <a:t>Can’t have multiple values for one thing. </a:t>
            </a:r>
          </a:p>
          <a:p>
            <a:pPr lvl="1"/>
            <a:r>
              <a:rPr lang="en-US" dirty="0"/>
              <a:t>Changes to values don’t require tracking down many copies of data. </a:t>
            </a:r>
          </a:p>
          <a:p>
            <a:r>
              <a:rPr lang="en-US" dirty="0"/>
              <a:t>Enforcement of integrity rules. </a:t>
            </a:r>
          </a:p>
          <a:p>
            <a:pPr lvl="1"/>
            <a:r>
              <a:rPr lang="en-US" dirty="0"/>
              <a:t>Mandate that data meets certain rules. </a:t>
            </a:r>
          </a:p>
          <a:p>
            <a:r>
              <a:rPr lang="en-US" dirty="0"/>
              <a:t>Access control.</a:t>
            </a:r>
          </a:p>
          <a:p>
            <a:pPr lvl="1"/>
            <a:r>
              <a:rPr lang="en-US" dirty="0"/>
              <a:t>Allow read/write access to only those allowed. </a:t>
            </a:r>
          </a:p>
          <a:p>
            <a:r>
              <a:rPr lang="en-US" dirty="0"/>
              <a:t>Data sharing and access.</a:t>
            </a:r>
          </a:p>
          <a:p>
            <a:pPr lvl="1"/>
            <a:r>
              <a:rPr lang="en-US" dirty="0"/>
              <a:t>Creation, storing, and access to data are separate.</a:t>
            </a:r>
          </a:p>
          <a:p>
            <a:pPr lvl="1"/>
            <a:r>
              <a:rPr lang="en-US" dirty="0"/>
              <a:t>E.g. One program makes data, another uses it…</a:t>
            </a:r>
          </a:p>
        </p:txBody>
      </p:sp>
    </p:spTree>
    <p:extLst>
      <p:ext uri="{BB962C8B-B14F-4D97-AF65-F5344CB8AC3E}">
        <p14:creationId xmlns:p14="http://schemas.microsoft.com/office/powerpoint/2010/main" val="37557453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140C7E-F6C4-463C-6796-7CE4D422CA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ETL and Warehousing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D43CB7-2C7D-FE96-8D6C-7F01E34D6B7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01592"/>
          </a:xfrm>
        </p:spPr>
        <p:txBody>
          <a:bodyPr/>
          <a:lstStyle/>
          <a:p>
            <a:r>
              <a:rPr lang="en-US" dirty="0"/>
              <a:t>We generally work off of centralized repositories for data to analyze. </a:t>
            </a:r>
          </a:p>
          <a:p>
            <a:r>
              <a:rPr lang="en-US" dirty="0"/>
              <a:t>Large organizations have data from many sources. </a:t>
            </a:r>
          </a:p>
          <a:p>
            <a:pPr lvl="1"/>
            <a:r>
              <a:rPr lang="en-US" dirty="0"/>
              <a:t>Website. </a:t>
            </a:r>
          </a:p>
          <a:p>
            <a:pPr lvl="1"/>
            <a:r>
              <a:rPr lang="en-US" dirty="0"/>
              <a:t>Equipment like factory machines. </a:t>
            </a:r>
          </a:p>
          <a:p>
            <a:pPr lvl="1"/>
            <a:r>
              <a:rPr lang="en-US" dirty="0"/>
              <a:t>HR, finance, marketing,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External data sources. </a:t>
            </a:r>
          </a:p>
          <a:p>
            <a:r>
              <a:rPr lang="en-US" dirty="0"/>
              <a:t>Consolidating this data is non-trivial. </a:t>
            </a:r>
          </a:p>
        </p:txBody>
      </p:sp>
    </p:spTree>
    <p:extLst>
      <p:ext uri="{BB962C8B-B14F-4D97-AF65-F5344CB8AC3E}">
        <p14:creationId xmlns:p14="http://schemas.microsoft.com/office/powerpoint/2010/main" val="15749369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BB9488-81CC-9770-8976-D82712D915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ETL – Extract Transform Load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7CAA92E-9ED1-CFCF-C37A-8810AF06FD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4037749"/>
          </a:xfrm>
        </p:spPr>
        <p:txBody>
          <a:bodyPr/>
          <a:lstStyle/>
          <a:p>
            <a:r>
              <a:rPr lang="en-US" dirty="0"/>
              <a:t>ETL is a process to move data from one location to another. </a:t>
            </a:r>
          </a:p>
          <a:p>
            <a:pPr lvl="1"/>
            <a:r>
              <a:rPr lang="en-US" dirty="0"/>
              <a:t>In this case it is to gather and centralize data from multiple sources into a central warehouse.</a:t>
            </a:r>
          </a:p>
          <a:p>
            <a:r>
              <a:rPr lang="en-US" dirty="0"/>
              <a:t>Extract – gathers data from multiple sources. </a:t>
            </a:r>
          </a:p>
          <a:p>
            <a:pPr lvl="1"/>
            <a:r>
              <a:rPr lang="en-US" dirty="0"/>
              <a:t>Includes all the OLTP doing sources of business data, pos systems, web stores, production…</a:t>
            </a:r>
          </a:p>
          <a:p>
            <a:pPr lvl="1"/>
            <a:r>
              <a:rPr lang="en-US" dirty="0"/>
              <a:t>Each source can be totally different in type, data structure,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Transform – process and clean the data into a standardized format. </a:t>
            </a:r>
          </a:p>
          <a:p>
            <a:pPr lvl="1"/>
            <a:r>
              <a:rPr lang="en-US" dirty="0"/>
              <a:t>Make all the data fit the format you want, and remove anything not needed. </a:t>
            </a:r>
          </a:p>
          <a:p>
            <a:pPr lvl="1"/>
            <a:r>
              <a:rPr lang="en-US" dirty="0"/>
              <a:t> Can include correcting mistakes, missing data, date formats, spelling, granularity,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Load – store the consistent data in a data warehouse for analysis. </a:t>
            </a:r>
          </a:p>
        </p:txBody>
      </p:sp>
    </p:spTree>
    <p:extLst>
      <p:ext uri="{BB962C8B-B14F-4D97-AF65-F5344CB8AC3E}">
        <p14:creationId xmlns:p14="http://schemas.microsoft.com/office/powerpoint/2010/main" val="42083896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9C1C734-7FBA-8A07-D719-8700E11EB1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75950C-C644-BCB1-0D44-0B7D4AD61C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2050" name="Picture 2" descr="ETL vs ELT: Key Differences, Comparisons, &amp; Use Cases">
            <a:extLst>
              <a:ext uri="{FF2B5EF4-FFF2-40B4-BE49-F238E27FC236}">
                <a16:creationId xmlns:a16="http://schemas.microsoft.com/office/drawing/2014/main" id="{7D0B1C7B-AC7F-5C23-4AF5-5A50F41509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242888"/>
            <a:ext cx="12192000" cy="63706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925357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8A05C-692F-A4B8-E540-7B52BD8CD5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Data Warehouse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421BB9-D253-A836-5EBE-6C1E99EA1E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85351" y="1853754"/>
            <a:ext cx="10869503" cy="4199727"/>
          </a:xfrm>
        </p:spPr>
        <p:txBody>
          <a:bodyPr/>
          <a:lstStyle/>
          <a:p>
            <a:r>
              <a:rPr lang="en-US" dirty="0"/>
              <a:t>The ETL process normally loads our data into a special database - the data warehouse. </a:t>
            </a:r>
          </a:p>
          <a:p>
            <a:pPr lvl="1"/>
            <a:r>
              <a:rPr lang="en-US" dirty="0"/>
              <a:t>Usually periodically – hourly, nightly,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r>
              <a:rPr lang="en-US" dirty="0"/>
              <a:t>The data warehouse is a large </a:t>
            </a:r>
            <a:r>
              <a:rPr lang="en-US" dirty="0" err="1"/>
              <a:t>db</a:t>
            </a:r>
            <a:r>
              <a:rPr lang="en-US" dirty="0"/>
              <a:t> that is intended for archiving and analysis. </a:t>
            </a:r>
          </a:p>
          <a:p>
            <a:pPr lvl="1"/>
            <a:r>
              <a:rPr lang="en-US" dirty="0"/>
              <a:t>Not used with live transactions or current data. </a:t>
            </a:r>
          </a:p>
          <a:p>
            <a:pPr lvl="1"/>
            <a:r>
              <a:rPr lang="en-US" dirty="0"/>
              <a:t>Stores (ideally) all historical data that the organization needs – central source o’ truth. </a:t>
            </a:r>
          </a:p>
          <a:p>
            <a:pPr lvl="1"/>
            <a:r>
              <a:rPr lang="en-US" dirty="0"/>
              <a:t>Allows for data from different sources to be integrated for analysis. </a:t>
            </a:r>
          </a:p>
          <a:p>
            <a:pPr lvl="1"/>
            <a:r>
              <a:rPr lang="en-US" dirty="0"/>
              <a:t>All the data is consistent and clean once it gets here, so analyst and just analyze. </a:t>
            </a:r>
          </a:p>
          <a:p>
            <a:r>
              <a:rPr lang="en-US" dirty="0"/>
              <a:t>Data is stored with many entities and must be connected for analysis. </a:t>
            </a:r>
          </a:p>
          <a:p>
            <a:pPr lvl="1"/>
            <a:r>
              <a:rPr lang="en-US" dirty="0"/>
              <a:t>ER diagrams and </a:t>
            </a:r>
            <a:r>
              <a:rPr lang="en-US" dirty="0" err="1"/>
              <a:t>dicts</a:t>
            </a:r>
            <a:r>
              <a:rPr lang="en-US" dirty="0"/>
              <a:t> show layout, and we must join to make usable data. </a:t>
            </a:r>
          </a:p>
        </p:txBody>
      </p:sp>
      <p:pic>
        <p:nvPicPr>
          <p:cNvPr id="3074" name="Picture 2" descr="What Is Cloud Data Warehousing">
            <a:extLst>
              <a:ext uri="{FF2B5EF4-FFF2-40B4-BE49-F238E27FC236}">
                <a16:creationId xmlns:a16="http://schemas.microsoft.com/office/drawing/2014/main" id="{311AABCD-8C42-D7FA-AA95-265BB746FBF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493" r="7239"/>
          <a:stretch>
            <a:fillRect/>
          </a:stretch>
        </p:blipFill>
        <p:spPr bwMode="auto">
          <a:xfrm>
            <a:off x="9090454" y="3429000"/>
            <a:ext cx="3101546" cy="3429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905918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r>
              <a:rPr lang="en-US" sz="2600" dirty="0"/>
              <a:t>Entity: person, places, things, events</a:t>
            </a:r>
          </a:p>
          <a:p>
            <a:r>
              <a:rPr lang="en-US" sz="2600" dirty="0"/>
              <a:t>Instance: a single occurrence of an entity; represented as a record in a database</a:t>
            </a:r>
          </a:p>
          <a:p>
            <a:r>
              <a:rPr lang="en-US" sz="2600" dirty="0"/>
              <a:t>Entities have relationships with one another: either 1:1, 1:M, M:N</a:t>
            </a:r>
          </a:p>
          <a:p>
            <a:r>
              <a:rPr lang="en-US" sz="2600" dirty="0"/>
              <a:t>Primary key: attribute that uniquely identifies each instance of the entity; used to create a data structure called an index for fast data retrieval and searches </a:t>
            </a:r>
          </a:p>
          <a:p>
            <a:pPr lvl="1"/>
            <a:r>
              <a:rPr lang="en-US" sz="2200" dirty="0"/>
              <a:t>Composite primary key: primary key that consists of more than one attribute; used when none of the individual attributes alone can uniquely identify each instance of the entity. (Not critical). </a:t>
            </a:r>
          </a:p>
          <a:p>
            <a:r>
              <a:rPr lang="en-US" sz="2600" dirty="0"/>
              <a:t>Foreign key: a primary key of a related entity</a:t>
            </a:r>
          </a:p>
          <a:p>
            <a:endParaRPr lang="en-US" sz="2800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689659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339071-9DC0-1157-7B36-EE03960E29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Our Data Life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1703C4-7FD2-B791-60AA-ADF73735B7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933904"/>
            <a:ext cx="9603275" cy="4119578"/>
          </a:xfrm>
        </p:spPr>
        <p:txBody>
          <a:bodyPr/>
          <a:lstStyle/>
          <a:p>
            <a:r>
              <a:rPr lang="en-US" dirty="0"/>
              <a:t>At this point we’ve touched on most of the infrastructure related to our data. </a:t>
            </a:r>
          </a:p>
          <a:p>
            <a:r>
              <a:rPr lang="en-US" dirty="0"/>
              <a:t>Data is generated in many places, include those that process transactions – OLTP. </a:t>
            </a:r>
          </a:p>
          <a:p>
            <a:pPr lvl="1"/>
            <a:r>
              <a:rPr lang="en-US" dirty="0"/>
              <a:t>Each of these system normally has a DB that stores those transactions. </a:t>
            </a:r>
          </a:p>
          <a:p>
            <a:r>
              <a:rPr lang="en-US" dirty="0"/>
              <a:t>That data is consolidated and cleaned in an ETL process and stored centrally. </a:t>
            </a:r>
          </a:p>
          <a:p>
            <a:r>
              <a:rPr lang="en-US" dirty="0"/>
              <a:t>We connect to that warehouse to get data. </a:t>
            </a:r>
          </a:p>
          <a:p>
            <a:pPr lvl="1"/>
            <a:r>
              <a:rPr lang="en-US" dirty="0"/>
              <a:t>The database uses entity-relationship model to store data on many different things. </a:t>
            </a:r>
          </a:p>
          <a:p>
            <a:pPr lvl="1"/>
            <a:r>
              <a:rPr lang="en-US" dirty="0"/>
              <a:t>We need to navigate the </a:t>
            </a:r>
            <a:r>
              <a:rPr lang="en-US" dirty="0" err="1"/>
              <a:t>db</a:t>
            </a:r>
            <a:r>
              <a:rPr lang="en-US" dirty="0"/>
              <a:t> structure and join to make useful data. </a:t>
            </a:r>
          </a:p>
          <a:p>
            <a:pPr lvl="1"/>
            <a:r>
              <a:rPr lang="en-US" dirty="0"/>
              <a:t>We can get data on almost anything, but it comes separated. (CSVs we use are the ~output). </a:t>
            </a:r>
          </a:p>
        </p:txBody>
      </p:sp>
    </p:spTree>
    <p:extLst>
      <p:ext uri="{BB962C8B-B14F-4D97-AF65-F5344CB8AC3E}">
        <p14:creationId xmlns:p14="http://schemas.microsoft.com/office/powerpoint/2010/main" val="6823426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6BB89F83-DD6F-7EEC-C494-DE316ECD0B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07D507C7-7485-1599-066C-97F97A0798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Once data are stored in a relational database, we can retrieve them using database queries.</a:t>
            </a:r>
          </a:p>
          <a:p>
            <a:r>
              <a:rPr lang="en-US" dirty="0"/>
              <a:t>SQL is how we “talk” to a database. </a:t>
            </a:r>
          </a:p>
          <a:p>
            <a:r>
              <a:rPr lang="en-US" dirty="0"/>
              <a:t>We specify what we want, the database figures out how to get it. </a:t>
            </a:r>
          </a:p>
          <a:p>
            <a:pPr lvl="1"/>
            <a:r>
              <a:rPr lang="en-US" dirty="0"/>
              <a:t>SELECT -&gt; Give me all the records that match these criteria…</a:t>
            </a:r>
          </a:p>
          <a:p>
            <a:r>
              <a:rPr lang="en-US" dirty="0"/>
              <a:t>In Tableau, there are SQL queries generated behind the scenes when we manipulate data. </a:t>
            </a:r>
          </a:p>
          <a:p>
            <a:pPr lvl="1"/>
            <a:r>
              <a:rPr lang="en-US" dirty="0"/>
              <a:t>You don’t need to know </a:t>
            </a:r>
            <a:r>
              <a:rPr lang="en-US" dirty="0" err="1"/>
              <a:t>sql</a:t>
            </a:r>
            <a:r>
              <a:rPr lang="en-US" dirty="0"/>
              <a:t> but you need to understand and use the concepts. </a:t>
            </a:r>
          </a:p>
        </p:txBody>
      </p:sp>
    </p:spTree>
    <p:extLst>
      <p:ext uri="{BB962C8B-B14F-4D97-AF65-F5344CB8AC3E}">
        <p14:creationId xmlns:p14="http://schemas.microsoft.com/office/powerpoint/2010/main" val="30691794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en-US" sz="2800" dirty="0"/>
              <a:t>The most popular query language used is Structure Query Language (SQL).</a:t>
            </a:r>
            <a:endParaRPr lang="en-US" dirty="0"/>
          </a:p>
          <a:p>
            <a:pPr lvl="1"/>
            <a:r>
              <a:rPr lang="en-US" sz="2400" dirty="0"/>
              <a:t>Manipulate data using a relatively simple and intuitive approach</a:t>
            </a:r>
          </a:p>
          <a:p>
            <a:pPr lvl="1"/>
            <a:r>
              <a:rPr lang="en-US" sz="2400" dirty="0"/>
              <a:t>Specify the attributes, tables, and criteria the retrieved data must meet</a:t>
            </a:r>
          </a:p>
          <a:p>
            <a:pPr lvl="1"/>
            <a:r>
              <a:rPr lang="en-US" sz="2400" dirty="0"/>
              <a:t>Uses three key words: SELECT, FROM, and WHERE</a:t>
            </a:r>
          </a:p>
          <a:p>
            <a:pPr lvl="1"/>
            <a:r>
              <a:rPr lang="en-US" sz="2400" dirty="0"/>
              <a:t>SELECT: specifies the attributes</a:t>
            </a:r>
          </a:p>
          <a:p>
            <a:pPr lvl="1"/>
            <a:r>
              <a:rPr lang="en-US" sz="2400" dirty="0"/>
              <a:t>FROM: specifies the tables (more than one)</a:t>
            </a:r>
          </a:p>
          <a:p>
            <a:pPr lvl="1"/>
            <a:r>
              <a:rPr lang="en-US" sz="2400" dirty="0"/>
              <a:t>WHERE: specifies selection criteria and/or conditions</a:t>
            </a:r>
          </a:p>
          <a:p>
            <a:pPr lvl="1"/>
            <a:endParaRPr lang="en-US" sz="1600" dirty="0"/>
          </a:p>
        </p:txBody>
      </p:sp>
    </p:spTree>
    <p:extLst>
      <p:ext uri="{BB962C8B-B14F-4D97-AF65-F5344CB8AC3E}">
        <p14:creationId xmlns:p14="http://schemas.microsoft.com/office/powerpoint/2010/main" val="40249403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/>
              <a:t>Simple:</a:t>
            </a:r>
          </a:p>
          <a:p>
            <a:endParaRPr lang="en-US" sz="2800" dirty="0"/>
          </a:p>
          <a:p>
            <a:endParaRPr lang="en-US" sz="2800" dirty="0"/>
          </a:p>
          <a:p>
            <a:r>
              <a:rPr lang="en-US" sz="2800" dirty="0"/>
              <a:t>More complex:  </a:t>
            </a:r>
            <a:endParaRPr lang="en-US" sz="2400" dirty="0"/>
          </a:p>
          <a:p>
            <a:pPr lvl="1"/>
            <a:endParaRPr lang="en-US" sz="2000" dirty="0"/>
          </a:p>
          <a:p>
            <a:endParaRPr lang="en-US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58EF9A2-CF8B-C340-B038-ED0B97D91C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09349" y="1765372"/>
            <a:ext cx="3932296" cy="14478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4706353-55B9-5B42-8FD3-4E833F78204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09349" y="3294161"/>
            <a:ext cx="7329295" cy="2438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1733205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194" name="Picture 2" descr="Tableau Joins | Types of Joins in Tableau and their Application">
            <a:extLst>
              <a:ext uri="{FF2B5EF4-FFF2-40B4-BE49-F238E27FC236}">
                <a16:creationId xmlns:a16="http://schemas.microsoft.com/office/drawing/2014/main" id="{61C74D02-61A9-BA09-FCD5-EC310794AC7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774701"/>
            <a:ext cx="9144000" cy="53070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1720179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62500" lnSpcReduction="20000"/>
          </a:bodyPr>
          <a:lstStyle/>
          <a:p>
            <a:r>
              <a:rPr lang="en-US" sz="2800" dirty="0"/>
              <a:t>Data must be integrated from different databases in different departments.</a:t>
            </a:r>
          </a:p>
          <a:p>
            <a:pPr lvl="1"/>
            <a:r>
              <a:rPr lang="en-US" sz="2000" dirty="0"/>
              <a:t>Extraction, transformation, and load (ETL) process is used</a:t>
            </a:r>
          </a:p>
          <a:p>
            <a:pPr lvl="1"/>
            <a:r>
              <a:rPr lang="en-US" sz="2000" dirty="0"/>
              <a:t>Retrieve, reconcile, and transform data into a consistent format</a:t>
            </a:r>
          </a:p>
          <a:p>
            <a:pPr lvl="1"/>
            <a:r>
              <a:rPr lang="en-US" sz="2000" dirty="0"/>
              <a:t>Load the final data into the data warehouse</a:t>
            </a:r>
          </a:p>
          <a:p>
            <a:r>
              <a:rPr lang="en-US" sz="2800" dirty="0"/>
              <a:t>A data mart is a small-scale data warehouse.</a:t>
            </a:r>
          </a:p>
          <a:p>
            <a:pPr lvl="1"/>
            <a:r>
              <a:rPr lang="en-US" sz="2400" dirty="0"/>
              <a:t>A subset of the enterprise data warehouse</a:t>
            </a:r>
          </a:p>
          <a:p>
            <a:pPr lvl="1"/>
            <a:r>
              <a:rPr lang="en-US" sz="2400" dirty="0"/>
              <a:t>Focuses on one particular subject or decision areas</a:t>
            </a:r>
          </a:p>
          <a:p>
            <a:pPr lvl="1"/>
            <a:r>
              <a:rPr lang="en-US" sz="2400" dirty="0"/>
              <a:t>Conforms to a multidimensional data model called a star scheme.</a:t>
            </a:r>
          </a:p>
          <a:p>
            <a:pPr lvl="1"/>
            <a:r>
              <a:rPr lang="en-US" sz="2400" dirty="0"/>
              <a:t>Two types of tables: dimension and fact tables</a:t>
            </a:r>
          </a:p>
          <a:p>
            <a:pPr lvl="2"/>
            <a:r>
              <a:rPr lang="en-US" sz="1900" dirty="0"/>
              <a:t>Dimension table: describes business dimensions such as customer, product, location, and time</a:t>
            </a:r>
          </a:p>
          <a:p>
            <a:pPr lvl="2"/>
            <a:r>
              <a:rPr lang="en-US" sz="1900" dirty="0"/>
              <a:t>Fact table: facts about the business operation, often quantitative format</a:t>
            </a:r>
          </a:p>
          <a:p>
            <a:pPr lvl="1"/>
            <a:endParaRPr lang="en-US" sz="2400" dirty="0"/>
          </a:p>
          <a:p>
            <a:endParaRPr lang="en-US" sz="2200" dirty="0"/>
          </a:p>
        </p:txBody>
      </p:sp>
    </p:spTree>
    <p:extLst>
      <p:ext uri="{BB962C8B-B14F-4D97-AF65-F5344CB8AC3E}">
        <p14:creationId xmlns:p14="http://schemas.microsoft.com/office/powerpoint/2010/main" val="42726525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sz="2400" dirty="0"/>
              <a:t>Each of the dimension tables has a 1:M relationship with the fact table.</a:t>
            </a:r>
          </a:p>
          <a:p>
            <a:pPr lvl="1"/>
            <a:r>
              <a:rPr lang="en-US" sz="2000" dirty="0"/>
              <a:t>Primary keys of the dimension table are also the foreign keys in the fact table</a:t>
            </a:r>
          </a:p>
          <a:p>
            <a:pPr lvl="1"/>
            <a:r>
              <a:rPr lang="en-US" sz="2000" dirty="0"/>
              <a:t>Combination of the primary keys of the dimension tables forms the composite primary key of the fact table</a:t>
            </a:r>
          </a:p>
          <a:p>
            <a:r>
              <a:rPr lang="en-US" sz="2400" dirty="0"/>
              <a:t>The fact table is usually depicted at the center surrounded by multiple dimension tables, forming the shape of a star.</a:t>
            </a:r>
          </a:p>
          <a:p>
            <a:r>
              <a:rPr lang="en-US" sz="2400" dirty="0"/>
              <a:t>Not uncommon to see multiple fact tables sharing relationships with a group of dimension tables in a data mart.</a:t>
            </a:r>
          </a:p>
          <a:p>
            <a:r>
              <a:rPr lang="en-US" sz="2400" dirty="0"/>
              <a:t>Star schemas can ”slice and dice” data based on different dimensions.</a:t>
            </a:r>
          </a:p>
        </p:txBody>
      </p:sp>
    </p:spTree>
    <p:extLst>
      <p:ext uri="{BB962C8B-B14F-4D97-AF65-F5344CB8AC3E}">
        <p14:creationId xmlns:p14="http://schemas.microsoft.com/office/powerpoint/2010/main" val="12615772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F31D7626-6687-45DB-8C18-87188E9510A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2800" y="1562100"/>
            <a:ext cx="4986338" cy="4115272"/>
          </a:xfrm>
          <a:prstGeom prst="rect">
            <a:avLst/>
          </a:prstGeom>
        </p:spPr>
      </p:pic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AA11EE4-AE2D-16DB-EAF1-85E7724634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5977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6" name="Title 1"/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pPr eaLnBrk="1" hangingPunct="1"/>
            <a:r>
              <a:rPr lang="en-US" sz="3600" dirty="0"/>
              <a:t>Data Management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sz="2800" dirty="0"/>
              <a:t>New forms of databases to support big data have emerged.</a:t>
            </a:r>
          </a:p>
          <a:p>
            <a:r>
              <a:rPr lang="en-US" sz="2800" dirty="0"/>
              <a:t>NoSQL: “Not Only SQL” database</a:t>
            </a:r>
          </a:p>
          <a:p>
            <a:pPr lvl="1"/>
            <a:r>
              <a:rPr lang="en-US" sz="2400" dirty="0"/>
              <a:t>Nonrelational database that supports the storage of a wide range of data types.</a:t>
            </a:r>
          </a:p>
          <a:p>
            <a:pPr lvl="1"/>
            <a:r>
              <a:rPr lang="en-US" sz="2400" dirty="0"/>
              <a:t>Structured, semi-structured, and unstructured</a:t>
            </a:r>
          </a:p>
          <a:p>
            <a:pPr lvl="1"/>
            <a:r>
              <a:rPr lang="en-US" sz="2400" dirty="0"/>
              <a:t>Flexibility, performance, and scalability to handle extremely high volumes of data. </a:t>
            </a:r>
          </a:p>
          <a:p>
            <a:r>
              <a:rPr lang="en-US" sz="2800" dirty="0"/>
              <a:t>NoSQL will likely be implemented alongside relational databases to support organization data needs.</a:t>
            </a:r>
          </a:p>
          <a:p>
            <a:r>
              <a:rPr lang="en-US" sz="2800" dirty="0"/>
              <a:t>Driven by unstructured data – how to store videos in a database table? </a:t>
            </a:r>
          </a:p>
        </p:txBody>
      </p:sp>
    </p:spTree>
    <p:extLst>
      <p:ext uri="{BB962C8B-B14F-4D97-AF65-F5344CB8AC3E}">
        <p14:creationId xmlns:p14="http://schemas.microsoft.com/office/powerpoint/2010/main" val="132079532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91EDE5-10AB-8730-4143-58F7A69022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the Key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2579A0-8933-06FA-8862-DF93C18364A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9603275" cy="4199727"/>
          </a:xfrm>
        </p:spPr>
        <p:txBody>
          <a:bodyPr/>
          <a:lstStyle/>
          <a:p>
            <a:r>
              <a:rPr lang="en-US" dirty="0"/>
              <a:t>Recall the special database field called the primary key. </a:t>
            </a:r>
          </a:p>
          <a:p>
            <a:r>
              <a:rPr lang="en-US" dirty="0"/>
              <a:t>This is a unique identifier – often just an arbitrary ID value. </a:t>
            </a:r>
          </a:p>
          <a:p>
            <a:pPr lvl="1"/>
            <a:r>
              <a:rPr lang="en-US" dirty="0"/>
              <a:t>Never duplicated, always refers to exactly one row. </a:t>
            </a:r>
          </a:p>
          <a:p>
            <a:r>
              <a:rPr lang="en-US" dirty="0"/>
              <a:t>Most tables have a key:</a:t>
            </a:r>
          </a:p>
          <a:p>
            <a:pPr lvl="1"/>
            <a:r>
              <a:rPr lang="en-US" dirty="0" err="1"/>
              <a:t>Nait’s</a:t>
            </a:r>
            <a:r>
              <a:rPr lang="en-US" dirty="0"/>
              <a:t> student list has your student ID. </a:t>
            </a:r>
          </a:p>
          <a:p>
            <a:pPr lvl="1"/>
            <a:r>
              <a:rPr lang="en-US" dirty="0"/>
              <a:t>Registries have your driver’s license number. </a:t>
            </a:r>
          </a:p>
          <a:p>
            <a:pPr lvl="1"/>
            <a:r>
              <a:rPr lang="en-US" dirty="0"/>
              <a:t>It could just be 1, 2, 3, 4…</a:t>
            </a:r>
          </a:p>
        </p:txBody>
      </p:sp>
    </p:spTree>
    <p:extLst>
      <p:ext uri="{BB962C8B-B14F-4D97-AF65-F5344CB8AC3E}">
        <p14:creationId xmlns:p14="http://schemas.microsoft.com/office/powerpoint/2010/main" val="86858971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3C263722-E6BD-C173-3E49-EF7D86DCCC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Joins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8947EBA-1864-8CA7-68F2-A61F434C510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015732"/>
            <a:ext cx="9603275" cy="3946156"/>
          </a:xfrm>
        </p:spPr>
        <p:txBody>
          <a:bodyPr>
            <a:normAutofit lnSpcReduction="10000"/>
          </a:bodyPr>
          <a:lstStyle/>
          <a:p>
            <a:r>
              <a:rPr lang="en-US" dirty="0"/>
              <a:t>A join in SQL connects two tables (or datasheets) together. </a:t>
            </a:r>
          </a:p>
          <a:p>
            <a:r>
              <a:rPr lang="en-US" dirty="0"/>
              <a:t>Based (usually) on a key – a unique ID:</a:t>
            </a:r>
          </a:p>
          <a:p>
            <a:pPr lvl="1"/>
            <a:r>
              <a:rPr lang="en-US" dirty="0"/>
              <a:t>Each row has a unique ID value. (Primary Key) </a:t>
            </a:r>
          </a:p>
          <a:p>
            <a:pPr lvl="1"/>
            <a:r>
              <a:rPr lang="en-US" dirty="0"/>
              <a:t>We can refer to it to “grab” that row of data. </a:t>
            </a:r>
          </a:p>
          <a:p>
            <a:pPr lvl="1"/>
            <a:r>
              <a:rPr lang="en-US" dirty="0"/>
              <a:t>Other tables have a foreign key – the key from another table. </a:t>
            </a:r>
          </a:p>
          <a:p>
            <a:r>
              <a:rPr lang="en-US" dirty="0"/>
              <a:t>E.g. at NAIT:</a:t>
            </a:r>
          </a:p>
          <a:p>
            <a:pPr lvl="1"/>
            <a:r>
              <a:rPr lang="en-US" dirty="0"/>
              <a:t>Students are in the student DB table. </a:t>
            </a:r>
          </a:p>
          <a:p>
            <a:pPr lvl="1"/>
            <a:r>
              <a:rPr lang="en-US" dirty="0"/>
              <a:t>Registrations are in the registration table. </a:t>
            </a:r>
          </a:p>
          <a:p>
            <a:pPr lvl="1"/>
            <a:r>
              <a:rPr lang="en-US" dirty="0"/>
              <a:t>Join says, “grab this list of registrations, look at the student ID, and get the name… from the Student table”. </a:t>
            </a:r>
          </a:p>
        </p:txBody>
      </p:sp>
    </p:spTree>
    <p:extLst>
      <p:ext uri="{BB962C8B-B14F-4D97-AF65-F5344CB8AC3E}">
        <p14:creationId xmlns:p14="http://schemas.microsoft.com/office/powerpoint/2010/main" val="19374765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51283F-317D-C4A0-9163-AD6B46B6F6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Mechanics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3B7CBD-0071-76CA-F2E5-F18130749D2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32330" y="2015732"/>
            <a:ext cx="5366667" cy="4037749"/>
          </a:xfrm>
        </p:spPr>
        <p:txBody>
          <a:bodyPr/>
          <a:lstStyle/>
          <a:p>
            <a:r>
              <a:rPr lang="en-US" dirty="0"/>
              <a:t>Joins connect tables together horizontally. </a:t>
            </a:r>
          </a:p>
          <a:p>
            <a:r>
              <a:rPr lang="en-US" dirty="0"/>
              <a:t>Rows from each table are matched when whatever you’re joining on (e.g. key). </a:t>
            </a:r>
          </a:p>
          <a:p>
            <a:pPr lvl="1"/>
            <a:r>
              <a:rPr lang="en-US" dirty="0"/>
              <a:t>Select a row from left table. </a:t>
            </a:r>
          </a:p>
          <a:p>
            <a:pPr lvl="1"/>
            <a:r>
              <a:rPr lang="en-US" dirty="0"/>
              <a:t>Scan through right table for matching key. </a:t>
            </a:r>
          </a:p>
          <a:p>
            <a:pPr lvl="1"/>
            <a:r>
              <a:rPr lang="en-US" dirty="0"/>
              <a:t>If there’s a match, join these two rows and add it to the results. </a:t>
            </a:r>
          </a:p>
        </p:txBody>
      </p:sp>
      <p:pic>
        <p:nvPicPr>
          <p:cNvPr id="1026" name="Picture 2" descr="The ins and outs of INNER JOIN">
            <a:extLst>
              <a:ext uri="{FF2B5EF4-FFF2-40B4-BE49-F238E27FC236}">
                <a16:creationId xmlns:a16="http://schemas.microsoft.com/office/drawing/2014/main" id="{305C40D4-9DAA-02B5-7984-EAEC85CFCA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6326" y="2978566"/>
            <a:ext cx="6130831" cy="22413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0137159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05C2BAF-300B-5DBC-98A6-4B7634073F0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Joins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0251A15-DBAA-9D39-7FEF-24F9B142D1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We use the same logic in Tableau:</a:t>
            </a:r>
          </a:p>
          <a:p>
            <a:pPr lvl="1"/>
            <a:r>
              <a:rPr lang="en-US" dirty="0"/>
              <a:t>Specify the two tables to connect. </a:t>
            </a:r>
          </a:p>
          <a:p>
            <a:pPr lvl="1"/>
            <a:r>
              <a:rPr lang="en-US" dirty="0"/>
              <a:t>Find the key (id number) that exists in each. </a:t>
            </a:r>
          </a:p>
          <a:p>
            <a:pPr lvl="1"/>
            <a:r>
              <a:rPr lang="en-US" dirty="0"/>
              <a:t>Set the join criteria to make those two match (usually). </a:t>
            </a:r>
          </a:p>
          <a:p>
            <a:pPr lvl="1"/>
            <a:r>
              <a:rPr lang="en-US" dirty="0"/>
              <a:t>Choose Left/Right/Inner to control what is included. </a:t>
            </a:r>
          </a:p>
          <a:p>
            <a:r>
              <a:rPr lang="en-US" dirty="0"/>
              <a:t>You will need to do (relatively simple) joins in Tableau. </a:t>
            </a:r>
          </a:p>
        </p:txBody>
      </p:sp>
    </p:spTree>
    <p:extLst>
      <p:ext uri="{BB962C8B-B14F-4D97-AF65-F5344CB8AC3E}">
        <p14:creationId xmlns:p14="http://schemas.microsoft.com/office/powerpoint/2010/main" val="87709056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0438F7-C468-DF0B-9721-731780E14D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0A97CE-CE38-86DC-0BA0-CE85E320E9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this more than anything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424DAD-8820-42B5-6E18-21F7B09900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F5849E3-10D0-9E6A-F32D-2FD5436A6D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02134"/>
            <a:ext cx="5549900" cy="5283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9A020B8-8962-06C6-A74C-7AAF8F0B562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5" y="1867787"/>
            <a:ext cx="5429735" cy="453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0476224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ED4596F-58E7-97B1-0584-D7F16E74EA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Join ”Template”</a:t>
            </a:r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7EDF6E4-8DE9-559D-4BCC-3985017152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Joins can be complex, but not all…</a:t>
            </a:r>
          </a:p>
          <a:p>
            <a:r>
              <a:rPr lang="en-US" dirty="0"/>
              <a:t>One (either) dataset is left, one is right. </a:t>
            </a:r>
          </a:p>
          <a:p>
            <a:r>
              <a:rPr lang="en-US" dirty="0"/>
              <a:t>The records are (usually) joined when these two values are equal. Typically, an ID. </a:t>
            </a:r>
          </a:p>
          <a:p>
            <a:pPr lvl="1"/>
            <a:r>
              <a:rPr lang="en-US" dirty="0"/>
              <a:t>One side is a primary key, the other is foreign.</a:t>
            </a:r>
          </a:p>
          <a:p>
            <a:r>
              <a:rPr lang="en-US" dirty="0"/>
              <a:t>Do you want to see:</a:t>
            </a:r>
          </a:p>
          <a:p>
            <a:pPr lvl="1"/>
            <a:r>
              <a:rPr lang="en-US" dirty="0"/>
              <a:t>Every record on left, with the right stuff added where the keys match. </a:t>
            </a:r>
          </a:p>
          <a:p>
            <a:pPr lvl="1"/>
            <a:r>
              <a:rPr lang="en-US" dirty="0"/>
              <a:t>Every record on right, with the left stuff added where the keys match. </a:t>
            </a:r>
          </a:p>
          <a:p>
            <a:pPr lvl="1"/>
            <a:r>
              <a:rPr lang="en-US" dirty="0"/>
              <a:t>Only the records where the keys match. </a:t>
            </a:r>
          </a:p>
        </p:txBody>
      </p:sp>
    </p:spTree>
    <p:extLst>
      <p:ext uri="{BB962C8B-B14F-4D97-AF65-F5344CB8AC3E}">
        <p14:creationId xmlns:p14="http://schemas.microsoft.com/office/powerpoint/2010/main" val="386178045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SQL JOIN (With Examples)">
            <a:extLst>
              <a:ext uri="{FF2B5EF4-FFF2-40B4-BE49-F238E27FC236}">
                <a16:creationId xmlns:a16="http://schemas.microsoft.com/office/drawing/2014/main" id="{D1CA630C-E909-22F9-F75C-73FBB982EC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02856" y="537854"/>
            <a:ext cx="6365875" cy="57822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B14416FE-E674-4C0F-2D62-73F8636B5C91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230274" y="100670"/>
            <a:ext cx="9604375" cy="1049337"/>
          </a:xfrm>
        </p:spPr>
        <p:txBody>
          <a:bodyPr/>
          <a:lstStyle/>
          <a:p>
            <a:r>
              <a:rPr lang="en-US" dirty="0"/>
              <a:t>Inner Join – Keys Must Match</a:t>
            </a:r>
          </a:p>
        </p:txBody>
      </p:sp>
    </p:spTree>
    <p:extLst>
      <p:ext uri="{BB962C8B-B14F-4D97-AF65-F5344CB8AC3E}">
        <p14:creationId xmlns:p14="http://schemas.microsoft.com/office/powerpoint/2010/main" val="334589554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5AC345-E0F8-19D3-C884-543D6727CC89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625" y="390009"/>
            <a:ext cx="9604375" cy="1049337"/>
          </a:xfrm>
        </p:spPr>
        <p:txBody>
          <a:bodyPr/>
          <a:lstStyle/>
          <a:p>
            <a:r>
              <a:rPr lang="en-US" dirty="0"/>
              <a:t>Left Join – All of the Left</a:t>
            </a:r>
            <a:br>
              <a:rPr lang="en-US" dirty="0"/>
            </a:br>
            <a:r>
              <a:rPr lang="en-US" dirty="0"/>
              <a:t>With Only what matches from the Right</a:t>
            </a:r>
          </a:p>
        </p:txBody>
      </p:sp>
      <p:pic>
        <p:nvPicPr>
          <p:cNvPr id="5122" name="Picture 2" descr="How to use LEFT JOIN in SQL">
            <a:extLst>
              <a:ext uri="{FF2B5EF4-FFF2-40B4-BE49-F238E27FC236}">
                <a16:creationId xmlns:a16="http://schemas.microsoft.com/office/drawing/2014/main" id="{14B756E0-A5E6-29F2-5ACD-19A3C0C84D6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192214"/>
            <a:ext cx="914400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614280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4C0E018-FDA3-2FC3-4B01-0E0D0CA517F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2587625" y="458874"/>
            <a:ext cx="9604375" cy="1049337"/>
          </a:xfrm>
        </p:spPr>
        <p:txBody>
          <a:bodyPr/>
          <a:lstStyle/>
          <a:p>
            <a:r>
              <a:rPr lang="en-US" dirty="0"/>
              <a:t>Right Join – All of the Right</a:t>
            </a:r>
            <a:br>
              <a:rPr lang="en-US" dirty="0"/>
            </a:br>
            <a:r>
              <a:rPr lang="en-US" dirty="0"/>
              <a:t>With only what Matches from the Left</a:t>
            </a:r>
          </a:p>
        </p:txBody>
      </p:sp>
      <p:pic>
        <p:nvPicPr>
          <p:cNvPr id="6146" name="Picture 2" descr="How to use RIGHT JOIN in SQL">
            <a:extLst>
              <a:ext uri="{FF2B5EF4-FFF2-40B4-BE49-F238E27FC236}">
                <a16:creationId xmlns:a16="http://schemas.microsoft.com/office/drawing/2014/main" id="{27F705BD-0AA4-918B-C4D8-D8A7E2F628C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524000" y="1192214"/>
            <a:ext cx="9144000" cy="4473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042150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SQL JOIN (With Examples)">
            <a:extLst>
              <a:ext uri="{FF2B5EF4-FFF2-40B4-BE49-F238E27FC236}">
                <a16:creationId xmlns:a16="http://schemas.microsoft.com/office/drawing/2014/main" id="{9050D256-39C7-255F-BD2D-912EE18F10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05201" y="1"/>
            <a:ext cx="4783137" cy="43446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9" name="Group 8">
            <a:extLst>
              <a:ext uri="{FF2B5EF4-FFF2-40B4-BE49-F238E27FC236}">
                <a16:creationId xmlns:a16="http://schemas.microsoft.com/office/drawing/2014/main" id="{A417674F-6DC9-4AF4-63E7-8F059DE0DE25}"/>
              </a:ext>
            </a:extLst>
          </p:cNvPr>
          <p:cNvGrpSpPr/>
          <p:nvPr/>
        </p:nvGrpSpPr>
        <p:grpSpPr>
          <a:xfrm>
            <a:off x="199248" y="2892028"/>
            <a:ext cx="3305953" cy="2985194"/>
            <a:chOff x="704916" y="3160252"/>
            <a:chExt cx="3305953" cy="2985194"/>
          </a:xfrm>
        </p:grpSpPr>
        <p:pic>
          <p:nvPicPr>
            <p:cNvPr id="4" name="Picture 2" descr="How to use LEFT JOIN in SQL">
              <a:extLst>
                <a:ext uri="{FF2B5EF4-FFF2-40B4-BE49-F238E27FC236}">
                  <a16:creationId xmlns:a16="http://schemas.microsoft.com/office/drawing/2014/main" id="{7C332395-CA3C-28E6-37F3-799ED31B265B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833" t="10824" r="26025" b="10823"/>
            <a:stretch/>
          </p:blipFill>
          <p:spPr bwMode="auto">
            <a:xfrm>
              <a:off x="704916" y="3513082"/>
              <a:ext cx="3305953" cy="263236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07C4CA-ABDC-A1B8-B6FF-D0787A8BA0BD}"/>
                </a:ext>
              </a:extLst>
            </p:cNvPr>
            <p:cNvSpPr txBox="1"/>
            <p:nvPr/>
          </p:nvSpPr>
          <p:spPr>
            <a:xfrm>
              <a:off x="1824492" y="3160252"/>
              <a:ext cx="106680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Left Join</a:t>
              </a:r>
            </a:p>
          </p:txBody>
        </p:sp>
      </p:grpSp>
      <p:grpSp>
        <p:nvGrpSpPr>
          <p:cNvPr id="10" name="Group 9">
            <a:extLst>
              <a:ext uri="{FF2B5EF4-FFF2-40B4-BE49-F238E27FC236}">
                <a16:creationId xmlns:a16="http://schemas.microsoft.com/office/drawing/2014/main" id="{65A08FD4-DE32-1017-C4B6-F0A08A24B713}"/>
              </a:ext>
            </a:extLst>
          </p:cNvPr>
          <p:cNvGrpSpPr/>
          <p:nvPr/>
        </p:nvGrpSpPr>
        <p:grpSpPr>
          <a:xfrm>
            <a:off x="8478951" y="2707886"/>
            <a:ext cx="3713049" cy="3169336"/>
            <a:chOff x="8288338" y="2892028"/>
            <a:chExt cx="3713049" cy="3169336"/>
          </a:xfrm>
        </p:grpSpPr>
        <p:pic>
          <p:nvPicPr>
            <p:cNvPr id="5" name="Picture 2" descr="How to use RIGHT JOIN in SQL">
              <a:extLst>
                <a:ext uri="{FF2B5EF4-FFF2-40B4-BE49-F238E27FC236}">
                  <a16:creationId xmlns:a16="http://schemas.microsoft.com/office/drawing/2014/main" id="{263395AB-0F77-725B-EA3D-77C70B92C595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4167" t="10823" r="25000" b="10824"/>
            <a:stretch/>
          </p:blipFill>
          <p:spPr bwMode="auto">
            <a:xfrm>
              <a:off x="8288338" y="3261360"/>
              <a:ext cx="3713049" cy="2800004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23EB0EBE-BDBF-B3E8-DECF-97058148F24E}"/>
                </a:ext>
              </a:extLst>
            </p:cNvPr>
            <p:cNvSpPr txBox="1"/>
            <p:nvPr/>
          </p:nvSpPr>
          <p:spPr>
            <a:xfrm>
              <a:off x="9435646" y="2892028"/>
              <a:ext cx="141843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dirty="0"/>
                <a:t>Right Join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175181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BB7F5A14-E41F-45A2-A8D7-C8DA156940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Multiple Criteria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0836808-1184-3867-98EC-AEF5A5FB31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445826" y="2015732"/>
            <a:ext cx="6746174" cy="4037475"/>
          </a:xfrm>
        </p:spPr>
        <p:txBody>
          <a:bodyPr/>
          <a:lstStyle/>
          <a:p>
            <a:r>
              <a:rPr lang="en-US" dirty="0"/>
              <a:t>Some scenarios require more than one join criteria. </a:t>
            </a:r>
          </a:p>
          <a:p>
            <a:r>
              <a:rPr lang="en-US" dirty="0"/>
              <a:t>The most common case is data with time-based iterations. </a:t>
            </a:r>
          </a:p>
          <a:p>
            <a:pPr lvl="1"/>
            <a:r>
              <a:rPr lang="en-US" dirty="0"/>
              <a:t>I.e. the same data each year, month, hour, </a:t>
            </a:r>
            <a:r>
              <a:rPr lang="en-US" dirty="0" err="1"/>
              <a:t>etc</a:t>
            </a:r>
            <a:r>
              <a:rPr lang="en-US" dirty="0"/>
              <a:t>…</a:t>
            </a:r>
          </a:p>
          <a:p>
            <a:pPr lvl="1"/>
            <a:r>
              <a:rPr lang="en-US" dirty="0"/>
              <a:t>Screenshot is data per state per year. </a:t>
            </a:r>
          </a:p>
          <a:p>
            <a:r>
              <a:rPr lang="en-US" dirty="0"/>
              <a:t>We usually need to specify 2+ criteria to make things work. </a:t>
            </a:r>
          </a:p>
          <a:p>
            <a:pPr lvl="1"/>
            <a:r>
              <a:rPr lang="en-US" dirty="0"/>
              <a:t>One join condition for each ‘per’. </a:t>
            </a:r>
          </a:p>
          <a:p>
            <a:pPr lvl="1"/>
            <a:r>
              <a:rPr lang="en-US" dirty="0"/>
              <a:t>Joining only on state means every year for California matches with every other year for California. </a:t>
            </a:r>
          </a:p>
          <a:p>
            <a:pPr lvl="1"/>
            <a:r>
              <a:rPr lang="en-US" dirty="0"/>
              <a:t>Adding year means those Californias only join when same year. 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FE22B04F-4600-DAEA-12AF-24C8F1BBE9A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362" y="2015732"/>
            <a:ext cx="5217464" cy="40374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6981281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C36168-B355-3E54-406A-D154AFB07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Unjoined</a:t>
            </a:r>
            <a:r>
              <a:rPr lang="en-US" dirty="0"/>
              <a:t> Datasets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640EED-E4C4-CDBC-5F92-4C39DECA21E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2197100"/>
            <a:ext cx="9603275" cy="3856381"/>
          </a:xfrm>
        </p:spPr>
        <p:txBody>
          <a:bodyPr/>
          <a:lstStyle/>
          <a:p>
            <a:r>
              <a:rPr lang="en-US" dirty="0"/>
              <a:t>If we want to use multiple datasets in </a:t>
            </a:r>
            <a:r>
              <a:rPr lang="en-US" b="1" dirty="0"/>
              <a:t>one </a:t>
            </a:r>
            <a:r>
              <a:rPr lang="en-US" dirty="0"/>
              <a:t>sheet or calculation we must join them. </a:t>
            </a:r>
          </a:p>
          <a:p>
            <a:r>
              <a:rPr lang="en-US" dirty="0"/>
              <a:t>We are able to use more than one dataset in one workbook without joins. </a:t>
            </a:r>
          </a:p>
          <a:p>
            <a:pPr lvl="1"/>
            <a:r>
              <a:rPr lang="en-US" dirty="0"/>
              <a:t>The datasets must be used independently, you can’t mix datasets. </a:t>
            </a:r>
          </a:p>
          <a:p>
            <a:pPr lvl="1"/>
            <a:r>
              <a:rPr lang="en-US" dirty="0"/>
              <a:t>You </a:t>
            </a:r>
            <a:r>
              <a:rPr lang="en-US" b="1" i="1" dirty="0"/>
              <a:t>can</a:t>
            </a:r>
            <a:r>
              <a:rPr lang="en-US" dirty="0"/>
              <a:t> put sheets made with different on the same dashboard or story. </a:t>
            </a:r>
          </a:p>
          <a:p>
            <a:pPr lvl="1"/>
            <a:r>
              <a:rPr lang="en-US" dirty="0"/>
              <a:t>Filters, actions, legends, calculations, </a:t>
            </a:r>
            <a:r>
              <a:rPr lang="en-US" dirty="0" err="1"/>
              <a:t>etc</a:t>
            </a:r>
            <a:r>
              <a:rPr lang="en-US" dirty="0"/>
              <a:t>… are separate. </a:t>
            </a:r>
          </a:p>
          <a:p>
            <a:pPr lvl="1"/>
            <a:r>
              <a:rPr lang="en-US" dirty="0"/>
              <a:t>This is easy and takes about one second. </a:t>
            </a:r>
          </a:p>
          <a:p>
            <a:r>
              <a:rPr lang="en-US" dirty="0"/>
              <a:t>If you need both sides for one vis (or one calc…), join, if not, add separately. 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EACC5DC-49FA-3A02-60D6-48B5242741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73848" y="0"/>
            <a:ext cx="4064000" cy="2197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924283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322B9C-9A1B-63DC-89D6-69E5F1838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 this more than anything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190F88F-B53A-88B0-9972-100E01B4DF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C57A727-C026-C786-A172-546F32D02F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0" y="1502134"/>
            <a:ext cx="5549900" cy="528320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69FBABE-FB44-A2C5-1F08-CEE77D3993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4945" y="1867787"/>
            <a:ext cx="5429735" cy="4537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46571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7F5E7A-3949-21FD-2069-81679C9787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7839" y="804519"/>
            <a:ext cx="8278600" cy="1049235"/>
          </a:xfrm>
        </p:spPr>
        <p:txBody>
          <a:bodyPr/>
          <a:lstStyle/>
          <a:p>
            <a:r>
              <a:rPr lang="en-US" dirty="0"/>
              <a:t>Get your Join On, Get Your Data Right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E0FD6E-4EE6-B9CE-910D-F31F0BC9D59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51579" y="1853754"/>
            <a:ext cx="10122582" cy="4199727"/>
          </a:xfrm>
        </p:spPr>
        <p:txBody>
          <a:bodyPr>
            <a:normAutofit/>
          </a:bodyPr>
          <a:lstStyle/>
          <a:p>
            <a:r>
              <a:rPr lang="en-US" dirty="0"/>
              <a:t>Joins are common and we’ll use them semi-regularly. (Ask for help if needed). </a:t>
            </a:r>
          </a:p>
          <a:p>
            <a:pPr lvl="1"/>
            <a:r>
              <a:rPr lang="en-US" dirty="0"/>
              <a:t>Can get very (sadistically) complex in real life, but most of ours are pretty simple. </a:t>
            </a:r>
          </a:p>
          <a:p>
            <a:r>
              <a:rPr lang="en-US" dirty="0"/>
              <a:t>Process to join:</a:t>
            </a:r>
          </a:p>
          <a:p>
            <a:pPr lvl="1"/>
            <a:r>
              <a:rPr lang="en-US" dirty="0"/>
              <a:t>Identify the shared value to join on (usually key). </a:t>
            </a:r>
          </a:p>
          <a:p>
            <a:pPr lvl="1"/>
            <a:r>
              <a:rPr lang="en-US" dirty="0"/>
              <a:t>Label one table as left, one as right. If 3+, join 2 and repeat. (In tab, make sure join window is open). </a:t>
            </a:r>
          </a:p>
          <a:p>
            <a:pPr lvl="1"/>
            <a:r>
              <a:rPr lang="en-US" dirty="0"/>
              <a:t>Determine type – do you want matches, all left side, or all right side. </a:t>
            </a:r>
          </a:p>
          <a:p>
            <a:pPr lvl="2"/>
            <a:r>
              <a:rPr lang="en-US" dirty="0"/>
              <a:t>What is the goal outcome – draw out a line or a few on paper to confirm. </a:t>
            </a:r>
          </a:p>
          <a:p>
            <a:pPr lvl="1"/>
            <a:r>
              <a:rPr lang="en-US" dirty="0"/>
              <a:t>Check, is it right? Especially if there’s more than one of anything. </a:t>
            </a:r>
          </a:p>
          <a:p>
            <a:pPr lvl="2"/>
            <a:r>
              <a:rPr lang="en-US" dirty="0"/>
              <a:t>Estimate number of results after and check, it can explode with errors. </a:t>
            </a:r>
          </a:p>
          <a:p>
            <a:pPr lvl="2"/>
            <a:r>
              <a:rPr lang="en-US" dirty="0"/>
              <a:t>Check a couple of specific rows. </a:t>
            </a:r>
          </a:p>
        </p:txBody>
      </p:sp>
      <p:pic>
        <p:nvPicPr>
          <p:cNvPr id="4098" name="Picture 2" descr="Xzibit - Get Your Walk On (HD / Dirty) on Make a GIF">
            <a:extLst>
              <a:ext uri="{FF2B5EF4-FFF2-40B4-BE49-F238E27FC236}">
                <a16:creationId xmlns:a16="http://schemas.microsoft.com/office/drawing/2014/main" id="{B9347140-DF5C-6D70-89C7-0116ADB9BA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896439" y="0"/>
            <a:ext cx="3295562" cy="18537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45656390"/>
      </p:ext>
    </p:extLst>
  </p:cSld>
  <p:clrMapOvr>
    <a:masterClrMapping/>
  </p:clrMapOvr>
</p:sld>
</file>

<file path=ppt/theme/theme1.xml><?xml version="1.0" encoding="utf-8"?>
<a:theme xmlns:a="http://schemas.openxmlformats.org/drawingml/2006/main" name="Gallery">
  <a:themeElements>
    <a:clrScheme name="Gallery">
      <a:dk1>
        <a:sysClr val="windowText" lastClr="000000"/>
      </a:dk1>
      <a:lt1>
        <a:sysClr val="window" lastClr="FFFFFF"/>
      </a:lt1>
      <a:dk2>
        <a:srgbClr val="454545"/>
      </a:dk2>
      <a:lt2>
        <a:srgbClr val="DFDBD5"/>
      </a:lt2>
      <a:accent1>
        <a:srgbClr val="B71E42"/>
      </a:accent1>
      <a:accent2>
        <a:srgbClr val="DE478E"/>
      </a:accent2>
      <a:accent3>
        <a:srgbClr val="BC72F0"/>
      </a:accent3>
      <a:accent4>
        <a:srgbClr val="795FAF"/>
      </a:accent4>
      <a:accent5>
        <a:srgbClr val="586EA6"/>
      </a:accent5>
      <a:accent6>
        <a:srgbClr val="6892A0"/>
      </a:accent6>
      <a:hlink>
        <a:srgbClr val="FA2B5C"/>
      </a:hlink>
      <a:folHlink>
        <a:srgbClr val="BC658E"/>
      </a:folHlink>
    </a:clrScheme>
    <a:fontScheme name="Gallery">
      <a:majorFont>
        <a:latin typeface="Gill Sans MT" panose="020B0502020104020203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ill Sans MT" panose="020B0502020104020203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Gallery">
      <a:fillStyleLst>
        <a:solidFill>
          <a:schemeClr val="phClr"/>
        </a:solidFill>
        <a:gradFill rotWithShape="1">
          <a:gsLst>
            <a:gs pos="0">
              <a:schemeClr val="phClr">
                <a:tint val="54000"/>
                <a:alpha val="100000"/>
                <a:satMod val="105000"/>
                <a:lumMod val="110000"/>
              </a:schemeClr>
            </a:gs>
            <a:gs pos="100000">
              <a:schemeClr val="phClr">
                <a:tint val="78000"/>
                <a:alpha val="92000"/>
                <a:satMod val="109000"/>
                <a:lumMod val="10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satMod val="110000"/>
                <a:lumMod val="104000"/>
              </a:schemeClr>
            </a:gs>
            <a:gs pos="69000">
              <a:schemeClr val="phClr">
                <a:shade val="88000"/>
                <a:satMod val="130000"/>
                <a:lumMod val="92000"/>
              </a:schemeClr>
            </a:gs>
            <a:gs pos="100000">
              <a:schemeClr val="phClr">
                <a:shade val="78000"/>
                <a:satMod val="130000"/>
                <a:lumMod val="92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0800" dist="50800" dir="5400000" sx="96000" sy="96000" rotWithShape="0">
              <a:srgbClr val="000000">
                <a:alpha val="48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080000"/>
            </a:lightRig>
          </a:scene3d>
          <a:sp3d>
            <a:bevelT w="38100" h="12700" prst="softRound"/>
          </a:sp3d>
        </a:effectStyle>
      </a:effectStyleLst>
      <a:bgFillStyleLst>
        <a:solidFill>
          <a:schemeClr val="phClr"/>
        </a:solidFill>
        <a:solidFill>
          <a:schemeClr val="phClr"/>
        </a:solidFill>
        <a:gradFill rotWithShape="1">
          <a:gsLst>
            <a:gs pos="0">
              <a:schemeClr val="phClr">
                <a:tint val="94000"/>
                <a:satMod val="80000"/>
                <a:lumMod val="106000"/>
              </a:schemeClr>
            </a:gs>
            <a:gs pos="100000">
              <a:schemeClr val="phClr">
                <a:shade val="8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Gallery" id="{BBFCD31E-59A1-489D-B089-A3EAD7CAE12E}" vid="{F5E91637-A7B6-4E27-B710-77DA7014EE1E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Gallery</Template>
  <TotalTime>10210</TotalTime>
  <Words>2239</Words>
  <Application>Microsoft Macintosh PowerPoint</Application>
  <PresentationFormat>Widescreen</PresentationFormat>
  <Paragraphs>220</Paragraphs>
  <Slides>34</Slides>
  <Notes>8</Notes>
  <HiddenSlides>5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Aptos</vt:lpstr>
      <vt:lpstr>Arial</vt:lpstr>
      <vt:lpstr>Gill Sans MT</vt:lpstr>
      <vt:lpstr>Gallery</vt:lpstr>
      <vt:lpstr>Housekeeping</vt:lpstr>
      <vt:lpstr>Assignment – Some things to consider…</vt:lpstr>
      <vt:lpstr>Joins</vt:lpstr>
      <vt:lpstr>Chapter 7 Challenges</vt:lpstr>
      <vt:lpstr>Data Management</vt:lpstr>
      <vt:lpstr>Database Benefits</vt:lpstr>
      <vt:lpstr>ETL and Warehousing</vt:lpstr>
      <vt:lpstr>ETL – Extract Transform Load</vt:lpstr>
      <vt:lpstr>PowerPoint Presentation</vt:lpstr>
      <vt:lpstr>Data Warehouse</vt:lpstr>
      <vt:lpstr>Data Management</vt:lpstr>
      <vt:lpstr>Our Data Life</vt:lpstr>
      <vt:lpstr>SQL</vt:lpstr>
      <vt:lpstr>Data Management</vt:lpstr>
      <vt:lpstr>Data Management</vt:lpstr>
      <vt:lpstr>PowerPoint Presentation</vt:lpstr>
      <vt:lpstr>Data Management</vt:lpstr>
      <vt:lpstr>Data Management</vt:lpstr>
      <vt:lpstr>Data Management</vt:lpstr>
      <vt:lpstr>Data Management</vt:lpstr>
      <vt:lpstr>Remember the Key</vt:lpstr>
      <vt:lpstr>SQL Joins</vt:lpstr>
      <vt:lpstr>Join Mechanics</vt:lpstr>
      <vt:lpstr>Joins</vt:lpstr>
      <vt:lpstr>Remember this more than anything</vt:lpstr>
      <vt:lpstr>Join ”Template”</vt:lpstr>
      <vt:lpstr>Inner Join – Keys Must Match</vt:lpstr>
      <vt:lpstr>Left Join – All of the Left With Only what matches from the Right</vt:lpstr>
      <vt:lpstr>Right Join – All of the Right With only what Matches from the Left</vt:lpstr>
      <vt:lpstr>PowerPoint Presentation</vt:lpstr>
      <vt:lpstr>Multiple Criteria</vt:lpstr>
      <vt:lpstr>Unjoined Datasets</vt:lpstr>
      <vt:lpstr>Remember this more than anything</vt:lpstr>
      <vt:lpstr>Get your Join On, Get Your Data Right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Akeem Semper</dc:creator>
  <cp:lastModifiedBy>Akeem Semper</cp:lastModifiedBy>
  <cp:revision>32</cp:revision>
  <dcterms:created xsi:type="dcterms:W3CDTF">2025-09-22T17:13:03Z</dcterms:created>
  <dcterms:modified xsi:type="dcterms:W3CDTF">2026-01-30T18:42:12Z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0877899-02b0-462c-b2a9-b7d15c4f96fe_Enabled">
    <vt:lpwstr>true</vt:lpwstr>
  </property>
  <property fmtid="{D5CDD505-2E9C-101B-9397-08002B2CF9AE}" pid="3" name="MSIP_Label_10877899-02b0-462c-b2a9-b7d15c4f96fe_SetDate">
    <vt:lpwstr>2025-09-22T17:13:32Z</vt:lpwstr>
  </property>
  <property fmtid="{D5CDD505-2E9C-101B-9397-08002B2CF9AE}" pid="4" name="MSIP_Label_10877899-02b0-462c-b2a9-b7d15c4f96fe_Method">
    <vt:lpwstr>Standard</vt:lpwstr>
  </property>
  <property fmtid="{D5CDD505-2E9C-101B-9397-08002B2CF9AE}" pid="5" name="MSIP_Label_10877899-02b0-462c-b2a9-b7d15c4f96fe_Name">
    <vt:lpwstr>Protected [Protected A]</vt:lpwstr>
  </property>
  <property fmtid="{D5CDD505-2E9C-101B-9397-08002B2CF9AE}" pid="6" name="MSIP_Label_10877899-02b0-462c-b2a9-b7d15c4f96fe_SiteId">
    <vt:lpwstr>5c98fb47-d3b9-4649-9d94-f88cbdd9729c</vt:lpwstr>
  </property>
  <property fmtid="{D5CDD505-2E9C-101B-9397-08002B2CF9AE}" pid="7" name="MSIP_Label_10877899-02b0-462c-b2a9-b7d15c4f96fe_ActionId">
    <vt:lpwstr>e4ffb939-052d-4b04-875e-49032dfc58ef</vt:lpwstr>
  </property>
  <property fmtid="{D5CDD505-2E9C-101B-9397-08002B2CF9AE}" pid="8" name="MSIP_Label_10877899-02b0-462c-b2a9-b7d15c4f96fe_ContentBits">
    <vt:lpwstr>0</vt:lpwstr>
  </property>
  <property fmtid="{D5CDD505-2E9C-101B-9397-08002B2CF9AE}" pid="9" name="MSIP_Label_10877899-02b0-462c-b2a9-b7d15c4f96fe_Tag">
    <vt:lpwstr>50, 3, 0, 1</vt:lpwstr>
  </property>
</Properties>
</file>