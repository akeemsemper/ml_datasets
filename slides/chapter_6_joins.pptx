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374" r:id="rId2"/>
    <p:sldId id="256" r:id="rId3"/>
    <p:sldId id="257" r:id="rId4"/>
    <p:sldId id="306" r:id="rId5"/>
    <p:sldId id="362" r:id="rId6"/>
    <p:sldId id="258" r:id="rId7"/>
    <p:sldId id="364" r:id="rId8"/>
    <p:sldId id="369" r:id="rId9"/>
    <p:sldId id="371" r:id="rId10"/>
    <p:sldId id="333" r:id="rId11"/>
    <p:sldId id="370" r:id="rId12"/>
    <p:sldId id="353" r:id="rId13"/>
    <p:sldId id="304" r:id="rId14"/>
    <p:sldId id="305" r:id="rId15"/>
    <p:sldId id="363" r:id="rId16"/>
    <p:sldId id="334" r:id="rId17"/>
    <p:sldId id="307" r:id="rId18"/>
    <p:sldId id="308" r:id="rId19"/>
    <p:sldId id="310" r:id="rId20"/>
    <p:sldId id="367" r:id="rId21"/>
    <p:sldId id="354" r:id="rId22"/>
    <p:sldId id="366" r:id="rId23"/>
    <p:sldId id="355" r:id="rId24"/>
    <p:sldId id="373" r:id="rId25"/>
    <p:sldId id="356" r:id="rId26"/>
    <p:sldId id="357" r:id="rId27"/>
    <p:sldId id="358" r:id="rId28"/>
    <p:sldId id="359" r:id="rId29"/>
    <p:sldId id="360" r:id="rId30"/>
    <p:sldId id="368" r:id="rId31"/>
    <p:sldId id="372" r:id="rId32"/>
    <p:sldId id="365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7"/>
  </p:normalViewPr>
  <p:slideViewPr>
    <p:cSldViewPr snapToGrid="0">
      <p:cViewPr varScale="1">
        <p:scale>
          <a:sx n="171" d="100"/>
          <a:sy n="171" d="100"/>
        </p:scale>
        <p:origin x="16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A29A22-AD26-424E-97E1-6600CB23E09A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3E7A2-7B99-854A-B7E0-1D09A44BB7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39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56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01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796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96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83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914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781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D6227277-B0D8-4809-8878-D1ED6D19D374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395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17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62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559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397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626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9357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7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980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7249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73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06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FC9DC-8DDD-6E4D-8614-EDD71F05B5A3}" type="datetimeFigureOut">
              <a:rPr lang="en-US" smtClean="0"/>
              <a:t>9/22/25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1C8267F-244E-0449-8411-A8FCBE3518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60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tif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B2DD-CCAF-56F3-68ED-3A98961D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50A98-FD55-30E1-4FE4-46BF20207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Today:</a:t>
            </a:r>
          </a:p>
          <a:p>
            <a:pPr lvl="1"/>
            <a:r>
              <a:rPr lang="en-US" dirty="0"/>
              <a:t>Data warehousing and ETL theory. </a:t>
            </a:r>
          </a:p>
          <a:p>
            <a:pPr lvl="1"/>
            <a:r>
              <a:rPr lang="en-US" dirty="0"/>
              <a:t>Joining datasets. </a:t>
            </a:r>
          </a:p>
          <a:p>
            <a:r>
              <a:rPr lang="en-US" dirty="0"/>
              <a:t>Next time – we’ll hold some time for </a:t>
            </a:r>
            <a:r>
              <a:rPr lang="en-US" dirty="0" err="1"/>
              <a:t>q+a</a:t>
            </a:r>
            <a:r>
              <a:rPr lang="en-US" dirty="0"/>
              <a:t> for assignment stuff. </a:t>
            </a:r>
          </a:p>
          <a:p>
            <a:r>
              <a:rPr lang="en-US" dirty="0"/>
              <a:t>There’s a holiday a week from today.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22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C134-34A8-CA43-F3C7-A4A8EC7DE4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19B4B-3B42-508B-8522-F29D6676AF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02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773F8-905A-1BDE-04E2-88E09968B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7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6745E-3AA0-0429-A63C-B25B0E9C6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0" y="2015732"/>
            <a:ext cx="7877772" cy="3983624"/>
          </a:xfrm>
        </p:spPr>
        <p:txBody>
          <a:bodyPr/>
          <a:lstStyle/>
          <a:p>
            <a:r>
              <a:rPr lang="en-US" dirty="0"/>
              <a:t>Chapter 7 is on visualizing distributions. </a:t>
            </a:r>
          </a:p>
          <a:p>
            <a:r>
              <a:rPr lang="en-US" dirty="0"/>
              <a:t>We looked at histograms and box and whisker plots in chart types. </a:t>
            </a:r>
          </a:p>
          <a:p>
            <a:r>
              <a:rPr lang="en-US" dirty="0"/>
              <a:t>Several variants, particularly the line versions, can be made with the marks card. </a:t>
            </a:r>
          </a:p>
          <a:p>
            <a:r>
              <a:rPr lang="en-US" dirty="0"/>
              <a:t>Try some…</a:t>
            </a:r>
          </a:p>
          <a:p>
            <a:pPr lvl="1"/>
            <a:r>
              <a:rPr lang="en-US" dirty="0"/>
              <a:t>Different granularities, different mark types, multiple distributions.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CF35E0-261A-FB40-D589-33D11C9C0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17" t="21142" r="41465"/>
          <a:stretch>
            <a:fillRect/>
          </a:stretch>
        </p:blipFill>
        <p:spPr>
          <a:xfrm>
            <a:off x="9329351" y="400"/>
            <a:ext cx="2862649" cy="68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27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3"/>
            <a:ext cx="9603275" cy="4199727"/>
          </a:xfrm>
        </p:spPr>
        <p:txBody>
          <a:bodyPr>
            <a:normAutofit/>
          </a:bodyPr>
          <a:lstStyle/>
          <a:p>
            <a:r>
              <a:rPr lang="en-US" sz="2400" dirty="0"/>
              <a:t>The relational database environment provides businesses with an efficient and effective way to manage data.</a:t>
            </a:r>
          </a:p>
          <a:p>
            <a:r>
              <a:rPr lang="en-US" sz="2400" dirty="0"/>
              <a:t>Most applications will have their own database for their stuff. </a:t>
            </a:r>
          </a:p>
          <a:p>
            <a:pPr lvl="1"/>
            <a:r>
              <a:rPr lang="en-US" sz="2200" dirty="0"/>
              <a:t>Every system generates data as stuff happens – sales, products, views…</a:t>
            </a:r>
          </a:p>
          <a:p>
            <a:pPr lvl="1"/>
            <a:r>
              <a:rPr lang="en-US" sz="2200" dirty="0"/>
              <a:t>This is the OLTP stuff, processing transactions are storing data. </a:t>
            </a:r>
          </a:p>
          <a:p>
            <a:r>
              <a:rPr lang="en-US" sz="2400" dirty="0"/>
              <a:t>Each app’s database will have tables for each entity. </a:t>
            </a:r>
          </a:p>
          <a:p>
            <a:pPr lvl="1"/>
            <a:r>
              <a:rPr lang="en-US" sz="2200" dirty="0"/>
              <a:t>Each entity* has a key, aka ID number – there’s some overlap here. </a:t>
            </a:r>
          </a:p>
          <a:p>
            <a:pPr lvl="1"/>
            <a:r>
              <a:rPr lang="en-US" sz="2200" dirty="0"/>
              <a:t>Sales list a customer id, class registrations list student id, </a:t>
            </a:r>
            <a:r>
              <a:rPr lang="en-US" sz="2200" dirty="0" err="1"/>
              <a:t>etc</a:t>
            </a:r>
            <a:r>
              <a:rPr lang="en-US" sz="2200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458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D20917C-471C-5319-721E-5EA30F6AA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Benefits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35CA4A-584E-3C26-E067-24A469DAC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264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One copy of data.</a:t>
            </a:r>
          </a:p>
          <a:p>
            <a:pPr lvl="1"/>
            <a:r>
              <a:rPr lang="en-US" dirty="0"/>
              <a:t>Can’t have multiple values for one thing. </a:t>
            </a:r>
          </a:p>
          <a:p>
            <a:pPr lvl="1"/>
            <a:r>
              <a:rPr lang="en-US" dirty="0"/>
              <a:t>Changes to values don’t require tracking down many copies of data. </a:t>
            </a:r>
          </a:p>
          <a:p>
            <a:r>
              <a:rPr lang="en-US" dirty="0"/>
              <a:t>Enforcement of integrity rules. </a:t>
            </a:r>
          </a:p>
          <a:p>
            <a:pPr lvl="1"/>
            <a:r>
              <a:rPr lang="en-US" dirty="0"/>
              <a:t>Mandate that data meets certain rules. </a:t>
            </a:r>
          </a:p>
          <a:p>
            <a:r>
              <a:rPr lang="en-US" dirty="0"/>
              <a:t>Access control.</a:t>
            </a:r>
          </a:p>
          <a:p>
            <a:pPr lvl="1"/>
            <a:r>
              <a:rPr lang="en-US" dirty="0"/>
              <a:t>Allow read/write access to only those allowed. </a:t>
            </a:r>
          </a:p>
          <a:p>
            <a:r>
              <a:rPr lang="en-US" dirty="0"/>
              <a:t>Data sharing and access.</a:t>
            </a:r>
          </a:p>
          <a:p>
            <a:pPr lvl="1"/>
            <a:r>
              <a:rPr lang="en-US" dirty="0"/>
              <a:t>Creation, storing, and access to data are separate.</a:t>
            </a:r>
          </a:p>
          <a:p>
            <a:pPr lvl="1"/>
            <a:r>
              <a:rPr lang="en-US" dirty="0"/>
              <a:t>E.g. One program makes data, another uses it…</a:t>
            </a:r>
          </a:p>
        </p:txBody>
      </p:sp>
    </p:spTree>
    <p:extLst>
      <p:ext uri="{BB962C8B-B14F-4D97-AF65-F5344CB8AC3E}">
        <p14:creationId xmlns:p14="http://schemas.microsoft.com/office/powerpoint/2010/main" val="3755745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0C7E-F6C4-463C-6796-7CE4D422C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and Warehousing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43CB7-2C7D-FE96-8D6C-7F01E34D6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1592"/>
          </a:xfrm>
        </p:spPr>
        <p:txBody>
          <a:bodyPr/>
          <a:lstStyle/>
          <a:p>
            <a:r>
              <a:rPr lang="en-US" dirty="0"/>
              <a:t>We generally work off of centralized repositories for data to analyze. </a:t>
            </a:r>
          </a:p>
          <a:p>
            <a:r>
              <a:rPr lang="en-US" dirty="0"/>
              <a:t>Large organizations have data from many sources. </a:t>
            </a:r>
          </a:p>
          <a:p>
            <a:pPr lvl="1"/>
            <a:r>
              <a:rPr lang="en-US" dirty="0"/>
              <a:t>Website. </a:t>
            </a:r>
          </a:p>
          <a:p>
            <a:pPr lvl="1"/>
            <a:r>
              <a:rPr lang="en-US" dirty="0"/>
              <a:t>Equipment like factory machines. </a:t>
            </a:r>
          </a:p>
          <a:p>
            <a:pPr lvl="1"/>
            <a:r>
              <a:rPr lang="en-US" dirty="0"/>
              <a:t>HR, finance, marketing,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External data sources. </a:t>
            </a:r>
          </a:p>
          <a:p>
            <a:r>
              <a:rPr lang="en-US" dirty="0"/>
              <a:t>Consolidating this data is non-trivial. </a:t>
            </a:r>
          </a:p>
        </p:txBody>
      </p:sp>
    </p:spTree>
    <p:extLst>
      <p:ext uri="{BB962C8B-B14F-4D97-AF65-F5344CB8AC3E}">
        <p14:creationId xmlns:p14="http://schemas.microsoft.com/office/powerpoint/2010/main" val="157493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B9488-81CC-9770-8976-D82712D9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ETL – Extract Transform Load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AA92E-9ED1-CFCF-C37A-8810AF06F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ETL is a process to move data from one location to another. </a:t>
            </a:r>
          </a:p>
          <a:p>
            <a:pPr lvl="1"/>
            <a:r>
              <a:rPr lang="en-US" dirty="0"/>
              <a:t>In this case it is to gather and centralize data from multiple sources into a central warehouse.</a:t>
            </a:r>
          </a:p>
          <a:p>
            <a:r>
              <a:rPr lang="en-US" dirty="0"/>
              <a:t>Extract – gathers data from multiple sources. </a:t>
            </a:r>
          </a:p>
          <a:p>
            <a:pPr lvl="1"/>
            <a:r>
              <a:rPr lang="en-US" dirty="0"/>
              <a:t>Includes all the OLTP doing sources of business data, pos systems, web stores, production…</a:t>
            </a:r>
          </a:p>
          <a:p>
            <a:pPr lvl="1"/>
            <a:r>
              <a:rPr lang="en-US" dirty="0"/>
              <a:t>Each source can be totally different in type, data structure,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Transform – process and clean the data into a standardized format. </a:t>
            </a:r>
          </a:p>
          <a:p>
            <a:pPr lvl="1"/>
            <a:r>
              <a:rPr lang="en-US" dirty="0"/>
              <a:t>Make all the data fit the format you want, and remove anything not needed. </a:t>
            </a:r>
          </a:p>
          <a:p>
            <a:pPr lvl="1"/>
            <a:r>
              <a:rPr lang="en-US" dirty="0"/>
              <a:t> Can include correcting mistakes, missing data, date formats, spelling, granularity,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Load – store the consistent data in a data warehouse for analysis. </a:t>
            </a:r>
          </a:p>
        </p:txBody>
      </p:sp>
    </p:spTree>
    <p:extLst>
      <p:ext uri="{BB962C8B-B14F-4D97-AF65-F5344CB8AC3E}">
        <p14:creationId xmlns:p14="http://schemas.microsoft.com/office/powerpoint/2010/main" val="4208389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1C734-7FBA-8A07-D719-8700E11EB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5950C-C644-BCB1-0D44-0B7D4AD61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ETL vs ELT: Key Differences, Comparisons, &amp; Use Cases">
            <a:extLst>
              <a:ext uri="{FF2B5EF4-FFF2-40B4-BE49-F238E27FC236}">
                <a16:creationId xmlns:a16="http://schemas.microsoft.com/office/drawing/2014/main" id="{7D0B1C7B-AC7F-5C23-4AF5-5A50F4150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2888"/>
            <a:ext cx="12192000" cy="6370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535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A05C-692F-A4B8-E540-7B52BD8CD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21BB9-D253-A836-5EBE-6C1E99EA1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351" y="1853754"/>
            <a:ext cx="10869503" cy="4199727"/>
          </a:xfrm>
        </p:spPr>
        <p:txBody>
          <a:bodyPr/>
          <a:lstStyle/>
          <a:p>
            <a:r>
              <a:rPr lang="en-US" dirty="0"/>
              <a:t>The ETL process normally loads our data into a special database - the data warehouse. </a:t>
            </a:r>
          </a:p>
          <a:p>
            <a:pPr lvl="1"/>
            <a:r>
              <a:rPr lang="en-US" dirty="0"/>
              <a:t>Usually periodically – hourly, nightly,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The data warehouse is a large </a:t>
            </a:r>
            <a:r>
              <a:rPr lang="en-US" dirty="0" err="1"/>
              <a:t>db</a:t>
            </a:r>
            <a:r>
              <a:rPr lang="en-US" dirty="0"/>
              <a:t> that is intended for archiving and analysis. </a:t>
            </a:r>
          </a:p>
          <a:p>
            <a:pPr lvl="1"/>
            <a:r>
              <a:rPr lang="en-US" dirty="0"/>
              <a:t>Not used with live transactions or current data. </a:t>
            </a:r>
          </a:p>
          <a:p>
            <a:pPr lvl="1"/>
            <a:r>
              <a:rPr lang="en-US" dirty="0"/>
              <a:t>Stores (ideally) all historical data that the organization needs – central source o’ truth. </a:t>
            </a:r>
          </a:p>
          <a:p>
            <a:pPr lvl="1"/>
            <a:r>
              <a:rPr lang="en-US" dirty="0"/>
              <a:t>Allows for data from different sources to be integrated for analysis. </a:t>
            </a:r>
          </a:p>
          <a:p>
            <a:pPr lvl="1"/>
            <a:r>
              <a:rPr lang="en-US" dirty="0"/>
              <a:t>All the data is consistent and clean once it gets here, so analyst and just analyze. </a:t>
            </a:r>
          </a:p>
          <a:p>
            <a:r>
              <a:rPr lang="en-US" dirty="0"/>
              <a:t>Data is stored with many entities and must be connected for analysis. </a:t>
            </a:r>
          </a:p>
          <a:p>
            <a:pPr lvl="1"/>
            <a:r>
              <a:rPr lang="en-US" dirty="0"/>
              <a:t>ER diagrams and </a:t>
            </a:r>
            <a:r>
              <a:rPr lang="en-US" dirty="0" err="1"/>
              <a:t>dicts</a:t>
            </a:r>
            <a:r>
              <a:rPr lang="en-US" dirty="0"/>
              <a:t> show layout, and we must join to make usable data. </a:t>
            </a:r>
          </a:p>
        </p:txBody>
      </p:sp>
      <p:pic>
        <p:nvPicPr>
          <p:cNvPr id="3074" name="Picture 2" descr="What Is Cloud Data Warehousing">
            <a:extLst>
              <a:ext uri="{FF2B5EF4-FFF2-40B4-BE49-F238E27FC236}">
                <a16:creationId xmlns:a16="http://schemas.microsoft.com/office/drawing/2014/main" id="{311AABCD-8C42-D7FA-AA95-265BB746FB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93" r="7239"/>
          <a:stretch>
            <a:fillRect/>
          </a:stretch>
        </p:blipFill>
        <p:spPr bwMode="auto">
          <a:xfrm>
            <a:off x="9090454" y="3429000"/>
            <a:ext cx="3101546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591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600" dirty="0"/>
              <a:t>Entity: person, places, things, events</a:t>
            </a:r>
          </a:p>
          <a:p>
            <a:r>
              <a:rPr lang="en-US" sz="2600" dirty="0"/>
              <a:t>Instance: a single occurrence of an entity; represented as a record in a database</a:t>
            </a:r>
          </a:p>
          <a:p>
            <a:r>
              <a:rPr lang="en-US" sz="2600" dirty="0"/>
              <a:t>Entities have relationships with one another: either 1:1, 1:M, M:N</a:t>
            </a:r>
          </a:p>
          <a:p>
            <a:r>
              <a:rPr lang="en-US" sz="2600" dirty="0"/>
              <a:t>Primary key: attribute that uniquely identifies each instance of the entity; used to create a data structure called an index for fast data retrieval and searches </a:t>
            </a:r>
          </a:p>
          <a:p>
            <a:pPr lvl="1"/>
            <a:r>
              <a:rPr lang="en-US" sz="2200" dirty="0"/>
              <a:t>Composite primary key: primary key that consists of more than one attribute; used when none of the individual attributes alone can uniquely identify each instance of the entity. (Not critical). </a:t>
            </a:r>
          </a:p>
          <a:p>
            <a:r>
              <a:rPr lang="en-US" sz="2600" dirty="0"/>
              <a:t>Foreign key: a primary key of a related entity</a:t>
            </a:r>
          </a:p>
          <a:p>
            <a:endParaRPr lang="en-US" sz="28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965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39071-9DC0-1157-7B36-EE03960E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Data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703C4-7FD2-B791-60AA-ADF73735B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3904"/>
            <a:ext cx="9603275" cy="4119578"/>
          </a:xfrm>
        </p:spPr>
        <p:txBody>
          <a:bodyPr/>
          <a:lstStyle/>
          <a:p>
            <a:r>
              <a:rPr lang="en-US" dirty="0"/>
              <a:t>At this point we’ve touched on most of the infrastructure related to our data. </a:t>
            </a:r>
          </a:p>
          <a:p>
            <a:r>
              <a:rPr lang="en-US" dirty="0"/>
              <a:t>Data is generated in many places, include those that process transactions – OLTP. </a:t>
            </a:r>
          </a:p>
          <a:p>
            <a:pPr lvl="1"/>
            <a:r>
              <a:rPr lang="en-US" dirty="0"/>
              <a:t>Each of these system normally has a DB that stores those transactions. </a:t>
            </a:r>
          </a:p>
          <a:p>
            <a:r>
              <a:rPr lang="en-US" dirty="0"/>
              <a:t>That data is consolidated and cleaned in an ETL process and stored centrally. </a:t>
            </a:r>
          </a:p>
          <a:p>
            <a:r>
              <a:rPr lang="en-US" dirty="0"/>
              <a:t>We connect to that warehouse to get data. </a:t>
            </a:r>
          </a:p>
          <a:p>
            <a:pPr lvl="1"/>
            <a:r>
              <a:rPr lang="en-US" dirty="0"/>
              <a:t>The database uses entity-relationship model to store data on many different things. </a:t>
            </a:r>
          </a:p>
          <a:p>
            <a:pPr lvl="1"/>
            <a:r>
              <a:rPr lang="en-US" dirty="0"/>
              <a:t>We need to navigate the </a:t>
            </a:r>
            <a:r>
              <a:rPr lang="en-US" dirty="0" err="1"/>
              <a:t>db</a:t>
            </a:r>
            <a:r>
              <a:rPr lang="en-US" dirty="0"/>
              <a:t> structure and join to make useful data. </a:t>
            </a:r>
          </a:p>
          <a:p>
            <a:pPr lvl="1"/>
            <a:r>
              <a:rPr lang="en-US" dirty="0"/>
              <a:t>We can get data on almost anything, but it comes separated. (CSVs we use are the ~output). </a:t>
            </a:r>
          </a:p>
        </p:txBody>
      </p:sp>
    </p:spTree>
    <p:extLst>
      <p:ext uri="{BB962C8B-B14F-4D97-AF65-F5344CB8AC3E}">
        <p14:creationId xmlns:p14="http://schemas.microsoft.com/office/powerpoint/2010/main" val="682342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B89F83-DD6F-7EEC-C494-DE316ECD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D507C7-7485-1599-066C-97F97A079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data are stored in a relational database, we can retrieve them using database queries.</a:t>
            </a:r>
          </a:p>
          <a:p>
            <a:r>
              <a:rPr lang="en-US" dirty="0"/>
              <a:t>SQL is how we “talk” to a database. </a:t>
            </a:r>
          </a:p>
          <a:p>
            <a:r>
              <a:rPr lang="en-US" dirty="0"/>
              <a:t>We specify what we want, the database figures out how to get it. </a:t>
            </a:r>
          </a:p>
          <a:p>
            <a:pPr lvl="1"/>
            <a:r>
              <a:rPr lang="en-US" dirty="0"/>
              <a:t>SELECT -&gt; Give me all the records that match these criteria…</a:t>
            </a:r>
          </a:p>
          <a:p>
            <a:r>
              <a:rPr lang="en-US" dirty="0"/>
              <a:t>In Tableau, there are SQL queries generated behind the scenes when we manipulate data. </a:t>
            </a:r>
          </a:p>
          <a:p>
            <a:pPr lvl="1"/>
            <a:r>
              <a:rPr lang="en-US" dirty="0"/>
              <a:t>You don’t need to know </a:t>
            </a:r>
            <a:r>
              <a:rPr lang="en-US" dirty="0" err="1"/>
              <a:t>sql</a:t>
            </a:r>
            <a:r>
              <a:rPr lang="en-US" dirty="0"/>
              <a:t> but you need to understand and use the concepts. </a:t>
            </a:r>
          </a:p>
        </p:txBody>
      </p:sp>
    </p:spTree>
    <p:extLst>
      <p:ext uri="{BB962C8B-B14F-4D97-AF65-F5344CB8AC3E}">
        <p14:creationId xmlns:p14="http://schemas.microsoft.com/office/powerpoint/2010/main" val="3069179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The most popular query language used is Structure Query Language (SQL).</a:t>
            </a:r>
            <a:endParaRPr lang="en-US" dirty="0"/>
          </a:p>
          <a:p>
            <a:pPr lvl="1"/>
            <a:r>
              <a:rPr lang="en-US" sz="2400" dirty="0"/>
              <a:t>Manipulate data using a relatively simple and intuitive approach</a:t>
            </a:r>
          </a:p>
          <a:p>
            <a:pPr lvl="1"/>
            <a:r>
              <a:rPr lang="en-US" sz="2400" dirty="0"/>
              <a:t>Specify the attributes, tables, and criteria the retrieved data must meet</a:t>
            </a:r>
          </a:p>
          <a:p>
            <a:pPr lvl="1"/>
            <a:r>
              <a:rPr lang="en-US" sz="2400" dirty="0"/>
              <a:t>Uses three key words: SELECT, FROM, and WHERE</a:t>
            </a:r>
          </a:p>
          <a:p>
            <a:pPr lvl="1"/>
            <a:r>
              <a:rPr lang="en-US" sz="2400" dirty="0"/>
              <a:t>SELECT: specifies the attributes</a:t>
            </a:r>
          </a:p>
          <a:p>
            <a:pPr lvl="1"/>
            <a:r>
              <a:rPr lang="en-US" sz="2400" dirty="0"/>
              <a:t>FROM: specifies the tables (more than one)</a:t>
            </a:r>
          </a:p>
          <a:p>
            <a:pPr lvl="1"/>
            <a:r>
              <a:rPr lang="en-US" sz="2400" dirty="0"/>
              <a:t>WHERE: specifies selection criteria and/or conditions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24940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Simple:</a:t>
            </a:r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More complex:  </a:t>
            </a:r>
            <a:endParaRPr lang="en-US" sz="24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8EF9A2-CF8B-C340-B038-ED0B97D91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349" y="1765372"/>
            <a:ext cx="3932296" cy="144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706353-55B9-5B42-8FD3-4E833F782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349" y="3294161"/>
            <a:ext cx="732929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33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Tableau Joins | Types of Joins in Tableau and their Application">
            <a:extLst>
              <a:ext uri="{FF2B5EF4-FFF2-40B4-BE49-F238E27FC236}">
                <a16:creationId xmlns:a16="http://schemas.microsoft.com/office/drawing/2014/main" id="{61C74D02-61A9-BA09-FCD5-EC310794A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74701"/>
            <a:ext cx="9144000" cy="5307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201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800" dirty="0"/>
              <a:t>Data must be integrated from different databases in different departments.</a:t>
            </a:r>
          </a:p>
          <a:p>
            <a:pPr lvl="1"/>
            <a:r>
              <a:rPr lang="en-US" sz="2000" dirty="0"/>
              <a:t>Extraction, transformation, and load (ETL) process is used</a:t>
            </a:r>
          </a:p>
          <a:p>
            <a:pPr lvl="1"/>
            <a:r>
              <a:rPr lang="en-US" sz="2000" dirty="0"/>
              <a:t>Retrieve, reconcile, and transform data into a consistent format</a:t>
            </a:r>
          </a:p>
          <a:p>
            <a:pPr lvl="1"/>
            <a:r>
              <a:rPr lang="en-US" sz="2000" dirty="0"/>
              <a:t>Load the final data into the data warehouse</a:t>
            </a:r>
          </a:p>
          <a:p>
            <a:r>
              <a:rPr lang="en-US" sz="2800" dirty="0"/>
              <a:t>A data mart is a small-scale data warehouse.</a:t>
            </a:r>
          </a:p>
          <a:p>
            <a:pPr lvl="1"/>
            <a:r>
              <a:rPr lang="en-US" sz="2400" dirty="0"/>
              <a:t>A subset of the enterprise data warehouse</a:t>
            </a:r>
          </a:p>
          <a:p>
            <a:pPr lvl="1"/>
            <a:r>
              <a:rPr lang="en-US" sz="2400" dirty="0"/>
              <a:t>Focuses on one particular subject or decision areas</a:t>
            </a:r>
          </a:p>
          <a:p>
            <a:pPr lvl="1"/>
            <a:r>
              <a:rPr lang="en-US" sz="2400" dirty="0"/>
              <a:t>Conforms to a multidimensional data model called a star scheme.</a:t>
            </a:r>
          </a:p>
          <a:p>
            <a:pPr lvl="1"/>
            <a:r>
              <a:rPr lang="en-US" sz="2400" dirty="0"/>
              <a:t>Two types of tables: dimension and fact tables</a:t>
            </a:r>
          </a:p>
          <a:p>
            <a:pPr lvl="2"/>
            <a:r>
              <a:rPr lang="en-US" sz="1900" dirty="0"/>
              <a:t>Dimension table: describes business dimensions such as customer, product, location, and time</a:t>
            </a:r>
          </a:p>
          <a:p>
            <a:pPr lvl="2"/>
            <a:r>
              <a:rPr lang="en-US" sz="1900" dirty="0"/>
              <a:t>Fact table: facts about the business operation, often quantitative format</a:t>
            </a:r>
          </a:p>
          <a:p>
            <a:pPr lvl="1"/>
            <a:endParaRPr lang="en-US" sz="24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7265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Each of the dimension tables has a 1:M relationship with the fact table.</a:t>
            </a:r>
          </a:p>
          <a:p>
            <a:pPr lvl="1"/>
            <a:r>
              <a:rPr lang="en-US" sz="2000" dirty="0"/>
              <a:t>Primary keys of the dimension table are also the foreign keys in the fact table</a:t>
            </a:r>
          </a:p>
          <a:p>
            <a:pPr lvl="1"/>
            <a:r>
              <a:rPr lang="en-US" sz="2000" dirty="0"/>
              <a:t>Combination of the primary keys of the dimension tables forms the composite primary key of the fact table</a:t>
            </a:r>
          </a:p>
          <a:p>
            <a:r>
              <a:rPr lang="en-US" sz="2400" dirty="0"/>
              <a:t>The fact table is usually depicted at the center surrounded by multiple dimension tables, forming the shape of a star.</a:t>
            </a:r>
          </a:p>
          <a:p>
            <a:r>
              <a:rPr lang="en-US" sz="2400" dirty="0"/>
              <a:t>Not uncommon to see multiple fact tables sharing relationships with a group of dimension tables in a data mart.</a:t>
            </a:r>
          </a:p>
          <a:p>
            <a:r>
              <a:rPr lang="en-US" sz="2400" dirty="0"/>
              <a:t>Star schemas can ”slice and dice” data based on different dimensions.</a:t>
            </a:r>
          </a:p>
        </p:txBody>
      </p:sp>
    </p:spTree>
    <p:extLst>
      <p:ext uri="{BB962C8B-B14F-4D97-AF65-F5344CB8AC3E}">
        <p14:creationId xmlns:p14="http://schemas.microsoft.com/office/powerpoint/2010/main" val="1261577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1D7626-6687-45DB-8C18-87188E951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0" y="1562100"/>
            <a:ext cx="4986338" cy="411527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A11EE4-AE2D-16DB-EAF1-85E772463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77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3600" dirty="0"/>
              <a:t>Data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/>
              <a:t>New forms of databases to support big data have emerged.</a:t>
            </a:r>
          </a:p>
          <a:p>
            <a:r>
              <a:rPr lang="en-US" sz="2800" dirty="0"/>
              <a:t>NoSQL: “Not Only SQL” database</a:t>
            </a:r>
          </a:p>
          <a:p>
            <a:pPr lvl="1"/>
            <a:r>
              <a:rPr lang="en-US" sz="2400" dirty="0"/>
              <a:t>Nonrelational database that supports the storage of a wide range of data types.</a:t>
            </a:r>
          </a:p>
          <a:p>
            <a:pPr lvl="1"/>
            <a:r>
              <a:rPr lang="en-US" sz="2400" dirty="0"/>
              <a:t>Structured, semi-structured, and unstructured</a:t>
            </a:r>
          </a:p>
          <a:p>
            <a:pPr lvl="1"/>
            <a:r>
              <a:rPr lang="en-US" sz="2400" dirty="0"/>
              <a:t>Flexibility, performance, and scalability to handle extremely high volumes of data. </a:t>
            </a:r>
          </a:p>
          <a:p>
            <a:r>
              <a:rPr lang="en-US" sz="2800" dirty="0"/>
              <a:t>NoSQL will likely be implemented alongside relational databases to support organization data needs.</a:t>
            </a:r>
          </a:p>
          <a:p>
            <a:r>
              <a:rPr lang="en-US" sz="2800" dirty="0"/>
              <a:t>Driven by unstructured data – how to store videos in a database table? </a:t>
            </a:r>
          </a:p>
        </p:txBody>
      </p:sp>
    </p:spTree>
    <p:extLst>
      <p:ext uri="{BB962C8B-B14F-4D97-AF65-F5344CB8AC3E}">
        <p14:creationId xmlns:p14="http://schemas.microsoft.com/office/powerpoint/2010/main" val="1320795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1EDE5-10AB-8730-4143-58F7A6902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the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79A0-8933-06FA-8862-DF93C1836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Recall the special database field called the primary key. </a:t>
            </a:r>
          </a:p>
          <a:p>
            <a:r>
              <a:rPr lang="en-US" dirty="0"/>
              <a:t>This is a unique identifier – often just an arbitrary ID value. </a:t>
            </a:r>
          </a:p>
          <a:p>
            <a:pPr lvl="1"/>
            <a:r>
              <a:rPr lang="en-US" dirty="0"/>
              <a:t>Never duplicated, always refers to exactly one row. </a:t>
            </a:r>
          </a:p>
          <a:p>
            <a:r>
              <a:rPr lang="en-US" dirty="0"/>
              <a:t>Most tables have a key:</a:t>
            </a:r>
          </a:p>
          <a:p>
            <a:pPr lvl="1"/>
            <a:r>
              <a:rPr lang="en-US" dirty="0" err="1"/>
              <a:t>Nait’s</a:t>
            </a:r>
            <a:r>
              <a:rPr lang="en-US" dirty="0"/>
              <a:t> student list has your student ID. </a:t>
            </a:r>
          </a:p>
          <a:p>
            <a:pPr lvl="1"/>
            <a:r>
              <a:rPr lang="en-US" dirty="0"/>
              <a:t>Registries have your driver’s license number. </a:t>
            </a:r>
          </a:p>
          <a:p>
            <a:pPr lvl="1"/>
            <a:r>
              <a:rPr lang="en-US" dirty="0"/>
              <a:t>It could just be 1, 2, 3, 4…</a:t>
            </a:r>
          </a:p>
        </p:txBody>
      </p:sp>
    </p:spTree>
    <p:extLst>
      <p:ext uri="{BB962C8B-B14F-4D97-AF65-F5344CB8AC3E}">
        <p14:creationId xmlns:p14="http://schemas.microsoft.com/office/powerpoint/2010/main" val="868589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263722-E6BD-C173-3E49-EF7D86DCC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Joins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947EBA-1864-8CA7-68F2-A61F434C5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4615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join in SQL connects two tables (or datasheets) together. </a:t>
            </a:r>
          </a:p>
          <a:p>
            <a:r>
              <a:rPr lang="en-US" dirty="0"/>
              <a:t>Based (usually) on a key – a unique ID:</a:t>
            </a:r>
          </a:p>
          <a:p>
            <a:pPr lvl="1"/>
            <a:r>
              <a:rPr lang="en-US" dirty="0"/>
              <a:t>Each row has a unique ID value. (Primary Key) </a:t>
            </a:r>
          </a:p>
          <a:p>
            <a:pPr lvl="1"/>
            <a:r>
              <a:rPr lang="en-US" dirty="0"/>
              <a:t>We can refer to it to “grab” that row of data. </a:t>
            </a:r>
          </a:p>
          <a:p>
            <a:pPr lvl="1"/>
            <a:r>
              <a:rPr lang="en-US" dirty="0"/>
              <a:t>Other tables have a foreign key – the key from another table. </a:t>
            </a:r>
          </a:p>
          <a:p>
            <a:r>
              <a:rPr lang="en-US" dirty="0"/>
              <a:t>E.g. at NAIT:</a:t>
            </a:r>
          </a:p>
          <a:p>
            <a:pPr lvl="1"/>
            <a:r>
              <a:rPr lang="en-US" dirty="0"/>
              <a:t>Students are in the student DB table. </a:t>
            </a:r>
          </a:p>
          <a:p>
            <a:pPr lvl="1"/>
            <a:r>
              <a:rPr lang="en-US" dirty="0"/>
              <a:t>Registrations are in the registration table. </a:t>
            </a:r>
          </a:p>
          <a:p>
            <a:pPr lvl="1"/>
            <a:r>
              <a:rPr lang="en-US" dirty="0"/>
              <a:t>Join says, “grab this list of registrations, look at the student ID, and get the name… from the Student table”. </a:t>
            </a:r>
          </a:p>
        </p:txBody>
      </p:sp>
    </p:spTree>
    <p:extLst>
      <p:ext uri="{BB962C8B-B14F-4D97-AF65-F5344CB8AC3E}">
        <p14:creationId xmlns:p14="http://schemas.microsoft.com/office/powerpoint/2010/main" val="19374765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1283F-317D-C4A0-9163-AD6B46B6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B7CBD-0071-76CA-F2E5-F18130749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2330" y="2015732"/>
            <a:ext cx="5366667" cy="4037749"/>
          </a:xfrm>
        </p:spPr>
        <p:txBody>
          <a:bodyPr/>
          <a:lstStyle/>
          <a:p>
            <a:r>
              <a:rPr lang="en-US" dirty="0"/>
              <a:t>Joins connect tables together horizontally. </a:t>
            </a:r>
          </a:p>
          <a:p>
            <a:r>
              <a:rPr lang="en-US" dirty="0"/>
              <a:t>Rows from each table are matched when whatever you’re joining on (e.g. key). </a:t>
            </a:r>
          </a:p>
          <a:p>
            <a:pPr lvl="1"/>
            <a:r>
              <a:rPr lang="en-US" dirty="0"/>
              <a:t>Select a row from left table. </a:t>
            </a:r>
          </a:p>
          <a:p>
            <a:pPr lvl="1"/>
            <a:r>
              <a:rPr lang="en-US" dirty="0"/>
              <a:t>Scan through right table for matching key. </a:t>
            </a:r>
          </a:p>
          <a:p>
            <a:pPr lvl="1"/>
            <a:r>
              <a:rPr lang="en-US" dirty="0"/>
              <a:t>If there’s a match, join these two rows and add it to the results. </a:t>
            </a:r>
          </a:p>
        </p:txBody>
      </p:sp>
      <p:pic>
        <p:nvPicPr>
          <p:cNvPr id="1026" name="Picture 2" descr="The ins and outs of INNER JOIN">
            <a:extLst>
              <a:ext uri="{FF2B5EF4-FFF2-40B4-BE49-F238E27FC236}">
                <a16:creationId xmlns:a16="http://schemas.microsoft.com/office/drawing/2014/main" id="{305C40D4-9DAA-02B5-7984-EAEC85CFC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26" y="2978566"/>
            <a:ext cx="6130831" cy="2241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1371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5C2BAF-300B-5DBC-98A6-4B7634073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251A15-DBAA-9D39-7FEF-24F9B142D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use the same logic in Tableau:</a:t>
            </a:r>
          </a:p>
          <a:p>
            <a:pPr lvl="1"/>
            <a:r>
              <a:rPr lang="en-US" dirty="0"/>
              <a:t>Specify the two tables to connect. </a:t>
            </a:r>
          </a:p>
          <a:p>
            <a:pPr lvl="1"/>
            <a:r>
              <a:rPr lang="en-US" dirty="0"/>
              <a:t>Find the key (id number) that exists in each. </a:t>
            </a:r>
          </a:p>
          <a:p>
            <a:pPr lvl="1"/>
            <a:r>
              <a:rPr lang="en-US" dirty="0"/>
              <a:t>Set the join criteria to make those two match (usually). </a:t>
            </a:r>
          </a:p>
          <a:p>
            <a:pPr lvl="1"/>
            <a:r>
              <a:rPr lang="en-US" dirty="0"/>
              <a:t>Choose Left/Right/Inner to control what is included. </a:t>
            </a:r>
          </a:p>
          <a:p>
            <a:r>
              <a:rPr lang="en-US" dirty="0"/>
              <a:t>You will need to do (relatively simple) joins in Tableau. </a:t>
            </a:r>
          </a:p>
        </p:txBody>
      </p:sp>
    </p:spTree>
    <p:extLst>
      <p:ext uri="{BB962C8B-B14F-4D97-AF65-F5344CB8AC3E}">
        <p14:creationId xmlns:p14="http://schemas.microsoft.com/office/powerpoint/2010/main" val="8770905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438F7-C468-DF0B-9721-731780E14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A97CE-CE38-86DC-0BA0-CE85E320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this more than anything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24DAD-8820-42B5-6E18-21F7B0990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5849E3-10D0-9E6A-F32D-2FD5436A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02134"/>
            <a:ext cx="5549900" cy="528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A020B8-8962-06C6-A74C-7AAF8F0B5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45" y="1867787"/>
            <a:ext cx="5429735" cy="453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762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D4596F-58E7-97B1-0584-D7F16E74E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”Template”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7EDF6E4-8DE9-559D-4BCC-398501715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Joins can be complex, but not all…</a:t>
            </a:r>
          </a:p>
          <a:p>
            <a:r>
              <a:rPr lang="en-US" dirty="0"/>
              <a:t>One (either) dataset is left, one is right. </a:t>
            </a:r>
          </a:p>
          <a:p>
            <a:r>
              <a:rPr lang="en-US" dirty="0"/>
              <a:t>The records are (usually) joined when these two values are equal. Typically, an ID. </a:t>
            </a:r>
          </a:p>
          <a:p>
            <a:pPr lvl="1"/>
            <a:r>
              <a:rPr lang="en-US" dirty="0"/>
              <a:t>One side is a primary key, the other is foreign.</a:t>
            </a:r>
          </a:p>
          <a:p>
            <a:r>
              <a:rPr lang="en-US" dirty="0"/>
              <a:t>Do you want to see:</a:t>
            </a:r>
          </a:p>
          <a:p>
            <a:pPr lvl="1"/>
            <a:r>
              <a:rPr lang="en-US" dirty="0"/>
              <a:t>Every record on left, with the right stuff added where the keys match. </a:t>
            </a:r>
          </a:p>
          <a:p>
            <a:pPr lvl="1"/>
            <a:r>
              <a:rPr lang="en-US" dirty="0"/>
              <a:t>Every record on right, with the left stuff added where the keys match. </a:t>
            </a:r>
          </a:p>
          <a:p>
            <a:pPr lvl="1"/>
            <a:r>
              <a:rPr lang="en-US" dirty="0"/>
              <a:t>Only the records where the keys match. </a:t>
            </a:r>
          </a:p>
        </p:txBody>
      </p:sp>
    </p:spTree>
    <p:extLst>
      <p:ext uri="{BB962C8B-B14F-4D97-AF65-F5344CB8AC3E}">
        <p14:creationId xmlns:p14="http://schemas.microsoft.com/office/powerpoint/2010/main" val="38617804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SQL JOIN (With Examples)">
            <a:extLst>
              <a:ext uri="{FF2B5EF4-FFF2-40B4-BE49-F238E27FC236}">
                <a16:creationId xmlns:a16="http://schemas.microsoft.com/office/drawing/2014/main" id="{D1CA630C-E909-22F9-F75C-73FBB982E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2856" y="537854"/>
            <a:ext cx="6365875" cy="5782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14416FE-E674-4C0F-2D62-73F8636B5C9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230274" y="100670"/>
            <a:ext cx="9604375" cy="1049337"/>
          </a:xfrm>
        </p:spPr>
        <p:txBody>
          <a:bodyPr/>
          <a:lstStyle/>
          <a:p>
            <a:r>
              <a:rPr lang="en-US" dirty="0"/>
              <a:t>Inner Join – Keys Must Match</a:t>
            </a:r>
          </a:p>
        </p:txBody>
      </p:sp>
    </p:spTree>
    <p:extLst>
      <p:ext uri="{BB962C8B-B14F-4D97-AF65-F5344CB8AC3E}">
        <p14:creationId xmlns:p14="http://schemas.microsoft.com/office/powerpoint/2010/main" val="3345895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C345-E0F8-19D3-C884-543D6727CC8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390009"/>
            <a:ext cx="9604375" cy="1049337"/>
          </a:xfrm>
        </p:spPr>
        <p:txBody>
          <a:bodyPr/>
          <a:lstStyle/>
          <a:p>
            <a:r>
              <a:rPr lang="en-US" dirty="0"/>
              <a:t>Left Join – All of the Left</a:t>
            </a:r>
            <a:br>
              <a:rPr lang="en-US" dirty="0"/>
            </a:br>
            <a:r>
              <a:rPr lang="en-US" dirty="0"/>
              <a:t>With Only what matches from the Right</a:t>
            </a:r>
          </a:p>
        </p:txBody>
      </p:sp>
      <p:pic>
        <p:nvPicPr>
          <p:cNvPr id="5122" name="Picture 2" descr="How to use LEFT JOIN in SQL">
            <a:extLst>
              <a:ext uri="{FF2B5EF4-FFF2-40B4-BE49-F238E27FC236}">
                <a16:creationId xmlns:a16="http://schemas.microsoft.com/office/drawing/2014/main" id="{14B756E0-A5E6-29F2-5ACD-19A3C0C84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2214"/>
            <a:ext cx="9144000" cy="44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4280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0E018-FDA3-2FC3-4B01-0E0D0CA517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7625" y="458874"/>
            <a:ext cx="9604375" cy="1049337"/>
          </a:xfrm>
        </p:spPr>
        <p:txBody>
          <a:bodyPr/>
          <a:lstStyle/>
          <a:p>
            <a:r>
              <a:rPr lang="en-US" dirty="0"/>
              <a:t>Right Join – All of the Right</a:t>
            </a:r>
            <a:br>
              <a:rPr lang="en-US" dirty="0"/>
            </a:br>
            <a:r>
              <a:rPr lang="en-US" dirty="0"/>
              <a:t>With only what Matches from the Left</a:t>
            </a:r>
          </a:p>
        </p:txBody>
      </p:sp>
      <p:pic>
        <p:nvPicPr>
          <p:cNvPr id="6146" name="Picture 2" descr="How to use RIGHT JOIN in SQL">
            <a:extLst>
              <a:ext uri="{FF2B5EF4-FFF2-40B4-BE49-F238E27FC236}">
                <a16:creationId xmlns:a16="http://schemas.microsoft.com/office/drawing/2014/main" id="{27F705BD-0AA4-918B-C4D8-D8A7E2F62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92214"/>
            <a:ext cx="9144000" cy="447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4215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QL JOIN (With Examples)">
            <a:extLst>
              <a:ext uri="{FF2B5EF4-FFF2-40B4-BE49-F238E27FC236}">
                <a16:creationId xmlns:a16="http://schemas.microsoft.com/office/drawing/2014/main" id="{9050D256-39C7-255F-BD2D-912EE18F1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1" y="1"/>
            <a:ext cx="4783137" cy="4344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417674F-6DC9-4AF4-63E7-8F059DE0DE25}"/>
              </a:ext>
            </a:extLst>
          </p:cNvPr>
          <p:cNvGrpSpPr/>
          <p:nvPr/>
        </p:nvGrpSpPr>
        <p:grpSpPr>
          <a:xfrm>
            <a:off x="199248" y="2892028"/>
            <a:ext cx="3305953" cy="2985194"/>
            <a:chOff x="704916" y="3160252"/>
            <a:chExt cx="3305953" cy="2985194"/>
          </a:xfrm>
        </p:grpSpPr>
        <p:pic>
          <p:nvPicPr>
            <p:cNvPr id="4" name="Picture 2" descr="How to use LEFT JOIN in SQL">
              <a:extLst>
                <a:ext uri="{FF2B5EF4-FFF2-40B4-BE49-F238E27FC236}">
                  <a16:creationId xmlns:a16="http://schemas.microsoft.com/office/drawing/2014/main" id="{7C332395-CA3C-28E6-37F3-799ED31B265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33" t="10824" r="26025" b="10823"/>
            <a:stretch/>
          </p:blipFill>
          <p:spPr bwMode="auto">
            <a:xfrm>
              <a:off x="704916" y="3513082"/>
              <a:ext cx="3305953" cy="26323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607C4CA-ABDC-A1B8-B6FF-D0787A8BA0BD}"/>
                </a:ext>
              </a:extLst>
            </p:cNvPr>
            <p:cNvSpPr txBox="1"/>
            <p:nvPr/>
          </p:nvSpPr>
          <p:spPr>
            <a:xfrm>
              <a:off x="1824492" y="3160252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Left Join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A08FD4-DE32-1017-C4B6-F0A08A24B713}"/>
              </a:ext>
            </a:extLst>
          </p:cNvPr>
          <p:cNvGrpSpPr/>
          <p:nvPr/>
        </p:nvGrpSpPr>
        <p:grpSpPr>
          <a:xfrm>
            <a:off x="8478951" y="2707886"/>
            <a:ext cx="3713049" cy="3169336"/>
            <a:chOff x="8288338" y="2892028"/>
            <a:chExt cx="3713049" cy="3169336"/>
          </a:xfrm>
        </p:grpSpPr>
        <p:pic>
          <p:nvPicPr>
            <p:cNvPr id="5" name="Picture 2" descr="How to use RIGHT JOIN in SQL">
              <a:extLst>
                <a:ext uri="{FF2B5EF4-FFF2-40B4-BE49-F238E27FC236}">
                  <a16:creationId xmlns:a16="http://schemas.microsoft.com/office/drawing/2014/main" id="{263395AB-0F77-725B-EA3D-77C70B92C59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167" t="10823" r="25000" b="10824"/>
            <a:stretch/>
          </p:blipFill>
          <p:spPr bwMode="auto">
            <a:xfrm>
              <a:off x="8288338" y="3261360"/>
              <a:ext cx="3713049" cy="28000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3EB0EBE-BDBF-B3E8-DECF-97058148F24E}"/>
                </a:ext>
              </a:extLst>
            </p:cNvPr>
            <p:cNvSpPr txBox="1"/>
            <p:nvPr/>
          </p:nvSpPr>
          <p:spPr>
            <a:xfrm>
              <a:off x="9435646" y="2892028"/>
              <a:ext cx="1418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Right Join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7518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36168-B355-3E54-406A-D154AFB0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Unjoined</a:t>
            </a:r>
            <a:r>
              <a:rPr lang="en-US" dirty="0"/>
              <a:t> 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40EED-E4C4-CDBC-5F92-4C39DECA2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197100"/>
            <a:ext cx="9603275" cy="3856381"/>
          </a:xfrm>
        </p:spPr>
        <p:txBody>
          <a:bodyPr/>
          <a:lstStyle/>
          <a:p>
            <a:r>
              <a:rPr lang="en-US" dirty="0"/>
              <a:t>If we want to use multiple datasets in </a:t>
            </a:r>
            <a:r>
              <a:rPr lang="en-US" b="1" dirty="0"/>
              <a:t>one </a:t>
            </a:r>
            <a:r>
              <a:rPr lang="en-US" dirty="0"/>
              <a:t>sheet or calculation we must join them. </a:t>
            </a:r>
          </a:p>
          <a:p>
            <a:r>
              <a:rPr lang="en-US" dirty="0"/>
              <a:t>We are able to use more than one dataset in one workbook without joins. </a:t>
            </a:r>
          </a:p>
          <a:p>
            <a:pPr lvl="1"/>
            <a:r>
              <a:rPr lang="en-US" dirty="0"/>
              <a:t>The datasets must be used independently, you can’t mix datasets. </a:t>
            </a:r>
          </a:p>
          <a:p>
            <a:pPr lvl="1"/>
            <a:r>
              <a:rPr lang="en-US" dirty="0"/>
              <a:t>You </a:t>
            </a:r>
            <a:r>
              <a:rPr lang="en-US" b="1" i="1" dirty="0"/>
              <a:t>can</a:t>
            </a:r>
            <a:r>
              <a:rPr lang="en-US" dirty="0"/>
              <a:t> put sheets made with different on the same dashboard or story. </a:t>
            </a:r>
          </a:p>
          <a:p>
            <a:pPr lvl="1"/>
            <a:r>
              <a:rPr lang="en-US" dirty="0"/>
              <a:t>Filters, actions, legends, calculations, </a:t>
            </a:r>
            <a:r>
              <a:rPr lang="en-US" dirty="0" err="1"/>
              <a:t>etc</a:t>
            </a:r>
            <a:r>
              <a:rPr lang="en-US" dirty="0"/>
              <a:t>… are separate. </a:t>
            </a:r>
          </a:p>
          <a:p>
            <a:pPr lvl="1"/>
            <a:r>
              <a:rPr lang="en-US" dirty="0"/>
              <a:t>This is easy and takes about one second. </a:t>
            </a:r>
          </a:p>
          <a:p>
            <a:r>
              <a:rPr lang="en-US" dirty="0"/>
              <a:t>If you need both sides for one vis (or one calc…), join, if not, add separately.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ACC5DC-49FA-3A02-60D6-48B524274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848" y="0"/>
            <a:ext cx="40640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242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22B9C-9A1B-63DC-89D6-69E5F1838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 this more than anything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0F88F-B53A-88B0-9972-100E01B4D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57A727-C026-C786-A172-546F32D02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02134"/>
            <a:ext cx="5549900" cy="5283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9FBABE-FB44-A2C5-1F08-CEE77D399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45" y="1867787"/>
            <a:ext cx="5429735" cy="453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657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F5E7A-3949-21FD-2069-81679C978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839" y="804519"/>
            <a:ext cx="8278600" cy="1049235"/>
          </a:xfrm>
        </p:spPr>
        <p:txBody>
          <a:bodyPr/>
          <a:lstStyle/>
          <a:p>
            <a:r>
              <a:rPr lang="en-US" dirty="0"/>
              <a:t>Get your Join On, Get Your Data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0FD6E-4EE6-B9CE-910D-F31F0BC9D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122582" cy="4199727"/>
          </a:xfrm>
        </p:spPr>
        <p:txBody>
          <a:bodyPr>
            <a:normAutofit/>
          </a:bodyPr>
          <a:lstStyle/>
          <a:p>
            <a:r>
              <a:rPr lang="en-US" dirty="0"/>
              <a:t>Joins are common and we’ll use them semi-regularly. (Ask for help if needed). </a:t>
            </a:r>
          </a:p>
          <a:p>
            <a:pPr lvl="1"/>
            <a:r>
              <a:rPr lang="en-US" dirty="0"/>
              <a:t>Can get very (sadistically) complex in real life, but most of ours are pretty simple. </a:t>
            </a:r>
          </a:p>
          <a:p>
            <a:r>
              <a:rPr lang="en-US" dirty="0"/>
              <a:t>Process to join:</a:t>
            </a:r>
          </a:p>
          <a:p>
            <a:pPr lvl="1"/>
            <a:r>
              <a:rPr lang="en-US" dirty="0"/>
              <a:t>Identify the shared value to join on (usually key). </a:t>
            </a:r>
          </a:p>
          <a:p>
            <a:pPr lvl="1"/>
            <a:r>
              <a:rPr lang="en-US" dirty="0"/>
              <a:t>Label one table as left, one as right. If 3+, join 2 and repeat. (In tab, make sure join window is open). </a:t>
            </a:r>
          </a:p>
          <a:p>
            <a:pPr lvl="1"/>
            <a:r>
              <a:rPr lang="en-US" dirty="0"/>
              <a:t>Determine type – do you want matches, all left side, or all right side. </a:t>
            </a:r>
          </a:p>
          <a:p>
            <a:pPr lvl="2"/>
            <a:r>
              <a:rPr lang="en-US" dirty="0"/>
              <a:t>What is the goal outcome – draw out a line or a few on paper to confirm. </a:t>
            </a:r>
          </a:p>
          <a:p>
            <a:pPr lvl="1"/>
            <a:r>
              <a:rPr lang="en-US" dirty="0"/>
              <a:t>Check, is it right? Especially if there’s more than one of anything. </a:t>
            </a:r>
          </a:p>
          <a:p>
            <a:pPr lvl="2"/>
            <a:r>
              <a:rPr lang="en-US" dirty="0"/>
              <a:t>Estimate number of results after and check, it can explode with errors. </a:t>
            </a:r>
          </a:p>
          <a:p>
            <a:pPr lvl="2"/>
            <a:r>
              <a:rPr lang="en-US" dirty="0"/>
              <a:t>Check a couple of specific rows. </a:t>
            </a:r>
          </a:p>
        </p:txBody>
      </p:sp>
      <p:pic>
        <p:nvPicPr>
          <p:cNvPr id="4098" name="Picture 2" descr="Xzibit - Get Your Walk On (HD / Dirty) on Make a GIF">
            <a:extLst>
              <a:ext uri="{FF2B5EF4-FFF2-40B4-BE49-F238E27FC236}">
                <a16:creationId xmlns:a16="http://schemas.microsoft.com/office/drawing/2014/main" id="{B9347140-DF5C-6D70-89C7-0116ADB9B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439" y="0"/>
            <a:ext cx="3295562" cy="185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6563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1305</TotalTime>
  <Words>2010</Words>
  <Application>Microsoft Macintosh PowerPoint</Application>
  <PresentationFormat>Widescreen</PresentationFormat>
  <Paragraphs>199</Paragraphs>
  <Slides>32</Slides>
  <Notes>8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Arial</vt:lpstr>
      <vt:lpstr>Gill Sans MT</vt:lpstr>
      <vt:lpstr>Gallery</vt:lpstr>
      <vt:lpstr>Housekeeping</vt:lpstr>
      <vt:lpstr>Joins</vt:lpstr>
      <vt:lpstr>Chapter 7 Challenges</vt:lpstr>
      <vt:lpstr>Data Management</vt:lpstr>
      <vt:lpstr>Database Benefits</vt:lpstr>
      <vt:lpstr>ETL and Warehousing</vt:lpstr>
      <vt:lpstr>ETL – Extract Transform Load</vt:lpstr>
      <vt:lpstr>PowerPoint Presentation</vt:lpstr>
      <vt:lpstr>Data Warehouse</vt:lpstr>
      <vt:lpstr>Data Management</vt:lpstr>
      <vt:lpstr>Our Data Life</vt:lpstr>
      <vt:lpstr>SQL</vt:lpstr>
      <vt:lpstr>Data Management</vt:lpstr>
      <vt:lpstr>Data Management</vt:lpstr>
      <vt:lpstr>PowerPoint Presentation</vt:lpstr>
      <vt:lpstr>Data Management</vt:lpstr>
      <vt:lpstr>Data Management</vt:lpstr>
      <vt:lpstr>Data Management</vt:lpstr>
      <vt:lpstr>Data Management</vt:lpstr>
      <vt:lpstr>Remember the Key</vt:lpstr>
      <vt:lpstr>SQL Joins</vt:lpstr>
      <vt:lpstr>Join Mechanics</vt:lpstr>
      <vt:lpstr>Joins</vt:lpstr>
      <vt:lpstr>Remember this more than anything</vt:lpstr>
      <vt:lpstr>Join ”Template”</vt:lpstr>
      <vt:lpstr>Inner Join – Keys Must Match</vt:lpstr>
      <vt:lpstr>Left Join – All of the Left With Only what matches from the Right</vt:lpstr>
      <vt:lpstr>Right Join – All of the Right With only what Matches from the Left</vt:lpstr>
      <vt:lpstr>PowerPoint Presentation</vt:lpstr>
      <vt:lpstr>Unjoined Datasets</vt:lpstr>
      <vt:lpstr>Remember this more than anything</vt:lpstr>
      <vt:lpstr>Get your Join On, Get Your Data Right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Akeem Semper</dc:creator>
  <cp:lastModifiedBy>Akeem Semper</cp:lastModifiedBy>
  <cp:revision>26</cp:revision>
  <dcterms:created xsi:type="dcterms:W3CDTF">2025-09-22T17:13:03Z</dcterms:created>
  <dcterms:modified xsi:type="dcterms:W3CDTF">2025-09-23T14:59:08Z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2025-09-22T17:13:32Z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e4ffb939-052d-4b04-875e-49032dfc58ef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