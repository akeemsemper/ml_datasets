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9" r:id="rId2"/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6" r:id="rId11"/>
    <p:sldId id="264" r:id="rId12"/>
    <p:sldId id="265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14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425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771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974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16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242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20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59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53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76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C66F0-894B-A64A-8A1B-2351E00312C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AB18CFA-F3B1-4C43-96E1-9170BD77E73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97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5E8A-4D32-52AE-E005-F311FF4C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FBFCF-35EB-27B0-197C-112D5313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37933"/>
          </a:xfrm>
        </p:spPr>
        <p:txBody>
          <a:bodyPr/>
          <a:lstStyle/>
          <a:p>
            <a:r>
              <a:rPr lang="en-US" dirty="0"/>
              <a:t>Today’s stuff:</a:t>
            </a:r>
          </a:p>
          <a:p>
            <a:pPr lvl="1"/>
            <a:r>
              <a:rPr lang="en-US" dirty="0"/>
              <a:t>Comparison in tableau. </a:t>
            </a:r>
          </a:p>
          <a:p>
            <a:pPr lvl="1"/>
            <a:r>
              <a:rPr lang="en-US" dirty="0"/>
              <a:t>KPIs</a:t>
            </a:r>
          </a:p>
          <a:p>
            <a:pPr lvl="1"/>
            <a:r>
              <a:rPr lang="en-US" dirty="0"/>
              <a:t>Tableau extensions. </a:t>
            </a:r>
          </a:p>
          <a:p>
            <a:r>
              <a:rPr lang="en-US" dirty="0"/>
              <a:t>Test:</a:t>
            </a:r>
          </a:p>
          <a:p>
            <a:pPr lvl="1"/>
            <a:r>
              <a:rPr lang="en-US" dirty="0"/>
              <a:t>I’ll post a doc with outline on the weekend. </a:t>
            </a:r>
          </a:p>
          <a:p>
            <a:pPr lvl="1"/>
            <a:r>
              <a:rPr lang="en-US" dirty="0"/>
              <a:t>Theory post last time – Analytics types, applications of predictive. </a:t>
            </a:r>
          </a:p>
          <a:p>
            <a:pPr lvl="1"/>
            <a:r>
              <a:rPr lang="en-US" dirty="0"/>
              <a:t>Some MC, a few short answer, open book.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1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710D0-29DE-0059-171F-442FCB72F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45083-32F5-092C-05D7-E3AD85E84A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5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E3E2-1AC3-005C-982B-70302C07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E9E70-9629-C5C1-5500-100167C1A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64073"/>
          </a:xfrm>
        </p:spPr>
        <p:txBody>
          <a:bodyPr/>
          <a:lstStyle/>
          <a:p>
            <a:r>
              <a:rPr lang="en-US" dirty="0"/>
              <a:t>One important tool of visualizations is to allow comparison. </a:t>
            </a:r>
          </a:p>
          <a:p>
            <a:pPr lvl="1"/>
            <a:r>
              <a:rPr lang="en-US" dirty="0"/>
              <a:t>We can let users customize some details. </a:t>
            </a:r>
          </a:p>
          <a:p>
            <a:pPr lvl="1"/>
            <a:r>
              <a:rPr lang="en-US" dirty="0"/>
              <a:t>Tableau can recalculate things on the fly. </a:t>
            </a:r>
          </a:p>
          <a:p>
            <a:r>
              <a:rPr lang="en-US" dirty="0"/>
              <a:t>On ‘business’ dashboards, this is common. </a:t>
            </a:r>
          </a:p>
          <a:p>
            <a:pPr lvl="1"/>
            <a:r>
              <a:rPr lang="en-US" dirty="0"/>
              <a:t>Focus on one store/product/department. </a:t>
            </a:r>
          </a:p>
          <a:p>
            <a:r>
              <a:rPr lang="en-US" dirty="0"/>
              <a:t>Facilitates KPI – key performance indicators. </a:t>
            </a:r>
          </a:p>
          <a:p>
            <a:pPr lvl="1"/>
            <a:r>
              <a:rPr lang="en-US" dirty="0"/>
              <a:t>Identify core values, monitor them. </a:t>
            </a:r>
          </a:p>
        </p:txBody>
      </p:sp>
      <p:pic>
        <p:nvPicPr>
          <p:cNvPr id="1026" name="Picture 2" descr="How to Create Persistent Comparison Sets Across Tableau Dashboards">
            <a:extLst>
              <a:ext uri="{FF2B5EF4-FFF2-40B4-BE49-F238E27FC236}">
                <a16:creationId xmlns:a16="http://schemas.microsoft.com/office/drawing/2014/main" id="{BA2CE2C5-65AA-9DAF-3D07-6F8DDAD1F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289" y="2543654"/>
            <a:ext cx="5514753" cy="408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7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03A1-CBA4-8323-8EB1-EC1673CC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D0096-5553-EC5A-63E3-6F73CA7FE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3215" y="2015732"/>
            <a:ext cx="5804105" cy="3976577"/>
          </a:xfrm>
        </p:spPr>
        <p:txBody>
          <a:bodyPr/>
          <a:lstStyle/>
          <a:p>
            <a:r>
              <a:rPr lang="en-US" dirty="0"/>
              <a:t>KPIs are metrics that organizations identify as being critical for success. </a:t>
            </a:r>
          </a:p>
          <a:p>
            <a:r>
              <a:rPr lang="en-US" dirty="0"/>
              <a:t>Specific – we can know definitively if we </a:t>
            </a:r>
            <a:r>
              <a:rPr lang="en-US" dirty="0" err="1"/>
              <a:t>acheive</a:t>
            </a:r>
            <a:r>
              <a:rPr lang="en-US" dirty="0"/>
              <a:t> it. </a:t>
            </a:r>
          </a:p>
          <a:p>
            <a:r>
              <a:rPr lang="en-US" dirty="0"/>
              <a:t>Time bound – we have limits on when it can occur. </a:t>
            </a:r>
          </a:p>
          <a:p>
            <a:r>
              <a:rPr lang="en-US" dirty="0"/>
              <a:t>Measurable – it is objective. </a:t>
            </a:r>
          </a:p>
          <a:p>
            <a:r>
              <a:rPr lang="en-US" dirty="0"/>
              <a:t>Attainable – it is realistic to achieve. </a:t>
            </a:r>
          </a:p>
          <a:p>
            <a:r>
              <a:rPr lang="en-US" dirty="0"/>
              <a:t>Relevant – it matters to success. </a:t>
            </a:r>
          </a:p>
        </p:txBody>
      </p:sp>
      <p:pic>
        <p:nvPicPr>
          <p:cNvPr id="2050" name="Picture 2" descr="What are KPIs and how should you use them to increase sales?">
            <a:extLst>
              <a:ext uri="{FF2B5EF4-FFF2-40B4-BE49-F238E27FC236}">
                <a16:creationId xmlns:a16="http://schemas.microsoft.com/office/drawing/2014/main" id="{0CE4E531-3508-27D9-6AAF-2AD3F926F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" y="2015732"/>
            <a:ext cx="6213402" cy="3976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160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A77C-3F7E-83A9-547A-556999C0C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Leading vs Lagging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22DAA-2DAB-E79B-771A-C3A875A21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1865" y="2015732"/>
            <a:ext cx="5066270" cy="3875771"/>
          </a:xfrm>
        </p:spPr>
        <p:txBody>
          <a:bodyPr/>
          <a:lstStyle/>
          <a:p>
            <a:r>
              <a:rPr lang="en-US" dirty="0"/>
              <a:t>KPIs can be leading or lagging. </a:t>
            </a:r>
          </a:p>
          <a:p>
            <a:r>
              <a:rPr lang="en-US" dirty="0"/>
              <a:t>Leading:</a:t>
            </a:r>
          </a:p>
          <a:p>
            <a:pPr lvl="1"/>
            <a:r>
              <a:rPr lang="en-US" dirty="0"/>
              <a:t>An indicator that something will happen. </a:t>
            </a:r>
          </a:p>
          <a:p>
            <a:pPr lvl="1"/>
            <a:r>
              <a:rPr lang="en-US" dirty="0"/>
              <a:t>Store traffic indicates future sales. </a:t>
            </a:r>
          </a:p>
          <a:p>
            <a:r>
              <a:rPr lang="en-US" dirty="0"/>
              <a:t>Lagging:</a:t>
            </a:r>
          </a:p>
          <a:p>
            <a:pPr lvl="1"/>
            <a:r>
              <a:rPr lang="en-US" dirty="0"/>
              <a:t>An indicator something has happened. </a:t>
            </a:r>
          </a:p>
          <a:p>
            <a:pPr lvl="1"/>
            <a:r>
              <a:rPr lang="en-US" dirty="0"/>
              <a:t>Conversion rate on web visitors to buyers.</a:t>
            </a:r>
          </a:p>
          <a:p>
            <a:r>
              <a:rPr lang="en-US" dirty="0"/>
              <a:t>Both ultimately guide behavior (ideally). </a:t>
            </a:r>
          </a:p>
        </p:txBody>
      </p:sp>
      <p:pic>
        <p:nvPicPr>
          <p:cNvPr id="3074" name="Picture 2" descr="HR KPIs: Guide, 20 Examples &amp; Free Template - AIHR">
            <a:extLst>
              <a:ext uri="{FF2B5EF4-FFF2-40B4-BE49-F238E27FC236}">
                <a16:creationId xmlns:a16="http://schemas.microsoft.com/office/drawing/2014/main" id="{C6AC7AC8-F472-7D08-316A-5F0BE29259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2" b="11731"/>
          <a:stretch>
            <a:fillRect/>
          </a:stretch>
        </p:blipFill>
        <p:spPr bwMode="auto">
          <a:xfrm>
            <a:off x="133865" y="1853754"/>
            <a:ext cx="6858000" cy="403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A0E2D-CF82-5CD6-82F5-9AE8C1DA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15E79-AA17-0157-3DF3-EEA13229E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10020951" cy="4199726"/>
          </a:xfrm>
        </p:spPr>
        <p:txBody>
          <a:bodyPr/>
          <a:lstStyle/>
          <a:p>
            <a:r>
              <a:rPr lang="en-US" dirty="0"/>
              <a:t>KPIs will differ depending on organization and circumstances. </a:t>
            </a:r>
          </a:p>
          <a:p>
            <a:r>
              <a:rPr lang="en-US" dirty="0"/>
              <a:t>The goal is to, as best as possible, summarize the performance of the org in a few values. </a:t>
            </a:r>
          </a:p>
          <a:p>
            <a:pPr lvl="1"/>
            <a:r>
              <a:rPr lang="en-US" dirty="0"/>
              <a:t>I.e. if these metrics look good, we are doing well. </a:t>
            </a:r>
          </a:p>
          <a:p>
            <a:r>
              <a:rPr lang="en-US" dirty="0"/>
              <a:t>Broad consideration – financials are included, but not the only thing. </a:t>
            </a:r>
          </a:p>
          <a:p>
            <a:pPr lvl="1"/>
            <a:r>
              <a:rPr lang="en-US" dirty="0"/>
              <a:t>Customer opinion, job applicant quality, social media mentions, supplier limits,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Stakeholder consultation – ‘success’ for different departments may be different. </a:t>
            </a:r>
          </a:p>
          <a:p>
            <a:pPr lvl="1"/>
            <a:r>
              <a:rPr lang="en-US" dirty="0"/>
              <a:t>The process of identifying KPIs can help reveal this*. </a:t>
            </a:r>
          </a:p>
          <a:p>
            <a:r>
              <a:rPr lang="en-US" dirty="0"/>
              <a:t>Relevance (again) – easy to measure != important. Important things may be hard to measure. </a:t>
            </a:r>
          </a:p>
        </p:txBody>
      </p:sp>
    </p:spTree>
    <p:extLst>
      <p:ext uri="{BB962C8B-B14F-4D97-AF65-F5344CB8AC3E}">
        <p14:creationId xmlns:p14="http://schemas.microsoft.com/office/powerpoint/2010/main" val="619007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8256-2106-1296-7151-413B7EBE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process isn’t always that easy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2B44B-7EA0-E265-76D7-125211805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/>
          <a:lstStyle/>
          <a:p>
            <a:r>
              <a:rPr lang="en-US" dirty="0"/>
              <a:t>Beyond profit/sales, many companies have no clue what matters. </a:t>
            </a:r>
          </a:p>
          <a:p>
            <a:pPr lvl="1"/>
            <a:r>
              <a:rPr lang="en-US" dirty="0"/>
              <a:t>Especially large corporations where departments are far separated from sales. </a:t>
            </a:r>
          </a:p>
          <a:p>
            <a:pPr lvl="1"/>
            <a:r>
              <a:rPr lang="en-US" dirty="0"/>
              <a:t>Many departments have metrics that were picked arbitrarily. </a:t>
            </a:r>
          </a:p>
          <a:p>
            <a:r>
              <a:rPr lang="en-US" dirty="0"/>
              <a:t>Working on reporting on metrics often results in you determining what they are. </a:t>
            </a:r>
          </a:p>
          <a:p>
            <a:pPr lvl="1"/>
            <a:r>
              <a:rPr lang="en-US" dirty="0"/>
              <a:t>Managers are attached to what they already achieve. </a:t>
            </a:r>
          </a:p>
          <a:p>
            <a:pPr lvl="1"/>
            <a:r>
              <a:rPr lang="en-US" dirty="0"/>
              <a:t>Example – I revised compliance training (e.g. anti money laundering) assignment and reporting for ATB. The compliance people didn’t know what they needed to report, just reported the numbers that they had. </a:t>
            </a:r>
          </a:p>
          <a:p>
            <a:r>
              <a:rPr lang="en-US" dirty="0"/>
              <a:t>We can use some other analytics tools to help a little….</a:t>
            </a:r>
          </a:p>
          <a:p>
            <a:pPr lvl="1"/>
            <a:r>
              <a:rPr lang="en-US" dirty="0"/>
              <a:t>This usually requires domain knowledge and usually many meetings. </a:t>
            </a:r>
          </a:p>
        </p:txBody>
      </p:sp>
    </p:spTree>
    <p:extLst>
      <p:ext uri="{BB962C8B-B14F-4D97-AF65-F5344CB8AC3E}">
        <p14:creationId xmlns:p14="http://schemas.microsoft.com/office/powerpoint/2010/main" val="1189005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B3CA-81E2-BEE4-11CC-16FCA286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and variable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77671-B54D-7302-2EED-D2754FEBE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53754"/>
            <a:ext cx="5968314" cy="4199727"/>
          </a:xfrm>
        </p:spPr>
        <p:txBody>
          <a:bodyPr>
            <a:normAutofit/>
          </a:bodyPr>
          <a:lstStyle/>
          <a:p>
            <a:r>
              <a:rPr lang="en-US" dirty="0"/>
              <a:t>Recall regression models:</a:t>
            </a:r>
          </a:p>
          <a:p>
            <a:pPr lvl="1"/>
            <a:r>
              <a:rPr lang="en-US" dirty="0"/>
              <a:t>We have several inputs, use them to predict output. </a:t>
            </a:r>
          </a:p>
          <a:p>
            <a:pPr lvl="1"/>
            <a:r>
              <a:rPr lang="en-US" dirty="0"/>
              <a:t>E.g. know loan applicant info, use past loans to predict good/bad risk. </a:t>
            </a:r>
          </a:p>
          <a:p>
            <a:r>
              <a:rPr lang="en-US" dirty="0"/>
              <a:t>When doing this, we can extract variable importance:</a:t>
            </a:r>
          </a:p>
          <a:p>
            <a:pPr lvl="1"/>
            <a:r>
              <a:rPr lang="en-US" dirty="0"/>
              <a:t>Recall, each regression is a weighted combo of inputs. </a:t>
            </a:r>
          </a:p>
          <a:p>
            <a:pPr lvl="1"/>
            <a:r>
              <a:rPr lang="en-US" dirty="0"/>
              <a:t>“loan risk” is weighted combo of “income”, ”age”…</a:t>
            </a:r>
          </a:p>
          <a:p>
            <a:r>
              <a:rPr lang="en-US" dirty="0"/>
              <a:t>If we make model of sales/profits, with metrics as inputs, coefficients are relative importances.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1834F-08E0-BA05-CF56-A4B64DEEA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314" y="1769181"/>
            <a:ext cx="6223686" cy="1517131"/>
          </a:xfrm>
          <a:prstGeom prst="rect">
            <a:avLst/>
          </a:prstGeom>
        </p:spPr>
      </p:pic>
      <p:pic>
        <p:nvPicPr>
          <p:cNvPr id="4098" name="Picture 2" descr="What Is Multiple Linear Regression (MLR)?">
            <a:extLst>
              <a:ext uri="{FF2B5EF4-FFF2-40B4-BE49-F238E27FC236}">
                <a16:creationId xmlns:a16="http://schemas.microsoft.com/office/drawing/2014/main" id="{0840FEDA-49D3-B641-1B6E-B83DAA1FBD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56"/>
          <a:stretch>
            <a:fillRect/>
          </a:stretch>
        </p:blipFill>
        <p:spPr bwMode="auto">
          <a:xfrm>
            <a:off x="7587049" y="3429000"/>
            <a:ext cx="4473146" cy="229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55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3602-A806-060D-4EA0-71E7BB4D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Regressing your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AA89A-E047-AB29-B031-53A4A21C5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So, assume your chain of burger joints has an overall goal of “profits”. </a:t>
            </a:r>
          </a:p>
          <a:p>
            <a:r>
              <a:rPr lang="en-US" dirty="0"/>
              <a:t>There are several potential KPIs that you consider for each store:</a:t>
            </a:r>
          </a:p>
          <a:p>
            <a:pPr lvl="1"/>
            <a:r>
              <a:rPr lang="en-US" dirty="0"/>
              <a:t>Sales, material cost, rent, # of employees, size,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Build regression with profit as target and all inputs as features. </a:t>
            </a:r>
          </a:p>
          <a:p>
            <a:pPr lvl="1"/>
            <a:r>
              <a:rPr lang="en-US" dirty="0"/>
              <a:t>Resulting model tells us how important each input is. </a:t>
            </a:r>
          </a:p>
          <a:p>
            <a:r>
              <a:rPr lang="en-US" dirty="0"/>
              <a:t>This isn’t perfect, it is limited by the quality of the data. </a:t>
            </a:r>
          </a:p>
          <a:p>
            <a:pPr lvl="1"/>
            <a:r>
              <a:rPr lang="en-US" dirty="0"/>
              <a:t>Do the inputs matter, or are we missing something that impacts profit?</a:t>
            </a:r>
          </a:p>
          <a:p>
            <a:pPr lvl="1"/>
            <a:r>
              <a:rPr lang="en-US" dirty="0"/>
              <a:t>Can we make a metric that actually captures a ‘thing’ – e.g. “coolness” for brands. </a:t>
            </a:r>
          </a:p>
        </p:txBody>
      </p:sp>
    </p:spTree>
    <p:extLst>
      <p:ext uri="{BB962C8B-B14F-4D97-AF65-F5344CB8AC3E}">
        <p14:creationId xmlns:p14="http://schemas.microsoft.com/office/powerpoint/2010/main" val="1183994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E6463-77A1-2206-0134-C25E2864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the Cause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714D6-54A6-4099-A7F2-870A8A8C1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 descr="Correlation is not causation">
            <a:extLst>
              <a:ext uri="{FF2B5EF4-FFF2-40B4-BE49-F238E27FC236}">
                <a16:creationId xmlns:a16="http://schemas.microsoft.com/office/drawing/2014/main" id="{1D6231EA-FFB7-241D-BEF4-351D6BDDF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79" y="1569548"/>
            <a:ext cx="9603275" cy="501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6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2F30-E570-0596-0586-5A4DA795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D6535-25C7-76D2-D56D-512FABEAE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141" y="2015732"/>
            <a:ext cx="7784352" cy="4037749"/>
          </a:xfrm>
        </p:spPr>
        <p:txBody>
          <a:bodyPr/>
          <a:lstStyle/>
          <a:p>
            <a:r>
              <a:rPr lang="en-US" dirty="0"/>
              <a:t>Diagnostic analytics is the branch that we often skim over. </a:t>
            </a:r>
          </a:p>
          <a:p>
            <a:pPr lvl="1"/>
            <a:r>
              <a:rPr lang="en-US" dirty="0"/>
              <a:t>We observe something happening and want to know why. </a:t>
            </a:r>
          </a:p>
          <a:p>
            <a:r>
              <a:rPr lang="en-US" dirty="0"/>
              <a:t>Two things happening together doesn’t mean one caused the other. </a:t>
            </a:r>
          </a:p>
          <a:p>
            <a:pPr lvl="1"/>
            <a:r>
              <a:rPr lang="en-US" dirty="0"/>
              <a:t>Correlation is very easy to measure, but may not matter. </a:t>
            </a:r>
          </a:p>
          <a:p>
            <a:pPr lvl="1"/>
            <a:r>
              <a:rPr lang="en-US" dirty="0"/>
              <a:t>Coincidences, other impacts, of shared causes may occur. </a:t>
            </a:r>
          </a:p>
          <a:p>
            <a:r>
              <a:rPr lang="en-US" dirty="0"/>
              <a:t>Causation analysis is a branch of analytics that tries to prove causation.</a:t>
            </a:r>
          </a:p>
          <a:p>
            <a:pPr lvl="1"/>
            <a:r>
              <a:rPr lang="en-US" dirty="0"/>
              <a:t>If we can spot causes, we can embrace or avoid in advance. 	</a:t>
            </a:r>
          </a:p>
          <a:p>
            <a:pPr lvl="1"/>
            <a:r>
              <a:rPr lang="en-US" dirty="0"/>
              <a:t>Focusing on markers that happen earlier is an advantage. </a:t>
            </a:r>
          </a:p>
          <a:p>
            <a:r>
              <a:rPr lang="en-US" dirty="0"/>
              <a:t>Causal analysis is hard, there are a few simple-</a:t>
            </a:r>
            <a:r>
              <a:rPr lang="en-US" dirty="0" err="1"/>
              <a:t>ish</a:t>
            </a:r>
            <a:r>
              <a:rPr lang="en-US" dirty="0"/>
              <a:t> examples…</a:t>
            </a:r>
          </a:p>
        </p:txBody>
      </p:sp>
      <p:pic>
        <p:nvPicPr>
          <p:cNvPr id="5122" name="Picture 2" descr="Correlation vs Causation">
            <a:extLst>
              <a:ext uri="{FF2B5EF4-FFF2-40B4-BE49-F238E27FC236}">
                <a16:creationId xmlns:a16="http://schemas.microsoft.com/office/drawing/2014/main" id="{B8DED405-214C-026E-090E-C76458BE71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58"/>
          <a:stretch>
            <a:fillRect/>
          </a:stretch>
        </p:blipFill>
        <p:spPr bwMode="auto">
          <a:xfrm>
            <a:off x="361507" y="1502880"/>
            <a:ext cx="3684633" cy="500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612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C3621-E7B9-339E-DEF2-17FEFA04F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Inference – did this Cause that?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BDB5-C987-EA80-F978-AF2515EEE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826" y="2015732"/>
            <a:ext cx="6960193" cy="4037749"/>
          </a:xfrm>
        </p:spPr>
        <p:txBody>
          <a:bodyPr/>
          <a:lstStyle/>
          <a:p>
            <a:r>
              <a:rPr lang="en-US" dirty="0"/>
              <a:t>Sequencing – if Thing A always occurs directly before Thing B. </a:t>
            </a:r>
          </a:p>
          <a:p>
            <a:pPr lvl="1"/>
            <a:r>
              <a:rPr lang="en-US" dirty="0"/>
              <a:t>With time-based data we can track this on a massive scale easily. </a:t>
            </a:r>
          </a:p>
          <a:p>
            <a:pPr lvl="1"/>
            <a:r>
              <a:rPr lang="en-US" dirty="0"/>
              <a:t>E.g. Amazon can track if suggesting products yields sales over billions of examples. </a:t>
            </a:r>
          </a:p>
          <a:p>
            <a:r>
              <a:rPr lang="en-US" dirty="0"/>
              <a:t>A/B testing – change one variable, observe results. </a:t>
            </a:r>
          </a:p>
          <a:p>
            <a:pPr lvl="1"/>
            <a:r>
              <a:rPr lang="en-US" dirty="0"/>
              <a:t>This is something that is made much easier with online business. </a:t>
            </a:r>
          </a:p>
          <a:p>
            <a:pPr lvl="1"/>
            <a:r>
              <a:rPr lang="en-US" dirty="0"/>
              <a:t>Change one variable, like which ad is shown, and measure results, like click rate. </a:t>
            </a:r>
          </a:p>
          <a:p>
            <a:pPr lvl="1"/>
            <a:r>
              <a:rPr lang="en-US" dirty="0"/>
              <a:t>If everything else is controlled, can draw inference from the change.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F1BE797-3DFE-15C4-5BFD-7E617344E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019" y="2204308"/>
            <a:ext cx="4161575" cy="244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826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939F7-6442-0224-9066-BF36E96B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KPIs and </a:t>
            </a:r>
            <a:r>
              <a:rPr lang="en-US" dirty="0" err="1"/>
              <a:t>Dashbaords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05AE-0129-A6DF-FEE2-A88E14802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4454" y="2015732"/>
            <a:ext cx="5288692" cy="3450613"/>
          </a:xfrm>
        </p:spPr>
        <p:txBody>
          <a:bodyPr/>
          <a:lstStyle/>
          <a:p>
            <a:r>
              <a:rPr lang="en-US" dirty="0"/>
              <a:t>Modern dashboards are an easy way to show KPIs to users. </a:t>
            </a:r>
          </a:p>
          <a:p>
            <a:r>
              <a:rPr lang="en-US" dirty="0"/>
              <a:t>Can make one dashboard and allow tailoring. </a:t>
            </a:r>
          </a:p>
          <a:p>
            <a:pPr lvl="1"/>
            <a:r>
              <a:rPr lang="en-US" dirty="0"/>
              <a:t>Parameters, filters, interactivity….</a:t>
            </a:r>
          </a:p>
          <a:p>
            <a:r>
              <a:rPr lang="en-US" dirty="0"/>
              <a:t>E.g. at ATB we used to make ~15 different reports on the same thing for different areas. Change to 2 base reports with options. </a:t>
            </a:r>
          </a:p>
        </p:txBody>
      </p:sp>
      <p:pic>
        <p:nvPicPr>
          <p:cNvPr id="8194" name="Picture 2" descr="4 essential IT KPIs for an effective IT dashboard - Work Life by Atlassian">
            <a:extLst>
              <a:ext uri="{FF2B5EF4-FFF2-40B4-BE49-F238E27FC236}">
                <a16:creationId xmlns:a16="http://schemas.microsoft.com/office/drawing/2014/main" id="{761C6D6E-6FEA-B5F0-D3E5-764C51740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4" y="2185141"/>
            <a:ext cx="6705600" cy="328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706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AE25A-96D0-5C32-CFF1-7040E37A4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Tableau…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01AB1-A357-F1A4-8318-9C79CC277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In Tableau, we can calculate almost any metric via a calculation. </a:t>
            </a:r>
          </a:p>
          <a:p>
            <a:r>
              <a:rPr lang="en-US" dirty="0"/>
              <a:t>We can manipulate the customizations with:</a:t>
            </a:r>
          </a:p>
          <a:p>
            <a:pPr lvl="1"/>
            <a:r>
              <a:rPr lang="en-US" dirty="0"/>
              <a:t>Parameters. </a:t>
            </a:r>
          </a:p>
          <a:p>
            <a:pPr lvl="1"/>
            <a:r>
              <a:rPr lang="en-US" dirty="0"/>
              <a:t>Filters. </a:t>
            </a:r>
          </a:p>
          <a:p>
            <a:pPr lvl="1"/>
            <a:r>
              <a:rPr lang="en-US" dirty="0"/>
              <a:t>Interactions. </a:t>
            </a:r>
          </a:p>
          <a:p>
            <a:r>
              <a:rPr lang="en-US" dirty="0"/>
              <a:t>Some other tools – groups and sets, can help splitting “care vs. not care”. </a:t>
            </a:r>
          </a:p>
          <a:p>
            <a:endParaRPr lang="en-US" dirty="0"/>
          </a:p>
          <a:p>
            <a:r>
              <a:rPr lang="en-US" dirty="0"/>
              <a:t>Lastly, extensions…. Let’s try some. </a:t>
            </a:r>
          </a:p>
        </p:txBody>
      </p:sp>
    </p:spTree>
    <p:extLst>
      <p:ext uri="{BB962C8B-B14F-4D97-AF65-F5344CB8AC3E}">
        <p14:creationId xmlns:p14="http://schemas.microsoft.com/office/powerpoint/2010/main" val="122665685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63</TotalTime>
  <Words>999</Words>
  <Application>Microsoft Macintosh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Some Stuff</vt:lpstr>
      <vt:lpstr>Comparison</vt:lpstr>
      <vt:lpstr>Compare things</vt:lpstr>
      <vt:lpstr>Key Performance Indicators</vt:lpstr>
      <vt:lpstr>Leading vs Lagging</vt:lpstr>
      <vt:lpstr>Developing KPIs</vt:lpstr>
      <vt:lpstr>This process isn’t always that easy</vt:lpstr>
      <vt:lpstr>Regression and variable Importance</vt:lpstr>
      <vt:lpstr>Regressing your KPIs</vt:lpstr>
      <vt:lpstr>Detecting the Cause</vt:lpstr>
      <vt:lpstr>Causation Analysis</vt:lpstr>
      <vt:lpstr>Causal Inference – did this Cause that? </vt:lpstr>
      <vt:lpstr>KPIs and Dashbaords</vt:lpstr>
      <vt:lpstr>In Tableau…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9</cp:revision>
  <dcterms:created xsi:type="dcterms:W3CDTF">2025-11-20T15:34:03Z</dcterms:created>
  <dcterms:modified xsi:type="dcterms:W3CDTF">2025-11-20T17:07:34Z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2025-11-20T16:04:06Z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1a491e02-8f8a-485f-b6df-e2ca9a0c0fe9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