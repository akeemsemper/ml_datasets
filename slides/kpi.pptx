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69" r:id="rId2"/>
    <p:sldId id="256" r:id="rId3"/>
    <p:sldId id="257" r:id="rId4"/>
    <p:sldId id="258" r:id="rId5"/>
    <p:sldId id="260" r:id="rId6"/>
    <p:sldId id="271" r:id="rId7"/>
    <p:sldId id="259" r:id="rId8"/>
    <p:sldId id="272" r:id="rId9"/>
    <p:sldId id="270" r:id="rId10"/>
    <p:sldId id="261" r:id="rId11"/>
    <p:sldId id="273" r:id="rId12"/>
    <p:sldId id="262" r:id="rId13"/>
    <p:sldId id="263" r:id="rId14"/>
    <p:sldId id="266" r:id="rId15"/>
    <p:sldId id="264" r:id="rId16"/>
    <p:sldId id="265" r:id="rId17"/>
    <p:sldId id="267" r:id="rId18"/>
    <p:sldId id="268" r:id="rId19"/>
    <p:sldId id="274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561"/>
    <p:restoredTop sz="94769"/>
  </p:normalViewPr>
  <p:slideViewPr>
    <p:cSldViewPr snapToGrid="0">
      <p:cViewPr varScale="1">
        <p:scale>
          <a:sx n="135" d="100"/>
          <a:sy n="135" d="100"/>
        </p:scale>
        <p:origin x="208" y="5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C66F0-894B-A64A-8A1B-2351E00312CE}" type="datetimeFigureOut">
              <a:rPr lang="en-US" smtClean="0"/>
              <a:t>2/27/26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EAB18CFA-F3B1-4C43-96E1-9170BD77E73F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41434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C66F0-894B-A64A-8A1B-2351E00312CE}" type="datetimeFigureOut">
              <a:rPr lang="en-US" smtClean="0"/>
              <a:t>2/27/26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B18CFA-F3B1-4C43-96E1-9170BD77E73F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504253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C66F0-894B-A64A-8A1B-2351E00312CE}" type="datetimeFigureOut">
              <a:rPr lang="en-US" smtClean="0"/>
              <a:t>2/27/26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B18CFA-F3B1-4C43-96E1-9170BD77E73F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97716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C66F0-894B-A64A-8A1B-2351E00312CE}" type="datetimeFigureOut">
              <a:rPr lang="en-US" smtClean="0"/>
              <a:t>2/27/26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B18CFA-F3B1-4C43-96E1-9170BD77E73F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29741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C66F0-894B-A64A-8A1B-2351E00312CE}" type="datetimeFigureOut">
              <a:rPr lang="en-US" smtClean="0"/>
              <a:t>2/27/26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B18CFA-F3B1-4C43-96E1-9170BD77E73F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01694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C66F0-894B-A64A-8A1B-2351E00312CE}" type="datetimeFigureOut">
              <a:rPr lang="en-US" smtClean="0"/>
              <a:t>2/27/26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B18CFA-F3B1-4C43-96E1-9170BD77E73F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62421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C66F0-894B-A64A-8A1B-2351E00312CE}" type="datetimeFigureOut">
              <a:rPr lang="en-US" smtClean="0"/>
              <a:t>2/27/26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B18CFA-F3B1-4C43-96E1-9170BD77E7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803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C66F0-894B-A64A-8A1B-2351E00312CE}" type="datetimeFigureOut">
              <a:rPr lang="en-US" smtClean="0"/>
              <a:t>2/27/26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B18CFA-F3B1-4C43-96E1-9170BD77E73F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32046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4F9C66F0-894B-A64A-8A1B-2351E00312CE}" type="datetimeFigureOut">
              <a:rPr lang="en-US" smtClean="0"/>
              <a:t>2/27/26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B18CFA-F3B1-4C43-96E1-9170BD77E73F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885953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C66F0-894B-A64A-8A1B-2351E00312CE}" type="datetimeFigureOut">
              <a:rPr lang="en-US" smtClean="0"/>
              <a:t>2/27/26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B18CFA-F3B1-4C43-96E1-9170BD77E73F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05366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C66F0-894B-A64A-8A1B-2351E00312CE}" type="datetimeFigureOut">
              <a:rPr lang="en-US" smtClean="0"/>
              <a:t>2/27/26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B18CFA-F3B1-4C43-96E1-9170BD77E73F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67651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9C66F0-894B-A64A-8A1B-2351E00312CE}" type="datetimeFigureOut">
              <a:rPr lang="en-US" smtClean="0"/>
              <a:t>2/27/26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EAB18CFA-F3B1-4C43-96E1-9170BD77E73F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269733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F5E8A-4D32-52AE-E005-F311FF4CC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Stuff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2FBFCF-35EB-27B0-197C-112D531339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299911"/>
          </a:xfrm>
        </p:spPr>
        <p:txBody>
          <a:bodyPr>
            <a:normAutofit/>
          </a:bodyPr>
          <a:lstStyle/>
          <a:p>
            <a:r>
              <a:rPr lang="en-US" dirty="0"/>
              <a:t>Today’s stuff:</a:t>
            </a:r>
          </a:p>
          <a:p>
            <a:pPr lvl="1"/>
            <a:r>
              <a:rPr lang="en-US" dirty="0"/>
              <a:t>Comparisons (more selecting, customizing, and comparing) in tableau. </a:t>
            </a:r>
          </a:p>
          <a:p>
            <a:pPr lvl="1"/>
            <a:r>
              <a:rPr lang="en-US" dirty="0"/>
              <a:t>KPIs and more parameter usage. </a:t>
            </a:r>
          </a:p>
          <a:p>
            <a:pPr lvl="1"/>
            <a:r>
              <a:rPr lang="en-US" dirty="0"/>
              <a:t>Tableau extensions and a radar chart. </a:t>
            </a:r>
          </a:p>
          <a:p>
            <a:r>
              <a:rPr lang="en-US" dirty="0"/>
              <a:t>Assignment:</a:t>
            </a:r>
          </a:p>
          <a:p>
            <a:pPr lvl="1"/>
            <a:r>
              <a:rPr lang="en-US" dirty="0"/>
              <a:t>Think of some ideas, look for data, and start to explore what you can do with it…</a:t>
            </a:r>
          </a:p>
          <a:p>
            <a:pPr lvl="1"/>
            <a:r>
              <a:rPr lang="en-US" dirty="0"/>
              <a:t>Start with simple, then look at improvements – more complex charts, adding animation/actions, adding density with color/size/shape,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4305113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9710D0-29DE-0059-171F-442FCB72F93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Comparison and KPI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745083-32F5-092C-05D7-E3AD85E84AD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94542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1BE3E2-1AC3-005C-982B-70302C07E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Compare things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5E9E70-9629-C5C1-5500-100167C1AC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3864073"/>
          </a:xfrm>
        </p:spPr>
        <p:txBody>
          <a:bodyPr/>
          <a:lstStyle/>
          <a:p>
            <a:r>
              <a:rPr lang="en-US" dirty="0"/>
              <a:t>One important tool of visualizations is to allow comparison. </a:t>
            </a:r>
          </a:p>
          <a:p>
            <a:pPr lvl="1"/>
            <a:r>
              <a:rPr lang="en-US" dirty="0"/>
              <a:t>We can let users customize some details. </a:t>
            </a:r>
          </a:p>
          <a:p>
            <a:pPr lvl="1"/>
            <a:r>
              <a:rPr lang="en-US" dirty="0"/>
              <a:t>Tableau can recalculate things on the fly. </a:t>
            </a:r>
          </a:p>
          <a:p>
            <a:r>
              <a:rPr lang="en-US" dirty="0"/>
              <a:t>On ‘business’ dashboards, this is common. </a:t>
            </a:r>
          </a:p>
          <a:p>
            <a:pPr lvl="1"/>
            <a:r>
              <a:rPr lang="en-US" dirty="0"/>
              <a:t>Focus on one store/product/department. </a:t>
            </a:r>
          </a:p>
          <a:p>
            <a:r>
              <a:rPr lang="en-US" dirty="0"/>
              <a:t>Facilitates KPI – key performance indicators. </a:t>
            </a:r>
          </a:p>
          <a:p>
            <a:pPr lvl="1"/>
            <a:r>
              <a:rPr lang="en-US" dirty="0"/>
              <a:t>Identify core values, monitor them. </a:t>
            </a:r>
          </a:p>
        </p:txBody>
      </p:sp>
      <p:pic>
        <p:nvPicPr>
          <p:cNvPr id="1026" name="Picture 2" descr="How to Create Persistent Comparison Sets Across Tableau Dashboards">
            <a:extLst>
              <a:ext uri="{FF2B5EF4-FFF2-40B4-BE49-F238E27FC236}">
                <a16:creationId xmlns:a16="http://schemas.microsoft.com/office/drawing/2014/main" id="{BA2CE2C5-65AA-9DAF-3D07-6F8DDAD1FD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0289" y="2543654"/>
            <a:ext cx="5514753" cy="40892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21752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303A1-CBA4-8323-8EB1-EC1673CC3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Performance Indicators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5D0096-5553-EC5A-63E3-6F73CA7FE0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53215" y="2015732"/>
            <a:ext cx="5804105" cy="3976577"/>
          </a:xfrm>
        </p:spPr>
        <p:txBody>
          <a:bodyPr/>
          <a:lstStyle/>
          <a:p>
            <a:r>
              <a:rPr lang="en-US" dirty="0"/>
              <a:t>KPIs are metrics that organizations identify as being critical for success. </a:t>
            </a:r>
          </a:p>
          <a:p>
            <a:r>
              <a:rPr lang="en-US" dirty="0"/>
              <a:t>Specific – we can know definitively if we </a:t>
            </a:r>
            <a:r>
              <a:rPr lang="en-US" dirty="0" err="1"/>
              <a:t>acheive</a:t>
            </a:r>
            <a:r>
              <a:rPr lang="en-US" dirty="0"/>
              <a:t> it. </a:t>
            </a:r>
          </a:p>
          <a:p>
            <a:r>
              <a:rPr lang="en-US" dirty="0"/>
              <a:t>Time bound – we have limits on when it can occur. </a:t>
            </a:r>
          </a:p>
          <a:p>
            <a:r>
              <a:rPr lang="en-US" dirty="0"/>
              <a:t>Measurable – it is objective. </a:t>
            </a:r>
          </a:p>
          <a:p>
            <a:r>
              <a:rPr lang="en-US" dirty="0"/>
              <a:t>Attainable – it is realistic to achieve. </a:t>
            </a:r>
          </a:p>
          <a:p>
            <a:r>
              <a:rPr lang="en-US" dirty="0"/>
              <a:t>Relevant – it matters to success. </a:t>
            </a:r>
          </a:p>
        </p:txBody>
      </p:sp>
      <p:pic>
        <p:nvPicPr>
          <p:cNvPr id="2050" name="Picture 2" descr="What are KPIs and how should you use them to increase sales?">
            <a:extLst>
              <a:ext uri="{FF2B5EF4-FFF2-40B4-BE49-F238E27FC236}">
                <a16:creationId xmlns:a16="http://schemas.microsoft.com/office/drawing/2014/main" id="{0CE4E531-3508-27D9-6AAF-2AD3F926F1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814" y="2015732"/>
            <a:ext cx="6213402" cy="39765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691601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63A77C-3F7E-83A9-547A-556999C0C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Leading vs Lagging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922DAA-2DAB-E79B-771A-C3A875A217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91865" y="2015732"/>
            <a:ext cx="5066270" cy="3875771"/>
          </a:xfrm>
        </p:spPr>
        <p:txBody>
          <a:bodyPr/>
          <a:lstStyle/>
          <a:p>
            <a:r>
              <a:rPr lang="en-US" dirty="0"/>
              <a:t>KPIs can be leading or lagging. </a:t>
            </a:r>
          </a:p>
          <a:p>
            <a:r>
              <a:rPr lang="en-US" dirty="0"/>
              <a:t>Leading:</a:t>
            </a:r>
          </a:p>
          <a:p>
            <a:pPr lvl="1"/>
            <a:r>
              <a:rPr lang="en-US" dirty="0"/>
              <a:t>An indicator that something will happen. </a:t>
            </a:r>
          </a:p>
          <a:p>
            <a:pPr lvl="1"/>
            <a:r>
              <a:rPr lang="en-US" dirty="0"/>
              <a:t>Store traffic indicates future sales. </a:t>
            </a:r>
          </a:p>
          <a:p>
            <a:r>
              <a:rPr lang="en-US" dirty="0"/>
              <a:t>Lagging:</a:t>
            </a:r>
          </a:p>
          <a:p>
            <a:pPr lvl="1"/>
            <a:r>
              <a:rPr lang="en-US" dirty="0"/>
              <a:t>An indicator something has happened. </a:t>
            </a:r>
          </a:p>
          <a:p>
            <a:pPr lvl="1"/>
            <a:r>
              <a:rPr lang="en-US" dirty="0"/>
              <a:t>Conversion rate on web visitors to buyers.</a:t>
            </a:r>
          </a:p>
          <a:p>
            <a:r>
              <a:rPr lang="en-US" dirty="0"/>
              <a:t>Both ultimately guide behavior (ideally). </a:t>
            </a:r>
          </a:p>
        </p:txBody>
      </p:sp>
      <p:pic>
        <p:nvPicPr>
          <p:cNvPr id="3074" name="Picture 2" descr="HR KPIs: Guide, 20 Examples &amp; Free Template - AIHR">
            <a:extLst>
              <a:ext uri="{FF2B5EF4-FFF2-40B4-BE49-F238E27FC236}">
                <a16:creationId xmlns:a16="http://schemas.microsoft.com/office/drawing/2014/main" id="{C6AC7AC8-F472-7D08-316A-5F0BE292597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9392" b="11731"/>
          <a:stretch>
            <a:fillRect/>
          </a:stretch>
        </p:blipFill>
        <p:spPr bwMode="auto">
          <a:xfrm>
            <a:off x="133865" y="1853754"/>
            <a:ext cx="6858000" cy="40377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2031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12EB43-A4FA-BF0F-0D31-43B9163193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571E49-963A-8F96-8BE4-A884891E97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38365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A0E2D-CF82-5CD6-82F5-9AE8C1DA8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Developing KPIs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015E79-AA17-0157-3DF3-EEA13229E3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5"/>
            <a:ext cx="10020951" cy="4199726"/>
          </a:xfrm>
        </p:spPr>
        <p:txBody>
          <a:bodyPr/>
          <a:lstStyle/>
          <a:p>
            <a:r>
              <a:rPr lang="en-US" dirty="0"/>
              <a:t>KPIs will differ depending on organization and circumstances. </a:t>
            </a:r>
          </a:p>
          <a:p>
            <a:r>
              <a:rPr lang="en-US" dirty="0"/>
              <a:t>The goal is to, as best as possible, summarize the performance of the org in a few values. </a:t>
            </a:r>
          </a:p>
          <a:p>
            <a:pPr lvl="1"/>
            <a:r>
              <a:rPr lang="en-US" dirty="0"/>
              <a:t>I.e. if these metrics look good, we are doing well. </a:t>
            </a:r>
          </a:p>
          <a:p>
            <a:r>
              <a:rPr lang="en-US" dirty="0"/>
              <a:t>Broad consideration – financials are included, but not the only thing. </a:t>
            </a:r>
          </a:p>
          <a:p>
            <a:pPr lvl="1"/>
            <a:r>
              <a:rPr lang="en-US" dirty="0"/>
              <a:t>Customer opinion, job applicant quality, social media mentions, supplier limits,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Stakeholder consultation – ‘success’ for different departments may be different. </a:t>
            </a:r>
          </a:p>
          <a:p>
            <a:pPr lvl="1"/>
            <a:r>
              <a:rPr lang="en-US" dirty="0"/>
              <a:t>The process of identifying KPIs can help reveal this*. </a:t>
            </a:r>
          </a:p>
          <a:p>
            <a:r>
              <a:rPr lang="en-US" dirty="0"/>
              <a:t>Relevance (again) – easy to measure != important. Important things may be hard to measure. </a:t>
            </a:r>
          </a:p>
        </p:txBody>
      </p:sp>
    </p:spTree>
    <p:extLst>
      <p:ext uri="{BB962C8B-B14F-4D97-AF65-F5344CB8AC3E}">
        <p14:creationId xmlns:p14="http://schemas.microsoft.com/office/powerpoint/2010/main" val="6190073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762FDE-1ECC-D0D2-E76F-6470B690E3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Thresholds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9DB3AE-84CD-62B1-397B-CC7398BF70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33903"/>
            <a:ext cx="9603275" cy="4193627"/>
          </a:xfrm>
        </p:spPr>
        <p:txBody>
          <a:bodyPr/>
          <a:lstStyle/>
          <a:p>
            <a:r>
              <a:rPr lang="en-US" dirty="0"/>
              <a:t>Another factor that we often consider with KPIs is a threshold.</a:t>
            </a:r>
          </a:p>
          <a:p>
            <a:pPr lvl="1"/>
            <a:r>
              <a:rPr lang="en-US" dirty="0"/>
              <a:t>Criteria for what value signals good/bad limits. </a:t>
            </a:r>
          </a:p>
          <a:p>
            <a:pPr lvl="1"/>
            <a:r>
              <a:rPr lang="en-US" dirty="0"/>
              <a:t>E.g. gauges in car – red line is the RPM threshold, temperature range. </a:t>
            </a:r>
          </a:p>
          <a:p>
            <a:r>
              <a:rPr lang="en-US" dirty="0"/>
              <a:t>Simplify analysis by focusing only on cases where there’s an issue. </a:t>
            </a:r>
          </a:p>
          <a:p>
            <a:r>
              <a:rPr lang="en-US" dirty="0"/>
              <a:t>Real life example – banker training at ATB. </a:t>
            </a:r>
          </a:p>
          <a:p>
            <a:pPr lvl="1"/>
            <a:r>
              <a:rPr lang="en-US" dirty="0"/>
              <a:t>We had many people in a ~6 month long </a:t>
            </a:r>
            <a:r>
              <a:rPr lang="en-US" dirty="0" err="1"/>
              <a:t>otj</a:t>
            </a:r>
            <a:r>
              <a:rPr lang="en-US" dirty="0"/>
              <a:t> training program. </a:t>
            </a:r>
          </a:p>
          <a:p>
            <a:pPr lvl="1"/>
            <a:r>
              <a:rPr lang="en-US" dirty="0"/>
              <a:t>Need to monitor number of trainees, pacing,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 lvl="1"/>
            <a:r>
              <a:rPr lang="en-US" dirty="0"/>
              <a:t>Threshold – green/yellow/red light indicator for pace based on # of course items complete and major milestones. </a:t>
            </a:r>
          </a:p>
          <a:p>
            <a:pPr lvl="1"/>
            <a:r>
              <a:rPr lang="en-US" dirty="0"/>
              <a:t>Greens don’t need interventions, yellow need subtle, red is concern. </a:t>
            </a:r>
          </a:p>
        </p:txBody>
      </p:sp>
    </p:spTree>
    <p:extLst>
      <p:ext uri="{BB962C8B-B14F-4D97-AF65-F5344CB8AC3E}">
        <p14:creationId xmlns:p14="http://schemas.microsoft.com/office/powerpoint/2010/main" val="42839257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59D57-7116-95BC-1DBC-6CBA9EB8ED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EEBC57-1A53-6D8F-5DC2-9D6BA74E16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24478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4A8256-2106-1296-7151-413B7EBE3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process isn’t always that easy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12B44B-7EA0-E265-76D7-125211805F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3"/>
            <a:ext cx="9603275" cy="4199727"/>
          </a:xfrm>
        </p:spPr>
        <p:txBody>
          <a:bodyPr/>
          <a:lstStyle/>
          <a:p>
            <a:r>
              <a:rPr lang="en-US" dirty="0"/>
              <a:t>Beyond profit/sales, many companies have no clue what matters. </a:t>
            </a:r>
          </a:p>
          <a:p>
            <a:pPr lvl="1"/>
            <a:r>
              <a:rPr lang="en-US" dirty="0"/>
              <a:t>Especially large corporations where departments are far separated from sales. </a:t>
            </a:r>
          </a:p>
          <a:p>
            <a:pPr lvl="1"/>
            <a:r>
              <a:rPr lang="en-US" dirty="0"/>
              <a:t>Many departments have metrics that were picked arbitrarily. </a:t>
            </a:r>
          </a:p>
          <a:p>
            <a:r>
              <a:rPr lang="en-US" dirty="0"/>
              <a:t>Working on reporting on metrics often results in you determining what they are. </a:t>
            </a:r>
          </a:p>
          <a:p>
            <a:pPr lvl="1"/>
            <a:r>
              <a:rPr lang="en-US" dirty="0"/>
              <a:t>Managers are attached to what they already achieve. </a:t>
            </a:r>
          </a:p>
          <a:p>
            <a:pPr lvl="1"/>
            <a:r>
              <a:rPr lang="en-US" dirty="0"/>
              <a:t>Example – I revised compliance training (e.g. anti money laundering) assignment and reporting for ATB. The compliance people didn’t know what they needed to report, just reported the numbers that they had. </a:t>
            </a:r>
          </a:p>
          <a:p>
            <a:r>
              <a:rPr lang="en-US" dirty="0"/>
              <a:t>We can use some other analytics tools to help a little….</a:t>
            </a:r>
          </a:p>
          <a:p>
            <a:pPr lvl="1"/>
            <a:r>
              <a:rPr lang="en-US" dirty="0"/>
              <a:t>This usually requires domain knowledge and usually many meetings. </a:t>
            </a:r>
          </a:p>
        </p:txBody>
      </p:sp>
    </p:spTree>
    <p:extLst>
      <p:ext uri="{BB962C8B-B14F-4D97-AF65-F5344CB8AC3E}">
        <p14:creationId xmlns:p14="http://schemas.microsoft.com/office/powerpoint/2010/main" val="11890059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7C91F3-8B7A-59FD-641F-C65585EDCE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Me Metric!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470111-CA26-4AA4-8D02-FE5DD0F221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" y="1853754"/>
            <a:ext cx="7251886" cy="4199727"/>
          </a:xfrm>
        </p:spPr>
        <p:txBody>
          <a:bodyPr/>
          <a:lstStyle/>
          <a:p>
            <a:r>
              <a:rPr lang="en-US" dirty="0"/>
              <a:t>Metrics can be constructed by math and data we have. </a:t>
            </a:r>
          </a:p>
          <a:p>
            <a:pPr lvl="1"/>
            <a:r>
              <a:rPr lang="en-US" dirty="0"/>
              <a:t>E.g. can calculate “sales per hour” for a salesperson at a store. </a:t>
            </a:r>
          </a:p>
          <a:p>
            <a:pPr lvl="1"/>
            <a:r>
              <a:rPr lang="en-US" dirty="0"/>
              <a:t>If you watch sports, many advanced metrics are examples (WAR, BPM, </a:t>
            </a:r>
            <a:r>
              <a:rPr lang="en-US" dirty="0" err="1"/>
              <a:t>etc</a:t>
            </a:r>
            <a:r>
              <a:rPr lang="en-US" dirty="0"/>
              <a:t>…)</a:t>
            </a:r>
          </a:p>
          <a:p>
            <a:r>
              <a:rPr lang="en-US" dirty="0"/>
              <a:t>Metrics also serve to simplify analysis. </a:t>
            </a:r>
          </a:p>
          <a:p>
            <a:pPr lvl="1"/>
            <a:r>
              <a:rPr lang="en-US" dirty="0"/>
              <a:t>The calculation combines the impact of several factors. </a:t>
            </a:r>
          </a:p>
          <a:p>
            <a:pPr lvl="1"/>
            <a:r>
              <a:rPr lang="en-US" dirty="0"/>
              <a:t>We only need to look at the metric to monitor. </a:t>
            </a:r>
          </a:p>
          <a:p>
            <a:r>
              <a:rPr lang="en-US" dirty="0"/>
              <a:t>Real – call center (1</a:t>
            </a:r>
            <a:r>
              <a:rPr lang="en-US" baseline="30000" dirty="0"/>
              <a:t>st</a:t>
            </a:r>
            <a:r>
              <a:rPr lang="en-US" dirty="0"/>
              <a:t> call res rate, calls/</a:t>
            </a:r>
            <a:r>
              <a:rPr lang="en-US" dirty="0" err="1"/>
              <a:t>hr</a:t>
            </a:r>
            <a:r>
              <a:rPr lang="en-US" dirty="0"/>
              <a:t>, escalation rate, </a:t>
            </a:r>
            <a:r>
              <a:rPr lang="en-US" dirty="0" err="1"/>
              <a:t>etc</a:t>
            </a:r>
            <a:r>
              <a:rPr lang="en-US" dirty="0"/>
              <a:t>…)</a:t>
            </a:r>
          </a:p>
          <a:p>
            <a:r>
              <a:rPr lang="en-US" dirty="0"/>
              <a:t>Limited by relevance of metric – it is hard to summarize an entire business into one number. </a:t>
            </a:r>
          </a:p>
        </p:txBody>
      </p:sp>
      <p:pic>
        <p:nvPicPr>
          <p:cNvPr id="5" name="Picture 4" descr="Everything You Need to Know About KPI Visualization - Atlan | Humans of Data">
            <a:extLst>
              <a:ext uri="{FF2B5EF4-FFF2-40B4-BE49-F238E27FC236}">
                <a16:creationId xmlns:a16="http://schemas.microsoft.com/office/drawing/2014/main" id="{AEDDBFAA-5CEB-4C26-42AD-7246015491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1887" y="2015732"/>
            <a:ext cx="4846496" cy="2801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36249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6B3CA-81E2-BEE4-11CC-16FCA28655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Regression and variable Importance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177671-B54D-7302-2EED-D2754FEBE2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" y="1853754"/>
            <a:ext cx="5968314" cy="4199727"/>
          </a:xfrm>
        </p:spPr>
        <p:txBody>
          <a:bodyPr>
            <a:normAutofit/>
          </a:bodyPr>
          <a:lstStyle/>
          <a:p>
            <a:r>
              <a:rPr lang="en-US" dirty="0"/>
              <a:t>Regression models (we’ll do more soon on this):</a:t>
            </a:r>
          </a:p>
          <a:p>
            <a:pPr lvl="1"/>
            <a:r>
              <a:rPr lang="en-US" dirty="0"/>
              <a:t>We have several inputs, use them to predict output. </a:t>
            </a:r>
          </a:p>
          <a:p>
            <a:pPr lvl="1"/>
            <a:r>
              <a:rPr lang="en-US" dirty="0"/>
              <a:t>E.g. know loan applicant info, use past loans to predict good/bad risk. </a:t>
            </a:r>
          </a:p>
          <a:p>
            <a:r>
              <a:rPr lang="en-US" dirty="0"/>
              <a:t>When doing this, we can extract variable importance:</a:t>
            </a:r>
          </a:p>
          <a:p>
            <a:pPr lvl="1"/>
            <a:r>
              <a:rPr lang="en-US" dirty="0"/>
              <a:t>Recall, each regression is a weighted combo of inputs. </a:t>
            </a:r>
          </a:p>
          <a:p>
            <a:pPr lvl="1"/>
            <a:r>
              <a:rPr lang="en-US" dirty="0"/>
              <a:t>“loan risk” is weighted combo of “income”, ”age”…</a:t>
            </a:r>
          </a:p>
          <a:p>
            <a:r>
              <a:rPr lang="en-US" dirty="0"/>
              <a:t>If we make model of sales/profits, with metrics as inputs, coefficients are relative importances.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591834F-08E0-BA05-CF56-A4B64DEEA4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8314" y="1769181"/>
            <a:ext cx="6223686" cy="1517131"/>
          </a:xfrm>
          <a:prstGeom prst="rect">
            <a:avLst/>
          </a:prstGeom>
        </p:spPr>
      </p:pic>
      <p:pic>
        <p:nvPicPr>
          <p:cNvPr id="4098" name="Picture 2" descr="What Is Multiple Linear Regression (MLR)?">
            <a:extLst>
              <a:ext uri="{FF2B5EF4-FFF2-40B4-BE49-F238E27FC236}">
                <a16:creationId xmlns:a16="http://schemas.microsoft.com/office/drawing/2014/main" id="{0840FEDA-49D3-B641-1B6E-B83DAA1FBD4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7456"/>
          <a:stretch>
            <a:fillRect/>
          </a:stretch>
        </p:blipFill>
        <p:spPr bwMode="auto">
          <a:xfrm>
            <a:off x="7587049" y="3429000"/>
            <a:ext cx="4473146" cy="22915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295532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323602-A806-060D-4EA0-71E7BB4D5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Regressing your KPIs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BAA89A-E047-AB29-B031-53A4A21C51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So, assume your chain of burger joints has an overall goal of “profits”. </a:t>
            </a:r>
          </a:p>
          <a:p>
            <a:r>
              <a:rPr lang="en-US" dirty="0"/>
              <a:t>There are several potential KPIs that you consider for each store:</a:t>
            </a:r>
          </a:p>
          <a:p>
            <a:pPr lvl="1"/>
            <a:r>
              <a:rPr lang="en-US" dirty="0"/>
              <a:t>Sales, material cost, rent, # of employees, size,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Build regression with profit as target and all inputs as features. </a:t>
            </a:r>
          </a:p>
          <a:p>
            <a:pPr lvl="1"/>
            <a:r>
              <a:rPr lang="en-US" dirty="0"/>
              <a:t>Resulting model tells us how important each input is. </a:t>
            </a:r>
          </a:p>
          <a:p>
            <a:r>
              <a:rPr lang="en-US" dirty="0"/>
              <a:t>This isn’t perfect, it is limited by the quality of the data. </a:t>
            </a:r>
          </a:p>
          <a:p>
            <a:pPr lvl="1"/>
            <a:r>
              <a:rPr lang="en-US" dirty="0"/>
              <a:t>Do the inputs matter, or are we missing something that impacts profit?</a:t>
            </a:r>
          </a:p>
          <a:p>
            <a:pPr lvl="1"/>
            <a:r>
              <a:rPr lang="en-US" dirty="0"/>
              <a:t>Can we make a metric that actually captures a ‘thing’ – e.g. “coolness” for brands. </a:t>
            </a:r>
          </a:p>
        </p:txBody>
      </p:sp>
    </p:spTree>
    <p:extLst>
      <p:ext uri="{BB962C8B-B14F-4D97-AF65-F5344CB8AC3E}">
        <p14:creationId xmlns:p14="http://schemas.microsoft.com/office/powerpoint/2010/main" val="11839945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E6463-77A1-2206-0134-C25E28646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Detecting the Cause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4714D6-54A6-4099-A7F2-870A8A8C1D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Picture 4" descr="Correlation is not causation">
            <a:extLst>
              <a:ext uri="{FF2B5EF4-FFF2-40B4-BE49-F238E27FC236}">
                <a16:creationId xmlns:a16="http://schemas.microsoft.com/office/drawing/2014/main" id="{1D6231EA-FFB7-241D-BEF4-351D6BDDFB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1579" y="1569548"/>
            <a:ext cx="9603275" cy="50156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769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762F30-E570-0596-0586-5A4DA795F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Causation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0D6535-25C7-76D2-D56D-512FABEAEA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6141" y="2015732"/>
            <a:ext cx="7784352" cy="4037749"/>
          </a:xfrm>
        </p:spPr>
        <p:txBody>
          <a:bodyPr/>
          <a:lstStyle/>
          <a:p>
            <a:r>
              <a:rPr lang="en-US" dirty="0"/>
              <a:t>Diagnostic analytics is the branch that we often skim over. </a:t>
            </a:r>
          </a:p>
          <a:p>
            <a:pPr lvl="1"/>
            <a:r>
              <a:rPr lang="en-US" dirty="0"/>
              <a:t>We observe something happening and want to know why. </a:t>
            </a:r>
          </a:p>
          <a:p>
            <a:r>
              <a:rPr lang="en-US" dirty="0"/>
              <a:t>Two things happening together doesn’t mean one caused the other. </a:t>
            </a:r>
          </a:p>
          <a:p>
            <a:pPr lvl="1"/>
            <a:r>
              <a:rPr lang="en-US" dirty="0"/>
              <a:t>Correlation is very easy to measure, but may not matter. </a:t>
            </a:r>
          </a:p>
          <a:p>
            <a:pPr lvl="1"/>
            <a:r>
              <a:rPr lang="en-US" dirty="0"/>
              <a:t>Coincidences, other impacts, of shared causes may occur. </a:t>
            </a:r>
          </a:p>
          <a:p>
            <a:r>
              <a:rPr lang="en-US" dirty="0"/>
              <a:t>Causation analysis is a branch of analytics that tries to prove causation.</a:t>
            </a:r>
          </a:p>
          <a:p>
            <a:pPr lvl="1"/>
            <a:r>
              <a:rPr lang="en-US" dirty="0"/>
              <a:t>If we can spot causes, we can embrace or avoid in advance. 	</a:t>
            </a:r>
          </a:p>
          <a:p>
            <a:pPr lvl="1"/>
            <a:r>
              <a:rPr lang="en-US" dirty="0"/>
              <a:t>Focusing on markers that happen earlier is an advantage. </a:t>
            </a:r>
          </a:p>
          <a:p>
            <a:r>
              <a:rPr lang="en-US" dirty="0"/>
              <a:t>Causal analysis is hard, there are a few simple-</a:t>
            </a:r>
            <a:r>
              <a:rPr lang="en-US" dirty="0" err="1"/>
              <a:t>ish</a:t>
            </a:r>
            <a:r>
              <a:rPr lang="en-US" dirty="0"/>
              <a:t> examples…</a:t>
            </a:r>
          </a:p>
        </p:txBody>
      </p:sp>
      <p:pic>
        <p:nvPicPr>
          <p:cNvPr id="5122" name="Picture 2" descr="Correlation vs Causation">
            <a:extLst>
              <a:ext uri="{FF2B5EF4-FFF2-40B4-BE49-F238E27FC236}">
                <a16:creationId xmlns:a16="http://schemas.microsoft.com/office/drawing/2014/main" id="{B8DED405-214C-026E-090E-C76458BE711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458"/>
          <a:stretch>
            <a:fillRect/>
          </a:stretch>
        </p:blipFill>
        <p:spPr bwMode="auto">
          <a:xfrm>
            <a:off x="361507" y="1502880"/>
            <a:ext cx="3684633" cy="50042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56129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C3621-E7B9-339E-DEF2-17FEFA04F1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Causal Inference – did this Cause that?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CBDB5-C987-EA80-F978-AF2515EEE4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3826" y="2015732"/>
            <a:ext cx="6960193" cy="4037749"/>
          </a:xfrm>
        </p:spPr>
        <p:txBody>
          <a:bodyPr/>
          <a:lstStyle/>
          <a:p>
            <a:r>
              <a:rPr lang="en-US" dirty="0"/>
              <a:t>Sequencing – if Thing A always occurs directly before Thing B. </a:t>
            </a:r>
          </a:p>
          <a:p>
            <a:pPr lvl="1"/>
            <a:r>
              <a:rPr lang="en-US" dirty="0"/>
              <a:t>With time-based data we can track this on a massive scale easily. </a:t>
            </a:r>
          </a:p>
          <a:p>
            <a:pPr lvl="1"/>
            <a:r>
              <a:rPr lang="en-US" dirty="0"/>
              <a:t>E.g. Amazon can track if suggesting products yields sales over billions of examples. </a:t>
            </a:r>
          </a:p>
          <a:p>
            <a:r>
              <a:rPr lang="en-US" dirty="0"/>
              <a:t>A/B testing – change one variable, observe results. </a:t>
            </a:r>
          </a:p>
          <a:p>
            <a:pPr lvl="1"/>
            <a:r>
              <a:rPr lang="en-US" dirty="0"/>
              <a:t>This is something that is made much easier with online business. </a:t>
            </a:r>
          </a:p>
          <a:p>
            <a:pPr lvl="1"/>
            <a:r>
              <a:rPr lang="en-US" dirty="0"/>
              <a:t>Change one variable, like which ad is shown, and measure results, like click rate. </a:t>
            </a:r>
          </a:p>
          <a:p>
            <a:pPr lvl="1"/>
            <a:r>
              <a:rPr lang="en-US" dirty="0"/>
              <a:t>If everything else is controlled, can draw inference from the change. 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2F1BE797-3DFE-15C4-5BFD-7E617344E2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4019" y="2204308"/>
            <a:ext cx="4161575" cy="2449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088262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D939F7-6442-0224-9066-BF36E96B48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KPIs and </a:t>
            </a:r>
            <a:r>
              <a:rPr lang="en-US" dirty="0" err="1"/>
              <a:t>Dashbaords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1B05AE-0129-A6DF-FEE2-A88E148023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4454" y="2015732"/>
            <a:ext cx="5288692" cy="3450613"/>
          </a:xfrm>
        </p:spPr>
        <p:txBody>
          <a:bodyPr/>
          <a:lstStyle/>
          <a:p>
            <a:r>
              <a:rPr lang="en-US" dirty="0"/>
              <a:t>Modern dashboards are an easy way to show KPIs to users. </a:t>
            </a:r>
          </a:p>
          <a:p>
            <a:r>
              <a:rPr lang="en-US" dirty="0"/>
              <a:t>Can make one dashboard and allow tailoring. </a:t>
            </a:r>
          </a:p>
          <a:p>
            <a:pPr lvl="1"/>
            <a:r>
              <a:rPr lang="en-US" dirty="0"/>
              <a:t>Parameters, filters, interactivity….</a:t>
            </a:r>
          </a:p>
          <a:p>
            <a:r>
              <a:rPr lang="en-US" dirty="0"/>
              <a:t>E.g. at ATB we used to make ~15 different reports on the same thing for different areas. Change to 2 base reports with options. </a:t>
            </a:r>
          </a:p>
        </p:txBody>
      </p:sp>
      <p:pic>
        <p:nvPicPr>
          <p:cNvPr id="8194" name="Picture 2" descr="4 essential IT KPIs for an effective IT dashboard - Work Life by Atlassian">
            <a:extLst>
              <a:ext uri="{FF2B5EF4-FFF2-40B4-BE49-F238E27FC236}">
                <a16:creationId xmlns:a16="http://schemas.microsoft.com/office/drawing/2014/main" id="{761C6D6E-6FEA-B5F0-D3E5-764C51740C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854" y="2185141"/>
            <a:ext cx="6705600" cy="32812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167063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2AE25A-96D0-5C32-CFF1-7040E37A4A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Tableau…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401AB1-A357-F1A4-8318-9C79CC2776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2070" y="1853754"/>
            <a:ext cx="7591810" cy="4199727"/>
          </a:xfrm>
        </p:spPr>
        <p:txBody>
          <a:bodyPr/>
          <a:lstStyle/>
          <a:p>
            <a:r>
              <a:rPr lang="en-US" dirty="0"/>
              <a:t>In Tableau, we can calculate almost any metric via a calculation. </a:t>
            </a:r>
          </a:p>
          <a:p>
            <a:r>
              <a:rPr lang="en-US" dirty="0"/>
              <a:t>We can manipulate the customizations with:</a:t>
            </a:r>
          </a:p>
          <a:p>
            <a:pPr lvl="1"/>
            <a:r>
              <a:rPr lang="en-US" dirty="0"/>
              <a:t>Parameters. </a:t>
            </a:r>
          </a:p>
          <a:p>
            <a:pPr lvl="1"/>
            <a:r>
              <a:rPr lang="en-US" dirty="0"/>
              <a:t>Filters. </a:t>
            </a:r>
          </a:p>
          <a:p>
            <a:pPr lvl="1"/>
            <a:r>
              <a:rPr lang="en-US" dirty="0"/>
              <a:t>Interactions. </a:t>
            </a:r>
          </a:p>
          <a:p>
            <a:r>
              <a:rPr lang="en-US" dirty="0"/>
              <a:t>Some other tools – groups and sets, can help splitting “care vs. not care”. </a:t>
            </a:r>
          </a:p>
          <a:p>
            <a:endParaRPr lang="en-US" dirty="0"/>
          </a:p>
          <a:p>
            <a:r>
              <a:rPr lang="en-US" dirty="0"/>
              <a:t>Lastly, extensions…. Let’s try some. </a:t>
            </a:r>
          </a:p>
        </p:txBody>
      </p:sp>
      <p:pic>
        <p:nvPicPr>
          <p:cNvPr id="4" name="Picture 3" descr="Radar Chart">
            <a:extLst>
              <a:ext uri="{FF2B5EF4-FFF2-40B4-BE49-F238E27FC236}">
                <a16:creationId xmlns:a16="http://schemas.microsoft.com/office/drawing/2014/main" id="{2F7D5267-C1FA-AD0F-CD10-69792D0242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3879" y="1553153"/>
            <a:ext cx="4378121" cy="4037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66568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D0155C-6A10-7E93-5E47-CD1987C080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E81A8D-9107-039B-408B-95718581A7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636716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11740</TotalTime>
  <Words>1278</Words>
  <Application>Microsoft Macintosh PowerPoint</Application>
  <PresentationFormat>Widescreen</PresentationFormat>
  <Paragraphs>121</Paragraphs>
  <Slides>19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Gill Sans MT</vt:lpstr>
      <vt:lpstr>Gallery</vt:lpstr>
      <vt:lpstr>Some Stuff</vt:lpstr>
      <vt:lpstr>Comparison and KPI</vt:lpstr>
      <vt:lpstr>Compare things</vt:lpstr>
      <vt:lpstr>Key Performance Indicators</vt:lpstr>
      <vt:lpstr>Leading vs Lagging</vt:lpstr>
      <vt:lpstr>PowerPoint Presentation</vt:lpstr>
      <vt:lpstr>Developing KPIs</vt:lpstr>
      <vt:lpstr>Thresholds</vt:lpstr>
      <vt:lpstr>Process</vt:lpstr>
      <vt:lpstr>This process isn’t always that easy</vt:lpstr>
      <vt:lpstr>Make Me Metric!</vt:lpstr>
      <vt:lpstr>Regression and variable Importance</vt:lpstr>
      <vt:lpstr>Regressing your KPIs</vt:lpstr>
      <vt:lpstr>Detecting the Cause</vt:lpstr>
      <vt:lpstr>Causation Analysis</vt:lpstr>
      <vt:lpstr>Causal Inference – did this Cause that? </vt:lpstr>
      <vt:lpstr>KPIs and Dashbaords</vt:lpstr>
      <vt:lpstr>In Tableau…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Akeem Semper</dc:creator>
  <cp:lastModifiedBy>Akeem Semper</cp:lastModifiedBy>
  <cp:revision>18</cp:revision>
  <dcterms:created xsi:type="dcterms:W3CDTF">2025-11-20T15:34:03Z</dcterms:created>
  <dcterms:modified xsi:type="dcterms:W3CDTF">2026-03-03T18:15:38Z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877899-02b0-462c-b2a9-b7d15c4f96fe_Enabled">
    <vt:lpwstr>true</vt:lpwstr>
  </property>
  <property fmtid="{D5CDD505-2E9C-101B-9397-08002B2CF9AE}" pid="3" name="MSIP_Label_10877899-02b0-462c-b2a9-b7d15c4f96fe_SetDate">
    <vt:lpwstr>2025-11-20T16:04:06Z</vt:lpwstr>
  </property>
  <property fmtid="{D5CDD505-2E9C-101B-9397-08002B2CF9AE}" pid="4" name="MSIP_Label_10877899-02b0-462c-b2a9-b7d15c4f96fe_Method">
    <vt:lpwstr>Standard</vt:lpwstr>
  </property>
  <property fmtid="{D5CDD505-2E9C-101B-9397-08002B2CF9AE}" pid="5" name="MSIP_Label_10877899-02b0-462c-b2a9-b7d15c4f96fe_Name">
    <vt:lpwstr>Protected [Protected A]</vt:lpwstr>
  </property>
  <property fmtid="{D5CDD505-2E9C-101B-9397-08002B2CF9AE}" pid="6" name="MSIP_Label_10877899-02b0-462c-b2a9-b7d15c4f96fe_SiteId">
    <vt:lpwstr>5c98fb47-d3b9-4649-9d94-f88cbdd9729c</vt:lpwstr>
  </property>
  <property fmtid="{D5CDD505-2E9C-101B-9397-08002B2CF9AE}" pid="7" name="MSIP_Label_10877899-02b0-462c-b2a9-b7d15c4f96fe_ActionId">
    <vt:lpwstr>1a491e02-8f8a-485f-b6df-e2ca9a0c0fe9</vt:lpwstr>
  </property>
  <property fmtid="{D5CDD505-2E9C-101B-9397-08002B2CF9AE}" pid="8" name="MSIP_Label_10877899-02b0-462c-b2a9-b7d15c4f96fe_ContentBits">
    <vt:lpwstr>0</vt:lpwstr>
  </property>
  <property fmtid="{D5CDD505-2E9C-101B-9397-08002B2CF9AE}" pid="9" name="MSIP_Label_10877899-02b0-462c-b2a9-b7d15c4f96fe_Tag">
    <vt:lpwstr>50, 3, 0, 1</vt:lpwstr>
  </property>
</Properties>
</file>