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76" r:id="rId2"/>
    <p:sldId id="256" r:id="rId3"/>
    <p:sldId id="257" r:id="rId4"/>
    <p:sldId id="259" r:id="rId5"/>
    <p:sldId id="260" r:id="rId6"/>
    <p:sldId id="261" r:id="rId7"/>
    <p:sldId id="273" r:id="rId8"/>
    <p:sldId id="262" r:id="rId9"/>
    <p:sldId id="263" r:id="rId10"/>
    <p:sldId id="266" r:id="rId11"/>
    <p:sldId id="274" r:id="rId12"/>
    <p:sldId id="265" r:id="rId13"/>
    <p:sldId id="270" r:id="rId14"/>
    <p:sldId id="271" r:id="rId15"/>
    <p:sldId id="275" r:id="rId16"/>
    <p:sldId id="267" r:id="rId17"/>
    <p:sldId id="268" r:id="rId18"/>
    <p:sldId id="272" r:id="rId19"/>
    <p:sldId id="278" r:id="rId20"/>
    <p:sldId id="277" r:id="rId21"/>
    <p:sldId id="269" r:id="rId22"/>
    <p:sldId id="280" r:id="rId23"/>
    <p:sldId id="279" r:id="rId2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429"/>
    <p:restoredTop sz="96327"/>
  </p:normalViewPr>
  <p:slideViewPr>
    <p:cSldViewPr snapToGrid="0">
      <p:cViewPr varScale="1">
        <p:scale>
          <a:sx n="128" d="100"/>
          <a:sy n="128" d="100"/>
        </p:scale>
        <p:origin x="552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417779" y="802298"/>
            <a:ext cx="8637073" cy="2541431"/>
          </a:xfrm>
        </p:spPr>
        <p:txBody>
          <a:bodyPr bIns="0" anchor="b">
            <a:normAutofit/>
          </a:bodyPr>
          <a:lstStyle>
            <a:lvl1pPr algn="l">
              <a:defRPr sz="6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417780" y="3531204"/>
            <a:ext cx="8637072" cy="977621"/>
          </a:xfrm>
        </p:spPr>
        <p:txBody>
          <a:bodyPr tIns="91440" bIns="91440">
            <a:normAutofit/>
          </a:bodyPr>
          <a:lstStyle>
            <a:lvl1pPr marL="0" indent="0" algn="l">
              <a:buNone/>
              <a:defRPr sz="1800" b="0" cap="all" baseline="0">
                <a:solidFill>
                  <a:schemeClr val="tx1"/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D57B00-29D9-8D49-8BE6-64C195F64337}" type="datetimeFigureOut">
              <a:rPr lang="en-US" smtClean="0"/>
              <a:t>10/2/25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416500" y="329307"/>
            <a:ext cx="4973915" cy="309201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437664" y="798973"/>
            <a:ext cx="811019" cy="503578"/>
          </a:xfrm>
        </p:spPr>
        <p:txBody>
          <a:bodyPr/>
          <a:lstStyle/>
          <a:p>
            <a:fld id="{BDEB3736-FF65-F348-9B18-9933EDE1162A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2417780" y="3528542"/>
            <a:ext cx="863707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354733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D57B00-29D9-8D49-8BE6-64C195F64337}" type="datetimeFigureOut">
              <a:rPr lang="en-US" smtClean="0"/>
              <a:t>10/2/25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EB3736-FF65-F348-9B18-9933EDE1162A}" type="slidenum">
              <a:rPr lang="en-US" smtClean="0"/>
              <a:t>‹#›</a:t>
            </a:fld>
            <a:endParaRPr lang="en-US"/>
          </a:p>
        </p:txBody>
      </p:sp>
      <p:cxnSp>
        <p:nvCxnSpPr>
          <p:cNvPr id="33" name="Straight Connector 32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6999519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4239" y="1756130"/>
            <a:ext cx="8643154" cy="1887950"/>
          </a:xfrm>
        </p:spPr>
        <p:txBody>
          <a:bodyPr anchor="b">
            <a:normAutofit/>
          </a:bodyPr>
          <a:lstStyle>
            <a:lvl1pPr algn="l"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4239" y="3806195"/>
            <a:ext cx="8630446" cy="1012929"/>
          </a:xfrm>
        </p:spPr>
        <p:txBody>
          <a:bodyPr tIns="91440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D57B00-29D9-8D49-8BE6-64C195F64337}" type="datetimeFigureOut">
              <a:rPr lang="en-US" smtClean="0"/>
              <a:t>10/2/25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EB3736-FF65-F348-9B18-9933EDE1162A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1454239" y="3804985"/>
            <a:ext cx="8630446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0480582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9217" y="804889"/>
            <a:ext cx="9605635" cy="105930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447331" y="2010878"/>
            <a:ext cx="4645152" cy="344859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13771" y="2017343"/>
            <a:ext cx="4645152" cy="344152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D57B00-29D9-8D49-8BE6-64C195F64337}" type="datetimeFigureOut">
              <a:rPr lang="en-US" smtClean="0"/>
              <a:t>10/2/25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EB3736-FF65-F348-9B18-9933EDE1162A}" type="slidenum">
              <a:rPr lang="en-US" smtClean="0"/>
              <a:t>‹#›</a:t>
            </a:fld>
            <a:endParaRPr lang="en-US"/>
          </a:p>
        </p:txBody>
      </p:sp>
      <p:cxnSp>
        <p:nvCxnSpPr>
          <p:cNvPr id="35" name="Straight Connector 34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0406356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7191" y="804163"/>
            <a:ext cx="9607661" cy="105631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47191" y="2019549"/>
            <a:ext cx="4645152" cy="801943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47191" y="2824269"/>
            <a:ext cx="4645152" cy="264445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12362" y="2023003"/>
            <a:ext cx="4645152" cy="802237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412362" y="2821491"/>
            <a:ext cx="4645152" cy="263737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D57B00-29D9-8D49-8BE6-64C195F64337}" type="datetimeFigureOut">
              <a:rPr lang="en-US" smtClean="0"/>
              <a:t>10/2/25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EB3736-FF65-F348-9B18-9933EDE1162A}" type="slidenum">
              <a:rPr lang="en-US" smtClean="0"/>
              <a:t>‹#›</a:t>
            </a:fld>
            <a:endParaRPr lang="en-US"/>
          </a:p>
        </p:txBody>
      </p:sp>
      <p:cxnSp>
        <p:nvCxnSpPr>
          <p:cNvPr id="29" name="Straight Connector 28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5575912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D57B00-29D9-8D49-8BE6-64C195F64337}" type="datetimeFigureOut">
              <a:rPr lang="en-US" smtClean="0"/>
              <a:t>10/2/25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EB3736-FF65-F348-9B18-9933EDE1162A}" type="slidenum">
              <a:rPr lang="en-US" smtClean="0"/>
              <a:t>‹#›</a:t>
            </a:fld>
            <a:endParaRPr lang="en-US"/>
          </a:p>
        </p:txBody>
      </p:sp>
      <p:cxnSp>
        <p:nvCxnSpPr>
          <p:cNvPr id="25" name="Straight Connector 24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342672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D57B00-29D9-8D49-8BE6-64C195F64337}" type="datetimeFigureOut">
              <a:rPr lang="en-US" smtClean="0"/>
              <a:t>10/2/25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EB3736-FF65-F348-9B18-9933EDE1162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81834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4671" y="798973"/>
            <a:ext cx="3273099" cy="2247117"/>
          </a:xfrm>
        </p:spPr>
        <p:txBody>
          <a:bodyPr anchor="b">
            <a:normAutofit/>
          </a:bodyPr>
          <a:lstStyle>
            <a:lvl1pPr algn="l"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43714" y="798974"/>
            <a:ext cx="6012470" cy="4658826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44671" y="3205491"/>
            <a:ext cx="3275013" cy="2248181"/>
          </a:xfrm>
        </p:spPr>
        <p:txBody>
          <a:bodyPr/>
          <a:lstStyle>
            <a:lvl1pPr marL="0" indent="0" algn="l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D57B00-29D9-8D49-8BE6-64C195F64337}" type="datetimeFigureOut">
              <a:rPr lang="en-US" smtClean="0"/>
              <a:t>10/2/25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EB3736-FF65-F348-9B18-9933EDE1162A}" type="slidenum">
              <a:rPr lang="en-US" smtClean="0"/>
              <a:t>‹#›</a:t>
            </a:fld>
            <a:endParaRPr lang="en-US"/>
          </a:p>
        </p:txBody>
      </p:sp>
      <p:cxnSp>
        <p:nvCxnSpPr>
          <p:cNvPr id="17" name="Straight Connector 16"/>
          <p:cNvCxnSpPr/>
          <p:nvPr/>
        </p:nvCxnSpPr>
        <p:spPr>
          <a:xfrm>
            <a:off x="1448280" y="3205491"/>
            <a:ext cx="3269490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088974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7477387" y="482170"/>
            <a:ext cx="4074533" cy="5149101"/>
            <a:chOff x="7477387" y="482170"/>
            <a:chExt cx="4074533" cy="5149101"/>
          </a:xfrm>
        </p:grpSpPr>
        <p:sp>
          <p:nvSpPr>
            <p:cNvPr id="18" name="Rectangle 17"/>
            <p:cNvSpPr/>
            <p:nvPr/>
          </p:nvSpPr>
          <p:spPr bwMode="black">
            <a:xfrm>
              <a:off x="7477387" y="482170"/>
              <a:ext cx="4074533" cy="5149101"/>
            </a:xfrm>
            <a:prstGeom prst="rect">
              <a:avLst/>
            </a:prstGeom>
            <a:gradFill>
              <a:gsLst>
                <a:gs pos="0">
                  <a:srgbClr val="000001"/>
                </a:gs>
                <a:gs pos="100000">
                  <a:srgbClr val="191919"/>
                </a:gs>
              </a:gsLst>
            </a:gradFill>
            <a:ln w="76200" cmpd="sng">
              <a:noFill/>
              <a:miter lim="800000"/>
            </a:ln>
            <a:effectLst>
              <a:outerShdw blurRad="127000" dist="228600" dir="4740000" sx="98000" sy="98000" algn="tl" rotWithShape="0">
                <a:srgbClr val="000000">
                  <a:alpha val="34000"/>
                </a:srgbClr>
              </a:outerShdw>
            </a:effectLst>
            <a:scene3d>
              <a:camera prst="orthographicFront"/>
              <a:lightRig rig="threePt" dir="t"/>
            </a:scene3d>
            <a:sp3d>
              <a:bevelT w="152400" h="50800" prst="softRound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Rectangle 18"/>
            <p:cNvSpPr/>
            <p:nvPr/>
          </p:nvSpPr>
          <p:spPr bwMode="blackWhite">
            <a:xfrm>
              <a:off x="7790446" y="812506"/>
              <a:ext cx="3450289" cy="4466452"/>
            </a:xfrm>
            <a:prstGeom prst="rect">
              <a:avLst/>
            </a:prstGeom>
            <a:gradFill>
              <a:gsLst>
                <a:gs pos="0">
                  <a:srgbClr val="DADADA"/>
                </a:gs>
                <a:gs pos="100000">
                  <a:srgbClr val="FFFFFE"/>
                </a:gs>
              </a:gsLst>
              <a:lin ang="16200000" scaled="0"/>
            </a:gradFill>
            <a:ln w="50800" cmpd="sng">
              <a:solidFill>
                <a:srgbClr val="191919"/>
              </a:solidFill>
              <a:miter lim="800000"/>
            </a:ln>
            <a:effectLst>
              <a:innerShdw blurRad="63500" dist="88900" dir="14100000">
                <a:srgbClr val="000000">
                  <a:alpha val="30000"/>
                </a:srgbClr>
              </a:innerShdw>
            </a:effectLst>
            <a:scene3d>
              <a:camera prst="orthographicFront"/>
              <a:lightRig rig="threePt" dir="t"/>
            </a:scene3d>
            <a:sp3d>
              <a:bevelT prst="relaxedInset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1206" y="1129513"/>
            <a:ext cx="5532328" cy="1830584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124389" y="1122542"/>
            <a:ext cx="2791171" cy="3866327"/>
          </a:xfrm>
          <a:solidFill>
            <a:schemeClr val="bg1">
              <a:lumMod val="85000"/>
            </a:schemeClr>
          </a:solidFill>
          <a:ln w="9525" cap="sq">
            <a:noFill/>
            <a:miter lim="800000"/>
          </a:ln>
          <a:effectLst/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50329" y="3145992"/>
            <a:ext cx="5524404" cy="2003742"/>
          </a:xfrm>
        </p:spPr>
        <p:txBody>
          <a:bodyPr>
            <a:normAutofit/>
          </a:bodyPr>
          <a:lstStyle>
            <a:lvl1pPr marL="0" indent="0" algn="l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1447382" y="5469856"/>
            <a:ext cx="5527351" cy="320123"/>
          </a:xfrm>
        </p:spPr>
        <p:txBody>
          <a:bodyPr/>
          <a:lstStyle>
            <a:lvl1pPr algn="l">
              <a:defRPr/>
            </a:lvl1pPr>
          </a:lstStyle>
          <a:p>
            <a:fld id="{64D57B00-29D9-8D49-8BE6-64C195F64337}" type="datetimeFigureOut">
              <a:rPr lang="en-US" smtClean="0"/>
              <a:t>10/2/25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447382" y="318640"/>
            <a:ext cx="5541004" cy="320931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EB3736-FF65-F348-9B18-9933EDE1162A}" type="slidenum">
              <a:rPr lang="en-US" smtClean="0"/>
              <a:t>‹#›</a:t>
            </a:fld>
            <a:endParaRPr lang="en-US"/>
          </a:p>
        </p:txBody>
      </p:sp>
      <p:cxnSp>
        <p:nvCxnSpPr>
          <p:cNvPr id="31" name="Straight Connector 30"/>
          <p:cNvCxnSpPr/>
          <p:nvPr/>
        </p:nvCxnSpPr>
        <p:spPr>
          <a:xfrm>
            <a:off x="1447382" y="3143605"/>
            <a:ext cx="5527351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3163506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D57B00-29D9-8D49-8BE6-64C195F64337}" type="datetimeFigureOut">
              <a:rPr lang="en-US" smtClean="0"/>
              <a:t>10/2/25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EB3736-FF65-F348-9B18-9933EDE1162A}" type="slidenum">
              <a:rPr lang="en-US" smtClean="0"/>
              <a:t>‹#›</a:t>
            </a:fld>
            <a:endParaRPr lang="en-US"/>
          </a:p>
        </p:txBody>
      </p:sp>
      <p:cxnSp>
        <p:nvCxnSpPr>
          <p:cNvPr id="26" name="Straight Connector 25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270359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439111" y="798973"/>
            <a:ext cx="1615742" cy="4659889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444672" y="798973"/>
            <a:ext cx="7828830" cy="465988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D57B00-29D9-8D49-8BE6-64C195F64337}" type="datetimeFigureOut">
              <a:rPr lang="en-US" smtClean="0"/>
              <a:t>10/2/25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EB3736-FF65-F348-9B18-9933EDE1162A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9439111" y="798973"/>
            <a:ext cx="0" cy="4659889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458002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2019476"/>
            <a:ext cx="12192000" cy="4105941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38" b="-1538"/>
          <a:stretch/>
        </p:blipFill>
        <p:spPr bwMode="black">
          <a:xfrm>
            <a:off x="0" y="6126480"/>
            <a:ext cx="12192000" cy="74295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51579" y="804519"/>
            <a:ext cx="9603275" cy="104923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1579" y="2015732"/>
            <a:ext cx="9603275" cy="345061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554138" y="330370"/>
            <a:ext cx="3500715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4D57B00-29D9-8D49-8BE6-64C195F64337}" type="datetimeFigureOut">
              <a:rPr lang="en-US" smtClean="0"/>
              <a:t>10/2/25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451579" y="329307"/>
            <a:ext cx="5938836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0060" y="798973"/>
            <a:ext cx="811019" cy="503578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2800">
                <a:solidFill>
                  <a:schemeClr val="accent1"/>
                </a:solidFill>
              </a:defRPr>
            </a:lvl1pPr>
          </a:lstStyle>
          <a:p>
            <a:fld id="{BDEB3736-FF65-F348-9B18-9933EDE1162A}" type="slidenum">
              <a:rPr lang="en-US" smtClean="0"/>
              <a:t>‹#›</a:t>
            </a:fld>
            <a:endParaRPr lang="en-US"/>
          </a:p>
        </p:txBody>
      </p:sp>
      <p:cxnSp>
        <p:nvCxnSpPr>
          <p:cNvPr id="10" name="Straight Connector 9"/>
          <p:cNvCxnSpPr/>
          <p:nvPr/>
        </p:nvCxnSpPr>
        <p:spPr>
          <a:xfrm>
            <a:off x="0" y="6128413"/>
            <a:ext cx="12192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9219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b="0" i="0" kern="1200" cap="all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2000" kern="120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8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600" kern="120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4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7F4F65-9184-4122-4794-3057D38001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Housekeeping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49EA80-E2EE-F799-DA09-A3C1EF88A5A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Today:</a:t>
            </a:r>
          </a:p>
          <a:p>
            <a:pPr lvl="1"/>
            <a:r>
              <a:rPr lang="en-US" dirty="0"/>
              <a:t>Spatial data. (ELECTION… data files)</a:t>
            </a:r>
          </a:p>
          <a:p>
            <a:pPr lvl="1"/>
            <a:r>
              <a:rPr lang="en-US" dirty="0"/>
              <a:t>Granularity and LOD (fixed) calculations. </a:t>
            </a:r>
          </a:p>
          <a:p>
            <a:pPr lvl="1"/>
            <a:r>
              <a:rPr lang="en-US" dirty="0"/>
              <a:t>Make an election map!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5D9F1F5-4F26-5BF7-1294-E1EE0302448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4096" y="2015732"/>
            <a:ext cx="5592933" cy="14132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306067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D29EE3-FBDD-3098-976F-2DFEBA21245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Spatial Data and LOD Calculations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E6B59C9-457D-4BC3-E6E2-764CEC272EF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083071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754060-0773-9224-1FD9-CEBDB96621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Mapping Stuff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93CDD6-BA4D-B450-F138-4A30035EB9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2015732"/>
            <a:ext cx="9603275" cy="4037749"/>
          </a:xfrm>
        </p:spPr>
        <p:txBody>
          <a:bodyPr/>
          <a:lstStyle/>
          <a:p>
            <a:r>
              <a:rPr lang="en-US" dirty="0"/>
              <a:t>To now we have two basic ways of mapping stuff:</a:t>
            </a:r>
          </a:p>
          <a:p>
            <a:pPr lvl="1"/>
            <a:r>
              <a:rPr lang="en-US" dirty="0"/>
              <a:t>If we have a latitude and longitude, we can map specific points. </a:t>
            </a:r>
          </a:p>
          <a:p>
            <a:pPr lvl="1"/>
            <a:r>
              <a:rPr lang="en-US" dirty="0"/>
              <a:t>If we have a region (country, state, </a:t>
            </a:r>
            <a:r>
              <a:rPr lang="en-US" dirty="0" err="1"/>
              <a:t>etc</a:t>
            </a:r>
            <a:r>
              <a:rPr lang="en-US" dirty="0"/>
              <a:t>…) we can map a filled map. </a:t>
            </a:r>
          </a:p>
          <a:p>
            <a:r>
              <a:rPr lang="en-US" dirty="0"/>
              <a:t>What if we want to bridge the two?</a:t>
            </a:r>
          </a:p>
          <a:p>
            <a:pPr lvl="1"/>
            <a:r>
              <a:rPr lang="en-US" dirty="0"/>
              <a:t>Is this house in this neighborhood? </a:t>
            </a:r>
          </a:p>
          <a:p>
            <a:pPr lvl="1"/>
            <a:r>
              <a:rPr lang="en-US" dirty="0"/>
              <a:t>How far are two points from each other?</a:t>
            </a:r>
          </a:p>
          <a:p>
            <a:r>
              <a:rPr lang="en-US" dirty="0"/>
              <a:t>To do so we need a special set of files and functions – Spatial Functions and Data. 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5133266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4000"/>
                <a:satMod val="80000"/>
                <a:lumMod val="106000"/>
              </a:schemeClr>
            </a:gs>
            <a:gs pos="100000">
              <a:schemeClr val="bg2">
                <a:shade val="80000"/>
              </a:schemeClr>
            </a:gs>
          </a:gsLst>
          <a:path path="circle">
            <a:fillToRect l="43000" r="43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A3BB97-62D5-398A-77A0-4679973F36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51579" y="804519"/>
            <a:ext cx="9603275" cy="1049235"/>
          </a:xfrm>
        </p:spPr>
        <p:txBody>
          <a:bodyPr>
            <a:normAutofit/>
          </a:bodyPr>
          <a:lstStyle/>
          <a:p>
            <a:r>
              <a:rPr lang="en-US" dirty="0"/>
              <a:t>Spatial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50B800-C9D1-2F6F-0D89-437FAC34C1A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5098" y="2015734"/>
            <a:ext cx="7691215" cy="4037747"/>
          </a:xfrm>
        </p:spPr>
        <p:txBody>
          <a:bodyPr>
            <a:normAutofit lnSpcReduction="10000"/>
          </a:bodyPr>
          <a:lstStyle/>
          <a:p>
            <a:pPr>
              <a:lnSpc>
                <a:spcPct val="110000"/>
              </a:lnSpc>
            </a:pPr>
            <a:r>
              <a:rPr lang="en-US" sz="1800" dirty="0"/>
              <a:t>Spatial data is basically data about geography, or the stuff on a map. </a:t>
            </a:r>
          </a:p>
          <a:p>
            <a:pPr>
              <a:lnSpc>
                <a:spcPct val="110000"/>
              </a:lnSpc>
            </a:pPr>
            <a:r>
              <a:rPr lang="en-US" sz="1800" dirty="0"/>
              <a:t>Spatial files. </a:t>
            </a:r>
          </a:p>
          <a:p>
            <a:pPr lvl="1">
              <a:lnSpc>
                <a:spcPct val="110000"/>
              </a:lnSpc>
            </a:pPr>
            <a:r>
              <a:rPr lang="en-US" dirty="0"/>
              <a:t>Define the boundaries of some area (e.g. neighborhood). </a:t>
            </a:r>
          </a:p>
          <a:p>
            <a:pPr lvl="1">
              <a:lnSpc>
                <a:spcPct val="110000"/>
              </a:lnSpc>
            </a:pPr>
            <a:r>
              <a:rPr lang="en-US" dirty="0"/>
              <a:t>E.g. the spatial file for Edmonton neighborhoods defines the “outline” of each neighborhood. </a:t>
            </a:r>
          </a:p>
          <a:p>
            <a:pPr>
              <a:lnSpc>
                <a:spcPct val="110000"/>
              </a:lnSpc>
            </a:pPr>
            <a:r>
              <a:rPr lang="en-US" sz="1800" dirty="0"/>
              <a:t>We need to join with our structured data to do something useful. </a:t>
            </a:r>
          </a:p>
          <a:p>
            <a:pPr lvl="1">
              <a:lnSpc>
                <a:spcPct val="110000"/>
              </a:lnSpc>
            </a:pPr>
            <a:r>
              <a:rPr lang="en-US" dirty="0"/>
              <a:t>The structured data has some attribute denoting an area (e.g. neighborhood). </a:t>
            </a:r>
          </a:p>
          <a:p>
            <a:pPr lvl="1">
              <a:lnSpc>
                <a:spcPct val="110000"/>
              </a:lnSpc>
            </a:pPr>
            <a:r>
              <a:rPr lang="en-US" dirty="0"/>
              <a:t>The spatial file has two (important) columns – that attribute and the “geometry”</a:t>
            </a:r>
          </a:p>
          <a:p>
            <a:pPr lvl="1">
              <a:lnSpc>
                <a:spcPct val="110000"/>
              </a:lnSpc>
            </a:pPr>
            <a:r>
              <a:rPr lang="en-US" dirty="0"/>
              <a:t>The geometry defines an outline of each area, in latitude and longitude </a:t>
            </a:r>
            <a:r>
              <a:rPr lang="en-US" dirty="0" err="1"/>
              <a:t>coordiantes</a:t>
            </a:r>
            <a:r>
              <a:rPr lang="en-US" dirty="0"/>
              <a:t>. </a:t>
            </a:r>
          </a:p>
        </p:txBody>
      </p:sp>
      <p:pic>
        <p:nvPicPr>
          <p:cNvPr id="2050" name="Picture 2" descr="Vector and Raster: A Tale of Two Spatial Data Types - Velocity Business  Solutions Limited">
            <a:extLst>
              <a:ext uri="{FF2B5EF4-FFF2-40B4-BE49-F238E27FC236}">
                <a16:creationId xmlns:a16="http://schemas.microsoft.com/office/drawing/2014/main" id="{3D3D827C-2660-630E-3349-7DCF51D0DD7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8009018" y="2015734"/>
            <a:ext cx="3866232" cy="34506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5934019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6F5D82-1D96-442C-76C5-D6B55C7772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Adding Spatial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76D622-4986-7741-CA3B-7B7DAF1E01C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2015732"/>
            <a:ext cx="9603275" cy="4037749"/>
          </a:xfrm>
        </p:spPr>
        <p:txBody>
          <a:bodyPr>
            <a:normAutofit lnSpcReduction="10000"/>
          </a:bodyPr>
          <a:lstStyle/>
          <a:p>
            <a:r>
              <a:rPr lang="en-US" dirty="0"/>
              <a:t>Once the spatial file is joined and loaded, we can use the geometry like any other region field in Tableau, such as Country or State. </a:t>
            </a:r>
          </a:p>
          <a:p>
            <a:pPr lvl="1"/>
            <a:r>
              <a:rPr lang="en-US" dirty="0"/>
              <a:t>The things where we can build filled maps without doing anything special (country, state, province) have these spatial boundaries defined internally, because they’re so common. </a:t>
            </a:r>
          </a:p>
          <a:p>
            <a:pPr lvl="1"/>
            <a:r>
              <a:rPr lang="en-US" dirty="0"/>
              <a:t>This process is still happening, it is just seamless to us. </a:t>
            </a:r>
          </a:p>
          <a:p>
            <a:r>
              <a:rPr lang="en-US" dirty="0"/>
              <a:t>We can make filled maps of whatever regions the spatial file defines. </a:t>
            </a:r>
          </a:p>
          <a:p>
            <a:r>
              <a:rPr lang="en-US" dirty="0"/>
              <a:t>The end result of the join is that the data now has an attribute that defines, on a map, where that region lies. </a:t>
            </a:r>
          </a:p>
          <a:p>
            <a:r>
              <a:rPr lang="en-US" dirty="0"/>
              <a:t>For “public” things like neighborhoods, regions, </a:t>
            </a:r>
            <a:r>
              <a:rPr lang="en-US" dirty="0" err="1"/>
              <a:t>etc</a:t>
            </a:r>
            <a:r>
              <a:rPr lang="en-US" dirty="0"/>
              <a:t>… searching “WHAT_I_WANT </a:t>
            </a:r>
            <a:r>
              <a:rPr lang="en-US" dirty="0" err="1"/>
              <a:t>kml</a:t>
            </a:r>
            <a:r>
              <a:rPr lang="en-US" dirty="0"/>
              <a:t>” or “WHAT_I_WANT </a:t>
            </a:r>
            <a:r>
              <a:rPr lang="en-US" dirty="0" err="1"/>
              <a:t>shp</a:t>
            </a:r>
            <a:r>
              <a:rPr lang="en-US" dirty="0"/>
              <a:t>” will likely find a result. </a:t>
            </a:r>
          </a:p>
        </p:txBody>
      </p:sp>
    </p:spTree>
    <p:extLst>
      <p:ext uri="{BB962C8B-B14F-4D97-AF65-F5344CB8AC3E}">
        <p14:creationId xmlns:p14="http://schemas.microsoft.com/office/powerpoint/2010/main" val="23416222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99F1B4-47F6-2A6E-CB11-DEF1E64ACF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Spatial Functions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0D1182-043D-C032-DEC8-6541CBB14B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2015732"/>
            <a:ext cx="9603275" cy="3903154"/>
          </a:xfrm>
        </p:spPr>
        <p:txBody>
          <a:bodyPr/>
          <a:lstStyle/>
          <a:p>
            <a:r>
              <a:rPr lang="en-US" dirty="0"/>
              <a:t>Once the data is properly setup, we can do lots of useful things quite easily. </a:t>
            </a:r>
          </a:p>
          <a:p>
            <a:pPr lvl="1"/>
            <a:r>
              <a:rPr lang="en-US" dirty="0"/>
              <a:t>GIS – geographical information systems are a family of SW that do this for real.</a:t>
            </a:r>
          </a:p>
          <a:p>
            <a:r>
              <a:rPr lang="en-US" dirty="0"/>
              <a:t>In Tableau, we have several functions and capabilities. </a:t>
            </a:r>
          </a:p>
          <a:p>
            <a:pPr lvl="1"/>
            <a:r>
              <a:rPr lang="en-US" dirty="0"/>
              <a:t>Functions are very similar to set theory operations. </a:t>
            </a:r>
          </a:p>
          <a:p>
            <a:pPr lvl="1"/>
            <a:r>
              <a:rPr lang="en-US" dirty="0"/>
              <a:t>These functions will handle the math automatically for things like curvature of earth. </a:t>
            </a:r>
          </a:p>
          <a:p>
            <a:r>
              <a:rPr lang="en-US" dirty="0"/>
              <a:t>Doing geographic “math” is simple if the data is setup for us up front. </a:t>
            </a:r>
          </a:p>
        </p:txBody>
      </p:sp>
    </p:spTree>
    <p:extLst>
      <p:ext uri="{BB962C8B-B14F-4D97-AF65-F5344CB8AC3E}">
        <p14:creationId xmlns:p14="http://schemas.microsoft.com/office/powerpoint/2010/main" val="103257848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4CAE84-C26D-1C5D-AA10-D7334BC05B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Spatial Data Types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F44A48-3FC8-8907-2A3D-90695CD673D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3076" name="Picture 4" descr="Chapter 7 GeoJSON | Introduction to Web Mapping">
            <a:extLst>
              <a:ext uri="{FF2B5EF4-FFF2-40B4-BE49-F238E27FC236}">
                <a16:creationId xmlns:a16="http://schemas.microsoft.com/office/drawing/2014/main" id="{7A603235-09D6-3044-1A46-85404544223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27882" y="2133281"/>
            <a:ext cx="6736236" cy="38528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6636285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036F54-37EA-17A1-59E1-DA614F1B73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Spatial Areas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F547B6-2AA3-6F1F-790C-B716F8E6185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4199727"/>
          </a:xfrm>
        </p:spPr>
        <p:txBody>
          <a:bodyPr/>
          <a:lstStyle/>
          <a:p>
            <a:r>
              <a:rPr lang="en-US" dirty="0"/>
              <a:t>The geometry field is basically the outline of some region or space on a map. </a:t>
            </a:r>
          </a:p>
          <a:p>
            <a:r>
              <a:rPr lang="en-US" dirty="0"/>
              <a:t>Once we have the areas defined, we can easily calculate with them:</a:t>
            </a:r>
          </a:p>
          <a:p>
            <a:pPr lvl="1"/>
            <a:r>
              <a:rPr lang="en-US" dirty="0"/>
              <a:t>Is there intersection of two areas?</a:t>
            </a:r>
          </a:p>
          <a:p>
            <a:pPr lvl="1"/>
            <a:r>
              <a:rPr lang="en-US" dirty="0"/>
              <a:t>Is a point in an area? </a:t>
            </a:r>
          </a:p>
          <a:p>
            <a:pPr lvl="1"/>
            <a:r>
              <a:rPr lang="en-US" dirty="0"/>
              <a:t>How large is an area? </a:t>
            </a:r>
          </a:p>
          <a:p>
            <a:r>
              <a:rPr lang="en-US" dirty="0"/>
              <a:t>These geometry attributes can be mapped just like state/country in Tableau. </a:t>
            </a:r>
          </a:p>
        </p:txBody>
      </p:sp>
    </p:spTree>
    <p:extLst>
      <p:ext uri="{BB962C8B-B14F-4D97-AF65-F5344CB8AC3E}">
        <p14:creationId xmlns:p14="http://schemas.microsoft.com/office/powerpoint/2010/main" val="406868513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A847B1-0536-11E7-7CBE-A68404B715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Points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29031A-00D2-22B4-EE1A-7F9A5C36250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2015732"/>
            <a:ext cx="9603275" cy="4037749"/>
          </a:xfrm>
        </p:spPr>
        <p:txBody>
          <a:bodyPr/>
          <a:lstStyle/>
          <a:p>
            <a:r>
              <a:rPr lang="en-US" dirty="0"/>
              <a:t>Points in spatial data are, well… points on a map. </a:t>
            </a:r>
          </a:p>
          <a:p>
            <a:r>
              <a:rPr lang="en-US" dirty="0"/>
              <a:t>Points are a special datatype that are constructed from </a:t>
            </a:r>
            <a:r>
              <a:rPr lang="en-US" dirty="0" err="1"/>
              <a:t>lat</a:t>
            </a:r>
            <a:r>
              <a:rPr lang="en-US" dirty="0"/>
              <a:t>/</a:t>
            </a:r>
            <a:r>
              <a:rPr lang="en-US" dirty="0" err="1"/>
              <a:t>lon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We can make a point with the </a:t>
            </a:r>
            <a:r>
              <a:rPr lang="en-US" dirty="0" err="1"/>
              <a:t>Makepoint</a:t>
            </a:r>
            <a:r>
              <a:rPr lang="en-US" dirty="0"/>
              <a:t> function if we have latitude and longitude. </a:t>
            </a:r>
          </a:p>
          <a:p>
            <a:pPr lvl="1"/>
            <a:r>
              <a:rPr lang="en-US" dirty="0"/>
              <a:t>The point data type is basically </a:t>
            </a:r>
            <a:r>
              <a:rPr lang="en-US" dirty="0" err="1"/>
              <a:t>lat</a:t>
            </a:r>
            <a:r>
              <a:rPr lang="en-US" dirty="0"/>
              <a:t>/</a:t>
            </a:r>
            <a:r>
              <a:rPr lang="en-US" dirty="0" err="1"/>
              <a:t>lon</a:t>
            </a:r>
            <a:r>
              <a:rPr lang="en-US" dirty="0"/>
              <a:t> + a ”type” that we don’t care about. </a:t>
            </a:r>
          </a:p>
          <a:p>
            <a:pPr lvl="1"/>
            <a:r>
              <a:rPr lang="en-US" dirty="0"/>
              <a:t>Points allow all the other spatial functions like distance to work correctly. </a:t>
            </a:r>
          </a:p>
        </p:txBody>
      </p:sp>
    </p:spTree>
    <p:extLst>
      <p:ext uri="{BB962C8B-B14F-4D97-AF65-F5344CB8AC3E}">
        <p14:creationId xmlns:p14="http://schemas.microsoft.com/office/powerpoint/2010/main" val="396690218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2EF4BA-8F1E-CA71-3563-DA14A84DCF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D2CC31-CDC5-602E-00D5-2EED7B13C0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Lines are paths that connect two spatial points. </a:t>
            </a:r>
          </a:p>
          <a:p>
            <a:r>
              <a:rPr lang="en-US" dirty="0"/>
              <a:t>Math using points, such as distance, will automatically figure out earth curvature. </a:t>
            </a:r>
          </a:p>
        </p:txBody>
      </p:sp>
    </p:spTree>
    <p:extLst>
      <p:ext uri="{BB962C8B-B14F-4D97-AF65-F5344CB8AC3E}">
        <p14:creationId xmlns:p14="http://schemas.microsoft.com/office/powerpoint/2010/main" val="16873310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74BAE3-B82B-60F4-7A70-6C8B719E1F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Functions in Tableau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9FE069-05E7-5772-085A-B946053213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2015732"/>
            <a:ext cx="4154462" cy="3450613"/>
          </a:xfrm>
        </p:spPr>
        <p:txBody>
          <a:bodyPr/>
          <a:lstStyle/>
          <a:p>
            <a:r>
              <a:rPr lang="en-US" dirty="0"/>
              <a:t>We can do basic spatial analysis with the simple toolset in Tableau. </a:t>
            </a:r>
          </a:p>
          <a:p>
            <a:pPr lvl="1"/>
            <a:r>
              <a:rPr lang="en-US" dirty="0"/>
              <a:t>Distances. </a:t>
            </a:r>
          </a:p>
          <a:p>
            <a:pPr lvl="1"/>
            <a:r>
              <a:rPr lang="en-US" dirty="0"/>
              <a:t>Mapping regions. </a:t>
            </a:r>
          </a:p>
          <a:p>
            <a:pPr lvl="1"/>
            <a:r>
              <a:rPr lang="en-US" dirty="0"/>
              <a:t>“Is in”.</a:t>
            </a:r>
          </a:p>
          <a:p>
            <a:pPr lvl="1"/>
            <a:r>
              <a:rPr lang="en-US" dirty="0"/>
              <a:t>Intersection.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93D0BEA-EDC4-52ED-97E0-A41CE5B443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27817" y="1946277"/>
            <a:ext cx="6159500" cy="4013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25696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FD55CD-BB0C-AD9C-C929-0F3821538F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Spatial Joins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B28767-0EFB-BA4D-6A1F-97585F7D9F8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2015732"/>
            <a:ext cx="9603275" cy="4037749"/>
          </a:xfrm>
        </p:spPr>
        <p:txBody>
          <a:bodyPr/>
          <a:lstStyle/>
          <a:p>
            <a:r>
              <a:rPr lang="en-US" dirty="0"/>
              <a:t>We can also join two spatial files together in Tableau using the “intersects” operator. </a:t>
            </a:r>
          </a:p>
          <a:p>
            <a:pPr lvl="1"/>
            <a:r>
              <a:rPr lang="en-US" dirty="0"/>
              <a:t>Joins “on” where spaces on a map overlap each other. </a:t>
            </a:r>
          </a:p>
          <a:p>
            <a:r>
              <a:rPr lang="en-US" dirty="0"/>
              <a:t>Not super important for us, unless we run into a scenario where it is needed. </a:t>
            </a:r>
          </a:p>
          <a:p>
            <a:r>
              <a:rPr lang="en-US" dirty="0"/>
              <a:t>Used when we have overlapping geographic things:</a:t>
            </a:r>
          </a:p>
          <a:p>
            <a:pPr lvl="1"/>
            <a:r>
              <a:rPr lang="en-US" dirty="0"/>
              <a:t>We can look at a point and determine what neighborhood it is in as well as which electoral ward. </a:t>
            </a:r>
          </a:p>
          <a:p>
            <a:r>
              <a:rPr lang="en-US" dirty="0"/>
              <a:t>Can layer multiple regions on one map, for more advanced analysis. </a:t>
            </a:r>
          </a:p>
        </p:txBody>
      </p:sp>
    </p:spTree>
    <p:extLst>
      <p:ext uri="{BB962C8B-B14F-4D97-AF65-F5344CB8AC3E}">
        <p14:creationId xmlns:p14="http://schemas.microsoft.com/office/powerpoint/2010/main" val="273552765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9B31EB-A7C1-5856-9F67-6F1173E575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Fixed Calculations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00B376-A193-ADEB-4FF6-78442E95193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118868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C2382A-DEB0-8CD4-E7C7-5E31B8A8E1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Granularity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B221B8-481B-5511-FCAC-E53A4D65C1C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877192"/>
            <a:ext cx="5701366" cy="4176289"/>
          </a:xfrm>
        </p:spPr>
        <p:txBody>
          <a:bodyPr>
            <a:normAutofit fontScale="92500"/>
          </a:bodyPr>
          <a:lstStyle/>
          <a:p>
            <a:r>
              <a:rPr lang="en-US" dirty="0"/>
              <a:t>When dealing with data and aggregations we can think of things in terms of the granularity. </a:t>
            </a:r>
          </a:p>
          <a:p>
            <a:r>
              <a:rPr lang="en-US" dirty="0"/>
              <a:t>The granularity is “how fine” the data is:</a:t>
            </a:r>
          </a:p>
          <a:p>
            <a:pPr lvl="1"/>
            <a:r>
              <a:rPr lang="en-US" dirty="0"/>
              <a:t>Per person, per product, per region, per school, </a:t>
            </a:r>
            <a:r>
              <a:rPr lang="en-US" dirty="0" err="1"/>
              <a:t>etc</a:t>
            </a:r>
            <a:r>
              <a:rPr lang="en-US" dirty="0"/>
              <a:t>…</a:t>
            </a:r>
          </a:p>
          <a:p>
            <a:r>
              <a:rPr lang="en-US" dirty="0"/>
              <a:t>Each aggregation changes the granularity. </a:t>
            </a:r>
          </a:p>
          <a:p>
            <a:pPr lvl="1"/>
            <a:r>
              <a:rPr lang="en-US" dirty="0"/>
              <a:t>Adding/removing a dimension changes the number of groups. </a:t>
            </a:r>
          </a:p>
          <a:p>
            <a:pPr lvl="1"/>
            <a:r>
              <a:rPr lang="en-US" dirty="0"/>
              <a:t>Everything is recalculated as the granularity changes. </a:t>
            </a:r>
          </a:p>
          <a:p>
            <a:r>
              <a:rPr lang="en-US" dirty="0"/>
              <a:t>Some functions allow us to control this.</a:t>
            </a:r>
          </a:p>
          <a:p>
            <a:r>
              <a:rPr lang="en-US" dirty="0"/>
              <a:t>Think of the “per” when describing data…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A042757-72C3-B83D-7F8A-E527A48C69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7103" y="1877192"/>
            <a:ext cx="6624897" cy="39701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549616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0C3F41-4108-1F97-B5F2-E54C1D2EF5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2F8E53-D54A-094A-DD87-3EDB8855604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098" name="Picture 2" descr="Introduction to Level of Detail (LOD) in Tableau - The Data School Down  Under">
            <a:extLst>
              <a:ext uri="{FF2B5EF4-FFF2-40B4-BE49-F238E27FC236}">
                <a16:creationId xmlns:a16="http://schemas.microsoft.com/office/drawing/2014/main" id="{830EA912-AAB3-58C6-595F-55BDAF0B5C0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51414" y="470019"/>
            <a:ext cx="9803604" cy="5441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5492804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BF83D7-616E-3AAC-09E3-52E1E040BB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37147" y="804519"/>
            <a:ext cx="9917708" cy="1049235"/>
          </a:xfrm>
        </p:spPr>
        <p:txBody>
          <a:bodyPr/>
          <a:lstStyle/>
          <a:p>
            <a:r>
              <a:rPr lang="en-US" dirty="0"/>
              <a:t>Fixed Calculations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1126C-8B0C-4DA0-A834-31276F94AB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4199727"/>
          </a:xfrm>
        </p:spPr>
        <p:txBody>
          <a:bodyPr/>
          <a:lstStyle/>
          <a:p>
            <a:r>
              <a:rPr lang="en-US" dirty="0"/>
              <a:t>Fixed allows us to do groupings and aggregations that are fixed. </a:t>
            </a:r>
          </a:p>
          <a:p>
            <a:r>
              <a:rPr lang="en-US" dirty="0"/>
              <a:t>Normally when we add things to Tableau, we have some aggregation and some grouping based on whatever is in the visualization. </a:t>
            </a:r>
          </a:p>
          <a:p>
            <a:r>
              <a:rPr lang="en-US" dirty="0"/>
              <a:t>If we want a calculation based on a grouping that isn’t in the visualization, we have an issue. </a:t>
            </a:r>
          </a:p>
          <a:p>
            <a:r>
              <a:rPr lang="en-US" dirty="0"/>
              <a:t>Fixed defines a specific calculation:</a:t>
            </a:r>
          </a:p>
          <a:p>
            <a:pPr lvl="1"/>
            <a:r>
              <a:rPr lang="en-US" dirty="0"/>
              <a:t>Create one group for each value in this dimension. </a:t>
            </a:r>
          </a:p>
          <a:p>
            <a:pPr lvl="1"/>
            <a:r>
              <a:rPr lang="en-US" dirty="0"/>
              <a:t>Generate this aggregation calculation for each of those groups. </a:t>
            </a:r>
          </a:p>
          <a:p>
            <a:pPr lvl="1"/>
            <a:r>
              <a:rPr lang="en-US" dirty="0"/>
              <a:t>These values are totally unimpacted by the grouping in the visualization.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55C2C24-54A1-4AEA-F68D-852ABAB8CA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57930" y="17119"/>
            <a:ext cx="6534069" cy="13304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937308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2EB111-9331-2CF3-1BE2-256D4FE110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Fixed Usage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74C5BC-D6D9-034A-4B85-9BAF0DB50F1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0789" y="2015732"/>
            <a:ext cx="11055070" cy="4037749"/>
          </a:xfrm>
        </p:spPr>
        <p:txBody>
          <a:bodyPr/>
          <a:lstStyle/>
          <a:p>
            <a:r>
              <a:rPr lang="en-US" dirty="0"/>
              <a:t>Fixed can give us something to compare to. </a:t>
            </a:r>
          </a:p>
          <a:p>
            <a:pPr lvl="1"/>
            <a:r>
              <a:rPr lang="en-US" dirty="0"/>
              <a:t>I.e. we can tabulate the the most votes per riding. </a:t>
            </a:r>
          </a:p>
          <a:p>
            <a:r>
              <a:rPr lang="en-US" dirty="0"/>
              <a:t>E.g. If we want to see who is above or below the average sales per salesperson for each region</a:t>
            </a:r>
          </a:p>
          <a:p>
            <a:pPr lvl="1"/>
            <a:r>
              <a:rPr lang="en-US" dirty="0"/>
              <a:t>we can define that average using fixed</a:t>
            </a:r>
          </a:p>
          <a:p>
            <a:pPr lvl="1"/>
            <a:r>
              <a:rPr lang="en-US" dirty="0"/>
              <a:t>that value isn’t impacted by adding or removing data to the visualization. </a:t>
            </a:r>
          </a:p>
          <a:p>
            <a:pPr lvl="1"/>
            <a:r>
              <a:rPr lang="en-US" dirty="0"/>
              <a:t>We could add/remove individual salespeople from the vis without breaking things. </a:t>
            </a:r>
          </a:p>
          <a:p>
            <a:r>
              <a:rPr lang="en-US" dirty="0"/>
              <a:t>These things are fixed no matter the grouping/splitting of data.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567B9EF-5C02-40B6-D865-CBAAC5D5325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99220" y="0"/>
            <a:ext cx="6392779" cy="29439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611303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D588E2-34B9-BE72-DA3B-F940F03661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Include/Exclude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7C1D44-8F6C-FB06-27EC-3EA2C7D2ED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2015732"/>
            <a:ext cx="9603275" cy="4037749"/>
          </a:xfrm>
        </p:spPr>
        <p:txBody>
          <a:bodyPr/>
          <a:lstStyle/>
          <a:p>
            <a:r>
              <a:rPr lang="en-US" dirty="0"/>
              <a:t>Include and exclude are similar-</a:t>
            </a:r>
            <a:r>
              <a:rPr lang="en-US" dirty="0" err="1"/>
              <a:t>ish</a:t>
            </a:r>
            <a:r>
              <a:rPr lang="en-US" dirty="0"/>
              <a:t> functions to fixed. </a:t>
            </a:r>
          </a:p>
          <a:p>
            <a:pPr lvl="1"/>
            <a:r>
              <a:rPr lang="en-US" dirty="0"/>
              <a:t>Include will tell Tableau to aggregate by something. </a:t>
            </a:r>
          </a:p>
          <a:p>
            <a:pPr lvl="1"/>
            <a:r>
              <a:rPr lang="en-US" dirty="0"/>
              <a:t>Exclude will tell Tableau to not-aggregate by something. </a:t>
            </a:r>
          </a:p>
          <a:p>
            <a:r>
              <a:rPr lang="en-US" dirty="0"/>
              <a:t>Include can force some aggregation in all cases. </a:t>
            </a:r>
          </a:p>
          <a:p>
            <a:pPr lvl="1"/>
            <a:r>
              <a:rPr lang="en-US" dirty="0"/>
              <a:t>E.g. force something to average differently. </a:t>
            </a:r>
          </a:p>
          <a:p>
            <a:r>
              <a:rPr lang="en-US" dirty="0"/>
              <a:t>Exclude can force something to not be aggregated in all cases. </a:t>
            </a:r>
          </a:p>
          <a:p>
            <a:pPr lvl="1"/>
            <a:r>
              <a:rPr lang="en-US" dirty="0"/>
              <a:t>Exclude some value from being aggregated by specific values. </a:t>
            </a:r>
          </a:p>
          <a:p>
            <a:r>
              <a:rPr lang="en-US" dirty="0"/>
              <a:t>I find these more confusing vs just using fixed, but that’s just me. </a:t>
            </a:r>
          </a:p>
        </p:txBody>
      </p:sp>
    </p:spTree>
    <p:extLst>
      <p:ext uri="{BB962C8B-B14F-4D97-AF65-F5344CB8AC3E}">
        <p14:creationId xmlns:p14="http://schemas.microsoft.com/office/powerpoint/2010/main" val="231892769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8EAB25-0E25-D880-FD7B-C43373E5B6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34678" y="804519"/>
            <a:ext cx="6920176" cy="1049235"/>
          </a:xfrm>
        </p:spPr>
        <p:txBody>
          <a:bodyPr/>
          <a:lstStyle/>
          <a:p>
            <a:r>
              <a:rPr lang="en-US" dirty="0"/>
              <a:t>Warmup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0160AD-4CB0-2997-5328-BBB399AD3B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6591" y="1853754"/>
            <a:ext cx="7160262" cy="4199727"/>
          </a:xfrm>
        </p:spPr>
        <p:txBody>
          <a:bodyPr/>
          <a:lstStyle/>
          <a:p>
            <a:r>
              <a:rPr lang="en-US" dirty="0"/>
              <a:t>Using the World Indicators dataset.</a:t>
            </a:r>
          </a:p>
          <a:p>
            <a:r>
              <a:rPr lang="en-US" dirty="0"/>
              <a:t>Can you make a list that shows:</a:t>
            </a:r>
          </a:p>
          <a:p>
            <a:pPr lvl="1"/>
            <a:r>
              <a:rPr lang="en-US" dirty="0"/>
              <a:t>Each country. </a:t>
            </a:r>
          </a:p>
          <a:p>
            <a:pPr lvl="1"/>
            <a:r>
              <a:rPr lang="en-US" dirty="0"/>
              <a:t>Their CO2 emissions </a:t>
            </a:r>
            <a:r>
              <a:rPr lang="en-US" b="1" dirty="0"/>
              <a:t>per person</a:t>
            </a:r>
            <a:r>
              <a:rPr lang="en-US" dirty="0"/>
              <a:t>. </a:t>
            </a:r>
          </a:p>
          <a:p>
            <a:pPr lvl="1"/>
            <a:r>
              <a:rPr lang="en-US" dirty="0"/>
              <a:t>The percentage of the AVERAGE CO2/per for that REGION</a:t>
            </a:r>
          </a:p>
          <a:p>
            <a:pPr lvl="1"/>
            <a:r>
              <a:rPr lang="en-US" dirty="0"/>
              <a:t>Think about exactly what’s calculated!</a:t>
            </a:r>
          </a:p>
          <a:p>
            <a:r>
              <a:rPr lang="en-US" dirty="0"/>
              <a:t>Part 2:</a:t>
            </a:r>
          </a:p>
          <a:p>
            <a:pPr lvl="1"/>
            <a:r>
              <a:rPr lang="en-US" dirty="0"/>
              <a:t>Can you modify it to show this ranking. This is ranked by the largest percent of the average, as shown to the side. </a:t>
            </a:r>
          </a:p>
          <a:p>
            <a:pPr lvl="1"/>
            <a:r>
              <a:rPr lang="en-US" dirty="0"/>
              <a:t>Editing the table calculation will enable a preview that will help.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6EBE612-C182-BBB9-EE7B-85F48B2E6092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b="21742"/>
          <a:stretch/>
        </p:blipFill>
        <p:spPr>
          <a:xfrm>
            <a:off x="-1" y="74535"/>
            <a:ext cx="4014247" cy="169463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C1484F49-AF8B-4D5D-F4BC-6F2DACAB35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3536" y="804519"/>
            <a:ext cx="4308464" cy="55104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281368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0D01BD-05B9-4CE2-E1D4-75FA3B39BA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Goal: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75A8BE-D35F-4308-FC80-7EF35D78E2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2015732"/>
            <a:ext cx="5166187" cy="4145786"/>
          </a:xfrm>
        </p:spPr>
        <p:txBody>
          <a:bodyPr/>
          <a:lstStyle/>
          <a:p>
            <a:r>
              <a:rPr lang="en-US" dirty="0"/>
              <a:t>Winners of each council election on a map of their ward. </a:t>
            </a:r>
          </a:p>
          <a:p>
            <a:r>
              <a:rPr lang="en-US" dirty="0"/>
              <a:t>We have a csv of voting results by voting location and a spatial file for electoral wards. </a:t>
            </a:r>
          </a:p>
          <a:p>
            <a:r>
              <a:rPr lang="en-US" dirty="0"/>
              <a:t>Take a few mins and think about how first, it may not be obvious. </a:t>
            </a:r>
          </a:p>
          <a:p>
            <a:pPr lvl="1"/>
            <a:r>
              <a:rPr lang="en-US" dirty="0"/>
              <a:t>Generate a list of each ward’s winner. </a:t>
            </a:r>
          </a:p>
          <a:p>
            <a:pPr lvl="1"/>
            <a:r>
              <a:rPr lang="en-US" dirty="0"/>
              <a:t>Is your list “durable” i.e. if you change which dimensions are in the vis, does it hold?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45D13D0-3F24-0D70-FEFF-99794B2F89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86412" y="0"/>
            <a:ext cx="516618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136817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75F6A5-973F-ADFD-4779-2EC64E0DE4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Election Logic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D13E455-4937-3B2A-ADFA-1DB5AC7E499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What is the largest number of votes for each race?</a:t>
            </a:r>
          </a:p>
          <a:p>
            <a:r>
              <a:rPr lang="en-US" dirty="0"/>
              <a:t>What is the total number of votes for each candidate? </a:t>
            </a:r>
          </a:p>
          <a:p>
            <a:r>
              <a:rPr lang="en-US" dirty="0"/>
              <a:t>Is each candidate’s votes equal to the max for their race? </a:t>
            </a:r>
          </a:p>
          <a:p>
            <a:endParaRPr lang="en-US" dirty="0"/>
          </a:p>
          <a:p>
            <a:r>
              <a:rPr lang="en-US" dirty="0"/>
              <a:t>The first two we can do with some fixed calculations. The third is just a comparison. </a:t>
            </a:r>
          </a:p>
        </p:txBody>
      </p:sp>
    </p:spTree>
    <p:extLst>
      <p:ext uri="{BB962C8B-B14F-4D97-AF65-F5344CB8AC3E}">
        <p14:creationId xmlns:p14="http://schemas.microsoft.com/office/powerpoint/2010/main" val="57093595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92130D-5F8D-D4CB-7BBE-69AD2B06F9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Traffic Disruptions Per Neighborhood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8FA3FB-5B4F-60DF-6006-0137810E76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8175" y="1853754"/>
            <a:ext cx="5446644" cy="4298568"/>
          </a:xfrm>
        </p:spPr>
        <p:txBody>
          <a:bodyPr>
            <a:normAutofit/>
          </a:bodyPr>
          <a:lstStyle/>
          <a:p>
            <a:r>
              <a:rPr lang="en-US" dirty="0"/>
              <a:t>Try to do a join based on spatial data – it is easy. </a:t>
            </a:r>
          </a:p>
          <a:p>
            <a:pPr lvl="1"/>
            <a:r>
              <a:rPr lang="en-US" dirty="0"/>
              <a:t>We have a list of things that happen at a location – traffic disruptions. </a:t>
            </a:r>
          </a:p>
          <a:p>
            <a:pPr lvl="1"/>
            <a:r>
              <a:rPr lang="en-US" dirty="0"/>
              <a:t>We have a list of regions – neighborhoods. </a:t>
            </a:r>
          </a:p>
          <a:p>
            <a:r>
              <a:rPr lang="en-US" dirty="0"/>
              <a:t>Combine these. </a:t>
            </a:r>
          </a:p>
          <a:p>
            <a:pPr lvl="1"/>
            <a:r>
              <a:rPr lang="en-US" dirty="0"/>
              <a:t>Join a point intersecting with the geometry. </a:t>
            </a:r>
          </a:p>
          <a:p>
            <a:pPr lvl="1"/>
            <a:r>
              <a:rPr lang="en-US" dirty="0"/>
              <a:t>Neighborhoods in repository, traffic (or any other thing) is on open data.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D80AF8E-4680-6BC2-D9F8-FAC2894E194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000" t="19874"/>
          <a:stretch>
            <a:fillRect/>
          </a:stretch>
        </p:blipFill>
        <p:spPr>
          <a:xfrm>
            <a:off x="5744818" y="2308198"/>
            <a:ext cx="6337852" cy="23930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547680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451EE7-AB32-CC8F-CDCD-B3E94B0B9F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Singapore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C5BFFD-4CAF-319F-E212-E50DA562B0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2015732"/>
            <a:ext cx="9603275" cy="4037749"/>
          </a:xfrm>
        </p:spPr>
        <p:txBody>
          <a:bodyPr/>
          <a:lstStyle/>
          <a:p>
            <a:r>
              <a:rPr lang="en-US" dirty="0"/>
              <a:t>Join: </a:t>
            </a:r>
            <a:r>
              <a:rPr lang="en-US" dirty="0" err="1"/>
              <a:t>makepoint</a:t>
            </a:r>
            <a:r>
              <a:rPr lang="en-US" dirty="0"/>
              <a:t>(latitude, longitude) intersects Geometry. </a:t>
            </a:r>
          </a:p>
          <a:p>
            <a:endParaRPr lang="en-US" dirty="0"/>
          </a:p>
          <a:p>
            <a:r>
              <a:rPr lang="en-US" dirty="0"/>
              <a:t>Map properties as well as the areas. </a:t>
            </a:r>
          </a:p>
          <a:p>
            <a:r>
              <a:rPr lang="en-US" dirty="0"/>
              <a:t>Plot each property with a 1km buffer around it. </a:t>
            </a:r>
          </a:p>
          <a:p>
            <a:r>
              <a:rPr lang="en-US" dirty="0"/>
              <a:t>Note: this ended up being a lot slower on the second PC I tested this on than I had budgeted, so if you have a slower computer it might be really annoying. I’ll find a smaller example later…</a:t>
            </a:r>
          </a:p>
        </p:txBody>
      </p:sp>
    </p:spTree>
    <p:extLst>
      <p:ext uri="{BB962C8B-B14F-4D97-AF65-F5344CB8AC3E}">
        <p14:creationId xmlns:p14="http://schemas.microsoft.com/office/powerpoint/2010/main" val="1007718364"/>
      </p:ext>
    </p:extLst>
  </p:cSld>
  <p:clrMapOvr>
    <a:masterClrMapping/>
  </p:clrMapOvr>
</p:sld>
</file>

<file path=ppt/theme/theme1.xml><?xml version="1.0" encoding="utf-8"?>
<a:theme xmlns:a="http://schemas.openxmlformats.org/drawingml/2006/main" name="Gallery">
  <a:themeElements>
    <a:clrScheme name="Gallery">
      <a:dk1>
        <a:sysClr val="windowText" lastClr="000000"/>
      </a:dk1>
      <a:lt1>
        <a:sysClr val="window" lastClr="FFFFFF"/>
      </a:lt1>
      <a:dk2>
        <a:srgbClr val="454545"/>
      </a:dk2>
      <a:lt2>
        <a:srgbClr val="DFDBD5"/>
      </a:lt2>
      <a:accent1>
        <a:srgbClr val="B71E42"/>
      </a:accent1>
      <a:accent2>
        <a:srgbClr val="DE478E"/>
      </a:accent2>
      <a:accent3>
        <a:srgbClr val="BC72F0"/>
      </a:accent3>
      <a:accent4>
        <a:srgbClr val="795FAF"/>
      </a:accent4>
      <a:accent5>
        <a:srgbClr val="586EA6"/>
      </a:accent5>
      <a:accent6>
        <a:srgbClr val="6892A0"/>
      </a:accent6>
      <a:hlink>
        <a:srgbClr val="FA2B5C"/>
      </a:hlink>
      <a:folHlink>
        <a:srgbClr val="BC658E"/>
      </a:folHlink>
    </a:clrScheme>
    <a:fontScheme name="Gallery">
      <a:majorFont>
        <a:latin typeface="Gill Sans MT" panose="020B0502020104020203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Gallery">
      <a:fillStyleLst>
        <a:solidFill>
          <a:schemeClr val="phClr"/>
        </a:solidFill>
        <a:gradFill rotWithShape="1">
          <a:gsLst>
            <a:gs pos="0">
              <a:schemeClr val="phClr">
                <a:tint val="54000"/>
                <a:alpha val="100000"/>
                <a:satMod val="105000"/>
                <a:lumMod val="110000"/>
              </a:schemeClr>
            </a:gs>
            <a:gs pos="100000">
              <a:schemeClr val="phClr">
                <a:tint val="78000"/>
                <a:alpha val="92000"/>
                <a:satMod val="109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satMod val="110000"/>
                <a:lumMod val="104000"/>
              </a:schemeClr>
            </a:gs>
            <a:gs pos="69000">
              <a:schemeClr val="phClr">
                <a:shade val="88000"/>
                <a:satMod val="130000"/>
                <a:lumMod val="92000"/>
              </a:schemeClr>
            </a:gs>
            <a:gs pos="100000">
              <a:schemeClr val="phClr">
                <a:shade val="78000"/>
                <a:satMod val="130000"/>
                <a:lumMod val="92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0800" dist="50800" dir="5400000" sx="96000" sy="96000" rotWithShape="0">
              <a:srgbClr val="000000">
                <a:alpha val="48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080000"/>
            </a:lightRig>
          </a:scene3d>
          <a:sp3d>
            <a:bevelT w="38100" h="12700" prst="softRound"/>
          </a:sp3d>
        </a:effectStyle>
      </a:effectStyleLst>
      <a:bgFillStyleLst>
        <a:solidFill>
          <a:schemeClr val="phClr"/>
        </a:solidFill>
        <a:solidFill>
          <a:schemeClr val="phClr"/>
        </a:solidFill>
        <a:gradFill rotWithShape="1">
          <a:gsLst>
            <a:gs pos="0">
              <a:schemeClr val="phClr">
                <a:tint val="94000"/>
                <a:satMod val="80000"/>
                <a:lumMod val="106000"/>
              </a:schemeClr>
            </a:gs>
            <a:gs pos="100000">
              <a:schemeClr val="phClr">
                <a:shade val="8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Gallery" id="{BBFCD31E-59A1-489D-B089-A3EAD7CAE12E}" vid="{F5E91637-A7B6-4E27-B710-77DA7014EE1E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{F1334E83-F796-0F4D-8642-E92DF019DC38}tf10001119</Template>
  <TotalTime>2959</TotalTime>
  <Words>1474</Words>
  <Application>Microsoft Macintosh PowerPoint</Application>
  <PresentationFormat>Widescreen</PresentationFormat>
  <Paragraphs>137</Paragraphs>
  <Slides>23</Slides>
  <Notes>0</Notes>
  <HiddenSlides>2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Gill Sans MT</vt:lpstr>
      <vt:lpstr>Gallery</vt:lpstr>
      <vt:lpstr>Housekeeping</vt:lpstr>
      <vt:lpstr>Spatial Data and LOD Calculations</vt:lpstr>
      <vt:lpstr>Mapping Stuff</vt:lpstr>
      <vt:lpstr>Spatial Data</vt:lpstr>
      <vt:lpstr>Adding Spatial Data</vt:lpstr>
      <vt:lpstr>Spatial Functions</vt:lpstr>
      <vt:lpstr>Spatial Data Types</vt:lpstr>
      <vt:lpstr>Spatial Areas</vt:lpstr>
      <vt:lpstr>Points</vt:lpstr>
      <vt:lpstr>Lines</vt:lpstr>
      <vt:lpstr>Functions in Tableau</vt:lpstr>
      <vt:lpstr>Spatial Joins</vt:lpstr>
      <vt:lpstr>Fixed Calculations</vt:lpstr>
      <vt:lpstr>Granularity</vt:lpstr>
      <vt:lpstr>PowerPoint Presentation</vt:lpstr>
      <vt:lpstr>Fixed Calculations</vt:lpstr>
      <vt:lpstr>Fixed Usage</vt:lpstr>
      <vt:lpstr>Include/Exclude</vt:lpstr>
      <vt:lpstr>Warmup</vt:lpstr>
      <vt:lpstr>Goal:</vt:lpstr>
      <vt:lpstr>Election Logic</vt:lpstr>
      <vt:lpstr>Traffic Disruptions Per Neighborhood</vt:lpstr>
      <vt:lpstr>Singapore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Akeem Semper</dc:creator>
  <cp:lastModifiedBy>Akeem Semper</cp:lastModifiedBy>
  <cp:revision>21</cp:revision>
  <dcterms:created xsi:type="dcterms:W3CDTF">2023-10-28T18:52:42Z</dcterms:created>
  <dcterms:modified xsi:type="dcterms:W3CDTF">2025-10-02T15:14:04Z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10877899-02b0-462c-b2a9-b7d15c4f96fe_Enabled">
    <vt:lpwstr>true</vt:lpwstr>
  </property>
  <property fmtid="{D5CDD505-2E9C-101B-9397-08002B2CF9AE}" pid="3" name="MSIP_Label_10877899-02b0-462c-b2a9-b7d15c4f96fe_SetDate">
    <vt:lpwstr>2025-10-02T14:40:02Z</vt:lpwstr>
  </property>
  <property fmtid="{D5CDD505-2E9C-101B-9397-08002B2CF9AE}" pid="4" name="MSIP_Label_10877899-02b0-462c-b2a9-b7d15c4f96fe_Method">
    <vt:lpwstr>Standard</vt:lpwstr>
  </property>
  <property fmtid="{D5CDD505-2E9C-101B-9397-08002B2CF9AE}" pid="5" name="MSIP_Label_10877899-02b0-462c-b2a9-b7d15c4f96fe_Name">
    <vt:lpwstr>Protected [Protected A]</vt:lpwstr>
  </property>
  <property fmtid="{D5CDD505-2E9C-101B-9397-08002B2CF9AE}" pid="6" name="MSIP_Label_10877899-02b0-462c-b2a9-b7d15c4f96fe_SiteId">
    <vt:lpwstr>5c98fb47-d3b9-4649-9d94-f88cbdd9729c</vt:lpwstr>
  </property>
  <property fmtid="{D5CDD505-2E9C-101B-9397-08002B2CF9AE}" pid="7" name="MSIP_Label_10877899-02b0-462c-b2a9-b7d15c4f96fe_ActionId">
    <vt:lpwstr>6ded7847-1f5c-416e-8456-1b39b55d1e83</vt:lpwstr>
  </property>
  <property fmtid="{D5CDD505-2E9C-101B-9397-08002B2CF9AE}" pid="8" name="MSIP_Label_10877899-02b0-462c-b2a9-b7d15c4f96fe_ContentBits">
    <vt:lpwstr>0</vt:lpwstr>
  </property>
  <property fmtid="{D5CDD505-2E9C-101B-9397-08002B2CF9AE}" pid="9" name="MSIP_Label_10877899-02b0-462c-b2a9-b7d15c4f96fe_Tag">
    <vt:lpwstr>50, 3, 0, 1</vt:lpwstr>
  </property>
</Properties>
</file>