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56" r:id="rId3"/>
    <p:sldId id="257" r:id="rId4"/>
    <p:sldId id="259" r:id="rId5"/>
    <p:sldId id="260" r:id="rId6"/>
    <p:sldId id="261" r:id="rId7"/>
    <p:sldId id="273" r:id="rId8"/>
    <p:sldId id="262" r:id="rId9"/>
    <p:sldId id="263" r:id="rId10"/>
    <p:sldId id="266" r:id="rId11"/>
    <p:sldId id="274" r:id="rId12"/>
    <p:sldId id="265" r:id="rId13"/>
    <p:sldId id="270" r:id="rId14"/>
    <p:sldId id="271" r:id="rId15"/>
    <p:sldId id="275" r:id="rId16"/>
    <p:sldId id="267" r:id="rId17"/>
    <p:sldId id="268" r:id="rId18"/>
    <p:sldId id="272" r:id="rId19"/>
    <p:sldId id="278" r:id="rId20"/>
    <p:sldId id="277" r:id="rId21"/>
    <p:sldId id="269" r:id="rId22"/>
    <p:sldId id="280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/>
    <p:restoredTop sz="96327"/>
  </p:normalViewPr>
  <p:slideViewPr>
    <p:cSldViewPr snapToGrid="0">
      <p:cViewPr varScale="1">
        <p:scale>
          <a:sx n="90" d="100"/>
          <a:sy n="90" d="100"/>
        </p:scale>
        <p:origin x="7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47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99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80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0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5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2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8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89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63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03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80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57B00-29D9-8D49-8BE6-64C195F6433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4F65-9184-4122-4794-3057D380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9EA80-E2EE-F799-DA09-A3C1EF88A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8629"/>
          </a:xfrm>
        </p:spPr>
        <p:txBody>
          <a:bodyPr>
            <a:normAutofit/>
          </a:bodyPr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Read ch15, but we won’t cover all now. </a:t>
            </a:r>
          </a:p>
          <a:p>
            <a:pPr lvl="1"/>
            <a:r>
              <a:rPr lang="en-US" dirty="0"/>
              <a:t>Spatial data. (ELECTION… data files)</a:t>
            </a:r>
          </a:p>
          <a:p>
            <a:pPr lvl="1"/>
            <a:r>
              <a:rPr lang="en-US" dirty="0"/>
              <a:t>Granularity and LOD (fixed) calculations. </a:t>
            </a:r>
          </a:p>
          <a:p>
            <a:pPr lvl="1"/>
            <a:r>
              <a:rPr lang="en-US" dirty="0"/>
              <a:t>Direct map layering. </a:t>
            </a:r>
          </a:p>
          <a:p>
            <a:pPr lvl="1"/>
            <a:r>
              <a:rPr lang="en-US" dirty="0"/>
              <a:t>Make an election map!</a:t>
            </a:r>
          </a:p>
          <a:p>
            <a:r>
              <a:rPr lang="en-US" dirty="0"/>
              <a:t>The thinking behind the fixed stuff is important for complex things. </a:t>
            </a:r>
          </a:p>
          <a:p>
            <a:r>
              <a:rPr lang="en-US" dirty="0"/>
              <a:t>There’s some tests coming up!</a:t>
            </a:r>
          </a:p>
          <a:p>
            <a:pPr lvl="1"/>
            <a:r>
              <a:rPr lang="en-US" dirty="0"/>
              <a:t>Exam – there’s a guide up. </a:t>
            </a:r>
          </a:p>
          <a:p>
            <a:pPr lvl="1"/>
            <a:r>
              <a:rPr lang="en-US" dirty="0"/>
              <a:t>Tableau quiz – there’s another sample.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D9F1F5-4F26-5BF7-1294-E1EE0302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096" y="2015732"/>
            <a:ext cx="5592933" cy="141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6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9EE3-FBDD-3098-976F-2DFEBA212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Spatial Data and LOD Calculations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B59C9-457D-4BC3-E6E2-764CEC272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3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4060-0773-9224-1FD9-CEBDB966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CDD6-BA4D-B450-F138-4A30035E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 now we have two basic ways of mapping stuff:</a:t>
            </a:r>
          </a:p>
          <a:p>
            <a:pPr lvl="1"/>
            <a:r>
              <a:rPr lang="en-US" dirty="0"/>
              <a:t>If we have a latitude and longitude, we can map specific points. </a:t>
            </a:r>
          </a:p>
          <a:p>
            <a:pPr lvl="1"/>
            <a:r>
              <a:rPr lang="en-US" dirty="0"/>
              <a:t>If we have a region (country, state, </a:t>
            </a:r>
            <a:r>
              <a:rPr lang="en-US" dirty="0" err="1"/>
              <a:t>etc</a:t>
            </a:r>
            <a:r>
              <a:rPr lang="en-US" dirty="0"/>
              <a:t>…) we can map a filled map. </a:t>
            </a:r>
          </a:p>
          <a:p>
            <a:r>
              <a:rPr lang="en-US" dirty="0"/>
              <a:t>What if we want to bridge the two?</a:t>
            </a:r>
          </a:p>
          <a:p>
            <a:pPr lvl="1"/>
            <a:r>
              <a:rPr lang="en-US" dirty="0"/>
              <a:t>Is this house in this neighborhood? </a:t>
            </a:r>
          </a:p>
          <a:p>
            <a:pPr lvl="1"/>
            <a:r>
              <a:rPr lang="en-US" dirty="0"/>
              <a:t>How far are two points from each other?</a:t>
            </a:r>
          </a:p>
          <a:p>
            <a:r>
              <a:rPr lang="en-US" dirty="0"/>
              <a:t>To do so we need a special set of files and functions – Spatial Functions and Data.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3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BB97-62D5-398A-77A0-4679973F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0B800-C9D1-2F6F-0D89-437FAC34C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098" y="2015734"/>
            <a:ext cx="7691215" cy="403774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Spatial data is basically data about geography, or the stuff on a map.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Spatial files.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Define the boundaries of some area (e.g. neighborhood).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the spatial file for Edmonton neighborhoods defines the “outline” of each neighborhood.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We need to join with our structured data to do something useful.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structured data has some attribute denoting an area (e.g. neighborhood).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spatial file has two (important) columns – that attribute and the “geometry”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geometry defines an outline of each area, in latitude and longitude </a:t>
            </a:r>
            <a:r>
              <a:rPr lang="en-US" dirty="0" err="1"/>
              <a:t>coordiantes</a:t>
            </a:r>
            <a:r>
              <a:rPr lang="en-US" dirty="0"/>
              <a:t>. </a:t>
            </a:r>
          </a:p>
        </p:txBody>
      </p:sp>
      <p:pic>
        <p:nvPicPr>
          <p:cNvPr id="2050" name="Picture 2" descr="Vector and Raster: A Tale of Two Spatial Data Types - Velocity Business  Solutions Limited">
            <a:extLst>
              <a:ext uri="{FF2B5EF4-FFF2-40B4-BE49-F238E27FC236}">
                <a16:creationId xmlns:a16="http://schemas.microsoft.com/office/drawing/2014/main" id="{3D3D827C-2660-630E-3349-7DCF51D0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9018" y="2015734"/>
            <a:ext cx="3866232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4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5D82-1D96-442C-76C5-D6B55C77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6D622-4986-7741-CA3B-7B7DAF1E0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Once the spatial file is joined and loaded, we can use the geometry like any other region field in Tableau, such as Country or State. </a:t>
            </a:r>
          </a:p>
          <a:p>
            <a:pPr lvl="1"/>
            <a:r>
              <a:rPr lang="en-US" dirty="0"/>
              <a:t>The things where we can build filled maps without doing anything special (country, state, province) have these spatial boundaries defined internally, because they’re so common. </a:t>
            </a:r>
          </a:p>
          <a:p>
            <a:pPr lvl="1"/>
            <a:r>
              <a:rPr lang="en-US" dirty="0"/>
              <a:t>This process is still happening, it is just seamless to us. </a:t>
            </a:r>
          </a:p>
          <a:p>
            <a:r>
              <a:rPr lang="en-US" dirty="0"/>
              <a:t>We can make filled maps of whatever regions the spatial file defines. </a:t>
            </a:r>
          </a:p>
          <a:p>
            <a:r>
              <a:rPr lang="en-US" dirty="0"/>
              <a:t>The end result of the join is that the data now has an attribute that defines, on a map, where that region lies. </a:t>
            </a:r>
          </a:p>
          <a:p>
            <a:r>
              <a:rPr lang="en-US" dirty="0"/>
              <a:t>For “public” things like neighborhoods, regions, </a:t>
            </a:r>
            <a:r>
              <a:rPr lang="en-US" dirty="0" err="1"/>
              <a:t>etc</a:t>
            </a:r>
            <a:r>
              <a:rPr lang="en-US" dirty="0"/>
              <a:t>… searching “WHAT_I_WANT </a:t>
            </a:r>
            <a:r>
              <a:rPr lang="en-US" dirty="0" err="1"/>
              <a:t>kml</a:t>
            </a:r>
            <a:r>
              <a:rPr lang="en-US" dirty="0"/>
              <a:t>” or “WHAT_I_WANT </a:t>
            </a:r>
            <a:r>
              <a:rPr lang="en-US" dirty="0" err="1"/>
              <a:t>shp</a:t>
            </a:r>
            <a:r>
              <a:rPr lang="en-US" dirty="0"/>
              <a:t>” will likely find a result. </a:t>
            </a:r>
          </a:p>
        </p:txBody>
      </p:sp>
    </p:spTree>
    <p:extLst>
      <p:ext uri="{BB962C8B-B14F-4D97-AF65-F5344CB8AC3E}">
        <p14:creationId xmlns:p14="http://schemas.microsoft.com/office/powerpoint/2010/main" val="23416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F1B4-47F6-2A6E-CB11-DEF1E64A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1182-043D-C032-DEC8-6541CBB14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3154"/>
          </a:xfrm>
        </p:spPr>
        <p:txBody>
          <a:bodyPr/>
          <a:lstStyle/>
          <a:p>
            <a:r>
              <a:rPr lang="en-US" dirty="0"/>
              <a:t>Once the data is properly setup, we can do lots of useful things quite easily. </a:t>
            </a:r>
          </a:p>
          <a:p>
            <a:pPr lvl="1"/>
            <a:r>
              <a:rPr lang="en-US" dirty="0"/>
              <a:t>GIS – geographical information systems are a family of SW that do this for real.</a:t>
            </a:r>
          </a:p>
          <a:p>
            <a:r>
              <a:rPr lang="en-US" dirty="0"/>
              <a:t>In Tableau, we have several functions and capabilities. </a:t>
            </a:r>
          </a:p>
          <a:p>
            <a:pPr lvl="1"/>
            <a:r>
              <a:rPr lang="en-US" dirty="0"/>
              <a:t>Functions are very similar to set theory operations. </a:t>
            </a:r>
          </a:p>
          <a:p>
            <a:pPr lvl="1"/>
            <a:r>
              <a:rPr lang="en-US" dirty="0"/>
              <a:t>These functions will handle the math automatically for things like curvature of earth. </a:t>
            </a:r>
          </a:p>
          <a:p>
            <a:r>
              <a:rPr lang="en-US" dirty="0"/>
              <a:t>Doing geographic “math” is simple if the data is setup for us up front. </a:t>
            </a:r>
          </a:p>
        </p:txBody>
      </p:sp>
    </p:spTree>
    <p:extLst>
      <p:ext uri="{BB962C8B-B14F-4D97-AF65-F5344CB8AC3E}">
        <p14:creationId xmlns:p14="http://schemas.microsoft.com/office/powerpoint/2010/main" val="103257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AE84-C26D-1C5D-AA10-D7334BC0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44A48-3FC8-8907-2A3D-90695CD67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Chapter 7 GeoJSON | Introduction to Web Mapping">
            <a:extLst>
              <a:ext uri="{FF2B5EF4-FFF2-40B4-BE49-F238E27FC236}">
                <a16:creationId xmlns:a16="http://schemas.microsoft.com/office/drawing/2014/main" id="{7A603235-09D6-3044-1A46-854045442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882" y="2133281"/>
            <a:ext cx="6736236" cy="385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362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6F54-37EA-17A1-59E1-DA614F1B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547B6-2AA3-6F1F-790C-B716F8E6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geometry field is basically the outline of some region or space on a map. </a:t>
            </a:r>
          </a:p>
          <a:p>
            <a:r>
              <a:rPr lang="en-US" dirty="0"/>
              <a:t>Once we have the areas defined, we can easily calculate with them:</a:t>
            </a:r>
          </a:p>
          <a:p>
            <a:pPr lvl="1"/>
            <a:r>
              <a:rPr lang="en-US" dirty="0"/>
              <a:t>Is there intersection of two areas?</a:t>
            </a:r>
          </a:p>
          <a:p>
            <a:pPr lvl="1"/>
            <a:r>
              <a:rPr lang="en-US" dirty="0"/>
              <a:t>Is a point in an area? </a:t>
            </a:r>
          </a:p>
          <a:p>
            <a:pPr lvl="1"/>
            <a:r>
              <a:rPr lang="en-US" dirty="0"/>
              <a:t>How large is an area? </a:t>
            </a:r>
          </a:p>
          <a:p>
            <a:r>
              <a:rPr lang="en-US" dirty="0"/>
              <a:t>These geometry attributes can be mapped just like state/country in Tableau. </a:t>
            </a:r>
          </a:p>
        </p:txBody>
      </p:sp>
    </p:spTree>
    <p:extLst>
      <p:ext uri="{BB962C8B-B14F-4D97-AF65-F5344CB8AC3E}">
        <p14:creationId xmlns:p14="http://schemas.microsoft.com/office/powerpoint/2010/main" val="406868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47B1-0536-11E7-7CBE-A68404B7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9031A-00D2-22B4-EE1A-7F9A5C362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Points in spatial data are, well… points on a map. </a:t>
            </a:r>
          </a:p>
          <a:p>
            <a:r>
              <a:rPr lang="en-US" dirty="0"/>
              <a:t>Points are a special datatype that are constructed from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 can make a point with the </a:t>
            </a:r>
            <a:r>
              <a:rPr lang="en-US" dirty="0" err="1"/>
              <a:t>Makepoint</a:t>
            </a:r>
            <a:r>
              <a:rPr lang="en-US" dirty="0"/>
              <a:t> function if we have latitude and longitude. </a:t>
            </a:r>
          </a:p>
          <a:p>
            <a:pPr lvl="1"/>
            <a:r>
              <a:rPr lang="en-US" dirty="0"/>
              <a:t>The point data type is basically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+ a ”type” that we don’t care about. </a:t>
            </a:r>
          </a:p>
          <a:p>
            <a:pPr lvl="1"/>
            <a:r>
              <a:rPr lang="en-US" dirty="0"/>
              <a:t>Points allow all the other spatial functions like distance to work correctly. </a:t>
            </a:r>
          </a:p>
        </p:txBody>
      </p:sp>
    </p:spTree>
    <p:extLst>
      <p:ext uri="{BB962C8B-B14F-4D97-AF65-F5344CB8AC3E}">
        <p14:creationId xmlns:p14="http://schemas.microsoft.com/office/powerpoint/2010/main" val="396690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F4BA-8F1E-CA71-3563-DA14A84DC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CC31-CDC5-602E-00D5-2EED7B13C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Lines are paths that connect two spatial points. </a:t>
            </a:r>
          </a:p>
          <a:p>
            <a:r>
              <a:rPr lang="en-US" dirty="0"/>
              <a:t>Math using points, such as distance, will automatically figure out earth curvature. </a:t>
            </a:r>
          </a:p>
        </p:txBody>
      </p:sp>
    </p:spTree>
    <p:extLst>
      <p:ext uri="{BB962C8B-B14F-4D97-AF65-F5344CB8AC3E}">
        <p14:creationId xmlns:p14="http://schemas.microsoft.com/office/powerpoint/2010/main" val="168733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BAE3-B82B-60F4-7A70-6C8B719E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E069-05E7-5772-085A-B9460532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154462" cy="3450613"/>
          </a:xfrm>
        </p:spPr>
        <p:txBody>
          <a:bodyPr/>
          <a:lstStyle/>
          <a:p>
            <a:r>
              <a:rPr lang="en-US" dirty="0"/>
              <a:t>We can do basic spatial analysis with the simple toolset in Tableau. </a:t>
            </a:r>
          </a:p>
          <a:p>
            <a:pPr lvl="1"/>
            <a:r>
              <a:rPr lang="en-US" dirty="0"/>
              <a:t>Distances. </a:t>
            </a:r>
          </a:p>
          <a:p>
            <a:pPr lvl="1"/>
            <a:r>
              <a:rPr lang="en-US" dirty="0"/>
              <a:t>Mapping regions. </a:t>
            </a:r>
          </a:p>
          <a:p>
            <a:pPr lvl="1"/>
            <a:r>
              <a:rPr lang="en-US" dirty="0"/>
              <a:t>“Is in”.</a:t>
            </a:r>
          </a:p>
          <a:p>
            <a:pPr lvl="1"/>
            <a:r>
              <a:rPr lang="en-US" dirty="0"/>
              <a:t>Intersection.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D0BEA-EDC4-52ED-97E0-A41CE5B44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817" y="1946277"/>
            <a:ext cx="61595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55CD-BB0C-AD9C-C929-0F382153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8767-0EFB-BA4D-6A1F-97585F7D9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also join two spatial files together in Tableau using the “intersects” operator. </a:t>
            </a:r>
          </a:p>
          <a:p>
            <a:pPr lvl="1"/>
            <a:r>
              <a:rPr lang="en-US" dirty="0"/>
              <a:t>Joins “on” where spaces on a map overlap each other. </a:t>
            </a:r>
          </a:p>
          <a:p>
            <a:r>
              <a:rPr lang="en-US" dirty="0"/>
              <a:t>Not super important for us, unless we run into a scenario where it is needed. </a:t>
            </a:r>
          </a:p>
          <a:p>
            <a:r>
              <a:rPr lang="en-US" dirty="0"/>
              <a:t>Used when we have overlapping geographic things:</a:t>
            </a:r>
          </a:p>
          <a:p>
            <a:pPr lvl="1"/>
            <a:r>
              <a:rPr lang="en-US" dirty="0"/>
              <a:t>We can look at a point and determine what neighborhood it is in as well as which electoral ward. </a:t>
            </a:r>
          </a:p>
          <a:p>
            <a:r>
              <a:rPr lang="en-US" dirty="0"/>
              <a:t>Can layer multiple regions on one map, for more advanced analysis. </a:t>
            </a:r>
          </a:p>
        </p:txBody>
      </p:sp>
    </p:spTree>
    <p:extLst>
      <p:ext uri="{BB962C8B-B14F-4D97-AF65-F5344CB8AC3E}">
        <p14:creationId xmlns:p14="http://schemas.microsoft.com/office/powerpoint/2010/main" val="273552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31EB-A7C1-5856-9F67-6F1173E5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0B376-A193-ADEB-4FF6-78442E951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8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382A-DEB0-8CD4-E7C7-5E31B8A8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21B8-481B-5511-FCAC-E53A4D65C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7192"/>
            <a:ext cx="5701366" cy="4176289"/>
          </a:xfrm>
        </p:spPr>
        <p:txBody>
          <a:bodyPr>
            <a:normAutofit fontScale="92500"/>
          </a:bodyPr>
          <a:lstStyle/>
          <a:p>
            <a:r>
              <a:rPr lang="en-US" dirty="0"/>
              <a:t>When dealing with data and aggregations we can think of things in terms of the granularity. </a:t>
            </a:r>
          </a:p>
          <a:p>
            <a:r>
              <a:rPr lang="en-US" dirty="0"/>
              <a:t>The granularity is “how fine” the data is:</a:t>
            </a:r>
          </a:p>
          <a:p>
            <a:pPr lvl="1"/>
            <a:r>
              <a:rPr lang="en-US" dirty="0"/>
              <a:t>Per person, per product, per region, per school,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Each aggregation changes the granularity. </a:t>
            </a:r>
          </a:p>
          <a:p>
            <a:pPr lvl="1"/>
            <a:r>
              <a:rPr lang="en-US" dirty="0"/>
              <a:t>Adding/removing a dimension changes the number of groups. </a:t>
            </a:r>
          </a:p>
          <a:p>
            <a:pPr lvl="1"/>
            <a:r>
              <a:rPr lang="en-US" dirty="0"/>
              <a:t>Everything is recalculated as the granularity changes. </a:t>
            </a:r>
          </a:p>
          <a:p>
            <a:r>
              <a:rPr lang="en-US" dirty="0"/>
              <a:t>Some functions allow us to control this.</a:t>
            </a:r>
          </a:p>
          <a:p>
            <a:r>
              <a:rPr lang="en-US" dirty="0"/>
              <a:t>Think of the “per” when describing data…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42757-72C3-B83D-7F8A-E527A48C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03" y="1877192"/>
            <a:ext cx="6624897" cy="397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96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3F41-4108-1F97-B5F2-E54C1D2E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F8E53-D54A-094A-DD87-3EDB88556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Introduction to Level of Detail (LOD) in Tableau - The Data School Down  Under">
            <a:extLst>
              <a:ext uri="{FF2B5EF4-FFF2-40B4-BE49-F238E27FC236}">
                <a16:creationId xmlns:a16="http://schemas.microsoft.com/office/drawing/2014/main" id="{830EA912-AAB3-58C6-595F-55BDAF0B5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414" y="470019"/>
            <a:ext cx="9803604" cy="544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92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83D7-616E-3AAC-09E3-52E1E040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147" y="804519"/>
            <a:ext cx="9917708" cy="1049235"/>
          </a:xfrm>
        </p:spPr>
        <p:txBody>
          <a:bodyPr/>
          <a:lstStyle/>
          <a:p>
            <a:r>
              <a:rPr lang="en-US" dirty="0"/>
              <a:t>Fixed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126C-8B0C-4DA0-A834-31276F94A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Fixed allows us to do groupings and aggregations that are fixed. </a:t>
            </a:r>
          </a:p>
          <a:p>
            <a:r>
              <a:rPr lang="en-US" dirty="0"/>
              <a:t>Normally when we add things to Tableau, we have some aggregation and some grouping based on whatever is in the visualization. </a:t>
            </a:r>
          </a:p>
          <a:p>
            <a:r>
              <a:rPr lang="en-US" dirty="0"/>
              <a:t>If we want a calculation based on a grouping that isn’t in the visualization, we have an issue. </a:t>
            </a:r>
          </a:p>
          <a:p>
            <a:r>
              <a:rPr lang="en-US" dirty="0"/>
              <a:t>Fixed defines a specific calculation:</a:t>
            </a:r>
          </a:p>
          <a:p>
            <a:pPr lvl="1"/>
            <a:r>
              <a:rPr lang="en-US" dirty="0"/>
              <a:t>Create one group for each value in this dimension. </a:t>
            </a:r>
          </a:p>
          <a:p>
            <a:pPr lvl="1"/>
            <a:r>
              <a:rPr lang="en-US" dirty="0"/>
              <a:t>Generate this aggregation calculation for each of those groups. </a:t>
            </a:r>
          </a:p>
          <a:p>
            <a:pPr lvl="1"/>
            <a:r>
              <a:rPr lang="en-US" dirty="0"/>
              <a:t>These values are totally unimpacted by the grouping in the visualization.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C2C24-54A1-4AEA-F68D-852ABAB8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930" y="17119"/>
            <a:ext cx="6534069" cy="133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73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B111-9331-2CF3-1BE2-256D4FE1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C5BC-D6D9-034A-4B85-9BAF0DB50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2015732"/>
            <a:ext cx="11055070" cy="4037749"/>
          </a:xfrm>
        </p:spPr>
        <p:txBody>
          <a:bodyPr/>
          <a:lstStyle/>
          <a:p>
            <a:r>
              <a:rPr lang="en-US" dirty="0"/>
              <a:t>Fixed can give us something to compare to. </a:t>
            </a:r>
          </a:p>
          <a:p>
            <a:pPr lvl="1"/>
            <a:r>
              <a:rPr lang="en-US" dirty="0"/>
              <a:t>I.e. we can tabulate the the most votes per riding. </a:t>
            </a:r>
          </a:p>
          <a:p>
            <a:r>
              <a:rPr lang="en-US" dirty="0"/>
              <a:t>E.g. If we want to see who is above or below the average sales per salesperson for each region</a:t>
            </a:r>
          </a:p>
          <a:p>
            <a:pPr lvl="1"/>
            <a:r>
              <a:rPr lang="en-US" dirty="0"/>
              <a:t>we can define that average using fixed</a:t>
            </a:r>
          </a:p>
          <a:p>
            <a:pPr lvl="1"/>
            <a:r>
              <a:rPr lang="en-US" dirty="0"/>
              <a:t>that value isn’t impacted by adding or removing data to the visualization. </a:t>
            </a:r>
          </a:p>
          <a:p>
            <a:pPr lvl="1"/>
            <a:r>
              <a:rPr lang="en-US" dirty="0"/>
              <a:t>We could add/remove individual salespeople from the vis without breaking things. </a:t>
            </a:r>
          </a:p>
          <a:p>
            <a:r>
              <a:rPr lang="en-US" dirty="0"/>
              <a:t>These things are fixed no matter the grouping/splitting of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7B9EF-5C02-40B6-D865-CBAAC5D5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220" y="0"/>
            <a:ext cx="6392779" cy="294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13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88E2-34B9-BE72-DA3B-F940F036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Include/Exclude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1D44-8F6C-FB06-27EC-3EA2C7D2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Include and exclude are similar-</a:t>
            </a:r>
            <a:r>
              <a:rPr lang="en-US" dirty="0" err="1"/>
              <a:t>ish</a:t>
            </a:r>
            <a:r>
              <a:rPr lang="en-US" dirty="0"/>
              <a:t> functions to fixed. </a:t>
            </a:r>
          </a:p>
          <a:p>
            <a:pPr lvl="1"/>
            <a:r>
              <a:rPr lang="en-US" dirty="0"/>
              <a:t>Include will tell Tableau to aggregate by something. </a:t>
            </a:r>
          </a:p>
          <a:p>
            <a:pPr lvl="1"/>
            <a:r>
              <a:rPr lang="en-US" dirty="0"/>
              <a:t>Exclude will tell Tableau to not-aggregate by something. </a:t>
            </a:r>
          </a:p>
          <a:p>
            <a:r>
              <a:rPr lang="en-US" dirty="0"/>
              <a:t>Include can force some aggregation in all cases. </a:t>
            </a:r>
          </a:p>
          <a:p>
            <a:pPr lvl="1"/>
            <a:r>
              <a:rPr lang="en-US" dirty="0"/>
              <a:t>E.g. force something to average differently. </a:t>
            </a:r>
          </a:p>
          <a:p>
            <a:r>
              <a:rPr lang="en-US" dirty="0"/>
              <a:t>Exclude can force something to not be aggregated in all cases. </a:t>
            </a:r>
          </a:p>
          <a:p>
            <a:pPr lvl="1"/>
            <a:r>
              <a:rPr lang="en-US" dirty="0"/>
              <a:t>Exclude some value from being aggregated by specific values. </a:t>
            </a:r>
          </a:p>
          <a:p>
            <a:r>
              <a:rPr lang="en-US" dirty="0"/>
              <a:t>I find these more confusing vs just using fixed, but that’s just me. </a:t>
            </a:r>
          </a:p>
        </p:txBody>
      </p:sp>
    </p:spTree>
    <p:extLst>
      <p:ext uri="{BB962C8B-B14F-4D97-AF65-F5344CB8AC3E}">
        <p14:creationId xmlns:p14="http://schemas.microsoft.com/office/powerpoint/2010/main" val="2318927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AB25-0E25-D880-FD7B-C43373E5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678" y="804519"/>
            <a:ext cx="6920176" cy="1049235"/>
          </a:xfrm>
        </p:spPr>
        <p:txBody>
          <a:bodyPr/>
          <a:lstStyle/>
          <a:p>
            <a:r>
              <a:rPr lang="en-US" dirty="0"/>
              <a:t>Warmup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60AD-4CB0-2997-5328-BBB399AD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91" y="1853754"/>
            <a:ext cx="7160262" cy="4199727"/>
          </a:xfrm>
        </p:spPr>
        <p:txBody>
          <a:bodyPr/>
          <a:lstStyle/>
          <a:p>
            <a:r>
              <a:rPr lang="en-US" dirty="0"/>
              <a:t>Using the World Indicators dataset.</a:t>
            </a:r>
          </a:p>
          <a:p>
            <a:r>
              <a:rPr lang="en-US" dirty="0"/>
              <a:t>Can you make a list that shows:</a:t>
            </a:r>
          </a:p>
          <a:p>
            <a:pPr lvl="1"/>
            <a:r>
              <a:rPr lang="en-US" dirty="0"/>
              <a:t>Each country. </a:t>
            </a:r>
          </a:p>
          <a:p>
            <a:pPr lvl="1"/>
            <a:r>
              <a:rPr lang="en-US" dirty="0"/>
              <a:t>Their CO2 emissions </a:t>
            </a:r>
            <a:r>
              <a:rPr lang="en-US" b="1" dirty="0"/>
              <a:t>per person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percentage of the AVERAGE CO2/per for that REGION</a:t>
            </a:r>
          </a:p>
          <a:p>
            <a:pPr lvl="1"/>
            <a:r>
              <a:rPr lang="en-US" dirty="0"/>
              <a:t>Think about exactly what’s calculated!</a:t>
            </a:r>
          </a:p>
          <a:p>
            <a:r>
              <a:rPr lang="en-US" dirty="0"/>
              <a:t>Part 2:</a:t>
            </a:r>
          </a:p>
          <a:p>
            <a:pPr lvl="1"/>
            <a:r>
              <a:rPr lang="en-US" dirty="0"/>
              <a:t>Can you modify it to show this ranking. This is ranked by the largest percent of the average, as shown to the side. </a:t>
            </a:r>
          </a:p>
          <a:p>
            <a:pPr lvl="1"/>
            <a:r>
              <a:rPr lang="en-US" dirty="0"/>
              <a:t>Editing the table calculation will enable a preview that will help.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BE612-C182-BBB9-EE7B-85F48B2E60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742"/>
          <a:stretch/>
        </p:blipFill>
        <p:spPr>
          <a:xfrm>
            <a:off x="-1" y="74535"/>
            <a:ext cx="4014247" cy="16946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484F49-AF8B-4D5D-F4BC-6F2DACAB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536" y="804519"/>
            <a:ext cx="4308464" cy="551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13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01BD-05B9-4CE2-E1D4-75FA3B39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A8BE-D35F-4308-FC80-7EF35D78E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5166187" cy="4145786"/>
          </a:xfrm>
        </p:spPr>
        <p:txBody>
          <a:bodyPr/>
          <a:lstStyle/>
          <a:p>
            <a:r>
              <a:rPr lang="en-US" dirty="0"/>
              <a:t>Winners of each council election on a map of their ward. </a:t>
            </a:r>
          </a:p>
          <a:p>
            <a:r>
              <a:rPr lang="en-US" dirty="0"/>
              <a:t>We have a csv of voting results by voting location and a spatial file for electoral wards. </a:t>
            </a:r>
          </a:p>
          <a:p>
            <a:r>
              <a:rPr lang="en-US" dirty="0"/>
              <a:t>Take a few mins and think about how first, it may not be obvious. </a:t>
            </a:r>
          </a:p>
          <a:p>
            <a:pPr lvl="1"/>
            <a:r>
              <a:rPr lang="en-US" dirty="0"/>
              <a:t>Generate a list of each ward’s winner. </a:t>
            </a:r>
          </a:p>
          <a:p>
            <a:pPr lvl="1"/>
            <a:r>
              <a:rPr lang="en-US" dirty="0"/>
              <a:t>Is your list “durable” i.e. if you change which dimensions are in the vis, does it hold?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D13D0-3F24-0D70-FEFF-99794B2F8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412" y="0"/>
            <a:ext cx="5166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68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F6A5-973F-ADFD-4779-2EC64E0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3E455-4937-3B2A-ADFA-1DB5AC7E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largest number of votes for each race?</a:t>
            </a:r>
          </a:p>
          <a:p>
            <a:r>
              <a:rPr lang="en-US" dirty="0"/>
              <a:t>What is the total number of votes for each candidate? </a:t>
            </a:r>
          </a:p>
          <a:p>
            <a:r>
              <a:rPr lang="en-US" dirty="0"/>
              <a:t>Is each candidate’s votes equal to the max for their race? </a:t>
            </a:r>
          </a:p>
          <a:p>
            <a:endParaRPr lang="en-US" dirty="0"/>
          </a:p>
          <a:p>
            <a:r>
              <a:rPr lang="en-US" dirty="0"/>
              <a:t>The first two we can do with some fixed calculations. The third is just a comparison. </a:t>
            </a:r>
          </a:p>
        </p:txBody>
      </p:sp>
    </p:spTree>
    <p:extLst>
      <p:ext uri="{BB962C8B-B14F-4D97-AF65-F5344CB8AC3E}">
        <p14:creationId xmlns:p14="http://schemas.microsoft.com/office/powerpoint/2010/main" val="570935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130D-5F8D-D4CB-7BBE-69AD2B06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Disruptions Per Neighborhood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A3FB-5B4F-60DF-6006-0137810E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5" y="1853754"/>
            <a:ext cx="5446644" cy="4298568"/>
          </a:xfrm>
        </p:spPr>
        <p:txBody>
          <a:bodyPr>
            <a:normAutofit/>
          </a:bodyPr>
          <a:lstStyle/>
          <a:p>
            <a:r>
              <a:rPr lang="en-US" dirty="0"/>
              <a:t>Try to do a join based on spatial data – it is easy. </a:t>
            </a:r>
          </a:p>
          <a:p>
            <a:pPr lvl="1"/>
            <a:r>
              <a:rPr lang="en-US" dirty="0"/>
              <a:t>We have a list of things that happen at a location – traffic disruptions. </a:t>
            </a:r>
          </a:p>
          <a:p>
            <a:pPr lvl="1"/>
            <a:r>
              <a:rPr lang="en-US" dirty="0"/>
              <a:t>We have a list of regions – neighborhoods. </a:t>
            </a:r>
          </a:p>
          <a:p>
            <a:r>
              <a:rPr lang="en-US" dirty="0"/>
              <a:t>Combine these. </a:t>
            </a:r>
          </a:p>
          <a:p>
            <a:pPr lvl="1"/>
            <a:r>
              <a:rPr lang="en-US" dirty="0"/>
              <a:t>Join a point intersecting with the geometry. </a:t>
            </a:r>
          </a:p>
          <a:p>
            <a:pPr lvl="1"/>
            <a:r>
              <a:rPr lang="en-US" dirty="0"/>
              <a:t>Neighborhoods in repository, traffic (or any other thing) is on open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0AF8E-4680-6BC2-D9F8-FAC2894E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" t="19874"/>
          <a:stretch>
            <a:fillRect/>
          </a:stretch>
        </p:blipFill>
        <p:spPr>
          <a:xfrm>
            <a:off x="5744818" y="2308198"/>
            <a:ext cx="6337852" cy="239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76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1EE7-AB32-CC8F-CDCD-B3E94B0B9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Singapore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FFD-4CAF-319F-E212-E50DA562B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Join: </a:t>
            </a:r>
            <a:r>
              <a:rPr lang="en-US" dirty="0" err="1"/>
              <a:t>makepoint</a:t>
            </a:r>
            <a:r>
              <a:rPr lang="en-US" dirty="0"/>
              <a:t>(latitude, longitude) intersects Geometry. </a:t>
            </a:r>
          </a:p>
          <a:p>
            <a:endParaRPr lang="en-US" dirty="0"/>
          </a:p>
          <a:p>
            <a:r>
              <a:rPr lang="en-US" dirty="0"/>
              <a:t>Map properties as well as the areas. </a:t>
            </a:r>
          </a:p>
          <a:p>
            <a:r>
              <a:rPr lang="en-US" dirty="0"/>
              <a:t>Plot each property with a 1km buffer around it. </a:t>
            </a:r>
          </a:p>
          <a:p>
            <a:r>
              <a:rPr lang="en-US" dirty="0"/>
              <a:t>Note: this ended up being a lot slower on the second PC I tested this on than I had budgeted, so if you have a slower computer it might be really annoying. I’ll find a smaller example later…</a:t>
            </a:r>
          </a:p>
        </p:txBody>
      </p:sp>
    </p:spTree>
    <p:extLst>
      <p:ext uri="{BB962C8B-B14F-4D97-AF65-F5344CB8AC3E}">
        <p14:creationId xmlns:p14="http://schemas.microsoft.com/office/powerpoint/2010/main" val="10077183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{F1334E83-F796-0F4D-8642-E92DF019DC38}tf10001119</Template>
  <TotalTime>4317</TotalTime>
  <Words>1520</Words>
  <Application>Microsoft Macintosh PowerPoint</Application>
  <PresentationFormat>Widescreen</PresentationFormat>
  <Paragraphs>143</Paragraphs>
  <Slides>23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Gill Sans MT</vt:lpstr>
      <vt:lpstr>Gallery</vt:lpstr>
      <vt:lpstr>Housekeeping</vt:lpstr>
      <vt:lpstr>Spatial Data and LOD Calculations</vt:lpstr>
      <vt:lpstr>Mapping Stuff</vt:lpstr>
      <vt:lpstr>Spatial Data</vt:lpstr>
      <vt:lpstr>Adding Spatial Data</vt:lpstr>
      <vt:lpstr>Spatial Functions</vt:lpstr>
      <vt:lpstr>Spatial Data Types</vt:lpstr>
      <vt:lpstr>Spatial Areas</vt:lpstr>
      <vt:lpstr>Points</vt:lpstr>
      <vt:lpstr>Lines</vt:lpstr>
      <vt:lpstr>Functions in Tableau</vt:lpstr>
      <vt:lpstr>Spatial Joins</vt:lpstr>
      <vt:lpstr>Fixed Calculations</vt:lpstr>
      <vt:lpstr>Granularity</vt:lpstr>
      <vt:lpstr>PowerPoint Presentation</vt:lpstr>
      <vt:lpstr>Fixed Calculations</vt:lpstr>
      <vt:lpstr>Fixed Usage</vt:lpstr>
      <vt:lpstr>Include/Exclude</vt:lpstr>
      <vt:lpstr>Warmup</vt:lpstr>
      <vt:lpstr>Goal:</vt:lpstr>
      <vt:lpstr>Election Logic</vt:lpstr>
      <vt:lpstr>Traffic Disruptions Per Neighborhood</vt:lpstr>
      <vt:lpstr>Singapore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24</cp:revision>
  <dcterms:created xsi:type="dcterms:W3CDTF">2023-10-28T18:52:42Z</dcterms:created>
  <dcterms:modified xsi:type="dcterms:W3CDTF">2025-10-03T13:52:52Z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2025-10-02T14:40:02Z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6ded7847-1f5c-416e-8456-1b39b55d1e83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