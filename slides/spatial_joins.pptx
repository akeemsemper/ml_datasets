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76" r:id="rId2"/>
    <p:sldId id="284" r:id="rId3"/>
    <p:sldId id="256" r:id="rId4"/>
    <p:sldId id="257" r:id="rId5"/>
    <p:sldId id="259" r:id="rId6"/>
    <p:sldId id="260" r:id="rId7"/>
    <p:sldId id="261" r:id="rId8"/>
    <p:sldId id="273" r:id="rId9"/>
    <p:sldId id="262" r:id="rId10"/>
    <p:sldId id="263" r:id="rId11"/>
    <p:sldId id="266" r:id="rId12"/>
    <p:sldId id="274" r:id="rId13"/>
    <p:sldId id="265" r:id="rId14"/>
    <p:sldId id="270" r:id="rId15"/>
    <p:sldId id="271" r:id="rId16"/>
    <p:sldId id="275" r:id="rId17"/>
    <p:sldId id="281" r:id="rId18"/>
    <p:sldId id="282" r:id="rId19"/>
    <p:sldId id="283" r:id="rId20"/>
    <p:sldId id="267" r:id="rId21"/>
    <p:sldId id="268" r:id="rId22"/>
    <p:sldId id="272" r:id="rId23"/>
    <p:sldId id="278" r:id="rId24"/>
    <p:sldId id="277" r:id="rId25"/>
    <p:sldId id="269" r:id="rId26"/>
    <p:sldId id="280" r:id="rId27"/>
    <p:sldId id="279" r:id="rId2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3731"/>
    <p:restoredTop sz="96327"/>
  </p:normalViewPr>
  <p:slideViewPr>
    <p:cSldViewPr snapToGrid="0">
      <p:cViewPr varScale="1">
        <p:scale>
          <a:sx n="90" d="100"/>
          <a:sy n="90" d="100"/>
        </p:scale>
        <p:origin x="768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637073" cy="2541431"/>
          </a:xfrm>
        </p:spPr>
        <p:txBody>
          <a:bodyPr bIns="0" anchor="b">
            <a:normAutofit/>
          </a:bodyPr>
          <a:lstStyle>
            <a:lvl1pPr algn="l"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D57B00-29D9-8D49-8BE6-64C195F64337}" type="datetimeFigureOut">
              <a:rPr lang="en-US" smtClean="0"/>
              <a:t>2/10/26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416500" y="329307"/>
            <a:ext cx="4973915" cy="309201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</p:spPr>
        <p:txBody>
          <a:bodyPr/>
          <a:lstStyle/>
          <a:p>
            <a:fld id="{BDEB3736-FF65-F348-9B18-9933EDE1162A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354733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D57B00-29D9-8D49-8BE6-64C195F64337}" type="datetimeFigureOut">
              <a:rPr lang="en-US" smtClean="0"/>
              <a:t>2/10/26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EB3736-FF65-F348-9B18-9933EDE1162A}" type="slidenum">
              <a:rPr lang="en-US" smtClean="0"/>
              <a:t>‹#›</a:t>
            </a:fld>
            <a:endParaRPr lang="en-US"/>
          </a:p>
        </p:txBody>
      </p:sp>
      <p:cxnSp>
        <p:nvCxnSpPr>
          <p:cNvPr id="33" name="Straight Connector 32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699951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4239" y="1756130"/>
            <a:ext cx="8643154" cy="188795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D57B00-29D9-8D49-8BE6-64C195F64337}" type="datetimeFigureOut">
              <a:rPr lang="en-US" smtClean="0"/>
              <a:t>2/10/26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EB3736-FF65-F348-9B18-9933EDE1162A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54239" y="3804985"/>
            <a:ext cx="863044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048058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645152" cy="344859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3771" y="2017343"/>
            <a:ext cx="4645152" cy="34415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D57B00-29D9-8D49-8BE6-64C195F64337}" type="datetimeFigureOut">
              <a:rPr lang="en-US" smtClean="0"/>
              <a:t>2/10/26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EB3736-FF65-F348-9B18-9933EDE1162A}" type="slidenum">
              <a:rPr lang="en-US" smtClean="0"/>
              <a:t>‹#›</a:t>
            </a:fld>
            <a:endParaRPr lang="en-US"/>
          </a:p>
        </p:txBody>
      </p:sp>
      <p:cxnSp>
        <p:nvCxnSpPr>
          <p:cNvPr id="35" name="Straight Connector 3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040635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645152" cy="26444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2362" y="2023003"/>
            <a:ext cx="46451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2362" y="2821491"/>
            <a:ext cx="4645152" cy="26373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D57B00-29D9-8D49-8BE6-64C195F64337}" type="datetimeFigureOut">
              <a:rPr lang="en-US" smtClean="0"/>
              <a:t>2/10/26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EB3736-FF65-F348-9B18-9933EDE1162A}" type="slidenum">
              <a:rPr lang="en-US" smtClean="0"/>
              <a:t>‹#›</a:t>
            </a:fld>
            <a:endParaRPr lang="en-US"/>
          </a:p>
        </p:txBody>
      </p:sp>
      <p:cxnSp>
        <p:nvCxnSpPr>
          <p:cNvPr id="29" name="Straight Connector 28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557591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D57B00-29D9-8D49-8BE6-64C195F64337}" type="datetimeFigureOut">
              <a:rPr lang="en-US" smtClean="0"/>
              <a:t>2/10/26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EB3736-FF65-F348-9B18-9933EDE1162A}" type="slidenum">
              <a:rPr lang="en-US" smtClean="0"/>
              <a:t>‹#›</a:t>
            </a:fld>
            <a:endParaRPr lang="en-US"/>
          </a:p>
        </p:txBody>
      </p:sp>
      <p:cxnSp>
        <p:nvCxnSpPr>
          <p:cNvPr id="25" name="Straight Connector 2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34267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D57B00-29D9-8D49-8BE6-64C195F64337}" type="datetimeFigureOut">
              <a:rPr lang="en-US" smtClean="0"/>
              <a:t>2/10/26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EB3736-FF65-F348-9B18-9933EDE116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81834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3714" y="798974"/>
            <a:ext cx="6012470" cy="465882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3275013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D57B00-29D9-8D49-8BE6-64C195F64337}" type="datetimeFigureOut">
              <a:rPr lang="en-US" smtClean="0"/>
              <a:t>2/10/26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EB3736-FF65-F348-9B18-9933EDE1162A}" type="slidenum">
              <a:rPr lang="en-US" smtClean="0"/>
              <a:t>‹#›</a:t>
            </a:fld>
            <a:endParaRPr lang="en-US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8280" y="3205491"/>
            <a:ext cx="326949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088974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145992"/>
            <a:ext cx="5524404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fld id="{64D57B00-29D9-8D49-8BE6-64C195F64337}" type="datetimeFigureOut">
              <a:rPr lang="en-US" smtClean="0"/>
              <a:t>2/10/26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EB3736-FF65-F348-9B18-9933EDE1162A}" type="slidenum">
              <a:rPr lang="en-US" smtClean="0"/>
              <a:t>‹#›</a:t>
            </a:fld>
            <a:endParaRPr lang="en-US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7382" y="3143605"/>
            <a:ext cx="552735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316350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D57B00-29D9-8D49-8BE6-64C195F64337}" type="datetimeFigureOut">
              <a:rPr lang="en-US" smtClean="0"/>
              <a:t>2/10/26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EB3736-FF65-F348-9B18-9933EDE1162A}" type="slidenum">
              <a:rPr lang="en-US" smtClean="0"/>
              <a:t>‹#›</a:t>
            </a:fld>
            <a:endParaRPr lang="en-US"/>
          </a:p>
        </p:txBody>
      </p:sp>
      <p:cxnSp>
        <p:nvCxnSpPr>
          <p:cNvPr id="26" name="Straight Connector 25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270359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39111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828830" cy="465988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D57B00-29D9-8D49-8BE6-64C195F64337}" type="datetimeFigureOut">
              <a:rPr lang="en-US" smtClean="0"/>
              <a:t>2/10/26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EB3736-FF65-F348-9B18-9933EDE1162A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9439111" y="798973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458002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4D57B00-29D9-8D49-8BE6-64C195F64337}" type="datetimeFigureOut">
              <a:rPr lang="en-US" smtClean="0"/>
              <a:t>2/10/26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938836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BDEB3736-FF65-F348-9B18-9933EDE1162A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9219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7F4F65-9184-4122-4794-3057D38001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Housekeeping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49EA80-E2EE-F799-DA09-A3C1EF88A5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288629"/>
          </a:xfrm>
        </p:spPr>
        <p:txBody>
          <a:bodyPr>
            <a:normAutofit/>
          </a:bodyPr>
          <a:lstStyle/>
          <a:p>
            <a:r>
              <a:rPr lang="en-US" dirty="0"/>
              <a:t>Today:</a:t>
            </a:r>
          </a:p>
          <a:p>
            <a:pPr lvl="1"/>
            <a:r>
              <a:rPr lang="en-US" dirty="0"/>
              <a:t>Read ch15, but we won’t cover all now. </a:t>
            </a:r>
          </a:p>
          <a:p>
            <a:pPr lvl="1"/>
            <a:r>
              <a:rPr lang="en-US" dirty="0"/>
              <a:t>Spatial data. (ELECTION… data files)</a:t>
            </a:r>
          </a:p>
          <a:p>
            <a:pPr lvl="1"/>
            <a:r>
              <a:rPr lang="en-US" b="1" dirty="0"/>
              <a:t>Granularity and LOD (fixed) </a:t>
            </a:r>
            <a:r>
              <a:rPr lang="en-US" dirty="0"/>
              <a:t>calculations. </a:t>
            </a:r>
          </a:p>
          <a:p>
            <a:pPr lvl="1"/>
            <a:r>
              <a:rPr lang="en-US" dirty="0"/>
              <a:t>Direct map layering. </a:t>
            </a:r>
          </a:p>
          <a:p>
            <a:pPr lvl="1"/>
            <a:r>
              <a:rPr lang="en-US" dirty="0"/>
              <a:t>Make an election map!</a:t>
            </a:r>
          </a:p>
          <a:p>
            <a:r>
              <a:rPr lang="en-US" dirty="0"/>
              <a:t>The thinking behind the fixed stuff is important for complex things. </a:t>
            </a:r>
          </a:p>
          <a:p>
            <a:pPr lvl="1"/>
            <a:r>
              <a:rPr lang="en-US" dirty="0"/>
              <a:t>Always think of “per” – one value per… person, item, year, customer per day,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r>
              <a:rPr lang="en-US" dirty="0"/>
              <a:t>Assignment marks should be back…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5D9F1F5-4F26-5BF7-1294-E1EE030244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4096" y="2015732"/>
            <a:ext cx="5592933" cy="1413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30606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ACD540-446D-7D14-81BE-5F941DCD7B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Last Assignment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3D7B47-A61A-3051-B4CB-87B1E30FE8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Biggest common issues:</a:t>
            </a:r>
          </a:p>
          <a:p>
            <a:pPr lvl="1"/>
            <a:r>
              <a:rPr lang="en-US" dirty="0"/>
              <a:t>What should I read from something? I.e. you have some charts, but if I read them, do I actually learn what you intended? </a:t>
            </a:r>
          </a:p>
          <a:p>
            <a:pPr lvl="1"/>
            <a:r>
              <a:rPr lang="en-US" dirty="0"/>
              <a:t>What does this chart mean? How the value you get from a chart relates to other stuff should be pretty clear. </a:t>
            </a:r>
          </a:p>
          <a:p>
            <a:r>
              <a:rPr lang="en-US" dirty="0"/>
              <a:t>If you think I marked yours incorrectly, make your argument. </a:t>
            </a:r>
          </a:p>
          <a:p>
            <a:pPr lvl="1"/>
            <a:r>
              <a:rPr lang="en-US" dirty="0"/>
              <a:t>It is </a:t>
            </a:r>
            <a:r>
              <a:rPr lang="en-US" dirty="0" err="1"/>
              <a:t>inheierently</a:t>
            </a:r>
            <a:r>
              <a:rPr lang="en-US" dirty="0"/>
              <a:t> a somewhat subjective evaluation, maybe I didn’t get it. </a:t>
            </a:r>
          </a:p>
          <a:p>
            <a:pPr lvl="1"/>
            <a:r>
              <a:rPr lang="en-US" dirty="0"/>
              <a:t>You have to make a material argument (e.g. mine is better on category X for reasons A, B, and C), you can’t just say “I thought it is good” or “I tried really hard”. </a:t>
            </a:r>
          </a:p>
          <a:p>
            <a:pPr lvl="1"/>
            <a:r>
              <a:rPr lang="en-US" dirty="0"/>
              <a:t>People win pretty regularly. </a:t>
            </a:r>
          </a:p>
        </p:txBody>
      </p:sp>
    </p:spTree>
    <p:extLst>
      <p:ext uri="{BB962C8B-B14F-4D97-AF65-F5344CB8AC3E}">
        <p14:creationId xmlns:p14="http://schemas.microsoft.com/office/powerpoint/2010/main" val="25095222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D29EE3-FBDD-3098-976F-2DFEBA21245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Spatial Data and LOD Calculations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E6B59C9-457D-4BC3-E6E2-764CEC272EF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08307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754060-0773-9224-1FD9-CEBDB96621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Mapping Stuff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93CDD6-BA4D-B450-F138-4A30035EB9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037749"/>
          </a:xfrm>
        </p:spPr>
        <p:txBody>
          <a:bodyPr/>
          <a:lstStyle/>
          <a:p>
            <a:r>
              <a:rPr lang="en-US" dirty="0"/>
              <a:t>To now we have two basic ways of mapping stuff:</a:t>
            </a:r>
          </a:p>
          <a:p>
            <a:pPr lvl="1"/>
            <a:r>
              <a:rPr lang="en-US" dirty="0"/>
              <a:t>If we have a latitude and longitude, we can map specific points. </a:t>
            </a:r>
          </a:p>
          <a:p>
            <a:pPr lvl="1"/>
            <a:r>
              <a:rPr lang="en-US" dirty="0"/>
              <a:t>If we have a region (country, state, </a:t>
            </a:r>
            <a:r>
              <a:rPr lang="en-US" dirty="0" err="1"/>
              <a:t>etc</a:t>
            </a:r>
            <a:r>
              <a:rPr lang="en-US" dirty="0"/>
              <a:t>…) we can map a filled map. </a:t>
            </a:r>
          </a:p>
          <a:p>
            <a:r>
              <a:rPr lang="en-US" dirty="0"/>
              <a:t>What if we want to bridge the two?</a:t>
            </a:r>
          </a:p>
          <a:p>
            <a:pPr lvl="1"/>
            <a:r>
              <a:rPr lang="en-US" dirty="0"/>
              <a:t>Is this house in this neighborhood? </a:t>
            </a:r>
          </a:p>
          <a:p>
            <a:pPr lvl="1"/>
            <a:r>
              <a:rPr lang="en-US" dirty="0"/>
              <a:t>How far are two points from each other?</a:t>
            </a:r>
          </a:p>
          <a:p>
            <a:r>
              <a:rPr lang="en-US" dirty="0"/>
              <a:t>To do so we need a special set of files and functions – Spatial Functions and Data. 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13326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A3BB97-62D5-398A-77A0-4679973F36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</p:spPr>
        <p:txBody>
          <a:bodyPr>
            <a:normAutofit/>
          </a:bodyPr>
          <a:lstStyle/>
          <a:p>
            <a:r>
              <a:rPr lang="en-US" dirty="0"/>
              <a:t>Spatial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50B800-C9D1-2F6F-0D89-437FAC34C1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5098" y="2015734"/>
            <a:ext cx="7691215" cy="4037747"/>
          </a:xfrm>
        </p:spPr>
        <p:txBody>
          <a:bodyPr>
            <a:normAutofit lnSpcReduction="10000"/>
          </a:bodyPr>
          <a:lstStyle/>
          <a:p>
            <a:pPr>
              <a:lnSpc>
                <a:spcPct val="110000"/>
              </a:lnSpc>
            </a:pPr>
            <a:r>
              <a:rPr lang="en-US" sz="1800" dirty="0"/>
              <a:t>Spatial data is basically data about geography, or the stuff on a map. </a:t>
            </a:r>
          </a:p>
          <a:p>
            <a:pPr>
              <a:lnSpc>
                <a:spcPct val="110000"/>
              </a:lnSpc>
            </a:pPr>
            <a:r>
              <a:rPr lang="en-US" sz="1800" dirty="0"/>
              <a:t>Spatial files. </a:t>
            </a:r>
          </a:p>
          <a:p>
            <a:pPr lvl="1">
              <a:lnSpc>
                <a:spcPct val="110000"/>
              </a:lnSpc>
            </a:pPr>
            <a:r>
              <a:rPr lang="en-US" dirty="0"/>
              <a:t>Define the boundaries of some area (e.g. neighborhood). </a:t>
            </a:r>
          </a:p>
          <a:p>
            <a:pPr lvl="1">
              <a:lnSpc>
                <a:spcPct val="110000"/>
              </a:lnSpc>
            </a:pPr>
            <a:r>
              <a:rPr lang="en-US" dirty="0"/>
              <a:t>E.g. the spatial file for Edmonton neighborhoods defines the “outline” of each neighborhood. </a:t>
            </a:r>
          </a:p>
          <a:p>
            <a:pPr>
              <a:lnSpc>
                <a:spcPct val="110000"/>
              </a:lnSpc>
            </a:pPr>
            <a:r>
              <a:rPr lang="en-US" sz="1800" dirty="0"/>
              <a:t>We need to join with our structured data to do something useful. </a:t>
            </a:r>
          </a:p>
          <a:p>
            <a:pPr lvl="1">
              <a:lnSpc>
                <a:spcPct val="110000"/>
              </a:lnSpc>
            </a:pPr>
            <a:r>
              <a:rPr lang="en-US" dirty="0"/>
              <a:t>The structured data has some attribute denoting an area (e.g. neighborhood). </a:t>
            </a:r>
          </a:p>
          <a:p>
            <a:pPr lvl="1">
              <a:lnSpc>
                <a:spcPct val="110000"/>
              </a:lnSpc>
            </a:pPr>
            <a:r>
              <a:rPr lang="en-US" dirty="0"/>
              <a:t>The spatial file has two (important) columns – that attribute and the “geometry”</a:t>
            </a:r>
          </a:p>
          <a:p>
            <a:pPr lvl="1">
              <a:lnSpc>
                <a:spcPct val="110000"/>
              </a:lnSpc>
            </a:pPr>
            <a:r>
              <a:rPr lang="en-US" dirty="0"/>
              <a:t>The geometry defines an outline of each area, in latitude and longitude </a:t>
            </a:r>
            <a:r>
              <a:rPr lang="en-US" dirty="0" err="1"/>
              <a:t>coordiantes</a:t>
            </a:r>
            <a:r>
              <a:rPr lang="en-US" dirty="0"/>
              <a:t>. </a:t>
            </a:r>
          </a:p>
        </p:txBody>
      </p:sp>
      <p:pic>
        <p:nvPicPr>
          <p:cNvPr id="2050" name="Picture 2" descr="Vector and Raster: A Tale of Two Spatial Data Types - Velocity Business  Solutions Limited">
            <a:extLst>
              <a:ext uri="{FF2B5EF4-FFF2-40B4-BE49-F238E27FC236}">
                <a16:creationId xmlns:a16="http://schemas.microsoft.com/office/drawing/2014/main" id="{3D3D827C-2660-630E-3349-7DCF51D0DD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009018" y="2015734"/>
            <a:ext cx="3866232" cy="34506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593401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6F5D82-1D96-442C-76C5-D6B55C7772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Adding Spatial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76D622-4986-7741-CA3B-7B7DAF1E01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037749"/>
          </a:xfrm>
        </p:spPr>
        <p:txBody>
          <a:bodyPr>
            <a:normAutofit lnSpcReduction="10000"/>
          </a:bodyPr>
          <a:lstStyle/>
          <a:p>
            <a:r>
              <a:rPr lang="en-US" dirty="0"/>
              <a:t>Once the spatial file is joined and loaded, we can use the geometry like any other region field in Tableau, such as Country or State. </a:t>
            </a:r>
          </a:p>
          <a:p>
            <a:pPr lvl="1"/>
            <a:r>
              <a:rPr lang="en-US" dirty="0"/>
              <a:t>The things where we can build filled maps without doing anything special (country, state, province) have these spatial boundaries defined internally, because they’re so common. </a:t>
            </a:r>
          </a:p>
          <a:p>
            <a:pPr lvl="1"/>
            <a:r>
              <a:rPr lang="en-US" dirty="0"/>
              <a:t>This process is still happening, it is just seamless to us. </a:t>
            </a:r>
          </a:p>
          <a:p>
            <a:r>
              <a:rPr lang="en-US" dirty="0"/>
              <a:t>We can make filled maps of whatever regions the spatial file defines. </a:t>
            </a:r>
          </a:p>
          <a:p>
            <a:r>
              <a:rPr lang="en-US" dirty="0"/>
              <a:t>The end result of the join is that the data now has an attribute that defines, on a map, where that region lies. </a:t>
            </a:r>
          </a:p>
          <a:p>
            <a:r>
              <a:rPr lang="en-US" dirty="0"/>
              <a:t>For “public” things like neighborhoods, regions, </a:t>
            </a:r>
            <a:r>
              <a:rPr lang="en-US" dirty="0" err="1"/>
              <a:t>etc</a:t>
            </a:r>
            <a:r>
              <a:rPr lang="en-US" dirty="0"/>
              <a:t>… searching “WHAT_I_WANT </a:t>
            </a:r>
            <a:r>
              <a:rPr lang="en-US" dirty="0" err="1"/>
              <a:t>kml</a:t>
            </a:r>
            <a:r>
              <a:rPr lang="en-US" dirty="0"/>
              <a:t>” or “WHAT_I_WANT </a:t>
            </a:r>
            <a:r>
              <a:rPr lang="en-US" dirty="0" err="1"/>
              <a:t>shp</a:t>
            </a:r>
            <a:r>
              <a:rPr lang="en-US" dirty="0"/>
              <a:t>” will likely find a result. </a:t>
            </a:r>
          </a:p>
        </p:txBody>
      </p:sp>
    </p:spTree>
    <p:extLst>
      <p:ext uri="{BB962C8B-B14F-4D97-AF65-F5344CB8AC3E}">
        <p14:creationId xmlns:p14="http://schemas.microsoft.com/office/powerpoint/2010/main" val="2341622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99F1B4-47F6-2A6E-CB11-DEF1E64ACF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Spatial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0D1182-043D-C032-DEC8-6541CBB14B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3903154"/>
          </a:xfrm>
        </p:spPr>
        <p:txBody>
          <a:bodyPr/>
          <a:lstStyle/>
          <a:p>
            <a:r>
              <a:rPr lang="en-US" dirty="0"/>
              <a:t>Once the data is properly setup, we can do lots of useful things quite easily. </a:t>
            </a:r>
          </a:p>
          <a:p>
            <a:pPr lvl="1"/>
            <a:r>
              <a:rPr lang="en-US" dirty="0"/>
              <a:t>GIS – geographical information systems are a family of SW that do this for real.</a:t>
            </a:r>
          </a:p>
          <a:p>
            <a:r>
              <a:rPr lang="en-US" dirty="0"/>
              <a:t>In Tableau, we have several functions and capabilities. </a:t>
            </a:r>
          </a:p>
          <a:p>
            <a:pPr lvl="1"/>
            <a:r>
              <a:rPr lang="en-US" dirty="0"/>
              <a:t>Functions are very similar to set theory operations. </a:t>
            </a:r>
          </a:p>
          <a:p>
            <a:pPr lvl="1"/>
            <a:r>
              <a:rPr lang="en-US" dirty="0"/>
              <a:t>These functions will handle the math automatically for things like curvature of earth. </a:t>
            </a:r>
          </a:p>
          <a:p>
            <a:r>
              <a:rPr lang="en-US" dirty="0"/>
              <a:t>Doing geographic “math” is simple if the data is setup for us up front. </a:t>
            </a:r>
          </a:p>
        </p:txBody>
      </p:sp>
    </p:spTree>
    <p:extLst>
      <p:ext uri="{BB962C8B-B14F-4D97-AF65-F5344CB8AC3E}">
        <p14:creationId xmlns:p14="http://schemas.microsoft.com/office/powerpoint/2010/main" val="10325784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4CAE84-C26D-1C5D-AA10-D7334BC05B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Spatial Data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F44A48-3FC8-8907-2A3D-90695CD673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3076" name="Picture 4" descr="Chapter 7 GeoJSON | Introduction to Web Mapping">
            <a:extLst>
              <a:ext uri="{FF2B5EF4-FFF2-40B4-BE49-F238E27FC236}">
                <a16:creationId xmlns:a16="http://schemas.microsoft.com/office/drawing/2014/main" id="{7A603235-09D6-3044-1A46-8540454422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27882" y="2133281"/>
            <a:ext cx="6736236" cy="38528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663628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036F54-37EA-17A1-59E1-DA614F1B73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Spatial Areas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F547B6-2AA3-6F1F-790C-B716F8E618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The geometry field is basically the outline of some region or space on a map. </a:t>
            </a:r>
          </a:p>
          <a:p>
            <a:r>
              <a:rPr lang="en-US" dirty="0"/>
              <a:t>Once we have the areas defined, we can easily calculate with them:</a:t>
            </a:r>
          </a:p>
          <a:p>
            <a:pPr lvl="1"/>
            <a:r>
              <a:rPr lang="en-US" dirty="0"/>
              <a:t>Is there intersection of two areas?</a:t>
            </a:r>
          </a:p>
          <a:p>
            <a:pPr lvl="1"/>
            <a:r>
              <a:rPr lang="en-US" dirty="0"/>
              <a:t>Is a point in an area? </a:t>
            </a:r>
          </a:p>
          <a:p>
            <a:pPr lvl="1"/>
            <a:r>
              <a:rPr lang="en-US" dirty="0"/>
              <a:t>How large is an area? </a:t>
            </a:r>
          </a:p>
          <a:p>
            <a:r>
              <a:rPr lang="en-US" dirty="0"/>
              <a:t>These geometry attributes can be mapped just like state/country in Tableau. </a:t>
            </a:r>
          </a:p>
        </p:txBody>
      </p:sp>
    </p:spTree>
    <p:extLst>
      <p:ext uri="{BB962C8B-B14F-4D97-AF65-F5344CB8AC3E}">
        <p14:creationId xmlns:p14="http://schemas.microsoft.com/office/powerpoint/2010/main" val="40686851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A847B1-0536-11E7-7CBE-A68404B715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Points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29031A-00D2-22B4-EE1A-7F9A5C3625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037749"/>
          </a:xfrm>
        </p:spPr>
        <p:txBody>
          <a:bodyPr/>
          <a:lstStyle/>
          <a:p>
            <a:r>
              <a:rPr lang="en-US" dirty="0"/>
              <a:t>Points in spatial data are, well… points on a map. </a:t>
            </a:r>
          </a:p>
          <a:p>
            <a:r>
              <a:rPr lang="en-US" dirty="0"/>
              <a:t>Points are a special datatype that are constructed from </a:t>
            </a:r>
            <a:r>
              <a:rPr lang="en-US" dirty="0" err="1"/>
              <a:t>lat</a:t>
            </a:r>
            <a:r>
              <a:rPr lang="en-US" dirty="0"/>
              <a:t>/</a:t>
            </a:r>
            <a:r>
              <a:rPr lang="en-US" dirty="0" err="1"/>
              <a:t>lon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We can make a point with the </a:t>
            </a:r>
            <a:r>
              <a:rPr lang="en-US" dirty="0" err="1"/>
              <a:t>Makepoint</a:t>
            </a:r>
            <a:r>
              <a:rPr lang="en-US" dirty="0"/>
              <a:t> function if we have latitude and longitude. </a:t>
            </a:r>
          </a:p>
          <a:p>
            <a:pPr lvl="1"/>
            <a:r>
              <a:rPr lang="en-US" dirty="0"/>
              <a:t>The point data type is basically </a:t>
            </a:r>
            <a:r>
              <a:rPr lang="en-US" dirty="0" err="1"/>
              <a:t>lat</a:t>
            </a:r>
            <a:r>
              <a:rPr lang="en-US" dirty="0"/>
              <a:t>/</a:t>
            </a:r>
            <a:r>
              <a:rPr lang="en-US" dirty="0" err="1"/>
              <a:t>lon</a:t>
            </a:r>
            <a:r>
              <a:rPr lang="en-US" dirty="0"/>
              <a:t> + a ”type” that we don’t care about. </a:t>
            </a:r>
          </a:p>
          <a:p>
            <a:pPr lvl="1"/>
            <a:r>
              <a:rPr lang="en-US" dirty="0"/>
              <a:t>Points allow all the other spatial functions like distance to work correctly. </a:t>
            </a:r>
          </a:p>
        </p:txBody>
      </p:sp>
    </p:spTree>
    <p:extLst>
      <p:ext uri="{BB962C8B-B14F-4D97-AF65-F5344CB8AC3E}">
        <p14:creationId xmlns:p14="http://schemas.microsoft.com/office/powerpoint/2010/main" val="39669021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2EF4BA-8F1E-CA71-3563-DA14A84DCF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2CC31-CDC5-602E-00D5-2EED7B13C0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Lines are paths that connect two spatial points. </a:t>
            </a:r>
          </a:p>
          <a:p>
            <a:r>
              <a:rPr lang="en-US" dirty="0"/>
              <a:t>Math using points, such as distance, will automatically figure out earth curvature. </a:t>
            </a:r>
          </a:p>
        </p:txBody>
      </p:sp>
    </p:spTree>
    <p:extLst>
      <p:ext uri="{BB962C8B-B14F-4D97-AF65-F5344CB8AC3E}">
        <p14:creationId xmlns:p14="http://schemas.microsoft.com/office/powerpoint/2010/main" val="1687331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74BAE3-B82B-60F4-7A70-6C8B719E1F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Functions in Tableau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9FE069-05E7-5772-085A-B946053213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4154462" cy="3450613"/>
          </a:xfrm>
        </p:spPr>
        <p:txBody>
          <a:bodyPr/>
          <a:lstStyle/>
          <a:p>
            <a:r>
              <a:rPr lang="en-US" dirty="0"/>
              <a:t>We can do basic spatial analysis with the simple toolset in Tableau. </a:t>
            </a:r>
          </a:p>
          <a:p>
            <a:pPr lvl="1"/>
            <a:r>
              <a:rPr lang="en-US" dirty="0"/>
              <a:t>Distances. </a:t>
            </a:r>
          </a:p>
          <a:p>
            <a:pPr lvl="1"/>
            <a:r>
              <a:rPr lang="en-US" dirty="0"/>
              <a:t>Mapping regions. </a:t>
            </a:r>
          </a:p>
          <a:p>
            <a:pPr lvl="1"/>
            <a:r>
              <a:rPr lang="en-US" dirty="0"/>
              <a:t>“Is in”.</a:t>
            </a:r>
          </a:p>
          <a:p>
            <a:pPr lvl="1"/>
            <a:r>
              <a:rPr lang="en-US" dirty="0"/>
              <a:t>Intersection.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93D0BEA-EDC4-52ED-97E0-A41CE5B443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7817" y="1946277"/>
            <a:ext cx="6159500" cy="401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2569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FD55CD-BB0C-AD9C-C929-0F3821538F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Spatial Joins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B28767-0EFB-BA4D-6A1F-97585F7D9F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037749"/>
          </a:xfrm>
        </p:spPr>
        <p:txBody>
          <a:bodyPr/>
          <a:lstStyle/>
          <a:p>
            <a:r>
              <a:rPr lang="en-US" dirty="0"/>
              <a:t>We can also join two spatial files together in Tableau using the “intersects” operator. </a:t>
            </a:r>
          </a:p>
          <a:p>
            <a:pPr lvl="1"/>
            <a:r>
              <a:rPr lang="en-US" dirty="0"/>
              <a:t>Joins “on” where spaces on a map overlap each other. </a:t>
            </a:r>
          </a:p>
          <a:p>
            <a:r>
              <a:rPr lang="en-US" dirty="0"/>
              <a:t>Not super important for us, unless we run into a scenario where it is needed. </a:t>
            </a:r>
          </a:p>
          <a:p>
            <a:r>
              <a:rPr lang="en-US" dirty="0"/>
              <a:t>Used when we have overlapping geographic things:</a:t>
            </a:r>
          </a:p>
          <a:p>
            <a:pPr lvl="1"/>
            <a:r>
              <a:rPr lang="en-US" dirty="0"/>
              <a:t>We can look at a point and determine what neighborhood it is in as well as which electoral ward. </a:t>
            </a:r>
          </a:p>
          <a:p>
            <a:r>
              <a:rPr lang="en-US" dirty="0"/>
              <a:t>Can layer multiple regions on one map, for more advanced analysis. </a:t>
            </a:r>
          </a:p>
        </p:txBody>
      </p:sp>
    </p:spTree>
    <p:extLst>
      <p:ext uri="{BB962C8B-B14F-4D97-AF65-F5344CB8AC3E}">
        <p14:creationId xmlns:p14="http://schemas.microsoft.com/office/powerpoint/2010/main" val="273552765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9B31EB-A7C1-5856-9F67-6F1173E575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Fixed Calculations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00B376-A193-ADEB-4FF6-78442E9519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11886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C2382A-DEB0-8CD4-E7C7-5E31B8A8E1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Granularity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B221B8-481B-5511-FCAC-E53A4D65C1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877192"/>
            <a:ext cx="5701366" cy="4176289"/>
          </a:xfrm>
        </p:spPr>
        <p:txBody>
          <a:bodyPr>
            <a:normAutofit fontScale="92500"/>
          </a:bodyPr>
          <a:lstStyle/>
          <a:p>
            <a:r>
              <a:rPr lang="en-US" dirty="0"/>
              <a:t>When dealing with data and aggregations we can think of things in terms of the granularity. </a:t>
            </a:r>
          </a:p>
          <a:p>
            <a:r>
              <a:rPr lang="en-US" dirty="0"/>
              <a:t>The granularity is “how fine” the data is:</a:t>
            </a:r>
          </a:p>
          <a:p>
            <a:pPr lvl="1"/>
            <a:r>
              <a:rPr lang="en-US" dirty="0"/>
              <a:t>Per person, per product, per region, per school,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r>
              <a:rPr lang="en-US" dirty="0"/>
              <a:t>Each aggregation changes the granularity. </a:t>
            </a:r>
          </a:p>
          <a:p>
            <a:pPr lvl="1"/>
            <a:r>
              <a:rPr lang="en-US" dirty="0"/>
              <a:t>Adding/removing a dimension changes the number of groups. </a:t>
            </a:r>
          </a:p>
          <a:p>
            <a:pPr lvl="1"/>
            <a:r>
              <a:rPr lang="en-US" dirty="0"/>
              <a:t>Everything is recalculated as the granularity changes. </a:t>
            </a:r>
          </a:p>
          <a:p>
            <a:r>
              <a:rPr lang="en-US" dirty="0"/>
              <a:t>Some functions allow us to control this.</a:t>
            </a:r>
          </a:p>
          <a:p>
            <a:r>
              <a:rPr lang="en-US" dirty="0"/>
              <a:t>Think of the “per” when describing data…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A042757-72C3-B83D-7F8A-E527A48C69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7103" y="1877192"/>
            <a:ext cx="6624897" cy="39701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549616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0C3F41-4108-1F97-B5F2-E54C1D2EF5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2F8E53-D54A-094A-DD87-3EDB885560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098" name="Picture 2" descr="Introduction to Level of Detail (LOD) in Tableau - The Data School Down  Under">
            <a:extLst>
              <a:ext uri="{FF2B5EF4-FFF2-40B4-BE49-F238E27FC236}">
                <a16:creationId xmlns:a16="http://schemas.microsoft.com/office/drawing/2014/main" id="{830EA912-AAB3-58C6-595F-55BDAF0B5C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51414" y="470019"/>
            <a:ext cx="9803604" cy="5441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5492804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887F06-312B-75EB-84C4-D40A03C76B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Note – Think About it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B629AB-AE12-14E7-377E-888BC2A6B7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037749"/>
          </a:xfrm>
        </p:spPr>
        <p:txBody>
          <a:bodyPr/>
          <a:lstStyle/>
          <a:p>
            <a:r>
              <a:rPr lang="en-US" dirty="0"/>
              <a:t>This granularity matters, and we need to consider it:</a:t>
            </a:r>
          </a:p>
          <a:p>
            <a:pPr lvl="1"/>
            <a:r>
              <a:rPr lang="en-US" dirty="0"/>
              <a:t>Just adding a value to a vis probably doesn’t do what we need. </a:t>
            </a:r>
          </a:p>
          <a:p>
            <a:pPr lvl="2"/>
            <a:r>
              <a:rPr lang="en-US" dirty="0"/>
              <a:t>I.e. just adding “profit” doesn’t ensure profit is calculated in the way we need. </a:t>
            </a:r>
          </a:p>
          <a:p>
            <a:pPr lvl="1"/>
            <a:r>
              <a:rPr lang="en-US" dirty="0"/>
              <a:t>Getting correct values requires thinking about it. </a:t>
            </a:r>
          </a:p>
          <a:p>
            <a:r>
              <a:rPr lang="en-US" dirty="0"/>
              <a:t>You want to be excessively explicit:</a:t>
            </a:r>
          </a:p>
          <a:p>
            <a:pPr lvl="1"/>
            <a:r>
              <a:rPr lang="en-US" dirty="0"/>
              <a:t>Every value is (technically) per something…</a:t>
            </a:r>
          </a:p>
          <a:p>
            <a:pPr lvl="1"/>
            <a:r>
              <a:rPr lang="en-US" dirty="0"/>
              <a:t>Say it out before building. </a:t>
            </a:r>
          </a:p>
        </p:txBody>
      </p:sp>
    </p:spTree>
    <p:extLst>
      <p:ext uri="{BB962C8B-B14F-4D97-AF65-F5344CB8AC3E}">
        <p14:creationId xmlns:p14="http://schemas.microsoft.com/office/powerpoint/2010/main" val="327267915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C4F50E-D25F-156F-342E-4B6B1EA56A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Granularity and Tableau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A802F7-DC3E-D479-9CDF-15537ED3AB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2175505"/>
          </a:xfrm>
        </p:spPr>
        <p:txBody>
          <a:bodyPr/>
          <a:lstStyle/>
          <a:p>
            <a:r>
              <a:rPr lang="en-US" dirty="0"/>
              <a:t>Generally, each dimension in the shelf will ‘split’ the data. </a:t>
            </a:r>
          </a:p>
          <a:p>
            <a:r>
              <a:rPr lang="en-US" dirty="0"/>
              <a:t>If we have several, we get multiple ‘pers’:</a:t>
            </a:r>
          </a:p>
          <a:p>
            <a:pPr lvl="1"/>
            <a:r>
              <a:rPr lang="en-US" dirty="0"/>
              <a:t>E.g. average sales per product per store per day. </a:t>
            </a:r>
          </a:p>
          <a:p>
            <a:r>
              <a:rPr lang="en-US" dirty="0"/>
              <a:t>Make sure that the aggregation you want is what you get.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B034EF2-8C12-7E0F-53BA-D45AE10453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7016" y="4097657"/>
            <a:ext cx="7772400" cy="21755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877265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26826E-8A1E-4FDD-35AC-ADE58D14E6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Level of Detail Calculations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704C26-DDF3-6880-0E48-7215B2ED17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Everything in a visualization is automatically impacted by grouping. </a:t>
            </a:r>
          </a:p>
          <a:p>
            <a:r>
              <a:rPr lang="en-US" dirty="0"/>
              <a:t>What if what we want to show differs?</a:t>
            </a:r>
          </a:p>
          <a:p>
            <a:endParaRPr lang="en-US" dirty="0"/>
          </a:p>
          <a:p>
            <a:r>
              <a:rPr lang="en-US" dirty="0"/>
              <a:t>Level of detail calculations allow us to separately control the grouping. </a:t>
            </a:r>
          </a:p>
        </p:txBody>
      </p:sp>
    </p:spTree>
    <p:extLst>
      <p:ext uri="{BB962C8B-B14F-4D97-AF65-F5344CB8AC3E}">
        <p14:creationId xmlns:p14="http://schemas.microsoft.com/office/powerpoint/2010/main" val="317199328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BF83D7-616E-3AAC-09E3-52E1E040BB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7147" y="804519"/>
            <a:ext cx="9917708" cy="1049235"/>
          </a:xfrm>
        </p:spPr>
        <p:txBody>
          <a:bodyPr/>
          <a:lstStyle/>
          <a:p>
            <a:r>
              <a:rPr lang="en-US" dirty="0"/>
              <a:t>Fixed Calculations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1126C-8B0C-4DA0-A834-31276F94AB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Fixed allows us to do groupings and aggregations that are fixed. </a:t>
            </a:r>
          </a:p>
          <a:p>
            <a:r>
              <a:rPr lang="en-US" dirty="0"/>
              <a:t>Normally when we add things to Tableau, we have some aggregation and some grouping based on whatever is in the visualization. </a:t>
            </a:r>
          </a:p>
          <a:p>
            <a:r>
              <a:rPr lang="en-US" dirty="0"/>
              <a:t>If we want a calculation based on a grouping that isn’t in the visualization, we have an issue. </a:t>
            </a:r>
          </a:p>
          <a:p>
            <a:r>
              <a:rPr lang="en-US" dirty="0"/>
              <a:t>Fixed defines a specific calculation:</a:t>
            </a:r>
          </a:p>
          <a:p>
            <a:pPr lvl="1"/>
            <a:r>
              <a:rPr lang="en-US" dirty="0"/>
              <a:t>Create one group for each value in this dimension. </a:t>
            </a:r>
          </a:p>
          <a:p>
            <a:pPr lvl="1"/>
            <a:r>
              <a:rPr lang="en-US" dirty="0"/>
              <a:t>Generate this aggregation calculation for each of those groups. </a:t>
            </a:r>
          </a:p>
          <a:p>
            <a:pPr lvl="1"/>
            <a:r>
              <a:rPr lang="en-US" dirty="0"/>
              <a:t>These values are totally unimpacted by the grouping in the visualization.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55C2C24-54A1-4AEA-F68D-852ABAB8CA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7930" y="17119"/>
            <a:ext cx="6534069" cy="13304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937308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2EB111-9331-2CF3-1BE2-256D4FE110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Fixed Usage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74C5BC-D6D9-034A-4B85-9BAF0DB50F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0789" y="2015732"/>
            <a:ext cx="11055070" cy="4037749"/>
          </a:xfrm>
        </p:spPr>
        <p:txBody>
          <a:bodyPr/>
          <a:lstStyle/>
          <a:p>
            <a:r>
              <a:rPr lang="en-US" dirty="0"/>
              <a:t>Fixed can give us something to compare to. </a:t>
            </a:r>
          </a:p>
          <a:p>
            <a:pPr lvl="1"/>
            <a:r>
              <a:rPr lang="en-US" dirty="0"/>
              <a:t>I.e. we can tabulate the the most votes per riding. </a:t>
            </a:r>
          </a:p>
          <a:p>
            <a:r>
              <a:rPr lang="en-US" dirty="0"/>
              <a:t>E.g. If we want to see who is above or below the average sales per salesperson for each region</a:t>
            </a:r>
          </a:p>
          <a:p>
            <a:pPr lvl="1"/>
            <a:r>
              <a:rPr lang="en-US" dirty="0"/>
              <a:t>we can define that average using fixed</a:t>
            </a:r>
          </a:p>
          <a:p>
            <a:pPr lvl="1"/>
            <a:r>
              <a:rPr lang="en-US" dirty="0"/>
              <a:t>that value isn’t impacted by adding or removing data to the visualization. </a:t>
            </a:r>
          </a:p>
          <a:p>
            <a:pPr lvl="1"/>
            <a:r>
              <a:rPr lang="en-US" dirty="0"/>
              <a:t>We could add/remove individual salespeople from the vis without breaking things. </a:t>
            </a:r>
          </a:p>
          <a:p>
            <a:r>
              <a:rPr lang="en-US" dirty="0"/>
              <a:t>These things are fixed no matter the grouping/splitting of data.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567B9EF-5C02-40B6-D865-CBAAC5D532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9220" y="0"/>
            <a:ext cx="6392779" cy="29439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611303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D588E2-34B9-BE72-DA3B-F940F03661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Include/Exclude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7C1D44-8F6C-FB06-27EC-3EA2C7D2ED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037749"/>
          </a:xfrm>
        </p:spPr>
        <p:txBody>
          <a:bodyPr/>
          <a:lstStyle/>
          <a:p>
            <a:r>
              <a:rPr lang="en-US" dirty="0"/>
              <a:t>Include and exclude are similar-</a:t>
            </a:r>
            <a:r>
              <a:rPr lang="en-US" dirty="0" err="1"/>
              <a:t>ish</a:t>
            </a:r>
            <a:r>
              <a:rPr lang="en-US" dirty="0"/>
              <a:t> functions to fixed. </a:t>
            </a:r>
          </a:p>
          <a:p>
            <a:pPr lvl="1"/>
            <a:r>
              <a:rPr lang="en-US" dirty="0"/>
              <a:t>Include will tell Tableau to aggregate by something. </a:t>
            </a:r>
          </a:p>
          <a:p>
            <a:pPr lvl="1"/>
            <a:r>
              <a:rPr lang="en-US" dirty="0"/>
              <a:t>Exclude will tell Tableau to not-aggregate by something. </a:t>
            </a:r>
          </a:p>
          <a:p>
            <a:r>
              <a:rPr lang="en-US" dirty="0"/>
              <a:t>Include can force some aggregation in all cases. </a:t>
            </a:r>
          </a:p>
          <a:p>
            <a:pPr lvl="1"/>
            <a:r>
              <a:rPr lang="en-US" dirty="0"/>
              <a:t>E.g. force something to average differently. </a:t>
            </a:r>
          </a:p>
          <a:p>
            <a:r>
              <a:rPr lang="en-US" dirty="0"/>
              <a:t>Exclude can force something to not be aggregated in all cases. </a:t>
            </a:r>
          </a:p>
          <a:p>
            <a:pPr lvl="1"/>
            <a:r>
              <a:rPr lang="en-US" dirty="0"/>
              <a:t>Exclude some value from being aggregated by specific values. </a:t>
            </a:r>
          </a:p>
          <a:p>
            <a:r>
              <a:rPr lang="en-US" dirty="0"/>
              <a:t>I find these more confusing vs just using fixed, but that’s just me. </a:t>
            </a:r>
          </a:p>
        </p:txBody>
      </p:sp>
    </p:spTree>
    <p:extLst>
      <p:ext uri="{BB962C8B-B14F-4D97-AF65-F5344CB8AC3E}">
        <p14:creationId xmlns:p14="http://schemas.microsoft.com/office/powerpoint/2010/main" val="231892769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8EAB25-0E25-D880-FD7B-C43373E5B6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34678" y="804519"/>
            <a:ext cx="6920176" cy="1049235"/>
          </a:xfrm>
        </p:spPr>
        <p:txBody>
          <a:bodyPr/>
          <a:lstStyle/>
          <a:p>
            <a:r>
              <a:rPr lang="en-US" dirty="0"/>
              <a:t>Warmup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0160AD-4CB0-2997-5328-BBB399AD3B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6591" y="1853754"/>
            <a:ext cx="7160262" cy="4199727"/>
          </a:xfrm>
        </p:spPr>
        <p:txBody>
          <a:bodyPr/>
          <a:lstStyle/>
          <a:p>
            <a:r>
              <a:rPr lang="en-US" dirty="0"/>
              <a:t>Using the World Indicators dataset.</a:t>
            </a:r>
          </a:p>
          <a:p>
            <a:r>
              <a:rPr lang="en-US" dirty="0"/>
              <a:t>Can you make a list that shows:</a:t>
            </a:r>
          </a:p>
          <a:p>
            <a:pPr lvl="1"/>
            <a:r>
              <a:rPr lang="en-US" dirty="0"/>
              <a:t>Each country. </a:t>
            </a:r>
          </a:p>
          <a:p>
            <a:pPr lvl="1"/>
            <a:r>
              <a:rPr lang="en-US" dirty="0"/>
              <a:t>Their CO2 emissions </a:t>
            </a:r>
            <a:r>
              <a:rPr lang="en-US" b="1" dirty="0"/>
              <a:t>per person</a:t>
            </a:r>
            <a:r>
              <a:rPr lang="en-US" dirty="0"/>
              <a:t>. </a:t>
            </a:r>
          </a:p>
          <a:p>
            <a:pPr lvl="1"/>
            <a:r>
              <a:rPr lang="en-US" dirty="0"/>
              <a:t>The percentage of the AVERAGE CO2/per for that REGION</a:t>
            </a:r>
          </a:p>
          <a:p>
            <a:pPr lvl="1"/>
            <a:r>
              <a:rPr lang="en-US" dirty="0"/>
              <a:t>Think about exactly what’s calculated!</a:t>
            </a:r>
          </a:p>
          <a:p>
            <a:r>
              <a:rPr lang="en-US" dirty="0"/>
              <a:t>Part 2:</a:t>
            </a:r>
          </a:p>
          <a:p>
            <a:pPr lvl="1"/>
            <a:r>
              <a:rPr lang="en-US" dirty="0"/>
              <a:t>Can you modify it to show this ranking. This is ranked by the largest percent of the average, as shown to the side. </a:t>
            </a:r>
          </a:p>
          <a:p>
            <a:pPr lvl="1"/>
            <a:r>
              <a:rPr lang="en-US" dirty="0"/>
              <a:t>Editing the table calculation will enable a preview that will help.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6EBE612-C182-BBB9-EE7B-85F48B2E609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21742"/>
          <a:stretch/>
        </p:blipFill>
        <p:spPr>
          <a:xfrm>
            <a:off x="-1" y="74535"/>
            <a:ext cx="4014247" cy="169463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1484F49-AF8B-4D5D-F4BC-6F2DACAB35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3536" y="804519"/>
            <a:ext cx="4308464" cy="55104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281368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0D01BD-05B9-4CE2-E1D4-75FA3B39BA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Goal: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75A8BE-D35F-4308-FC80-7EF35D78E2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2015732"/>
            <a:ext cx="5166187" cy="4145786"/>
          </a:xfrm>
        </p:spPr>
        <p:txBody>
          <a:bodyPr/>
          <a:lstStyle/>
          <a:p>
            <a:r>
              <a:rPr lang="en-US" dirty="0"/>
              <a:t>Winners of each council election on a map of their ward. </a:t>
            </a:r>
          </a:p>
          <a:p>
            <a:r>
              <a:rPr lang="en-US" dirty="0"/>
              <a:t>We have a csv of voting results by voting location and a spatial file for electoral wards. </a:t>
            </a:r>
          </a:p>
          <a:p>
            <a:r>
              <a:rPr lang="en-US" dirty="0"/>
              <a:t>Take a few mins and think about how first, it may not be obvious. </a:t>
            </a:r>
          </a:p>
          <a:p>
            <a:pPr lvl="1"/>
            <a:r>
              <a:rPr lang="en-US" dirty="0"/>
              <a:t>Generate a list of each ward’s winner. </a:t>
            </a:r>
          </a:p>
          <a:p>
            <a:pPr lvl="1"/>
            <a:r>
              <a:rPr lang="en-US" dirty="0"/>
              <a:t>Is your list “durable” i.e. if you change which dimensions are in the vis, does it hold?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45D13D0-3F24-0D70-FEFF-99794B2F89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6412" y="0"/>
            <a:ext cx="516618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136817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75F6A5-973F-ADFD-4779-2EC64E0DE4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Election Logic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13E455-4937-3B2A-ADFA-1DB5AC7E49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is the largest number of votes for each race?</a:t>
            </a:r>
          </a:p>
          <a:p>
            <a:r>
              <a:rPr lang="en-US" dirty="0"/>
              <a:t>What is the total number of votes for each candidate? </a:t>
            </a:r>
          </a:p>
          <a:p>
            <a:r>
              <a:rPr lang="en-US" dirty="0"/>
              <a:t>Is each candidate’s votes equal to the max for their race? </a:t>
            </a:r>
          </a:p>
          <a:p>
            <a:endParaRPr lang="en-US" dirty="0"/>
          </a:p>
          <a:p>
            <a:r>
              <a:rPr lang="en-US" dirty="0"/>
              <a:t>The first two we can do with some fixed calculations. The third is just a comparison. </a:t>
            </a:r>
          </a:p>
        </p:txBody>
      </p:sp>
    </p:spTree>
    <p:extLst>
      <p:ext uri="{BB962C8B-B14F-4D97-AF65-F5344CB8AC3E}">
        <p14:creationId xmlns:p14="http://schemas.microsoft.com/office/powerpoint/2010/main" val="57093595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92130D-5F8D-D4CB-7BBE-69AD2B06F9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Traffic Disruptions Per Neighborhood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8FA3FB-5B4F-60DF-6006-0137810E76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175" y="1853754"/>
            <a:ext cx="5446644" cy="4298568"/>
          </a:xfrm>
        </p:spPr>
        <p:txBody>
          <a:bodyPr>
            <a:normAutofit/>
          </a:bodyPr>
          <a:lstStyle/>
          <a:p>
            <a:r>
              <a:rPr lang="en-US" dirty="0"/>
              <a:t>Try to do a join based on spatial data – it is easy. </a:t>
            </a:r>
          </a:p>
          <a:p>
            <a:pPr lvl="1"/>
            <a:r>
              <a:rPr lang="en-US" dirty="0"/>
              <a:t>We have a list of things that happen at a location – traffic disruptions. </a:t>
            </a:r>
          </a:p>
          <a:p>
            <a:pPr lvl="1"/>
            <a:r>
              <a:rPr lang="en-US" dirty="0"/>
              <a:t>We have a list of regions – neighborhoods. </a:t>
            </a:r>
          </a:p>
          <a:p>
            <a:r>
              <a:rPr lang="en-US" dirty="0"/>
              <a:t>Combine these. </a:t>
            </a:r>
          </a:p>
          <a:p>
            <a:pPr lvl="1"/>
            <a:r>
              <a:rPr lang="en-US" dirty="0"/>
              <a:t>Join a point intersecting with the geometry. </a:t>
            </a:r>
          </a:p>
          <a:p>
            <a:pPr lvl="1"/>
            <a:r>
              <a:rPr lang="en-US" dirty="0"/>
              <a:t>Neighborhoods in repository, traffic (or any other thing) is on open data.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D80AF8E-4680-6BC2-D9F8-FAC2894E194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000" t="19874"/>
          <a:stretch>
            <a:fillRect/>
          </a:stretch>
        </p:blipFill>
        <p:spPr>
          <a:xfrm>
            <a:off x="5744818" y="2308198"/>
            <a:ext cx="6337852" cy="23930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547680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51EE7-AB32-CC8F-CDCD-B3E94B0B9F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Singapore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C5BFFD-4CAF-319F-E212-E50DA562B0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037749"/>
          </a:xfrm>
        </p:spPr>
        <p:txBody>
          <a:bodyPr/>
          <a:lstStyle/>
          <a:p>
            <a:r>
              <a:rPr lang="en-US" dirty="0"/>
              <a:t>Join: </a:t>
            </a:r>
            <a:r>
              <a:rPr lang="en-US" dirty="0" err="1"/>
              <a:t>makepoint</a:t>
            </a:r>
            <a:r>
              <a:rPr lang="en-US" dirty="0"/>
              <a:t>(latitude, longitude) intersects Geometry. </a:t>
            </a:r>
          </a:p>
          <a:p>
            <a:endParaRPr lang="en-US" dirty="0"/>
          </a:p>
          <a:p>
            <a:r>
              <a:rPr lang="en-US" dirty="0"/>
              <a:t>Map properties as well as the areas. </a:t>
            </a:r>
          </a:p>
          <a:p>
            <a:r>
              <a:rPr lang="en-US" dirty="0"/>
              <a:t>Plot each property with a 1km buffer around it. </a:t>
            </a:r>
          </a:p>
          <a:p>
            <a:r>
              <a:rPr lang="en-US" dirty="0"/>
              <a:t>Note: this ended up being a lot slower on the second PC I tested this on than I had budgeted, so if you have a slower computer it might be really annoying. I’ll find a smaller example later…</a:t>
            </a:r>
          </a:p>
        </p:txBody>
      </p:sp>
    </p:spTree>
    <p:extLst>
      <p:ext uri="{BB962C8B-B14F-4D97-AF65-F5344CB8AC3E}">
        <p14:creationId xmlns:p14="http://schemas.microsoft.com/office/powerpoint/2010/main" val="1007718364"/>
      </p:ext>
    </p:extLst>
  </p:cSld>
  <p:clrMapOvr>
    <a:masterClrMapping/>
  </p:clrMapOvr>
</p:sld>
</file>

<file path=ppt/theme/theme1.xml><?xml version="1.0" encoding="utf-8"?>
<a:theme xmlns:a="http://schemas.openxmlformats.org/drawingml/2006/main" name="Gallery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lery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{F1334E83-F796-0F4D-8642-E92DF019DC38}tf10001119</Template>
  <TotalTime>7523</TotalTime>
  <Words>1832</Words>
  <Application>Microsoft Macintosh PowerPoint</Application>
  <PresentationFormat>Widescreen</PresentationFormat>
  <Paragraphs>168</Paragraphs>
  <Slides>27</Slides>
  <Notes>0</Notes>
  <HiddenSlides>2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Gill Sans MT</vt:lpstr>
      <vt:lpstr>Gallery</vt:lpstr>
      <vt:lpstr>Housekeeping</vt:lpstr>
      <vt:lpstr>Last Assignment</vt:lpstr>
      <vt:lpstr>Spatial Data and LOD Calculations</vt:lpstr>
      <vt:lpstr>Mapping Stuff</vt:lpstr>
      <vt:lpstr>Spatial Data</vt:lpstr>
      <vt:lpstr>Adding Spatial Data</vt:lpstr>
      <vt:lpstr>Spatial Functions</vt:lpstr>
      <vt:lpstr>Spatial Data Types</vt:lpstr>
      <vt:lpstr>Spatial Areas</vt:lpstr>
      <vt:lpstr>Points</vt:lpstr>
      <vt:lpstr>Lines</vt:lpstr>
      <vt:lpstr>Functions in Tableau</vt:lpstr>
      <vt:lpstr>Spatial Joins</vt:lpstr>
      <vt:lpstr>Fixed Calculations</vt:lpstr>
      <vt:lpstr>Granularity</vt:lpstr>
      <vt:lpstr>PowerPoint Presentation</vt:lpstr>
      <vt:lpstr>Note – Think About it</vt:lpstr>
      <vt:lpstr>Granularity and Tableau</vt:lpstr>
      <vt:lpstr>Level of Detail Calculations</vt:lpstr>
      <vt:lpstr>Fixed Calculations</vt:lpstr>
      <vt:lpstr>Fixed Usage</vt:lpstr>
      <vt:lpstr>Include/Exclude</vt:lpstr>
      <vt:lpstr>Warmup</vt:lpstr>
      <vt:lpstr>Goal:</vt:lpstr>
      <vt:lpstr>Election Logic</vt:lpstr>
      <vt:lpstr>Traffic Disruptions Per Neighborhood</vt:lpstr>
      <vt:lpstr>Singapore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Akeem Semper</dc:creator>
  <cp:lastModifiedBy>Akeem Semper</cp:lastModifiedBy>
  <cp:revision>28</cp:revision>
  <dcterms:created xsi:type="dcterms:W3CDTF">2023-10-28T18:52:42Z</dcterms:created>
  <dcterms:modified xsi:type="dcterms:W3CDTF">2026-02-12T21:32:12Z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0877899-02b0-462c-b2a9-b7d15c4f96fe_Enabled">
    <vt:lpwstr>true</vt:lpwstr>
  </property>
  <property fmtid="{D5CDD505-2E9C-101B-9397-08002B2CF9AE}" pid="3" name="MSIP_Label_10877899-02b0-462c-b2a9-b7d15c4f96fe_SetDate">
    <vt:lpwstr>2025-10-02T14:40:02Z</vt:lpwstr>
  </property>
  <property fmtid="{D5CDD505-2E9C-101B-9397-08002B2CF9AE}" pid="4" name="MSIP_Label_10877899-02b0-462c-b2a9-b7d15c4f96fe_Method">
    <vt:lpwstr>Standard</vt:lpwstr>
  </property>
  <property fmtid="{D5CDD505-2E9C-101B-9397-08002B2CF9AE}" pid="5" name="MSIP_Label_10877899-02b0-462c-b2a9-b7d15c4f96fe_Name">
    <vt:lpwstr>Protected [Protected A]</vt:lpwstr>
  </property>
  <property fmtid="{D5CDD505-2E9C-101B-9397-08002B2CF9AE}" pid="6" name="MSIP_Label_10877899-02b0-462c-b2a9-b7d15c4f96fe_SiteId">
    <vt:lpwstr>5c98fb47-d3b9-4649-9d94-f88cbdd9729c</vt:lpwstr>
  </property>
  <property fmtid="{D5CDD505-2E9C-101B-9397-08002B2CF9AE}" pid="7" name="MSIP_Label_10877899-02b0-462c-b2a9-b7d15c4f96fe_ActionId">
    <vt:lpwstr>6ded7847-1f5c-416e-8456-1b39b55d1e83</vt:lpwstr>
  </property>
  <property fmtid="{D5CDD505-2E9C-101B-9397-08002B2CF9AE}" pid="8" name="MSIP_Label_10877899-02b0-462c-b2a9-b7d15c4f96fe_ContentBits">
    <vt:lpwstr>0</vt:lpwstr>
  </property>
  <property fmtid="{D5CDD505-2E9C-101B-9397-08002B2CF9AE}" pid="9" name="MSIP_Label_10877899-02b0-462c-b2a9-b7d15c4f96fe_Tag">
    <vt:lpwstr>50, 3, 0, 1</vt:lpwstr>
  </property>
</Properties>
</file>